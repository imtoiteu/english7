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udio/FREV2L2_1_5d724fbc-a907-4a48-9221-c1813d248168_hq.mp3"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6  ·  LESSON 2  ·  PERIOD 48</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PROGRESS TEST 2</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Progress Test 2 (Units 4–6) — 45 minutes</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REV2L2</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show what they can do in listening, language, reading and writing</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complete a 45-minute test under exam conditions</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take part in a 3-minute paired speaking assessment</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compare this result with Test 1 and set a goal for Units 7–9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Setting up  (3')</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REV2L2</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Desks apart. Write the four parts and the timing on the board.</a:t>
            </a:r>
          </a:p>
        </p:txBody>
      </p:sp>
      <p:sp>
        <p:nvSpPr>
          <p:cNvPr id="10" name="TextBox 9"/>
          <p:cNvSpPr txBox="1"/>
          <p:nvPr/>
        </p:nvSpPr>
        <p:spPr>
          <a:xfrm>
            <a:off x="1005840" y="260604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Remind: keep 10 minutes for Part 4.</a:t>
            </a:r>
          </a:p>
        </p:txBody>
      </p:sp>
      <p:sp>
        <p:nvSpPr>
          <p:cNvPr id="11" name="TextBox 10"/>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Prepare and read the instructions.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Grammar: Test format (the same as Test 1)</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REV2L2</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Part 1 Listening (2 marks) – 5 questions, played twice.</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Part 2 Language focus (3 marks) – vocabulary, grammar, pronunciation.</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Part 3 Reading (2.5 marks) – one text, 5 questions.</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Part 4 Writing (2.5 marks) – one text, 90–110 words.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REV2L2</a:t>
            </a:r>
          </a:p>
        </p:txBody>
      </p:sp>
      <p:graphicFrame>
        <p:nvGraphicFramePr>
          <p:cNvPr id="8" name="Table 7"/>
          <p:cNvGraphicFramePr>
            <a:graphicFrameLocks noGrp="1"/>
          </p:cNvGraphicFramePr>
          <p:nvPr/>
        </p:nvGraphicFramePr>
        <p:xfrm>
          <a:off x="548640" y="1463040"/>
          <a:ext cx="11064240" cy="2834640"/>
        </p:xfrm>
        <a:graphic>
          <a:graphicData uri="http://schemas.openxmlformats.org/drawingml/2006/table">
            <a:tbl>
              <a:tblPr firstRow="1" bandRow="1">
                <a:tableStyleId>{5C22544A-7EE6-4342-B048-85BDC9FD1C3A}</a:tableStyleId>
              </a:tblPr>
              <a:tblGrid>
                <a:gridCol w="3688080"/>
                <a:gridCol w="3688080"/>
                <a:gridCol w="3688080"/>
              </a:tblGrid>
              <a:tr h="566928">
                <a:tc>
                  <a:txBody>
                    <a:bodyPr/>
                    <a:lstStyle/>
                    <a:p>
                      <a:r>
                        <a:rPr sz="1600" b="1">
                          <a:solidFill>
                            <a:srgbClr val="FFFFFF"/>
                          </a:solidFill>
                          <a:latin typeface="Calibri"/>
                        </a:rPr>
                        <a:t>Part</a:t>
                      </a:r>
                    </a:p>
                  </a:txBody>
                  <a:tcPr>
                    <a:solidFill>
                      <a:srgbClr val="0E7C66"/>
                    </a:solidFill>
                  </a:tcPr>
                </a:tc>
                <a:tc>
                  <a:txBody>
                    <a:bodyPr/>
                    <a:lstStyle/>
                    <a:p>
                      <a:r>
                        <a:rPr sz="1600" b="1">
                          <a:solidFill>
                            <a:srgbClr val="FFFFFF"/>
                          </a:solidFill>
                          <a:latin typeface="Calibri"/>
                        </a:rPr>
                        <a:t>Marks</a:t>
                      </a:r>
                    </a:p>
                  </a:txBody>
                  <a:tcPr>
                    <a:solidFill>
                      <a:srgbClr val="0E7C66"/>
                    </a:solidFill>
                  </a:tcPr>
                </a:tc>
                <a:tc>
                  <a:txBody>
                    <a:bodyPr/>
                    <a:lstStyle/>
                    <a:p>
                      <a:r>
                        <a:rPr sz="1600" b="1">
                          <a:solidFill>
                            <a:srgbClr val="FFFFFF"/>
                          </a:solidFill>
                          <a:latin typeface="Calibri"/>
                        </a:rPr>
                        <a:t>Time</a:t>
                      </a:r>
                    </a:p>
                  </a:txBody>
                  <a:tcPr>
                    <a:solidFill>
                      <a:srgbClr val="0E7C66"/>
                    </a:solidFill>
                  </a:tcPr>
                </a:tc>
              </a:tr>
              <a:tr h="566928">
                <a:tc>
                  <a:txBody>
                    <a:bodyPr/>
                    <a:lstStyle/>
                    <a:p>
                      <a:r>
                        <a:rPr sz="1600" b="0">
                          <a:solidFill>
                            <a:srgbClr val="1B1B1B"/>
                          </a:solidFill>
                          <a:latin typeface="Calibri"/>
                        </a:rPr>
                        <a:t>Listening</a:t>
                      </a:r>
                    </a:p>
                  </a:txBody>
                  <a:tcPr>
                    <a:solidFill>
                      <a:srgbClr val="E3F3EE"/>
                    </a:solidFill>
                  </a:tcPr>
                </a:tc>
                <a:tc>
                  <a:txBody>
                    <a:bodyPr/>
                    <a:lstStyle/>
                    <a:p>
                      <a:r>
                        <a:rPr sz="1600" b="0">
                          <a:solidFill>
                            <a:srgbClr val="1B1B1B"/>
                          </a:solidFill>
                          <a:latin typeface="Calibri"/>
                        </a:rPr>
                        <a:t>2.0</a:t>
                      </a:r>
                    </a:p>
                  </a:txBody>
                  <a:tcPr>
                    <a:solidFill>
                      <a:srgbClr val="E3F3EE"/>
                    </a:solidFill>
                  </a:tcPr>
                </a:tc>
                <a:tc>
                  <a:txBody>
                    <a:bodyPr/>
                    <a:lstStyle/>
                    <a:p>
                      <a:r>
                        <a:rPr sz="1600" b="0">
                          <a:solidFill>
                            <a:srgbClr val="1B1B1B"/>
                          </a:solidFill>
                          <a:latin typeface="Calibri"/>
                        </a:rPr>
                        <a:t>8 minutes</a:t>
                      </a:r>
                    </a:p>
                  </a:txBody>
                  <a:tcPr>
                    <a:solidFill>
                      <a:srgbClr val="E3F3EE"/>
                    </a:solidFill>
                  </a:tcPr>
                </a:tc>
              </a:tr>
              <a:tr h="566928">
                <a:tc>
                  <a:txBody>
                    <a:bodyPr/>
                    <a:lstStyle/>
                    <a:p>
                      <a:r>
                        <a:rPr sz="1600" b="0">
                          <a:solidFill>
                            <a:srgbClr val="1B1B1B"/>
                          </a:solidFill>
                          <a:latin typeface="Calibri"/>
                        </a:rPr>
                        <a:t>Language focus</a:t>
                      </a:r>
                    </a:p>
                  </a:txBody>
                  <a:tcPr>
                    <a:solidFill>
                      <a:srgbClr val="FFFFFF"/>
                    </a:solidFill>
                  </a:tcPr>
                </a:tc>
                <a:tc>
                  <a:txBody>
                    <a:bodyPr/>
                    <a:lstStyle/>
                    <a:p>
                      <a:r>
                        <a:rPr sz="1600" b="0">
                          <a:solidFill>
                            <a:srgbClr val="1B1B1B"/>
                          </a:solidFill>
                          <a:latin typeface="Calibri"/>
                        </a:rPr>
                        <a:t>3.0</a:t>
                      </a:r>
                    </a:p>
                  </a:txBody>
                  <a:tcPr>
                    <a:solidFill>
                      <a:srgbClr val="FFFFFF"/>
                    </a:solidFill>
                  </a:tcPr>
                </a:tc>
                <a:tc>
                  <a:txBody>
                    <a:bodyPr/>
                    <a:lstStyle/>
                    <a:p>
                      <a:r>
                        <a:rPr sz="1600" b="0">
                          <a:solidFill>
                            <a:srgbClr val="1B1B1B"/>
                          </a:solidFill>
                          <a:latin typeface="Calibri"/>
                        </a:rPr>
                        <a:t>12 minutes</a:t>
                      </a:r>
                    </a:p>
                  </a:txBody>
                  <a:tcPr>
                    <a:solidFill>
                      <a:srgbClr val="FFFFFF"/>
                    </a:solidFill>
                  </a:tcPr>
                </a:tc>
              </a:tr>
              <a:tr h="566928">
                <a:tc>
                  <a:txBody>
                    <a:bodyPr/>
                    <a:lstStyle/>
                    <a:p>
                      <a:r>
                        <a:rPr sz="1600" b="0">
                          <a:solidFill>
                            <a:srgbClr val="1B1B1B"/>
                          </a:solidFill>
                          <a:latin typeface="Calibri"/>
                        </a:rPr>
                        <a:t>Reading</a:t>
                      </a:r>
                    </a:p>
                  </a:txBody>
                  <a:tcPr>
                    <a:solidFill>
                      <a:srgbClr val="E3F3EE"/>
                    </a:solidFill>
                  </a:tcPr>
                </a:tc>
                <a:tc>
                  <a:txBody>
                    <a:bodyPr/>
                    <a:lstStyle/>
                    <a:p>
                      <a:r>
                        <a:rPr sz="1600" b="0">
                          <a:solidFill>
                            <a:srgbClr val="1B1B1B"/>
                          </a:solidFill>
                          <a:latin typeface="Calibri"/>
                        </a:rPr>
                        <a:t>2.5</a:t>
                      </a:r>
                    </a:p>
                  </a:txBody>
                  <a:tcPr>
                    <a:solidFill>
                      <a:srgbClr val="E3F3EE"/>
                    </a:solidFill>
                  </a:tcPr>
                </a:tc>
                <a:tc>
                  <a:txBody>
                    <a:bodyPr/>
                    <a:lstStyle/>
                    <a:p>
                      <a:r>
                        <a:rPr sz="1600" b="0">
                          <a:solidFill>
                            <a:srgbClr val="1B1B1B"/>
                          </a:solidFill>
                          <a:latin typeface="Calibri"/>
                        </a:rPr>
                        <a:t>12 minutes</a:t>
                      </a:r>
                    </a:p>
                  </a:txBody>
                  <a:tcPr>
                    <a:solidFill>
                      <a:srgbClr val="E3F3EE"/>
                    </a:solidFill>
                  </a:tcPr>
                </a:tc>
              </a:tr>
              <a:tr h="566928">
                <a:tc>
                  <a:txBody>
                    <a:bodyPr/>
                    <a:lstStyle/>
                    <a:p>
                      <a:r>
                        <a:rPr sz="1600" b="0">
                          <a:solidFill>
                            <a:srgbClr val="1B1B1B"/>
                          </a:solidFill>
                          <a:latin typeface="Calibri"/>
                        </a:rPr>
                        <a:t>Writing</a:t>
                      </a:r>
                    </a:p>
                  </a:txBody>
                  <a:tcPr>
                    <a:solidFill>
                      <a:srgbClr val="FFFFFF"/>
                    </a:solidFill>
                  </a:tcPr>
                </a:tc>
                <a:tc>
                  <a:txBody>
                    <a:bodyPr/>
                    <a:lstStyle/>
                    <a:p>
                      <a:r>
                        <a:rPr sz="1600" b="0">
                          <a:solidFill>
                            <a:srgbClr val="1B1B1B"/>
                          </a:solidFill>
                          <a:latin typeface="Calibri"/>
                        </a:rPr>
                        <a:t>2.5</a:t>
                      </a:r>
                    </a:p>
                  </a:txBody>
                  <a:tcPr>
                    <a:solidFill>
                      <a:srgbClr val="FFFFFF"/>
                    </a:solidFill>
                  </a:tcPr>
                </a:tc>
                <a:tc>
                  <a:txBody>
                    <a:bodyPr/>
                    <a:lstStyle/>
                    <a:p>
                      <a:r>
                        <a:rPr sz="1600" b="0">
                          <a:solidFill>
                            <a:srgbClr val="1B1B1B"/>
                          </a:solidFill>
                          <a:latin typeface="Calibri"/>
                        </a:rPr>
                        <a:t>13 minutes</a:t>
                      </a:r>
                    </a:p>
                  </a:txBody>
                  <a:tcP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REV2L2</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Keep 10 minutes for the writing. Do not lose 2.5 marks by running out of 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REV2L2</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In Test 1 the most common lost marks were in Part 4. Plan for 2 minutes, write for 9, check for 2.</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Keep 10 minutes for the writing. Do not lose 2.5 marks by running out of time.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Speaking assessment criteria (unchanged)</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REV2L2</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Task 3 · Fluency 2.5 · Pronunciation 2.5 · Accuracy 2.</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Keep talking.</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Finish your words.</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Use one comparative and one 'because'.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REV2L2</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My favourite dish is… It is made with… It is better than… because…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Lesson 7: What Are You Doing?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REV2L2</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what people are doing at the moment. American English — VOA’s professional actors (Anna, Pete, Marsha, Ms. Weaver…), slowed learner delivery. It lasts 2:30.</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Rounded Rectangle 10"/>
          <p:cNvSpPr/>
          <p:nvPr/>
        </p:nvSpPr>
        <p:spPr>
          <a:xfrm>
            <a:off x="731520" y="5440680"/>
            <a:ext cx="10698480" cy="530352"/>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42C4F"/>
                </a:solidFill>
                <a:hlinkClick r:id="rId2"/>
              </a:rPr>
              <a:t>▶ Play audio</a:t>
            </a:r>
          </a:p>
        </p:txBody>
      </p:sp>
      <p:sp>
        <p:nvSpPr>
          <p:cNvPr id="12" name="TextBox 11"/>
          <p:cNvSpPr txBox="1"/>
          <p:nvPr/>
        </p:nvSpPr>
        <p:spPr>
          <a:xfrm>
            <a:off x="731520" y="6062472"/>
            <a:ext cx="10698480" cy="502920"/>
          </a:xfrm>
          <a:prstGeom prst="rect">
            <a:avLst/>
          </a:prstGeom>
          <a:noFill/>
        </p:spPr>
        <p:txBody>
          <a:bodyPr wrap="square" anchor="t">
            <a:spAutoFit/>
          </a:bodyPr>
          <a:lstStyle/>
          <a:p>
            <a:pPr algn="l">
              <a:lnSpc>
                <a:spcPct val="100000"/>
              </a:lnSpc>
              <a:spcAft>
                <a:spcPts val="600"/>
              </a:spcAft>
            </a:pPr>
            <a:r>
              <a:rPr sz="1100" b="0" i="0">
                <a:solidFill>
                  <a:srgbClr val="6B7280"/>
                </a:solidFill>
                <a:latin typeface="Calibri"/>
              </a:rPr>
              <a:t>VOA Learning English — Let’s Learn English, Level 1 · 2:30 · American English — VOA’s professional actors (Anna, Pete, Marsha, Ms. Weaver…), slowed learner delivery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REV2L2-L1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what people are doing at the moment B. asking to borrow things C. asking for everyday objects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REV2L2-L2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Number the lines 1-5 in the order you hear them.</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Are you reading the news?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The word of the day is social.</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I live in your building.</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d. (in the studio) “and people all around the world are waiting to hear news about the next president…”</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e. You are writing a lot!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REV2L2-L3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Caty: I _____ your boss, Caty Weaver.</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Caty: So sorry, but I _____ busy.</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Caty: But remember, they are busy 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Jonathan: I am _____ my show!</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Jonathan: And, _____ I have to record again!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Progress Test 2 – Reading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REV2L2</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THE SCHOOL KITCHEN GARDEN Two years ago, the students of Tran Phu Secondary School turned an empty piece of land behind the gym into a vegetable garden. Today it is 300 square metres and it produces about 40 kilos of vegetables every month. Each class looks after one bed. Grade 6 grows lettuce and herbs, which are the easiest; Grade 9 grows tomatoes and beans, which need more care. The students water the garden before lessons and after lessons, and two teachers help at the weekend. All the vegetables go to the school canteen, so the food is fresher and cheaper than before. The canteen manager says she now spends 30% less money on vegetables. The most surprising result was not the food. 'Before the garden, twelve students in Grade 7 said they never ate vegetables,' says the biology teacher. 'This year only two said that. When you grow it yourself, you want to eat it.' This term the schoo…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TEST2-R</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was the land before, and how big is the garden now?</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Which classes grow the easiest vegetables, and which grow the harder ones?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When do the students water the garden?</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How has the garden helped the canteen?</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What was the most surprising result, according to the biology teacher?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TEST2-P2A</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with ONE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The people who watch a concert are the a______ .</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Could we have the b______ , please?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We do experiments in the l______ .</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A public show of paintings is an e______ .</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Look at the t______ to see today's lessons.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TEST2-P2B</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Choose the correct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Rock music is (louder / more louder) than folk music.</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She is (the most / most) talented singer in our school.</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How (much / many) sugar do we need?</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There isn't (some / any) milk in the fridge.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Look! The teacher (comes / is coming).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TEST2-P2B</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Choose the correct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Next Monday we (visit / are visiting) the museum. (arranged)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TEST2-P2C</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Circle the word with a DIFFERENT sound.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book / good / school</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hot / coffee / water</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sugar / she / sister</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revision / television / education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TEST2-S</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In pairs. Choose a card, think for one minute, speak for two minutes. The examiner asks two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Card A: My favourite kind of music or art form (with two comparisons)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Card B: My favourite dish (ingredients, taste, how it is served)</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Card C: My school (facts, facilities, and what is happening this week)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Real-life English: Test-taking strategies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REV2L2</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Could you repeat that, please?</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Can I start again?</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I'm not sure, but I think…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REV2L2</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Paired speaking assessment.</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TEST2-W</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Choose ONE task and write 90–110 words.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Compare two kinds of music or two art forms.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Write a recipe for a dish you can cook (ingredients + 5–6 steps).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Write an email describing your school to a foreign pen friend.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REV2L2</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test covers Units 4–6 only.</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Return the papers next lesson; compare with Test 1 and set one goal.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REV2L2</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TEST2-H1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After the test — Compare your Test 1 and Test 2 results. Write one thing that improved and one goal for Units 7–9.</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TEST2-H2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Correction — Correct all your test mistakes. For each one write the rule.</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TEST2-H3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Prepare for Unit 7 — Write five kinds of transport and three traffic signs, in English or Vietnamese.</a:t>
            </a:r>
          </a:p>
        </p:txBody>
      </p:sp>
      <p:sp>
        <p:nvSpPr>
          <p:cNvPr id="17" name="TextBox 16"/>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REV2L2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