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REV2L1_1_f3b56fb5-23f9-4668-bae1-d98ab8967e50_hq.mp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6  ·  LESSON 1  ·  PERIOD 47</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REVIEW &amp; PRACTICE</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Review 2 (Units 4–6): language consolidation</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revise the key vocabulary of Units 4–6 (about 80 items)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comparatives, superlatives, quantifiers and both present tenses correctly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18 typical errors of Units 4–6</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prepare for the second progress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Three-column word storm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MUSIC &amp; ART / FOOD / SCHOOL. Teams write as many words as they can in 60 seconds.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Write words in teams.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Units 4–6 grammar in one map</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COMPARE two things: short adj + -er / long adj + more … than.</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SAY WHICH IS NUMBER ONE: the + -est / the most …</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COUNT OR NOT: countable → many / a few / are; uncountable → much / a little / is.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SOME in positives; ANY in negatives and questions.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graphicFrame>
        <p:nvGraphicFramePr>
          <p:cNvPr id="8" name="Table 7"/>
          <p:cNvGraphicFramePr>
            <a:graphicFrameLocks noGrp="1"/>
          </p:cNvGraphicFramePr>
          <p:nvPr/>
        </p:nvGraphicFramePr>
        <p:xfrm>
          <a:off x="548640" y="1463040"/>
          <a:ext cx="11064240" cy="4535424"/>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Meaning</a:t>
                      </a:r>
                    </a:p>
                  </a:txBody>
                  <a:tcPr>
                    <a:solidFill>
                      <a:srgbClr val="0E7C66"/>
                    </a:solidFill>
                  </a:tcPr>
                </a:tc>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compare 2</a:t>
                      </a:r>
                    </a:p>
                  </a:txBody>
                  <a:tcPr>
                    <a:solidFill>
                      <a:srgbClr val="E3F3EE"/>
                    </a:solidFill>
                  </a:tcPr>
                </a:tc>
                <a:tc>
                  <a:txBody>
                    <a:bodyPr/>
                    <a:lstStyle/>
                    <a:p>
                      <a:r>
                        <a:rPr sz="1600" b="0">
                          <a:solidFill>
                            <a:srgbClr val="1B1B1B"/>
                          </a:solidFill>
                          <a:latin typeface="Calibri"/>
                        </a:rPr>
                        <a:t>-er / more … than</a:t>
                      </a:r>
                    </a:p>
                  </a:txBody>
                  <a:tcPr>
                    <a:solidFill>
                      <a:srgbClr val="E3F3EE"/>
                    </a:solidFill>
                  </a:tcPr>
                </a:tc>
                <a:tc>
                  <a:txBody>
                    <a:bodyPr/>
                    <a:lstStyle/>
                    <a:p>
                      <a:r>
                        <a:rPr sz="1600" b="0">
                          <a:solidFill>
                            <a:srgbClr val="1B1B1B"/>
                          </a:solidFill>
                          <a:latin typeface="Calibri"/>
                        </a:rPr>
                        <a:t>Rock is louder than folk music.</a:t>
                      </a:r>
                    </a:p>
                  </a:txBody>
                  <a:tcPr>
                    <a:solidFill>
                      <a:srgbClr val="E3F3EE"/>
                    </a:solidFill>
                  </a:tcPr>
                </a:tc>
              </a:tr>
              <a:tr h="566928">
                <a:tc>
                  <a:txBody>
                    <a:bodyPr/>
                    <a:lstStyle/>
                    <a:p>
                      <a:r>
                        <a:rPr sz="1600" b="0">
                          <a:solidFill>
                            <a:srgbClr val="1B1B1B"/>
                          </a:solidFill>
                          <a:latin typeface="Calibri"/>
                        </a:rPr>
                        <a:t>number one</a:t>
                      </a:r>
                    </a:p>
                  </a:txBody>
                  <a:tcPr>
                    <a:solidFill>
                      <a:srgbClr val="FFFFFF"/>
                    </a:solidFill>
                  </a:tcPr>
                </a:tc>
                <a:tc>
                  <a:txBody>
                    <a:bodyPr/>
                    <a:lstStyle/>
                    <a:p>
                      <a:r>
                        <a:rPr sz="1600" b="0">
                          <a:solidFill>
                            <a:srgbClr val="1B1B1B"/>
                          </a:solidFill>
                          <a:latin typeface="Calibri"/>
                        </a:rPr>
                        <a:t>the -est / the most</a:t>
                      </a:r>
                    </a:p>
                  </a:txBody>
                  <a:tcPr>
                    <a:solidFill>
                      <a:srgbClr val="FFFFFF"/>
                    </a:solidFill>
                  </a:tcPr>
                </a:tc>
                <a:tc>
                  <a:txBody>
                    <a:bodyPr/>
                    <a:lstStyle/>
                    <a:p>
                      <a:r>
                        <a:rPr sz="1600" b="0">
                          <a:solidFill>
                            <a:srgbClr val="1B1B1B"/>
                          </a:solidFill>
                          <a:latin typeface="Calibri"/>
                        </a:rPr>
                        <a:t>She is the most talented singer.</a:t>
                      </a:r>
                    </a:p>
                  </a:txBody>
                  <a:tcPr>
                    <a:solidFill>
                      <a:srgbClr val="FFFFFF"/>
                    </a:solidFill>
                  </a:tcPr>
                </a:tc>
              </a:tr>
              <a:tr h="566928">
                <a:tc>
                  <a:txBody>
                    <a:bodyPr/>
                    <a:lstStyle/>
                    <a:p>
                      <a:r>
                        <a:rPr sz="1600" b="0">
                          <a:solidFill>
                            <a:srgbClr val="1B1B1B"/>
                          </a:solidFill>
                          <a:latin typeface="Calibri"/>
                        </a:rPr>
                        <a:t>equal</a:t>
                      </a:r>
                    </a:p>
                  </a:txBody>
                  <a:tcPr>
                    <a:solidFill>
                      <a:srgbClr val="E3F3EE"/>
                    </a:solidFill>
                  </a:tcPr>
                </a:tc>
                <a:tc>
                  <a:txBody>
                    <a:bodyPr/>
                    <a:lstStyle/>
                    <a:p>
                      <a:r>
                        <a:rPr sz="1600" b="0">
                          <a:solidFill>
                            <a:srgbClr val="1B1B1B"/>
                          </a:solidFill>
                          <a:latin typeface="Calibri"/>
                        </a:rPr>
                        <a:t>as … as</a:t>
                      </a:r>
                    </a:p>
                  </a:txBody>
                  <a:tcPr>
                    <a:solidFill>
                      <a:srgbClr val="E3F3EE"/>
                    </a:solidFill>
                  </a:tcPr>
                </a:tc>
                <a:tc>
                  <a:txBody>
                    <a:bodyPr/>
                    <a:lstStyle/>
                    <a:p>
                      <a:r>
                        <a:rPr sz="1600" b="0">
                          <a:solidFill>
                            <a:srgbClr val="1B1B1B"/>
                          </a:solidFill>
                          <a:latin typeface="Calibri"/>
                        </a:rPr>
                        <a:t>My drawing is as good as yours.</a:t>
                      </a:r>
                    </a:p>
                  </a:txBody>
                  <a:tcPr>
                    <a:solidFill>
                      <a:srgbClr val="E3F3EE"/>
                    </a:solidFill>
                  </a:tcPr>
                </a:tc>
              </a:tr>
              <a:tr h="566928">
                <a:tc>
                  <a:txBody>
                    <a:bodyPr/>
                    <a:lstStyle/>
                    <a:p>
                      <a:r>
                        <a:rPr sz="1600" b="0">
                          <a:solidFill>
                            <a:srgbClr val="1B1B1B"/>
                          </a:solidFill>
                          <a:latin typeface="Calibri"/>
                        </a:rPr>
                        <a:t>quantity (C)</a:t>
                      </a:r>
                    </a:p>
                  </a:txBody>
                  <a:tcPr>
                    <a:solidFill>
                      <a:srgbClr val="FFFFFF"/>
                    </a:solidFill>
                  </a:tcPr>
                </a:tc>
                <a:tc>
                  <a:txBody>
                    <a:bodyPr/>
                    <a:lstStyle/>
                    <a:p>
                      <a:r>
                        <a:rPr sz="1600" b="0">
                          <a:solidFill>
                            <a:srgbClr val="1B1B1B"/>
                          </a:solidFill>
                          <a:latin typeface="Calibri"/>
                        </a:rPr>
                        <a:t>many / a few / How many</a:t>
                      </a:r>
                    </a:p>
                  </a:txBody>
                  <a:tcPr>
                    <a:solidFill>
                      <a:srgbClr val="FFFFFF"/>
                    </a:solidFill>
                  </a:tcPr>
                </a:tc>
                <a:tc>
                  <a:txBody>
                    <a:bodyPr/>
                    <a:lstStyle/>
                    <a:p>
                      <a:r>
                        <a:rPr sz="1600" b="0">
                          <a:solidFill>
                            <a:srgbClr val="1B1B1B"/>
                          </a:solidFill>
                          <a:latin typeface="Calibri"/>
                        </a:rPr>
                        <a:t>How many eggs are there?</a:t>
                      </a:r>
                    </a:p>
                  </a:txBody>
                  <a:tcPr>
                    <a:solidFill>
                      <a:srgbClr val="FFFFFF"/>
                    </a:solidFill>
                  </a:tcPr>
                </a:tc>
              </a:tr>
              <a:tr h="566928">
                <a:tc>
                  <a:txBody>
                    <a:bodyPr/>
                    <a:lstStyle/>
                    <a:p>
                      <a:r>
                        <a:rPr sz="1600" b="0">
                          <a:solidFill>
                            <a:srgbClr val="1B1B1B"/>
                          </a:solidFill>
                          <a:latin typeface="Calibri"/>
                        </a:rPr>
                        <a:t>quantity (U)</a:t>
                      </a:r>
                    </a:p>
                  </a:txBody>
                  <a:tcPr>
                    <a:solidFill>
                      <a:srgbClr val="E3F3EE"/>
                    </a:solidFill>
                  </a:tcPr>
                </a:tc>
                <a:tc>
                  <a:txBody>
                    <a:bodyPr/>
                    <a:lstStyle/>
                    <a:p>
                      <a:r>
                        <a:rPr sz="1600" b="0">
                          <a:solidFill>
                            <a:srgbClr val="1B1B1B"/>
                          </a:solidFill>
                          <a:latin typeface="Calibri"/>
                        </a:rPr>
                        <a:t>much / a little / How much</a:t>
                      </a:r>
                    </a:p>
                  </a:txBody>
                  <a:tcPr>
                    <a:solidFill>
                      <a:srgbClr val="E3F3EE"/>
                    </a:solidFill>
                  </a:tcPr>
                </a:tc>
                <a:tc>
                  <a:txBody>
                    <a:bodyPr/>
                    <a:lstStyle/>
                    <a:p>
                      <a:r>
                        <a:rPr sz="1600" b="0">
                          <a:solidFill>
                            <a:srgbClr val="1B1B1B"/>
                          </a:solidFill>
                          <a:latin typeface="Calibri"/>
                        </a:rPr>
                        <a:t>How much sugar do we need?</a:t>
                      </a:r>
                    </a:p>
                  </a:txBody>
                  <a:tcPr>
                    <a:solidFill>
                      <a:srgbClr val="E3F3EE"/>
                    </a:solidFill>
                  </a:tcPr>
                </a:tc>
              </a:tr>
              <a:tr h="566928">
                <a:tc>
                  <a:txBody>
                    <a:bodyPr/>
                    <a:lstStyle/>
                    <a:p>
                      <a:r>
                        <a:rPr sz="1600" b="0">
                          <a:solidFill>
                            <a:srgbClr val="1B1B1B"/>
                          </a:solidFill>
                          <a:latin typeface="Calibri"/>
                        </a:rPr>
                        <a:t>habit</a:t>
                      </a:r>
                    </a:p>
                  </a:txBody>
                  <a:tcPr>
                    <a:solidFill>
                      <a:srgbClr val="FFFFFF"/>
                    </a:solidFill>
                  </a:tcPr>
                </a:tc>
                <a:tc>
                  <a:txBody>
                    <a:bodyPr/>
                    <a:lstStyle/>
                    <a:p>
                      <a:r>
                        <a:rPr sz="1600" b="0">
                          <a:solidFill>
                            <a:srgbClr val="1B1B1B"/>
                          </a:solidFill>
                          <a:latin typeface="Calibri"/>
                        </a:rPr>
                        <a:t>present simple</a:t>
                      </a:r>
                    </a:p>
                  </a:txBody>
                  <a:tcPr>
                    <a:solidFill>
                      <a:srgbClr val="FFFFFF"/>
                    </a:solidFill>
                  </a:tcPr>
                </a:tc>
                <a:tc>
                  <a:txBody>
                    <a:bodyPr/>
                    <a:lstStyle/>
                    <a:p>
                      <a:r>
                        <a:rPr sz="1600" b="0">
                          <a:solidFill>
                            <a:srgbClr val="1B1B1B"/>
                          </a:solidFill>
                          <a:latin typeface="Calibri"/>
                        </a:rPr>
                        <a:t>We start at seven every day.</a:t>
                      </a:r>
                    </a:p>
                  </a:txBody>
                  <a:tcPr>
                    <a:solidFill>
                      <a:srgbClr val="FFFFFF"/>
                    </a:solidFill>
                  </a:tcPr>
                </a:tc>
              </a:tr>
              <a:tr h="566928">
                <a:tc>
                  <a:txBody>
                    <a:bodyPr/>
                    <a:lstStyle/>
                    <a:p>
                      <a:r>
                        <a:rPr sz="1600" b="0">
                          <a:solidFill>
                            <a:srgbClr val="1B1B1B"/>
                          </a:solidFill>
                          <a:latin typeface="Calibri"/>
                        </a:rPr>
                        <a:t>now / plan</a:t>
                      </a:r>
                    </a:p>
                  </a:txBody>
                  <a:tcPr>
                    <a:solidFill>
                      <a:srgbClr val="E3F3EE"/>
                    </a:solidFill>
                  </a:tcPr>
                </a:tc>
                <a:tc>
                  <a:txBody>
                    <a:bodyPr/>
                    <a:lstStyle/>
                    <a:p>
                      <a:r>
                        <a:rPr sz="1600" b="0">
                          <a:solidFill>
                            <a:srgbClr val="1B1B1B"/>
                          </a:solidFill>
                          <a:latin typeface="Calibri"/>
                        </a:rPr>
                        <a:t>am/is/are + V-ing</a:t>
                      </a:r>
                    </a:p>
                  </a:txBody>
                  <a:tcPr>
                    <a:solidFill>
                      <a:srgbClr val="E3F3EE"/>
                    </a:solidFill>
                  </a:tcPr>
                </a:tc>
                <a:tc>
                  <a:txBody>
                    <a:bodyPr/>
                    <a:lstStyle/>
                    <a:p>
                      <a:r>
                        <a:rPr sz="1600" b="0">
                          <a:solidFill>
                            <a:srgbClr val="1B1B1B"/>
                          </a:solidFill>
                          <a:latin typeface="Calibri"/>
                        </a:rPr>
                        <a:t>We are visiting Hue next Friday.</a:t>
                      </a:r>
                    </a:p>
                  </a:txBody>
                  <a:tcPr>
                    <a:solidFill>
                      <a:srgbClr val="E3F3EE"/>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new canteen is bigger than the old one and it sells more fruit, but there isn't much space at break time. This week…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The three most expensive errors in the test: *more louder*, *How many money*, and using the present simple for a fixed future plan.</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Our new canteen is bigger than the old one and it sells more fruit, but there isn't much space at break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Sounds of Units 4–6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Four checks that will be tested: /ʊ/ vs /uː/, /ɒ/ vs /ɔː/, /ʃ/ and /ʒ/, and stress before -tion / -sion.</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/ʊ/ good, book – /uː/ school, music</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/ɒ/ hot, coffee – /ɔː/ water, salty</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/ʃ/ sugar, she – /ʒ/ revision, television</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edu'CA-tion, compe'TI-tion, re'VI-sion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She wants a good book about the competition.</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hot water in the canteen is not too salty.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14: How About This?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choosing what to wear for an evening at the theatre. American English — VOA’s professional actors (Anna, Pete, Marsha, Ms. Weaver…), slowed learner delivery. It lasts 3:28.</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VOA Learning English — Let’s Learn English, Level 1 · 3:28 · American English — VOA’s professional actors (Anna, Pete, Marsha, Ms. Weaver…), slowed learner delivery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often people do things in their free time B. choosing what to wear for an evening at the theatre C. things that are possible but not certain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Those clothes look great … for a man!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Yes, the right size for you is medium.</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Oh, I don’t like this outfit.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These clothes are formal: a suit jacket, a dress shirt and a tie!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This green shirt is too large and this orange skirt is too orange.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Maybe _____ magazine can help.</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I really want a friend _____ her to help me.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_____ about jeans and a t-shirt?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Genie: _____ about something more formal?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Genie, _____ dress is beautiful.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Review reading: A letter from a pen friend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Hi Mai, Thanks for your email about Vietnamese food — I'm hungry now! You asked about my school. It's called Riverside School and it's in a small town in the north of England. It's much smaller than yours: only 420 students. We start at half past eight and finish at a quarter past three, so our day is longer than yours, but we have a whole hour for lunch. The best thing about my school is the music room. I play the guitar and I'm in the school band. We're the loudest club in the school! Our music teacher says we are the worst band she has ever heard, but she still comes to every practice. This week we aren't having normal lessons on Thursday, because we're preparing for the summer concert. My class is making 200 sandwiches to sell — I hope people are hungry. One question: is it true that Vietnamese students clean their own classroom? Here we have cleaners, and my mother says that's why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in full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Where is Kevin's school and how big is it?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Compare the two school days (start, finish, length).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does Kevin do in his free time at school?</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is his music teacher's opinion of the band?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aren't they having normal lessons on Thursday?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in full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What question does Kevin ask, and why?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in the letter: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two comparatives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two superlatives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one present continuous for this week</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one present simple habit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 from Units 4–6.</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people who watch a show: a______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public show of art: e______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hot dish with liquid: s______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list of dishes: m______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where you do experiments: l______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 from Units 4–6.</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what you wear to school: u______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the plan of your lessons: t______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things you need to cook: i______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Rock is (louder / more louder) than folk music.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is (the most / most) talented singer in the school.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This song is (better / more good) than that one.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(much / many) sugar do we need?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There (is / are) some rice in the pot.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There isn't (some / any) milk.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Look! The teacher (comes / is coming).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We (have / are having) English every Tuesday.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9. Next Friday we (visit / are visiting) the museum. (arranged)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10. I (don't like / am not liking) durian.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Rock is more louder than folk.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is most famous singer.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This is more good than that.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My drawing is as good than yours.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looks like beautiful.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I like the music traditional.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There are some rice in the pot.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How many money do you have?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9. I don't want some sugar.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10. She bought two bowl of soups.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(3/4)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11. I want a pho, please.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12. You heat the oil first.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13. Look! The bus comes.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14. Every day I am going to school by bike.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15. He playing football now.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(4/4)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16. I am knowing the answer.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17. We visit the museum next Friday. (arranged)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18. We have English in Monday.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REV2-S1 with two different partners.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REV2-S1 with two different partners.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Work in pairs. Talk for two minutes on ONE topic card. Your partner asks two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A: My favourite kind of music or art (with two comparisons)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B: My favourite dish (what it is made with, how it is served)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C: My school (facts, facilities, and what is happening this week)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Coping strategies in a test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Sorry, could you say that again?</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think for a second.</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mean…</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do you say … in English?</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 kind of…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Paired speaking practice with the three topic cards.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ONE and write 90–110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 comparison of two kinds of music or two art forms.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 recipe (ingredients + 5–6 steps).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An email describing your school to a pen friend.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Comparatives and superlatives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Countable/uncountable and quantifiers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simple vs present continuous (three uses)</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four pronunciation checks of Units 4–6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REV2L1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REV2-H1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Revision — Learn the 18 wall-list corrections. Write each correct sentence twice.</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REV2-H2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24 words from Units 4–6 with Vietnamese meanings: 8 about music/art, 8 about food, 8 about school.</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REV2-H3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chosen text from REV2-W1 (90–110 words) and hand it in.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REV2-H4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Prepare all three speaking cards. Practise each for two minutes.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REV2L1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