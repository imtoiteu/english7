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2L1_1_f3b56fb5-23f9-4668-bae1-d98ab8967e50_hq.mp3" TargetMode="External"/><Relationship Id="rId3" Type="http://schemas.openxmlformats.org/officeDocument/2006/relationships/hyperlink" Target="https://learningenglish.voanews.com/a/lets-learn-english-lesson-14-how-about-this/3323771.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1  ·  PERIOD 47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2 (Units 4–6):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4–6 (about 80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comparatives, superlatives, quantifiers and both present tenses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of Units 4–6</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second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Three-column word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MUSIC &amp; ART / FOOD / SCHOOL. Teams write as many words as they can in 60 seconds.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Units 4–6 grammar in one map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two things: short adj + -er / long adj + more … than.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WHICH IS NUMBER ONE: the + -est / the most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 OR NOT: countable → many / a few / are; uncountable → much / a little / is.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SOME in positives; ANY in negatives and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graphicFrame>
        <p:nvGraphicFramePr>
          <p:cNvPr id="8" name="Table 7"/>
          <p:cNvGraphicFramePr>
            <a:graphicFrameLocks noGrp="1"/>
          </p:cNvGraphicFramePr>
          <p:nvPr/>
        </p:nvGraphicFramePr>
        <p:xfrm>
          <a:off x="548640" y="1463040"/>
          <a:ext cx="11064240" cy="4535424"/>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compare 2</a:t>
                      </a:r>
                    </a:p>
                  </a:txBody>
                  <a:tcPr>
                    <a:solidFill>
                      <a:srgbClr val="E3F3EE"/>
                    </a:solidFill>
                  </a:tcPr>
                </a:tc>
                <a:tc>
                  <a:txBody>
                    <a:bodyPr/>
                    <a:lstStyle/>
                    <a:p>
                      <a:r>
                        <a:rPr sz="1600" b="0">
                          <a:solidFill>
                            <a:srgbClr val="1B1B1B"/>
                          </a:solidFill>
                          <a:latin typeface="Calibri"/>
                        </a:rPr>
                        <a:t>-er / more … than</a:t>
                      </a:r>
                    </a:p>
                  </a:txBody>
                  <a:tcPr>
                    <a:solidFill>
                      <a:srgbClr val="E3F3EE"/>
                    </a:solidFill>
                  </a:tcPr>
                </a:tc>
                <a:tc>
                  <a:txBody>
                    <a:bodyPr/>
                    <a:lstStyle/>
                    <a:p>
                      <a:r>
                        <a:rPr sz="1600" b="0">
                          <a:solidFill>
                            <a:srgbClr val="1B1B1B"/>
                          </a:solidFill>
                          <a:latin typeface="Calibri"/>
                        </a:rPr>
                        <a:t>Rock is louder than folk music.</a:t>
                      </a:r>
                    </a:p>
                  </a:txBody>
                  <a:tcPr>
                    <a:solidFill>
                      <a:srgbClr val="E3F3EE"/>
                    </a:solidFill>
                  </a:tcPr>
                </a:tc>
              </a:tr>
              <a:tr h="566928">
                <a:tc>
                  <a:txBody>
                    <a:bodyPr/>
                    <a:lstStyle/>
                    <a:p>
                      <a:r>
                        <a:rPr sz="1600" b="0">
                          <a:solidFill>
                            <a:srgbClr val="1B1B1B"/>
                          </a:solidFill>
                          <a:latin typeface="Calibri"/>
                        </a:rPr>
                        <a:t>number one</a:t>
                      </a:r>
                    </a:p>
                  </a:txBody>
                  <a:tcPr>
                    <a:solidFill>
                      <a:srgbClr val="FFFFFF"/>
                    </a:solidFill>
                  </a:tcPr>
                </a:tc>
                <a:tc>
                  <a:txBody>
                    <a:bodyPr/>
                    <a:lstStyle/>
                    <a:p>
                      <a:r>
                        <a:rPr sz="1600" b="0">
                          <a:solidFill>
                            <a:srgbClr val="1B1B1B"/>
                          </a:solidFill>
                          <a:latin typeface="Calibri"/>
                        </a:rPr>
                        <a:t>the -est / the most</a:t>
                      </a:r>
                    </a:p>
                  </a:txBody>
                  <a:tcPr>
                    <a:solidFill>
                      <a:srgbClr val="FFFFFF"/>
                    </a:solidFill>
                  </a:tcPr>
                </a:tc>
                <a:tc>
                  <a:txBody>
                    <a:bodyPr/>
                    <a:lstStyle/>
                    <a:p>
                      <a:r>
                        <a:rPr sz="1600" b="0">
                          <a:solidFill>
                            <a:srgbClr val="1B1B1B"/>
                          </a:solidFill>
                          <a:latin typeface="Calibri"/>
                        </a:rPr>
                        <a:t>She is the most talented singer.</a:t>
                      </a:r>
                    </a:p>
                  </a:txBody>
                  <a:tcPr>
                    <a:solidFill>
                      <a:srgbClr val="FFFFFF"/>
                    </a:solidFill>
                  </a:tcPr>
                </a:tc>
              </a:tr>
              <a:tr h="566928">
                <a:tc>
                  <a:txBody>
                    <a:bodyPr/>
                    <a:lstStyle/>
                    <a:p>
                      <a:r>
                        <a:rPr sz="1600" b="0">
                          <a:solidFill>
                            <a:srgbClr val="1B1B1B"/>
                          </a:solidFill>
                          <a:latin typeface="Calibri"/>
                        </a:rPr>
                        <a:t>equal</a:t>
                      </a:r>
                    </a:p>
                  </a:txBody>
                  <a:tcPr>
                    <a:solidFill>
                      <a:srgbClr val="E3F3EE"/>
                    </a:solidFill>
                  </a:tcPr>
                </a:tc>
                <a:tc>
                  <a:txBody>
                    <a:bodyPr/>
                    <a:lstStyle/>
                    <a:p>
                      <a:r>
                        <a:rPr sz="1600" b="0">
                          <a:solidFill>
                            <a:srgbClr val="1B1B1B"/>
                          </a:solidFill>
                          <a:latin typeface="Calibri"/>
                        </a:rPr>
                        <a:t>as … as</a:t>
                      </a:r>
                    </a:p>
                  </a:txBody>
                  <a:tcPr>
                    <a:solidFill>
                      <a:srgbClr val="E3F3EE"/>
                    </a:solidFill>
                  </a:tcPr>
                </a:tc>
                <a:tc>
                  <a:txBody>
                    <a:bodyPr/>
                    <a:lstStyle/>
                    <a:p>
                      <a:r>
                        <a:rPr sz="1600" b="0">
                          <a:solidFill>
                            <a:srgbClr val="1B1B1B"/>
                          </a:solidFill>
                          <a:latin typeface="Calibri"/>
                        </a:rPr>
                        <a:t>My drawing is as good as yours.</a:t>
                      </a:r>
                    </a:p>
                  </a:txBody>
                  <a:tcPr>
                    <a:solidFill>
                      <a:srgbClr val="E3F3EE"/>
                    </a:solidFill>
                  </a:tcPr>
                </a:tc>
              </a:tr>
              <a:tr h="566928">
                <a:tc>
                  <a:txBody>
                    <a:bodyPr/>
                    <a:lstStyle/>
                    <a:p>
                      <a:r>
                        <a:rPr sz="1600" b="0">
                          <a:solidFill>
                            <a:srgbClr val="1B1B1B"/>
                          </a:solidFill>
                          <a:latin typeface="Calibri"/>
                        </a:rPr>
                        <a:t>quantity (C)</a:t>
                      </a:r>
                    </a:p>
                  </a:txBody>
                  <a:tcPr>
                    <a:solidFill>
                      <a:srgbClr val="FFFFFF"/>
                    </a:solidFill>
                  </a:tcPr>
                </a:tc>
                <a:tc>
                  <a:txBody>
                    <a:bodyPr/>
                    <a:lstStyle/>
                    <a:p>
                      <a:r>
                        <a:rPr sz="1600" b="0">
                          <a:solidFill>
                            <a:srgbClr val="1B1B1B"/>
                          </a:solidFill>
                          <a:latin typeface="Calibri"/>
                        </a:rPr>
                        <a:t>many / a few / How many</a:t>
                      </a:r>
                    </a:p>
                  </a:txBody>
                  <a:tcPr>
                    <a:solidFill>
                      <a:srgbClr val="FFFFFF"/>
                    </a:solidFill>
                  </a:tcPr>
                </a:tc>
                <a:tc>
                  <a:txBody>
                    <a:bodyPr/>
                    <a:lstStyle/>
                    <a:p>
                      <a:r>
                        <a:rPr sz="1600" b="0">
                          <a:solidFill>
                            <a:srgbClr val="1B1B1B"/>
                          </a:solidFill>
                          <a:latin typeface="Calibri"/>
                        </a:rPr>
                        <a:t>How many eggs are there?</a:t>
                      </a:r>
                    </a:p>
                  </a:txBody>
                  <a:tcPr>
                    <a:solidFill>
                      <a:srgbClr val="FFFFFF"/>
                    </a:solidFill>
                  </a:tcPr>
                </a:tc>
              </a:tr>
              <a:tr h="566928">
                <a:tc>
                  <a:txBody>
                    <a:bodyPr/>
                    <a:lstStyle/>
                    <a:p>
                      <a:r>
                        <a:rPr sz="1600" b="0">
                          <a:solidFill>
                            <a:srgbClr val="1B1B1B"/>
                          </a:solidFill>
                          <a:latin typeface="Calibri"/>
                        </a:rPr>
                        <a:t>quantity (U)</a:t>
                      </a:r>
                    </a:p>
                  </a:txBody>
                  <a:tcPr>
                    <a:solidFill>
                      <a:srgbClr val="E3F3EE"/>
                    </a:solidFill>
                  </a:tcPr>
                </a:tc>
                <a:tc>
                  <a:txBody>
                    <a:bodyPr/>
                    <a:lstStyle/>
                    <a:p>
                      <a:r>
                        <a:rPr sz="1600" b="0">
                          <a:solidFill>
                            <a:srgbClr val="1B1B1B"/>
                          </a:solidFill>
                          <a:latin typeface="Calibri"/>
                        </a:rPr>
                        <a:t>much / a little / How much</a:t>
                      </a:r>
                    </a:p>
                  </a:txBody>
                  <a:tcPr>
                    <a:solidFill>
                      <a:srgbClr val="E3F3EE"/>
                    </a:solidFill>
                  </a:tcPr>
                </a:tc>
                <a:tc>
                  <a:txBody>
                    <a:bodyPr/>
                    <a:lstStyle/>
                    <a:p>
                      <a:r>
                        <a:rPr sz="1600" b="0">
                          <a:solidFill>
                            <a:srgbClr val="1B1B1B"/>
                          </a:solidFill>
                          <a:latin typeface="Calibri"/>
                        </a:rPr>
                        <a:t>How much sugar do we need?</a:t>
                      </a:r>
                    </a:p>
                  </a:txBody>
                  <a:tcPr>
                    <a:solidFill>
                      <a:srgbClr val="E3F3EE"/>
                    </a:solidFill>
                  </a:tcPr>
                </a:tc>
              </a:tr>
              <a:tr h="566928">
                <a:tc>
                  <a:txBody>
                    <a:bodyPr/>
                    <a:lstStyle/>
                    <a:p>
                      <a:r>
                        <a:rPr sz="1600" b="0">
                          <a:solidFill>
                            <a:srgbClr val="1B1B1B"/>
                          </a:solidFill>
                          <a:latin typeface="Calibri"/>
                        </a:rPr>
                        <a:t>habit</a:t>
                      </a:r>
                    </a:p>
                  </a:txBody>
                  <a:tcPr>
                    <a:solidFill>
                      <a:srgbClr val="FFFFFF"/>
                    </a:solidFill>
                  </a:tcPr>
                </a:tc>
                <a:tc>
                  <a:txBody>
                    <a:bodyPr/>
                    <a:lstStyle/>
                    <a:p>
                      <a:r>
                        <a:rPr sz="1600" b="0">
                          <a:solidFill>
                            <a:srgbClr val="1B1B1B"/>
                          </a:solidFill>
                          <a:latin typeface="Calibri"/>
                        </a:rPr>
                        <a:t>present simple</a:t>
                      </a:r>
                    </a:p>
                  </a:txBody>
                  <a:tcPr>
                    <a:solidFill>
                      <a:srgbClr val="FFFFFF"/>
                    </a:solidFill>
                  </a:tcPr>
                </a:tc>
                <a:tc>
                  <a:txBody>
                    <a:bodyPr/>
                    <a:lstStyle/>
                    <a:p>
                      <a:r>
                        <a:rPr sz="1600" b="0">
                          <a:solidFill>
                            <a:srgbClr val="1B1B1B"/>
                          </a:solidFill>
                          <a:latin typeface="Calibri"/>
                        </a:rPr>
                        <a:t>We start at seven every day.</a:t>
                      </a:r>
                    </a:p>
                  </a:txBody>
                  <a:tcPr>
                    <a:solidFill>
                      <a:srgbClr val="FFFFFF"/>
                    </a:solidFill>
                  </a:tcPr>
                </a:tc>
              </a:tr>
              <a:tr h="566928">
                <a:tc>
                  <a:txBody>
                    <a:bodyPr/>
                    <a:lstStyle/>
                    <a:p>
                      <a:r>
                        <a:rPr sz="1600" b="0">
                          <a:solidFill>
                            <a:srgbClr val="1B1B1B"/>
                          </a:solidFill>
                          <a:latin typeface="Calibri"/>
                        </a:rPr>
                        <a:t>now / plan</a:t>
                      </a:r>
                    </a:p>
                  </a:txBody>
                  <a:tcPr>
                    <a:solidFill>
                      <a:srgbClr val="E3F3EE"/>
                    </a:solidFill>
                  </a:tcPr>
                </a:tc>
                <a:tc>
                  <a:txBody>
                    <a:bodyPr/>
                    <a:lstStyle/>
                    <a:p>
                      <a:r>
                        <a:rPr sz="1600" b="0">
                          <a:solidFill>
                            <a:srgbClr val="1B1B1B"/>
                          </a:solidFill>
                          <a:latin typeface="Calibri"/>
                        </a:rPr>
                        <a:t>am/is/are + V-ing</a:t>
                      </a:r>
                    </a:p>
                  </a:txBody>
                  <a:tcPr>
                    <a:solidFill>
                      <a:srgbClr val="E3F3EE"/>
                    </a:solidFill>
                  </a:tcPr>
                </a:tc>
                <a:tc>
                  <a:txBody>
                    <a:bodyPr/>
                    <a:lstStyle/>
                    <a:p>
                      <a:r>
                        <a:rPr sz="1600" b="0">
                          <a:solidFill>
                            <a:srgbClr val="1B1B1B"/>
                          </a:solidFill>
                          <a:latin typeface="Calibri"/>
                        </a:rPr>
                        <a:t>We are visiting Hue next Friday.</a:t>
                      </a:r>
                    </a:p>
                  </a:txBody>
                  <a:tcPr>
                    <a:solidFill>
                      <a:srgbClr val="E3F3EE"/>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new canteen is bigger than the old one and it sells more fruit, but there isn't much space at break time. This week…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three most expensive errors in the test: *more louder*, *How many money*, and using the present simple for a fixed future plan.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Our new canteen is bigger than the old one and it sells more fruit, but there isn't much space at break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4–6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that will be tested: /ʊ/ vs /uː/, /ɒ/ vs /ɔː/, /ʃ/ and /ʒ/, and stress before -tion / -sion.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 /uː/ school, music</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/ɒ/ hot, coffee – /ɔː/ water, salty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/ʃ/ sugar, she – /ʒ/ revision, television</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edu'CA-tion, compe'TI-tion, re'VI-sion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wants a good book about the competition.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 water in the canteen is not too salty.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14: How About This?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choosing what to wear for an evening at the theatre. American English — VOA’s professional actors (Anna, Pete, Marsha, Ms. Weaver…), slowed learner delivery. It lasts 3:28.</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3:28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people do things in their free time B. choosing what to wear for an evening at the theatre C. things that are possible but not certain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Those clothes look great … for a man!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the right size for you is medium.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Oh, I don’t like this outfit.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These clothes are formal: a suit jacket, a dress shirt and a tie!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This green shirt is too large and this orange skirt is too orange.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Maybe _____ magazine can help.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 really want a friend _____ her to help 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_____ about jeans and a t-shirt?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Genie: _____ about something more formal?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Genie, _____ dress is beautiful.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Mai, Thanks for your email about Vietnamese food — I'm hungry now! You asked about my school. It's called Riverside School and it's in a small town in the north of England. It's much smaller than yours: only 420 students. We start at half past eight and finish at a quarter past three, so our day is longer than yours, but we have a whole hour for lunch. The best thing about my school is the music room. I play the guitar and I'm in the school band. We're the loudest club in the school! Our music teacher says we are the worst band she has ever heard, but she still comes to every practice. This week we aren't having normal lessons on Thursday, because we're preparing for the summer concert. My class is making 200 sandwiches to sell — I hope people are hungry. One question: is it true that Vietnamese students clean their own classroom? Here we have cleaners, and my mother says that's why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is Kevin's school and how big is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Compare the two school days (start, finish, length).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Kevin do in his free time at school?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his music teacher's opinion of the band?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aren't they having normal lessons on Thursday?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question does Kevin ask, and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comparatives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superlatives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present continuous for this week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present simple habit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4–6.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who watch a show: a______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public show of art: e______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hot dish with liquid: s______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list of dishes: m______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you do experiments: l______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4–6.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you wear to school: u______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the plan of your lessons: t______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things you need to cook: i______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(the most / most) talented singer in the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song is (better / more good) than that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 many) sugar do we need?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 are) some rice in the pot.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There isn't (some / any) milk.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Look! The teacher (comes / is coming).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We (have / are having) English every Tuesday.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Next Friday we (visit / are visiting) the museum. (arranged)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(don't like / am not liking) durian.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more louder than folk.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most famous singer.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more good than that.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drawing is as good than yours.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looks like beautiful.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like the music traditional.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There are some rice in the pot.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How many money do you have?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I don't want some sugar.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She bought two bowl of soups.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 want a pho, please.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You heat the oil first.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Look! The bus comes.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Every day I am going to school by bike.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He playing football 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I am knowing the answer.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We visit the museum next Friday. (arranged)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We have English in Monday.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REV2-S1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REV2-S1 with two different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favourite kind of music or art (with two comparisons)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favourite dish (what it is made with, how it is served)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My school (facts, facilities, and what is happening this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Coping strategies in a test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say that again?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mean…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 in English?</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kind of…</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practice with the three topic cards.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comparison of two kinds of music or two art forms.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recipe (ingredients + 5–6 steps).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 email describing your school to a pen friend.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Comparatives and superlatives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Countable/uncountable and quantifiers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present continuous (three uses)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 pronunciation checks of Units 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24 words from Units 4–6 with Vietnamese meanings: 8 about music/art, 8 about food, 8 about school.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REV2-W1 (90–110 words)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REV2L1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