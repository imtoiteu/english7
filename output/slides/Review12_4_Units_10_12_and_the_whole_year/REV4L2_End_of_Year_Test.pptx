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12  ·  LESSON 2  ·  PERIOD 94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END-OF-YEAR TEST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End-of-Year Test (Units 1–12) — 45 minutes + speaking</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show what they can do across the whole year in four skills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complete a 45-minute test under exam conditions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 3-minute paired speaking assessment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receive their result and their September writing for comparison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Setting up  (3')</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Desks apart. Write the four parts and the timings on the board.</a:t>
            </a:r>
          </a:p>
        </p:txBody>
      </p:sp>
      <p:sp>
        <p:nvSpPr>
          <p:cNvPr id="10" name="TextBox 9"/>
          <p:cNvSpPr txBox="1"/>
          <p:nvPr/>
        </p:nvSpPr>
        <p:spPr>
          <a:xfrm>
            <a:off x="1005840" y="260604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Say: 'Same format as the other three tests. No surprises. Keep twelve minutes for the writing.'</a:t>
            </a:r>
          </a:p>
        </p:txBody>
      </p:sp>
      <p:sp>
        <p:nvSpPr>
          <p:cNvPr id="11" name="TextBox 10"/>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Prepare and read the instructions.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End-of-year test format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1 Listening (2 marks) – 5 questions, played twice.</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2 Language focus (3 marks) – vocabulary, grammar, pronunciation from the whole year.</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3 Reading (2.5 marks) – one text, 5 questions.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4 Writing (2.5 marks) – one text, 120–140 words.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Marks</a:t>
                      </a:r>
                    </a:p>
                  </a:txBody>
                  <a:tcPr>
                    <a:solidFill>
                      <a:srgbClr val="0E7C66"/>
                    </a:solidFill>
                  </a:tcPr>
                </a:tc>
                <a:tc>
                  <a:txBody>
                    <a:bodyPr/>
                    <a:lstStyle/>
                    <a:p>
                      <a:r>
                        <a:rPr sz="1600" b="1">
                          <a:solidFill>
                            <a:srgbClr val="FFFFFF"/>
                          </a:solidFill>
                          <a:latin typeface="Calibri"/>
                        </a:rPr>
                        <a:t>Time</a:t>
                      </a:r>
                    </a:p>
                  </a:txBody>
                  <a:tcPr>
                    <a:solidFill>
                      <a:srgbClr val="0E7C66"/>
                    </a:solidFill>
                  </a:tcPr>
                </a:tc>
              </a:tr>
              <a:tr h="566928">
                <a:tc>
                  <a:txBody>
                    <a:bodyPr/>
                    <a:lstStyle/>
                    <a:p>
                      <a:r>
                        <a:rPr sz="1600" b="0">
                          <a:solidFill>
                            <a:srgbClr val="1B1B1B"/>
                          </a:solidFill>
                          <a:latin typeface="Calibri"/>
                        </a:rPr>
                        <a:t>Listening</a:t>
                      </a:r>
                    </a:p>
                  </a:txBody>
                  <a:tcPr>
                    <a:solidFill>
                      <a:srgbClr val="E3F3EE"/>
                    </a:solidFill>
                  </a:tcPr>
                </a:tc>
                <a:tc>
                  <a:txBody>
                    <a:bodyPr/>
                    <a:lstStyle/>
                    <a:p>
                      <a:r>
                        <a:rPr sz="1600" b="0">
                          <a:solidFill>
                            <a:srgbClr val="1B1B1B"/>
                          </a:solidFill>
                          <a:latin typeface="Calibri"/>
                        </a:rPr>
                        <a:t>2.0</a:t>
                      </a:r>
                    </a:p>
                  </a:txBody>
                  <a:tcPr>
                    <a:solidFill>
                      <a:srgbClr val="E3F3EE"/>
                    </a:solidFill>
                  </a:tcPr>
                </a:tc>
                <a:tc>
                  <a:txBody>
                    <a:bodyPr/>
                    <a:lstStyle/>
                    <a:p>
                      <a:r>
                        <a:rPr sz="1600" b="0">
                          <a:solidFill>
                            <a:srgbClr val="1B1B1B"/>
                          </a:solidFill>
                          <a:latin typeface="Calibri"/>
                        </a:rPr>
                        <a:t>8 minutes</a:t>
                      </a:r>
                    </a:p>
                  </a:txBody>
                  <a:tcPr>
                    <a:solidFill>
                      <a:srgbClr val="E3F3EE"/>
                    </a:solidFill>
                  </a:tcPr>
                </a:tc>
              </a:tr>
              <a:tr h="566928">
                <a:tc>
                  <a:txBody>
                    <a:bodyPr/>
                    <a:lstStyle/>
                    <a:p>
                      <a:r>
                        <a:rPr sz="1600" b="0">
                          <a:solidFill>
                            <a:srgbClr val="1B1B1B"/>
                          </a:solidFill>
                          <a:latin typeface="Calibri"/>
                        </a:rPr>
                        <a:t>Language focus</a:t>
                      </a:r>
                    </a:p>
                  </a:txBody>
                  <a:tcPr>
                    <a:solidFill>
                      <a:srgbClr val="FFFFFF"/>
                    </a:solidFill>
                  </a:tcPr>
                </a:tc>
                <a:tc>
                  <a:txBody>
                    <a:bodyPr/>
                    <a:lstStyle/>
                    <a:p>
                      <a:r>
                        <a:rPr sz="1600" b="0">
                          <a:solidFill>
                            <a:srgbClr val="1B1B1B"/>
                          </a:solidFill>
                          <a:latin typeface="Calibri"/>
                        </a:rPr>
                        <a:t>3.0</a:t>
                      </a:r>
                    </a:p>
                  </a:txBody>
                  <a:tcPr>
                    <a:solidFill>
                      <a:srgbClr val="FFFFFF"/>
                    </a:solidFill>
                  </a:tcPr>
                </a:tc>
                <a:tc>
                  <a:txBody>
                    <a:bodyPr/>
                    <a:lstStyle/>
                    <a:p>
                      <a:r>
                        <a:rPr sz="1600" b="0">
                          <a:solidFill>
                            <a:srgbClr val="1B1B1B"/>
                          </a:solidFill>
                          <a:latin typeface="Calibri"/>
                        </a:rPr>
                        <a:t>12 minutes</a:t>
                      </a:r>
                    </a:p>
                  </a:txBody>
                  <a:tcPr>
                    <a:solidFill>
                      <a:srgbClr val="FFFFFF"/>
                    </a:solidFill>
                  </a:tcPr>
                </a:tc>
              </a:tr>
              <a:tr h="566928">
                <a:tc>
                  <a:txBody>
                    <a:bodyPr/>
                    <a:lstStyle/>
                    <a:p>
                      <a:r>
                        <a:rPr sz="1600" b="0">
                          <a:solidFill>
                            <a:srgbClr val="1B1B1B"/>
                          </a:solidFill>
                          <a:latin typeface="Calibri"/>
                        </a:rPr>
                        <a:t>Reading</a:t>
                      </a:r>
                    </a:p>
                  </a:txBody>
                  <a:tcPr>
                    <a:solidFill>
                      <a:srgbClr val="E3F3EE"/>
                    </a:solidFill>
                  </a:tcPr>
                </a:tc>
                <a:tc>
                  <a:txBody>
                    <a:bodyPr/>
                    <a:lstStyle/>
                    <a:p>
                      <a:r>
                        <a:rPr sz="1600" b="0">
                          <a:solidFill>
                            <a:srgbClr val="1B1B1B"/>
                          </a:solidFill>
                          <a:latin typeface="Calibri"/>
                        </a:rPr>
                        <a:t>2.5</a:t>
                      </a:r>
                    </a:p>
                  </a:txBody>
                  <a:tcPr>
                    <a:solidFill>
                      <a:srgbClr val="E3F3EE"/>
                    </a:solidFill>
                  </a:tcPr>
                </a:tc>
                <a:tc>
                  <a:txBody>
                    <a:bodyPr/>
                    <a:lstStyle/>
                    <a:p>
                      <a:r>
                        <a:rPr sz="1600" b="0">
                          <a:solidFill>
                            <a:srgbClr val="1B1B1B"/>
                          </a:solidFill>
                          <a:latin typeface="Calibri"/>
                        </a:rPr>
                        <a:t>12 minutes</a:t>
                      </a:r>
                    </a:p>
                  </a:txBody>
                  <a:tcPr>
                    <a:solidFill>
                      <a:srgbClr val="E3F3EE"/>
                    </a:solidFill>
                  </a:tcPr>
                </a:tc>
              </a:tr>
              <a:tr h="566928">
                <a:tc>
                  <a:txBody>
                    <a:bodyPr/>
                    <a:lstStyle/>
                    <a:p>
                      <a:r>
                        <a:rPr sz="1600" b="0">
                          <a:solidFill>
                            <a:srgbClr val="1B1B1B"/>
                          </a:solidFill>
                          <a:latin typeface="Calibri"/>
                        </a:rPr>
                        <a:t>Writing</a:t>
                      </a:r>
                    </a:p>
                  </a:txBody>
                  <a:tcPr>
                    <a:solidFill>
                      <a:srgbClr val="FFFFFF"/>
                    </a:solidFill>
                  </a:tcPr>
                </a:tc>
                <a:tc>
                  <a:txBody>
                    <a:bodyPr/>
                    <a:lstStyle/>
                    <a:p>
                      <a:r>
                        <a:rPr sz="1600" b="0">
                          <a:solidFill>
                            <a:srgbClr val="1B1B1B"/>
                          </a:solidFill>
                          <a:latin typeface="Calibri"/>
                        </a:rPr>
                        <a:t>2.5</a:t>
                      </a:r>
                    </a:p>
                  </a:txBody>
                  <a:tcPr>
                    <a:solidFill>
                      <a:srgbClr val="FFFFFF"/>
                    </a:solidFill>
                  </a:tcPr>
                </a:tc>
                <a:tc>
                  <a:txBody>
                    <a:bodyPr/>
                    <a:lstStyle/>
                    <a:p>
                      <a:r>
                        <a:rPr sz="1600" b="0">
                          <a:solidFill>
                            <a:srgbClr val="1B1B1B"/>
                          </a:solidFill>
                          <a:latin typeface="Calibri"/>
                        </a:rPr>
                        <a:t>13 minutes</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 every instruction twice. Answer every question — never leave a blank.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Keep 12 minutes for the writing: it is the longest task of the four tests this year.</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Read every instruction twice. Answer every question — never leave a blank.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Speaking assessment criteria (unchanged all year)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Task 3 · Fluency 2.5 · Pronunciation 2.5 · Accuracy 2.</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Keep talking.</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Finish your words.</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one comparative and one 'because'.</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one tense from this term (will / might / present perfect).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My favourite… is… I have never… but I have… Next year I will…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46: May I Borrow That?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asking to borrow things. American English — VOA’s professional actors (Anna, Pete, Marsha, Ms. Weaver…), slowed learner delivery. It lasts 3:00.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3:00 · American English — VOA’s professional actors (Anna, Pete, Marsha, Ms. Weaver…), slowed learner delivery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one person travels in the city B. asking to borrow things C. training for a marathon as a fitness goal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Well, I know you love hats.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Yes, I can lend them to you, but you must return them.</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Let's Learn English - Level 4</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Many people loaned or shared their supplies with me.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Quiz - Lesson 46: December I Borrow That?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Marsha: Do you have pen and paper I can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I’ll just have to _____ a couple of things.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Amelia, _____ I borrow your stapler?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Amelia: I _____ lend you my stapler, Anna.</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_____ I borrow your scissors?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End-of-Year Test – Reading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CLASS THAT WROTE A BOOK Two years ago, class 7B in a school in Hai Duong made an English cookbook. Every student interviewed a grandparent, wrote the recipe in Vietnamese, and then translated it with the teacher's help. It was harder than it sounds. One grandmother said 'a handful of rice' and 'cook until it smells right', which is difficult to put into grams and minutes. Several students had to go back and ask again — and again. The finished book had 34 recipes, 34 photographs and 34 short paragraphs about the person who gave each recipe. The school printed 200 copies and sold them for 50,000 dong each. The money bought new books for the library. But the real result was not the money. When the books were given out, several grandparents came to the school — some of them for the first time in their lives. One grandfather, who cannot read, asked his granddaughter to read his page alou…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TEST4-R</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were the three steps of the students' work?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was translating the recipes difficult? Give one example.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did the finished book contain, and what did the money buy?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happened when the books were given out?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Explain the teacher's last two sentences in your own words.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TEST4-P2A</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ONE word from the year.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h______ is collecting stamps. (Unit 1)</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should eat a b______ diet. (Unit 2)</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v______ works without pay. (Unit 3)</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Could we have the b______ , please? (Unit 5)</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Always wear a h______ on a motorbike. (Unit 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TEST4-P2A</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ONE word from the year.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Children carry a l______ at Trung Thu. (Unit 9)</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Sun and wind are r______ energy. (Unit 10)</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The p______ of a country is the number of people. (Unit 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(1/3)</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sister (collect / collects) coins.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They enjoy (play / playing) board games.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Yesterday we (clean / cleaned) the beach.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Look! The bus (comes / is coming).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You (must / must to) wear a helmet.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(2/3)</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Rock is (louder / more louder) than folk music.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How (much / many) sugar do we need?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(Although / However) it was long, I liked 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9. Solar energy (will be / will to be) cheaper.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10. I have never (be / been) abroad.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(3/3)</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11. I (have been / went) to Hue last year.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12. It is the largest country (in / of) the world.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TEST4-P2C</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word with a DIFFERENT sound.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likes / plays / opens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helped / washed / cleaned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visited / painted / worked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think / three / this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ship / live / sheep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TEST4-P2C</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word with a DIFFERENT sound.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bike / ride / train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TEST4-S</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pairs. Choose ONE card, think for one minute, speak for two minutes. The examiner asks two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A: My hobby and my free time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B: My school, my town or my favourite festival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C: A film, a book or a dish I would recommend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D: My English year and my plans for Grade 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Test-taking and finishing well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Could you repeat that, please?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I start again?</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sure, but I think…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Paired speaking assessment.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TEST4-W</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ONE task and write 120–140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An email to a pen friend about your school year (four paragraphs).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 description of a Vietnamese festival or dish for a foreign visitor.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'My town in 2050': the situation now, three predictions, one problem and your opinion.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test covers the whole year.</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Return the papers with each student's September writing for comparison.</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Record: total /10 paper + /10 speaking + the year's project and homework marks.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REV4L2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TEST4-H1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After the test — Write a short letter to yourself for the first day of Grade 8 (100 words).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TEST4-H2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Summer challenge — Do THREE of these five things during the summer and write one line about each.</a:t>
            </a:r>
          </a:p>
        </p:txBody>
      </p:sp>
      <p:sp>
        <p:nvSpPr>
          <p:cNvPr id="14" name="TextBox 13"/>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REV4L2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