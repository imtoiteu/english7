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6_1_B1-10-1-First-Conditional.mp3" TargetMode="External"/><Relationship Id="rId3" Type="http://schemas.openxmlformats.org/officeDocument/2006/relationships/hyperlink" Target="../../../audio/FU10L6_2_B1-10-2-First-Conditional.mp3" TargetMode="External"/><Relationship Id="rId4" Type="http://schemas.openxmlformats.org/officeDocument/2006/relationships/hyperlink" Target="../../../audio/FU10L6_3_B1-10-3-First-Conditional.mp3" TargetMode="External"/><Relationship Id="rId5" Type="http://schemas.openxmlformats.org/officeDocument/2006/relationships/hyperlink" Target="../../../audio/FU10L6_4_B1-10-4-First-Conditional.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6  ·  PERIOD 77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An energy audit + Writing: Energy in 2050</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audit report and complete a table with numbers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prediction paragraph (situation now – predictions – conclusion)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100–120 words about energy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Number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eight numbers (4.5 million, 80%, 26 degrees…); students write them; pair-check.</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write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/ˈɔːdɪt/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kiểm toán, khảo sát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class did an energy audit.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measure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/ˈmeʒə/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đo lường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First, measure how much you use.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compare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so sánh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Compare this month with last month.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result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/rɪˈzʌlt/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quả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results surprised everybody.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no single solution.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the long 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ðə lɒŋ tɜːm/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về lâu dài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long term, solar will be cheaper.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carry out an audit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long term</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change will 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 paragraph: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SITUATION NOW (present simple): Today most of our electricity comes from…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PREDICTIONS (will / won't + probably/certainly): In 2050, solar power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A PROBLEM OR A DOUBT (however / although): However, batteries will still be…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CONCLUSION (opinion): In my opinion, the biggest change will be…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Tense/language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about half of our electricity comes from coal.</a:t>
                      </a:r>
                    </a:p>
                  </a:txBody>
                  <a:tcPr>
                    <a:solidFill>
                      <a:srgbClr val="E3F3EE"/>
                    </a:solidFill>
                  </a:tcPr>
                </a:tc>
              </a:tr>
              <a:tr h="566928">
                <a:tc>
                  <a:txBody>
                    <a:bodyPr/>
                    <a:lstStyle/>
                    <a:p>
                      <a:r>
                        <a:rPr sz="1600" b="0">
                          <a:solidFill>
                            <a:srgbClr val="1B1B1B"/>
                          </a:solidFill>
                          <a:latin typeface="Calibri"/>
                        </a:rPr>
                        <a:t>Prediction</a:t>
                      </a:r>
                    </a:p>
                  </a:txBody>
                  <a:tcPr>
                    <a:solidFill>
                      <a:srgbClr val="FFFFFF"/>
                    </a:solidFill>
                  </a:tcPr>
                </a:tc>
                <a:tc>
                  <a:txBody>
                    <a:bodyPr/>
                    <a:lstStyle/>
                    <a:p>
                      <a:r>
                        <a:rPr sz="1600" b="0">
                          <a:solidFill>
                            <a:srgbClr val="1B1B1B"/>
                          </a:solidFill>
                          <a:latin typeface="Calibri"/>
                        </a:rPr>
                        <a:t>will / won't</a:t>
                      </a:r>
                    </a:p>
                  </a:txBody>
                  <a:tcPr>
                    <a:solidFill>
                      <a:srgbClr val="FFFFFF"/>
                    </a:solidFill>
                  </a:tcPr>
                </a:tc>
                <a:tc>
                  <a:txBody>
                    <a:bodyPr/>
                    <a:lstStyle/>
                    <a:p>
                      <a:r>
                        <a:rPr sz="1600" b="0">
                          <a:solidFill>
                            <a:srgbClr val="1B1B1B"/>
                          </a:solidFill>
                          <a:latin typeface="Calibri"/>
                        </a:rPr>
                        <a:t>By 2050 solar power will probably be the cheapest.</a:t>
                      </a:r>
                    </a:p>
                  </a:txBody>
                  <a:tcPr>
                    <a:solidFill>
                      <a:srgbClr val="FFFFFF"/>
                    </a:solidFill>
                  </a:tcPr>
                </a:tc>
              </a:tr>
              <a:tr h="566928">
                <a:tc>
                  <a:txBody>
                    <a:bodyPr/>
                    <a:lstStyle/>
                    <a:p>
                      <a:r>
                        <a:rPr sz="1600" b="0">
                          <a:solidFill>
                            <a:srgbClr val="1B1B1B"/>
                          </a:solidFill>
                          <a:latin typeface="Calibri"/>
                        </a:rPr>
                        <a:t>Doubt</a:t>
                      </a:r>
                    </a:p>
                  </a:txBody>
                  <a:tcPr>
                    <a:solidFill>
                      <a:srgbClr val="E3F3EE"/>
                    </a:solidFill>
                  </a:tcPr>
                </a:tc>
                <a:tc>
                  <a:txBody>
                    <a:bodyPr/>
                    <a:lstStyle/>
                    <a:p>
                      <a:r>
                        <a:rPr sz="1600" b="0">
                          <a:solidFill>
                            <a:srgbClr val="1B1B1B"/>
                          </a:solidFill>
                          <a:latin typeface="Calibri"/>
                        </a:rPr>
                        <a:t>However / Although</a:t>
                      </a:r>
                    </a:p>
                  </a:txBody>
                  <a:tcPr>
                    <a:solidFill>
                      <a:srgbClr val="E3F3EE"/>
                    </a:solidFill>
                  </a:tcPr>
                </a:tc>
                <a:tc>
                  <a:txBody>
                    <a:bodyPr/>
                    <a:lstStyle/>
                    <a:p>
                      <a:r>
                        <a:rPr sz="1600" b="0">
                          <a:solidFill>
                            <a:srgbClr val="1B1B1B"/>
                          </a:solidFill>
                          <a:latin typeface="Calibri"/>
                        </a:rPr>
                        <a:t>However, we won't solve the storage problem quickly.</a:t>
                      </a:r>
                    </a:p>
                  </a:txBody>
                  <a:tcPr>
                    <a:solidFill>
                      <a:srgbClr val="E3F3EE"/>
                    </a:solidFill>
                  </a:tcPr>
                </a:tc>
              </a:tr>
              <a:tr h="566928">
                <a:tc>
                  <a:txBody>
                    <a:bodyPr/>
                    <a:lstStyle/>
                    <a:p>
                      <a:r>
                        <a:rPr sz="1600" b="0">
                          <a:solidFill>
                            <a:srgbClr val="1B1B1B"/>
                          </a:solidFill>
                          <a:latin typeface="Calibri"/>
                        </a:rPr>
                        <a:t>Conclusion</a:t>
                      </a:r>
                    </a:p>
                  </a:txBody>
                  <a:tcPr>
                    <a:solidFill>
                      <a:srgbClr val="FFFFFF"/>
                    </a:solidFill>
                  </a:tcPr>
                </a:tc>
                <a:tc>
                  <a:txBody>
                    <a:bodyPr/>
                    <a:lstStyle/>
                    <a:p>
                      <a:r>
                        <a:rPr sz="1600" b="0">
                          <a:solidFill>
                            <a:srgbClr val="1B1B1B"/>
                          </a:solidFill>
                          <a:latin typeface="Calibri"/>
                        </a:rPr>
                        <a:t>In my opinion,…</a:t>
                      </a:r>
                    </a:p>
                  </a:txBody>
                  <a:tcPr>
                    <a:solidFill>
                      <a:srgbClr val="FFFFFF"/>
                    </a:solidFill>
                  </a:tcPr>
                </a:tc>
                <a:tc>
                  <a:txBody>
                    <a:bodyPr/>
                    <a:lstStyle/>
                    <a:p>
                      <a:r>
                        <a:rPr sz="1600" b="0">
                          <a:solidFill>
                            <a:srgbClr val="1B1B1B"/>
                          </a:solidFill>
                          <a:latin typeface="Calibri"/>
                        </a:rPr>
                        <a:t>In my opinion, the biggest change will be how we store energy.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most Vietnamese families use electricity for lights and fans. In twenty years, they will probably use it for cars…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predictions and forget the present. A prediction is much stronger when it starts from a fact about today.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most Vietnamese families use electricity for lights and fans. In twenty years, they will probably use 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numbers and predictions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big numbers: four point five million, eighty per cent, twenty-six degrees. Stress the number, not the unit: FOUR point FIVE million dong.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 four point five million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80% = eighty per cent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26°C = twenty-six degrees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results show that we waste about four point five million dong a year.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An LED bulb uses eighty per cent less electricity.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first conditional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will happen if we do something. Two speakers, scripted dialogue, native English.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2"/>
              </a:rPr>
              <a:t>▶ U10L6 part 1</a:t>
            </a:r>
          </a:p>
        </p:txBody>
      </p:sp>
      <p:sp>
        <p:nvSpPr>
          <p:cNvPr id="12" name="Rounded Rectangle 11"/>
          <p:cNvSpPr/>
          <p:nvPr/>
        </p:nvSpPr>
        <p:spPr>
          <a:xfrm>
            <a:off x="4334256"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3"/>
              </a:rPr>
              <a:t>▶ U10L6 part 2</a:t>
            </a:r>
          </a:p>
        </p:txBody>
      </p:sp>
      <p:sp>
        <p:nvSpPr>
          <p:cNvPr id="13" name="Rounded Rectangle 12"/>
          <p:cNvSpPr/>
          <p:nvPr/>
        </p:nvSpPr>
        <p:spPr>
          <a:xfrm>
            <a:off x="7936992"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4"/>
              </a:rPr>
              <a:t>▶ U10L6 part 3</a:t>
            </a:r>
          </a:p>
        </p:txBody>
      </p:sp>
      <p:sp>
        <p:nvSpPr>
          <p:cNvPr id="14" name="Rounded Rectangle 13"/>
          <p:cNvSpPr/>
          <p:nvPr/>
        </p:nvSpPr>
        <p:spPr>
          <a:xfrm>
            <a:off x="731520" y="5586984"/>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5"/>
              </a:rPr>
              <a:t>▶ U10L6 part 4</a:t>
            </a:r>
          </a:p>
        </p:txBody>
      </p:sp>
      <p:sp>
        <p:nvSpPr>
          <p:cNvPr id="15" name="TextBox 14"/>
          <p:cNvSpPr txBox="1"/>
          <p:nvPr/>
        </p:nvSpPr>
        <p:spPr>
          <a:xfrm>
            <a:off x="731520" y="6181344"/>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will happen if we do something B. months of the year and when things happen C. the best, the fastest and the most popular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having a party on Wednesday.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your plans for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need 11 players to play.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Parking might be a problem, so if you can, I would take the subway.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Well, the party will go until midnight, so please come if you have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Well, the weather forecast says it 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Well, _____ it rains, we will play in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send an email to everyone explaining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_____ we don’t get enough players, we will cancel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Well, you better get busy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paragraph: Energy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most of the electricity in Viet Nam comes from hydro power and coal, and only a small part comes from the sun and the wind. In my own house, we use electricity mainly for lights, fans and the fridge. I think this will change completely by 2050. Solar power will almost certainly be the cheapest kind of electricity, and most houses will have panels on the roof. Cars and motorbikes will probably be electric, so the air in our cities will be much cleaner. Coal power stations won't disappear immediately, but they will become smaller and fewer. However, one problem won't be solved quickly. The sun goes down every evening, and batteries are still expensive. Although they are getting better every year, storing energy will remain the difficult part. In my opinion, the biggest change won't be how we make electricity. It will be how much we waste. A country that wastes less needs fewer powe…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tense is used in paragraph 1, and why?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two adverbs make the predictions softer or stronger?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paragraph gives the problem, and which word introduces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writer's main opinion?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N (now, present simple) or F (future, will).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of our electricity comes from coal.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Solar power will be the cheapest.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uses electricity for lights and fans.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Cars will probably be electric.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are still expensive.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with the adverb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power will be the cheapest. (almost certainly)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Cars will be electric. (probably)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Coal won't disappear. (probably → careful with word order!)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will be hotter. (certainly)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Report your group's audit results in 60 seconds.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Report your group's audit results in 60 seconds.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predictions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about your house, one about transport, one about your town, one about the world.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Reporting results and drawing a conclusion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total,…</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conclusion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recommend…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Report the results of your energy audit to the class in 60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situation now (with one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Prediction 1 (will + probably/certainly):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Prediction 2: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Prediction 3 (won't):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problem (However / Although):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Conclusion (In my opinion, the biggest change will be…):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energy in 2050.</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will/won't for the future; one 'However'; a clear opinion at the end.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starts with the situation NOW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prediction with won't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adverb (probably / certainly)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'However' or 'Although'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an opinion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Audit listening: numbers and comparisons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 now – predictions – problem –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 with will and won't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audit.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audit, measure, compare, results, solution, in the long term.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paragraph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numbers aloud five times: 4.5 million, 80 per cent, 26 degrees, 12,000 litres, 154 bulbs.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