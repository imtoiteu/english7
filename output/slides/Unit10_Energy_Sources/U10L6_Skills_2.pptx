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6  ·  PERIOD 75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An energy audit + Writing: Energy in 2050</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an audit report and complete a table with numbers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 prediction paragraph (situation now – predictions – conclusion)</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100–120 words about energy in the future</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work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Number dictation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Read eight numbers (4.5 million, 80%, 26 degrees…); students write them; pair-check.</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write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audit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/ˈɔːdɪt/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kiểm toán, khảo sát</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class did an energy audit.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measure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/ˈmeʒə/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đo lường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First, measure how much you use.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compare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/kəmˈpeə/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so sánh</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Compare this month with last month.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result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/rɪˈzʌlt/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kết quả</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results surprised everybody.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solution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/səˈluːʃn/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giải pháp</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no single solution.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 the long term</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 ðə lɒŋ tɜːm/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về lâu dài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In the long term, solar will be cheaper.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carry out an audit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results show that…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ten years' time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the long term</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biggest change will 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Prediction paragraph: structure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 THE SITUATION NOW (present simple): Today most of our electricity comes from…</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 PREDICTIONS (will / won't + probably/certainly): In 2050, solar power will…</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3. A PROBLEM OR A DOUBT (however / although): However, batteries will still be…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 CONCLUSION (opinion): In my opinion, the biggest change will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Tense/language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Now</a:t>
                      </a:r>
                    </a:p>
                  </a:txBody>
                  <a:tcPr>
                    <a:solidFill>
                      <a:srgbClr val="E3F3EE"/>
                    </a:solidFill>
                  </a:tcPr>
                </a:tc>
                <a:tc>
                  <a:txBody>
                    <a:bodyPr/>
                    <a:lstStyle/>
                    <a:p>
                      <a:r>
                        <a:rPr sz="1600" b="0">
                          <a:solidFill>
                            <a:srgbClr val="1B1B1B"/>
                          </a:solidFill>
                          <a:latin typeface="Calibri"/>
                        </a:rPr>
                        <a:t>present simple</a:t>
                      </a:r>
                    </a:p>
                  </a:txBody>
                  <a:tcPr>
                    <a:solidFill>
                      <a:srgbClr val="E3F3EE"/>
                    </a:solidFill>
                  </a:tcPr>
                </a:tc>
                <a:tc>
                  <a:txBody>
                    <a:bodyPr/>
                    <a:lstStyle/>
                    <a:p>
                      <a:r>
                        <a:rPr sz="1600" b="0">
                          <a:solidFill>
                            <a:srgbClr val="1B1B1B"/>
                          </a:solidFill>
                          <a:latin typeface="Calibri"/>
                        </a:rPr>
                        <a:t>Today, about half of our electricity comes from coal.</a:t>
                      </a:r>
                    </a:p>
                  </a:txBody>
                  <a:tcPr>
                    <a:solidFill>
                      <a:srgbClr val="E3F3EE"/>
                    </a:solidFill>
                  </a:tcPr>
                </a:tc>
              </a:tr>
              <a:tr h="566928">
                <a:tc>
                  <a:txBody>
                    <a:bodyPr/>
                    <a:lstStyle/>
                    <a:p>
                      <a:r>
                        <a:rPr sz="1600" b="0">
                          <a:solidFill>
                            <a:srgbClr val="1B1B1B"/>
                          </a:solidFill>
                          <a:latin typeface="Calibri"/>
                        </a:rPr>
                        <a:t>Prediction</a:t>
                      </a:r>
                    </a:p>
                  </a:txBody>
                  <a:tcPr>
                    <a:solidFill>
                      <a:srgbClr val="FFFFFF"/>
                    </a:solidFill>
                  </a:tcPr>
                </a:tc>
                <a:tc>
                  <a:txBody>
                    <a:bodyPr/>
                    <a:lstStyle/>
                    <a:p>
                      <a:r>
                        <a:rPr sz="1600" b="0">
                          <a:solidFill>
                            <a:srgbClr val="1B1B1B"/>
                          </a:solidFill>
                          <a:latin typeface="Calibri"/>
                        </a:rPr>
                        <a:t>will / won't</a:t>
                      </a:r>
                    </a:p>
                  </a:txBody>
                  <a:tcPr>
                    <a:solidFill>
                      <a:srgbClr val="FFFFFF"/>
                    </a:solidFill>
                  </a:tcPr>
                </a:tc>
                <a:tc>
                  <a:txBody>
                    <a:bodyPr/>
                    <a:lstStyle/>
                    <a:p>
                      <a:r>
                        <a:rPr sz="1600" b="0">
                          <a:solidFill>
                            <a:srgbClr val="1B1B1B"/>
                          </a:solidFill>
                          <a:latin typeface="Calibri"/>
                        </a:rPr>
                        <a:t>By 2050 solar power will probably be the cheapest.</a:t>
                      </a:r>
                    </a:p>
                  </a:txBody>
                  <a:tcPr>
                    <a:solidFill>
                      <a:srgbClr val="FFFFFF"/>
                    </a:solidFill>
                  </a:tcPr>
                </a:tc>
              </a:tr>
              <a:tr h="566928">
                <a:tc>
                  <a:txBody>
                    <a:bodyPr/>
                    <a:lstStyle/>
                    <a:p>
                      <a:r>
                        <a:rPr sz="1600" b="0">
                          <a:solidFill>
                            <a:srgbClr val="1B1B1B"/>
                          </a:solidFill>
                          <a:latin typeface="Calibri"/>
                        </a:rPr>
                        <a:t>Doubt</a:t>
                      </a:r>
                    </a:p>
                  </a:txBody>
                  <a:tcPr>
                    <a:solidFill>
                      <a:srgbClr val="E3F3EE"/>
                    </a:solidFill>
                  </a:tcPr>
                </a:tc>
                <a:tc>
                  <a:txBody>
                    <a:bodyPr/>
                    <a:lstStyle/>
                    <a:p>
                      <a:r>
                        <a:rPr sz="1600" b="0">
                          <a:solidFill>
                            <a:srgbClr val="1B1B1B"/>
                          </a:solidFill>
                          <a:latin typeface="Calibri"/>
                        </a:rPr>
                        <a:t>However / Although</a:t>
                      </a:r>
                    </a:p>
                  </a:txBody>
                  <a:tcPr>
                    <a:solidFill>
                      <a:srgbClr val="E3F3EE"/>
                    </a:solidFill>
                  </a:tcPr>
                </a:tc>
                <a:tc>
                  <a:txBody>
                    <a:bodyPr/>
                    <a:lstStyle/>
                    <a:p>
                      <a:r>
                        <a:rPr sz="1600" b="0">
                          <a:solidFill>
                            <a:srgbClr val="1B1B1B"/>
                          </a:solidFill>
                          <a:latin typeface="Calibri"/>
                        </a:rPr>
                        <a:t>However, we won't solve the storage problem quickly.</a:t>
                      </a:r>
                    </a:p>
                  </a:txBody>
                  <a:tcPr>
                    <a:solidFill>
                      <a:srgbClr val="E3F3EE"/>
                    </a:solidFill>
                  </a:tcPr>
                </a:tc>
              </a:tr>
              <a:tr h="566928">
                <a:tc>
                  <a:txBody>
                    <a:bodyPr/>
                    <a:lstStyle/>
                    <a:p>
                      <a:r>
                        <a:rPr sz="1600" b="0">
                          <a:solidFill>
                            <a:srgbClr val="1B1B1B"/>
                          </a:solidFill>
                          <a:latin typeface="Calibri"/>
                        </a:rPr>
                        <a:t>Conclusion</a:t>
                      </a:r>
                    </a:p>
                  </a:txBody>
                  <a:tcPr>
                    <a:solidFill>
                      <a:srgbClr val="FFFFFF"/>
                    </a:solidFill>
                  </a:tcPr>
                </a:tc>
                <a:tc>
                  <a:txBody>
                    <a:bodyPr/>
                    <a:lstStyle/>
                    <a:p>
                      <a:r>
                        <a:rPr sz="1600" b="0">
                          <a:solidFill>
                            <a:srgbClr val="1B1B1B"/>
                          </a:solidFill>
                          <a:latin typeface="Calibri"/>
                        </a:rPr>
                        <a:t>In my opinion,…</a:t>
                      </a:r>
                    </a:p>
                  </a:txBody>
                  <a:tcPr>
                    <a:solidFill>
                      <a:srgbClr val="FFFFFF"/>
                    </a:solidFill>
                  </a:tcPr>
                </a:tc>
                <a:tc>
                  <a:txBody>
                    <a:bodyPr/>
                    <a:lstStyle/>
                    <a:p>
                      <a:r>
                        <a:rPr sz="1600" b="0">
                          <a:solidFill>
                            <a:srgbClr val="1B1B1B"/>
                          </a:solidFill>
                          <a:latin typeface="Calibri"/>
                        </a:rPr>
                        <a:t>In my opinion, the biggest change will be how we store energy.</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Today most Vietnamese families use electricity for lights and fans. In twenty years, they will probably use it for cars…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only predictions and forget the present. A prediction is much stronger when it starts from a fact about today.</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Today most Vietnamese families use electricity for lights and fans. In twenty years, they will probably use 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Reading numbers and predictions aloud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Practise big numbers: four point five million, eighty per cent, twenty-six degrees. Stress the number, not the unit: FOUR point FIVE million dong.</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4.5 million = four point five million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80% = eighty per cent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26°C = twenty-six degrees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results show that we waste about four point five million dong a year.</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An LED bulb uses eighty per cent less electricity.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The first conditional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will happen if we do something. Two speakers, scripted dialogue, native English. It lasts 3:20.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3:20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will happen if we do something B. months of the year and when things happen C. the best, the fastest and the most popular things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having a party on Wednesday.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are your plans for tonight?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need 11 players to play.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Parking might be a problem, so if you can, I would take the subway.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Well, the party will go until midnight, so please come if you have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Well, the weather forecast says it _____ rain.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Well, _____ it rains, we will play in the gym.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I _____ send an email to everyone explaining this.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_____ we don’t get enough players, we will cancel though.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Woman: Well, you better get busy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paragraph: Energy in 2050</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Today, most of the electricity in Viet Nam comes from hydro power and coal, and only a small part comes from the sun and the wind. In my own house, we use electricity mainly for lights, fans and the fridge. I think this will change completely by 2050. Solar power will almost certainly be the cheapest kind of electricity, and most houses will have panels on the roof. Cars and motorbikes will probably be electric, so the air in our cities will be much cleaner. Coal power stations won't disappear immediately, but they will become smaller and fewer. However, one problem won't be solved quickly. The sun goes down every evening, and batteries are still expensive. Although they are getting better every year, storing energy will remain the difficult part. In my opinion, the biggest change won't be how we make electricity. It will be how much we waste. A country that wastes less needs fewer powe…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tense is used in paragraph 1, and why?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Find three predictions with 'will'.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two adverbs make the predictions softer or stronger?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paragraph gives the problem, and which word introduces it?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the writer's main opinion?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N (now, present simple) or F (future, will).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Most of our electricity comes from coal.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Solar power will be the cheapest.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My family uses electricity for lights and fans.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Cars will probably be electric.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Batteries are still expensive.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Rewrite with the adverb in brackets.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Solar power will be the cheapest. (almost certainly)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Cars will be electric. (probably)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Coal won't disappear. (probably → careful with word order!)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world will be hotter. (certainly)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U10.6-W1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U10.6-W1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Report your group's audit results in 60 seconds.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Report your group's audit results in 60 seconds.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four predictions before you write.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One about your house, one about transport, one about your town, one about the world.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Reporting results and drawing a conclusion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measured / counted…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results show that…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total,…</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conclusion is…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recommend…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Report the results of your energy audit to the class in 60 seconds.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situation now (with one number if you can):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Prediction 1 (will + probably/certainly):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Prediction 2: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Prediction 3 (won't):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problem (However / Although):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Conclusion (In my opinion, the biggest change will be…):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100–120 words about energy in 2050.</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Present simple for now; will/won't for the future; one 'However'; a clear opinion at the end.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starts with the situation NOW (present simple)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three predictions with will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prediction with won't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adverb (probably / certainly)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'However' or 'Although'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an opinion at the end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100–120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Audit listening: numbers and comparisons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Prediction paragraph: now – predictions – problem – opinion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Adverb position with will and won't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audit.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audit, measure, compare, results, solution, in the long term.</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paragraph neatly after correction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saying these numbers aloud five times: 4.5 million, 80 per cent, 26 degrees, 12,000 litres, 154 bulbs.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