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0L2_1_A2-05-Going-To.mp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2  ·  PERIOD 73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Saving energy: verbs and collocations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ten verbs and phrases about using and saving energy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/tʃ/ and /dʒ/ correctly in sentences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five pieces of advice about saving energy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explain a cause and a result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Renewable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an energy source; students shout R or N. Recycles Lesson 1.</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Sort the sources.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turn off / turn 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/tɜːn ɒf/   (v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tắt / bật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Turn off the fan when you leave.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waste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/weɪst/   (v/n)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lãng phí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waste water.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reduce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/rɪˈdjuːs/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must reduce our electricity use.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pollution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/pəˈluːʃn/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ô nhiễm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Coal causes air pollution.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climate change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/ˈklaɪmət tʃeɪndʒ/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biến đổi khí hậu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Climate change affects farmers.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bulb</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/bʌlb/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bóng đèn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 LED bulb uses much less electricity.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charge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/tʃɑːdʒ/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sạc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charge your phone all night.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standby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/ˈstændbaɪ/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chế độ chờ</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TV on standby still uses electricity.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off the lights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waste electricity</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reduce pollution</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save money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cause climate change</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use less /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Cause and result: because / so / cause (recycled and extend…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because + cause: We use more electricity in summer BECAUSE it is hot.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 + result: It is hot, SO we use more electricity.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X causes Y: Burning coal CAUSES air pollution.</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means that…: The sun goes down. THIS MEANS THAT we need 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result because cause</a:t>
                      </a:r>
                    </a:p>
                  </a:txBody>
                  <a:tcPr>
                    <a:solidFill>
                      <a:srgbClr val="E3F3EE"/>
                    </a:solidFill>
                  </a:tcPr>
                </a:tc>
                <a:tc>
                  <a:txBody>
                    <a:bodyPr/>
                    <a:lstStyle/>
                    <a:p>
                      <a:r>
                        <a:rPr sz="1600" b="0">
                          <a:solidFill>
                            <a:srgbClr val="1B1B1B"/>
                          </a:solidFill>
                          <a:latin typeface="Calibri"/>
                        </a:rPr>
                        <a:t>The bill is high because we use the air conditioner.</a:t>
                      </a:r>
                    </a:p>
                  </a:txBody>
                  <a:tcPr>
                    <a:solidFill>
                      <a:srgbClr val="E3F3EE"/>
                    </a:solidFill>
                  </a:tcPr>
                </a:tc>
              </a:tr>
              <a:tr h="566928">
                <a:tc>
                  <a:txBody>
                    <a:bodyPr/>
                    <a:lstStyle/>
                    <a:p>
                      <a:r>
                        <a:rPr sz="1600" b="0">
                          <a:solidFill>
                            <a:srgbClr val="1B1B1B"/>
                          </a:solidFill>
                          <a:latin typeface="Calibri"/>
                        </a:rPr>
                        <a:t>cause, so result</a:t>
                      </a:r>
                    </a:p>
                  </a:txBody>
                  <a:tcPr>
                    <a:solidFill>
                      <a:srgbClr val="FFFFFF"/>
                    </a:solidFill>
                  </a:tcPr>
                </a:tc>
                <a:tc>
                  <a:txBody>
                    <a:bodyPr/>
                    <a:lstStyle/>
                    <a:p>
                      <a:r>
                        <a:rPr sz="1600" b="0">
                          <a:solidFill>
                            <a:srgbClr val="1B1B1B"/>
                          </a:solidFill>
                          <a:latin typeface="Calibri"/>
                        </a:rPr>
                        <a:t>It was 39 degrees, so the bill is high.</a:t>
                      </a:r>
                    </a:p>
                  </a:txBody>
                  <a:tcPr>
                    <a:solidFill>
                      <a:srgbClr val="FFFFFF"/>
                    </a:solidFill>
                  </a:tcPr>
                </a:tc>
              </a:tr>
              <a:tr h="566928">
                <a:tc>
                  <a:txBody>
                    <a:bodyPr/>
                    <a:lstStyle/>
                    <a:p>
                      <a:r>
                        <a:rPr sz="1600" b="0">
                          <a:solidFill>
                            <a:srgbClr val="1B1B1B"/>
                          </a:solidFill>
                          <a:latin typeface="Calibri"/>
                        </a:rPr>
                        <a:t>X causes Y</a:t>
                      </a:r>
                    </a:p>
                  </a:txBody>
                  <a:tcPr>
                    <a:solidFill>
                      <a:srgbClr val="E3F3EE"/>
                    </a:solidFill>
                  </a:tcPr>
                </a:tc>
                <a:tc>
                  <a:txBody>
                    <a:bodyPr/>
                    <a:lstStyle/>
                    <a:p>
                      <a:r>
                        <a:rPr sz="1600" b="0">
                          <a:solidFill>
                            <a:srgbClr val="1B1B1B"/>
                          </a:solidFill>
                          <a:latin typeface="Calibri"/>
                        </a:rPr>
                        <a:t>Coal smoke causes air pollution.</a:t>
                      </a:r>
                    </a:p>
                  </a:txBody>
                  <a:tcPr>
                    <a:solidFill>
                      <a:srgbClr val="E3F3EE"/>
                    </a:solidFill>
                  </a:tcPr>
                </a:tc>
              </a:tr>
              <a:tr h="566928">
                <a:tc>
                  <a:txBody>
                    <a:bodyPr/>
                    <a:lstStyle/>
                    <a:p>
                      <a:r>
                        <a:rPr sz="1600" b="0">
                          <a:solidFill>
                            <a:srgbClr val="1B1B1B"/>
                          </a:solidFill>
                          <a:latin typeface="Calibri"/>
                        </a:rPr>
                        <a:t>This means that…</a:t>
                      </a:r>
                    </a:p>
                  </a:txBody>
                  <a:tcPr>
                    <a:solidFill>
                      <a:srgbClr val="FFFFFF"/>
                    </a:solidFill>
                  </a:tcPr>
                </a:tc>
                <a:tc>
                  <a:txBody>
                    <a:bodyPr/>
                    <a:lstStyle/>
                    <a:p>
                      <a:r>
                        <a:rPr sz="1600" b="0">
                          <a:solidFill>
                            <a:srgbClr val="1B1B1B"/>
                          </a:solidFill>
                          <a:latin typeface="Calibri"/>
                        </a:rPr>
                        <a:t>Solar panels need sun. This means that they produce nothing at night.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Leaving computers on standby wastes electricity, so our bill is higher than it should be.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Burning coal causes pollution and climate change.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Still the number one error: *Because … so …* in one sentence. Also *It causes to pollution* — 'cause' takes a direct object: 'It causes pollution'.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Leaving computers on standby wastes electricity, so our bill is higher than it should be.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/tʃ/ and /dʒ/ in longer words and sentences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Watch: CHARGE has BOTH sounds (/tʃɑːdʒ/). CHANGE too (/tʃeɪndʒ/). ENERGY, VILLAGE, BRIDGE end with /dʒ/.</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charge /tʃɑːdʒ/</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change /tʃeɪndʒ/</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energy /ˈenədʒi/</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village /ˈvɪlɪdʒ/</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Don't charge your phone in the kitchen all night.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Climate change is changing our village.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Going to — plans people have made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plans people have already made. Two speakers, scripted dialogue, native English. It lasts 3:02.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3:02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plans people have already made B. what people did yesterday C. going to a baseball game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There’s going to be about 13 people.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It’s going to be a lot of fun.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We’re not going to start until 10, so around then.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No, we’re going to camp by the lake.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That sounds delicious, I’d love to go.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What are you _____ to do tonight?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I’m just _____ to stay home.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I’m just going to take it easy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We’re going to a barbecue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Ten minutes that save a million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 secondary school in Da Nang did a simple experiment. For one week, a teacher photographed the school at 12.15, when the morning shift had gone home. The photographs showed 38 lights, 19 fans and 6 computers still on, in rooms with nobody in them. The school did not buy anything. It made one rule: the last person out of a room turns off the lights, the fan and the computer. Each class chose a monitor to check. After three months, the school compared the bills. It was paying 1.1 million dong a month less than the year before. 'The interesting thing,' the head teacher said, 'is that nobody worked harder. Nobody sat in the dark. We simply stopped paying for empty rooms.' The school used the money for a new water filter and forty pairs of school shoes for students who needed them.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teacher do for one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 photographs show?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rule did the school make?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did the school save each month?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did the school do with the money?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turn off, waste, reduce, cause, charge, save.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Please ______ the lights when you leave.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Don't ______ water — the tap is still running!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LED bulbs ______ our electricity bill.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Burning coal ______ pollution.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Don't ______ your phone all night.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turn off, waste, reduce, cause, charge, save.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These small actions ______ a lot of money.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bill was high ______ we used the air conditioner.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was very hot, ______ we used the air conditioner.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changed the bulbs, ______ the bill is lower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Solar panels need sun, ______ they produce nothing at night.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Because it was hot so we used the fan.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causes to pollution.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Please turn off light.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must reduce the electricities.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This means solar panels produce nothing at night.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U10.2-S2 and report one idea to the class.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U10.2-S2 and report one idea to the class.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five pieces of advice about saving energy, each with a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'You should…because…' / 'Don't…, because…' / 'If we…, we will save…'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around your classroom right now. Find three ways to save energy and explain them to your partner.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Look at: lights, fans, windows, the door, the computer, the projector.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Persuading somebody to change a habit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only takes a second.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little helps.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Think of the money.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know, but…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try it for a month.</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You'll see the difference.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want your family (or your class) to save energy. Give three arguments; your partner gives two objections.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the sentences with because, so or causes.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 use the air conditioner a lot. / The bill is high. (so)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bill is high. / We use the air conditioner a lot. (because)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Burning coal / air pollution (causes)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sun goes down. / Solar panels produce nothing at night. (This means that)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energy verbs and collocations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 causes / this means that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/tʃ/ and /dʒ/ including final /dʒ/</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waste, reduce, pollution, climate change, bulb, standby.</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the sentences with because, so, causes or this means that.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pieces of advice about saving energy at home, each with a reason.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words five times: charge, change, energy, village, kitchen.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