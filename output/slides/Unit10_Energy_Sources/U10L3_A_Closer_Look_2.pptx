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10  ·  LESSON 3  ·  PERIOD 74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The future simple: will and won't</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make predictions about the future with will and won't</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questions about the future with will</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'I think… will…' and 'I don't think… will…'</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talk about their own future in five sentences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Fortune teller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'predicts' three funny things about students ('You'll be a famous chef!'). Elicit the structure.</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Listen and notice 'will'.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future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/ˈfjuːtʃə/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tương lai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In the future we will use more solar energy.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predict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/prɪˈdɪkt/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dự đoán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Scientists predict a hotter climate.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probably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/ˈprɒbəbli/   (adv)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có lẽ</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will probably rain tomorrow.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certainly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/ˈsɜːtnli/   (adv)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chắc chắn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Prices will certainly rise.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run out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/rʌn aʊt/   (v phr)</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cạn kiệt</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Oil will run out one day.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replace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/rɪˈpleɪs/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thay thế</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Solar power will replace coal.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think … will …</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don't think … will …</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will probably</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won't … at all</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ten years'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Future simple: will / won't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WILL + bare verb for predictions and things we are sure about: Solar energy will be cheaper.</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WON'T (= will not) for negative predictions: Coal won't disappear immediately.</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WILL is the same for all subjects — no -s, no 'to'.</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Questions: Will + subject + bare verb? – Yes, it will. / No, it won't.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txBody>
                  <a:tcPr>
                    <a:solidFill>
                      <a:srgbClr val="0E7C66"/>
                    </a:solidFill>
                  </a:tcPr>
                </a:tc>
                <a:tc>
                  <a:txBody>
                    <a:bodyPr/>
                    <a:lstStyle/>
                    <a:p>
                      <a:r>
                        <a:rPr sz="1600" b="1">
                          <a:solidFill>
                            <a:srgbClr val="FFFFFF"/>
                          </a:solidFill>
                          <a:latin typeface="Calibri"/>
                        </a:rPr>
                        <a:t>Form</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a:t>
                      </a:r>
                    </a:p>
                  </a:txBody>
                  <a:tcPr>
                    <a:solidFill>
                      <a:srgbClr val="E3F3EE"/>
                    </a:solidFill>
                  </a:tcPr>
                </a:tc>
                <a:tc>
                  <a:txBody>
                    <a:bodyPr/>
                    <a:lstStyle/>
                    <a:p>
                      <a:r>
                        <a:rPr sz="1600" b="0">
                          <a:solidFill>
                            <a:srgbClr val="1B1B1B"/>
                          </a:solidFill>
                          <a:latin typeface="Calibri"/>
                        </a:rPr>
                        <a:t>will + bare verb</a:t>
                      </a:r>
                    </a:p>
                  </a:txBody>
                  <a:tcPr>
                    <a:solidFill>
                      <a:srgbClr val="E3F3EE"/>
                    </a:solidFill>
                  </a:tcPr>
                </a:tc>
                <a:tc>
                  <a:txBody>
                    <a:bodyPr/>
                    <a:lstStyle/>
                    <a:p>
                      <a:r>
                        <a:rPr sz="1600" b="0">
                          <a:solidFill>
                            <a:srgbClr val="1B1B1B"/>
                          </a:solidFill>
                          <a:latin typeface="Calibri"/>
                        </a:rPr>
                        <a:t>Solar energy will be cheaper.</a:t>
                      </a:r>
                    </a:p>
                  </a:txBody>
                  <a:tcPr>
                    <a:solidFill>
                      <a:srgbClr val="E3F3EE"/>
                    </a:solidFill>
                  </a:tcPr>
                </a:tc>
              </a:tr>
              <a:tr h="566928">
                <a:tc>
                  <a:txBody>
                    <a:bodyPr/>
                    <a:lstStyle/>
                    <a:p>
                      <a:r>
                        <a:rPr sz="1600" b="0">
                          <a:solidFill>
                            <a:srgbClr val="1B1B1B"/>
                          </a:solidFill>
                          <a:latin typeface="Calibri"/>
                        </a:rPr>
                        <a:t>–</a:t>
                      </a:r>
                    </a:p>
                  </a:txBody>
                  <a:tcPr>
                    <a:solidFill>
                      <a:srgbClr val="FFFFFF"/>
                    </a:solidFill>
                  </a:tcPr>
                </a:tc>
                <a:tc>
                  <a:txBody>
                    <a:bodyPr/>
                    <a:lstStyle/>
                    <a:p>
                      <a:r>
                        <a:rPr sz="1600" b="0">
                          <a:solidFill>
                            <a:srgbClr val="1B1B1B"/>
                          </a:solidFill>
                          <a:latin typeface="Calibri"/>
                        </a:rPr>
                        <a:t>won't + bare verb</a:t>
                      </a:r>
                    </a:p>
                  </a:txBody>
                  <a:tcPr>
                    <a:solidFill>
                      <a:srgbClr val="FFFFFF"/>
                    </a:solidFill>
                  </a:tcPr>
                </a:tc>
                <a:tc>
                  <a:txBody>
                    <a:bodyPr/>
                    <a:lstStyle/>
                    <a:p>
                      <a:r>
                        <a:rPr sz="1600" b="0">
                          <a:solidFill>
                            <a:srgbClr val="1B1B1B"/>
                          </a:solidFill>
                          <a:latin typeface="Calibri"/>
                        </a:rPr>
                        <a:t>Coal won't disappear immediately.</a:t>
                      </a:r>
                    </a:p>
                  </a:txBody>
                  <a:tcPr>
                    <a:solidFill>
                      <a:srgbClr val="FFFFFF"/>
                    </a:solidFill>
                  </a:tcPr>
                </a:tc>
              </a:tr>
              <a:tr h="566928">
                <a:tc>
                  <a:txBody>
                    <a:bodyPr/>
                    <a:lstStyle/>
                    <a:p>
                      <a:r>
                        <a:rPr sz="1600" b="0">
                          <a:solidFill>
                            <a:srgbClr val="1B1B1B"/>
                          </a:solidFill>
                          <a:latin typeface="Calibri"/>
                        </a:rPr>
                        <a:t>?</a:t>
                      </a:r>
                    </a:p>
                  </a:txBody>
                  <a:tcPr>
                    <a:solidFill>
                      <a:srgbClr val="E3F3EE"/>
                    </a:solidFill>
                  </a:tcPr>
                </a:tc>
                <a:tc>
                  <a:txBody>
                    <a:bodyPr/>
                    <a:lstStyle/>
                    <a:p>
                      <a:r>
                        <a:rPr sz="1600" b="0">
                          <a:solidFill>
                            <a:srgbClr val="1B1B1B"/>
                          </a:solidFill>
                          <a:latin typeface="Calibri"/>
                        </a:rPr>
                        <a:t>Will + subject + verb?</a:t>
                      </a:r>
                    </a:p>
                  </a:txBody>
                  <a:tcPr>
                    <a:solidFill>
                      <a:srgbClr val="E3F3EE"/>
                    </a:solidFill>
                  </a:tcPr>
                </a:tc>
                <a:tc>
                  <a:txBody>
                    <a:bodyPr/>
                    <a:lstStyle/>
                    <a:p>
                      <a:r>
                        <a:rPr sz="1600" b="0">
                          <a:solidFill>
                            <a:srgbClr val="1B1B1B"/>
                          </a:solidFill>
                          <a:latin typeface="Calibri"/>
                        </a:rPr>
                        <a:t>Will electric cars be normal? – Yes, they will.</a:t>
                      </a:r>
                    </a:p>
                  </a:txBody>
                  <a:tcPr>
                    <a:solidFill>
                      <a:srgbClr val="E3F3EE"/>
                    </a:solidFill>
                  </a:tcPr>
                </a:tc>
              </a:tr>
              <a:tr h="566928">
                <a:tc>
                  <a:txBody>
                    <a:bodyPr/>
                    <a:lstStyle/>
                    <a:p>
                      <a:r>
                        <a:rPr sz="1600" b="0">
                          <a:solidFill>
                            <a:srgbClr val="1B1B1B"/>
                          </a:solidFill>
                          <a:latin typeface="Calibri"/>
                        </a:rPr>
                        <a:t>adverb</a:t>
                      </a:r>
                    </a:p>
                  </a:txBody>
                  <a:tcPr>
                    <a:solidFill>
                      <a:srgbClr val="FFFFFF"/>
                    </a:solidFill>
                  </a:tcPr>
                </a:tc>
                <a:tc>
                  <a:txBody>
                    <a:bodyPr/>
                    <a:lstStyle/>
                    <a:p>
                      <a:r>
                        <a:rPr sz="1600" b="0">
                          <a:solidFill>
                            <a:srgbClr val="1B1B1B"/>
                          </a:solidFill>
                          <a:latin typeface="Calibri"/>
                        </a:rPr>
                        <a:t>will + adverb + verb</a:t>
                      </a:r>
                    </a:p>
                  </a:txBody>
                  <a:tcPr>
                    <a:solidFill>
                      <a:srgbClr val="FFFFFF"/>
                    </a:solidFill>
                  </a:tcPr>
                </a:tc>
                <a:tc>
                  <a:txBody>
                    <a:bodyPr/>
                    <a:lstStyle/>
                    <a:p>
                      <a:r>
                        <a:rPr sz="1600" b="0">
                          <a:solidFill>
                            <a:srgbClr val="1B1B1B"/>
                          </a:solidFill>
                          <a:latin typeface="Calibri"/>
                        </a:rPr>
                        <a:t>It will probably rain.</a:t>
                      </a:r>
                    </a:p>
                  </a:txBody>
                  <a:tcPr>
                    <a:solidFill>
                      <a:srgbClr val="FFFFFF"/>
                    </a:solidFill>
                  </a:tcPr>
                </a:tc>
              </a:tr>
              <a:tr h="566928">
                <a:tc>
                  <a:txBody>
                    <a:bodyPr/>
                    <a:lstStyle/>
                    <a:p>
                      <a:r>
                        <a:rPr sz="1600" b="0">
                          <a:solidFill>
                            <a:srgbClr val="1B1B1B"/>
                          </a:solidFill>
                          <a:latin typeface="Calibri"/>
                        </a:rPr>
                        <a:t>opinion</a:t>
                      </a:r>
                    </a:p>
                  </a:txBody>
                  <a:tcPr>
                    <a:solidFill>
                      <a:srgbClr val="E3F3EE"/>
                    </a:solidFill>
                  </a:tcPr>
                </a:tc>
                <a:tc>
                  <a:txBody>
                    <a:bodyPr/>
                    <a:lstStyle/>
                    <a:p>
                      <a:r>
                        <a:rPr sz="1600" b="0">
                          <a:solidFill>
                            <a:srgbClr val="1B1B1B"/>
                          </a:solidFill>
                          <a:latin typeface="Calibri"/>
                        </a:rPr>
                        <a:t>I (don't) think … will …</a:t>
                      </a:r>
                    </a:p>
                  </a:txBody>
                  <a:tcPr>
                    <a:solidFill>
                      <a:srgbClr val="E3F3EE"/>
                    </a:solidFill>
                  </a:tcPr>
                </a:tc>
                <a:tc>
                  <a:txBody>
                    <a:bodyPr/>
                    <a:lstStyle/>
                    <a:p>
                      <a:r>
                        <a:rPr sz="1600" b="0">
                          <a:solidFill>
                            <a:srgbClr val="1B1B1B"/>
                          </a:solidFill>
                          <a:latin typeface="Calibri"/>
                        </a:rPr>
                        <a:t>I don't think oil will last 50 years.</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twenty years, most houses in Viet Nam will have solar panels.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don't think petrol cars will disappear before 2040.</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Will we still use coal in 2050? – Some countries will.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*She wills go* (no -s), *will to go* (no 'to'), *I think it won't rain* (English prefers 'I don't think it will rain').</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In twenty years, most houses in Viet Nam will have solar panels.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The contraction 'll and weak 'will'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speech, 'will' becomes 'll and almost disappears: I'll /aɪl/, we'll /wiːl/, it'll /ˈɪtl/, they'll /ðeɪl/. 'Won't' is /wəʊnt/ — long and clear.</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I'll /aɪl/</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we'll /wiːl/</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it'll /ˈɪtl/</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they'll /ðeɪl/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I'll turn off the lights. We'll save money.</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It'll probably rain, so they'll stay at home.</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 won't forget. I don't want to forget.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Will — predictions and promises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predictions and promises about the future. Two speakers, scripted dialogue, native English. It lasts 3:02.</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3:02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comparing two things B. festivals in different months of the year C. predictions and promises about the future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It will begin at 12 and will go until 5.</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We’ll play at the new soccer field by City Café.</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will go to the beach with my family.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is your French class?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Matt won’t be there, but everyone else will.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Good, but it _____ finish next week.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Man: Oh, _____ you take the next course?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Yes, I _____ I’ll go.</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We _____ stay long, maybe two or three days.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Five predictions for 2040</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Nobody can see the future, but here are five things that most scientists agree about. 1. Solar power will be the cheapest electricity in most of the world. In some places it already is. 2. Petrol cars won't disappear, but they will become a small minority in cities. Many countries will stop selling new ones. 3. Air conditioning will use much more electricity than today, because the world will be hotter and more people will be able to afford it. This is a real problem for hot countries like Viet Nam. 4. Batteries will get much better and much cheaper. Storage, not production, will be the key. 5. And one prediction that is not about technology at all: the countries that manage best will be the ones that waste least. A kilowatt you don't use is always the cheapest kilowatt.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will be the cheapest electricity?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Will petrol cars disappear? Explain.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Why will air conditioning use more electricity? (two reasons)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will be 'the key'?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Explain prediction 5 in your own words.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 sentence with will or won't.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solar panels / cheaper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coal / disappear immediately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electric cars / normal in cities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world / cooler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batteries / important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question and a short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(solar energy / be cheaper?) – Yes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(coal / disappear soon?) – No</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 use more energy?) – Yes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(petrol cars / disappear?) – No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She will goes to Hanoi next year.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We will to save energy.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He willn't come.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think it won't rain tomorrow.</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Will you to help 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It will probably to be hot.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U10.3-S1 and report one agreement and one disagreement.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U10.3-S1 and report one agreement and one disagreement.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each prediction and say whether you agree, with a reason.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In 2040 every house in Viet Nam will have solar panels.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Petrol motorbikes will disappear from Vietnamese cities.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Students won't use paper books in 2040.</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People will work four days a week.</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Our town will be hotter in 2040.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five things about your own future.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I'll…, I won't…, I'll probably…, I don't think I'll…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Agreeing and disagreeing about the future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think so too.</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so sure.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Maybe, but…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optimistic!</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hope you're right.</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Only time will tell.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Two students discuss three predictions about their town in 2040. Agree on one and disagree on one.</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predictions.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Solar energy ______ be cheaper.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Coal ______ disappear immediately.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think batteries ______ be much better.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don't think oil ______ last for ever. (+ after 'don't think')</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world ______ probably be hotter.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will / won't + bare verb</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Will + subject + verb?</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will probably / will certainly</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don't think … will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U10L3</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will or won't.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Rewrite with 'I don't think… will…'.</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5 predictions about your town or your school in 2040.</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U10.3-H4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five sentences five times with the contraction: I'll help you. We'll save money. It'll be hot. They'll come. I won't forget.</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U10L3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