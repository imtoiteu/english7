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10  ·  LESSON 5  ·  PERIOD 74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A village with electricity + Speaking: Energy debate</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240-word article and answer gist, detail and inference questions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 short class debate with reasons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agree and disagree politely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Prediction ping-pong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gives a topic; students make a will-prediction. Recycles Lesson 3.</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predictions.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connect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/kəˈnekt/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kết nối, nối điện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village was connected in 2018.</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generator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/ˈdʒenəreɪtə/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máy phát điện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They used a noisy diesel generator.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battery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/ˈbætri/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pin, ắc quy</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batteries store energy for the night.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install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/ɪnˈstɔːl/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lắp đặt</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Workers installed forty solar panels.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supply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/səˈplaɪ/   (n/v)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nguồn cung cấp</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village now has a reliable supply.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afford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/əˈfɔːd/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đủ tiền mua</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Not every family can afford a fridge.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connected to the grid</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store energy</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cost of living</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afford to buy</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make a difference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Debate language: opinion, agreement, disagreement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Opinion: In my opinion… / I think… / It seems to me that…</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Agreement: I agree with Nam. / That's a good point.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Polite disagreement: I see what you mean, but… / I'm afraid I disagree, because…</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Concession (Unit 8): Although that is true,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Function</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r>
              <a:tr h="566928">
                <a:tc>
                  <a:txBody>
                    <a:bodyPr/>
                    <a:lstStyle/>
                    <a:p>
                      <a:r>
                        <a:rPr sz="1600" b="0">
                          <a:solidFill>
                            <a:srgbClr val="1B1B1B"/>
                          </a:solidFill>
                          <a:latin typeface="Calibri"/>
                        </a:rPr>
                        <a:t>give an opinion</a:t>
                      </a:r>
                    </a:p>
                  </a:txBody>
                  <a:tcPr>
                    <a:solidFill>
                      <a:srgbClr val="E3F3EE"/>
                    </a:solidFill>
                  </a:tcPr>
                </a:tc>
                <a:tc>
                  <a:txBody>
                    <a:bodyPr/>
                    <a:lstStyle/>
                    <a:p>
                      <a:r>
                        <a:rPr sz="1600" b="0">
                          <a:solidFill>
                            <a:srgbClr val="1B1B1B"/>
                          </a:solidFill>
                          <a:latin typeface="Calibri"/>
                        </a:rPr>
                        <a:t>In my opinion, solar power is the answer.</a:t>
                      </a:r>
                    </a:p>
                  </a:txBody>
                  <a:tcPr>
                    <a:solidFill>
                      <a:srgbClr val="E3F3EE"/>
                    </a:solidFill>
                  </a:tcPr>
                </a:tc>
              </a:tr>
              <a:tr h="566928">
                <a:tc>
                  <a:txBody>
                    <a:bodyPr/>
                    <a:lstStyle/>
                    <a:p>
                      <a:r>
                        <a:rPr sz="1600" b="0">
                          <a:solidFill>
                            <a:srgbClr val="1B1B1B"/>
                          </a:solidFill>
                          <a:latin typeface="Calibri"/>
                        </a:rPr>
                        <a:t>support it</a:t>
                      </a:r>
                    </a:p>
                  </a:txBody>
                  <a:tcPr>
                    <a:solidFill>
                      <a:srgbClr val="FFFFFF"/>
                    </a:solidFill>
                  </a:tcPr>
                </a:tc>
                <a:tc>
                  <a:txBody>
                    <a:bodyPr/>
                    <a:lstStyle/>
                    <a:p>
                      <a:r>
                        <a:rPr sz="1600" b="0">
                          <a:solidFill>
                            <a:srgbClr val="1B1B1B"/>
                          </a:solidFill>
                          <a:latin typeface="Calibri"/>
                        </a:rPr>
                        <a:t>…because it is free after you buy the panels.</a:t>
                      </a:r>
                    </a:p>
                  </a:txBody>
                  <a:tcPr>
                    <a:solidFill>
                      <a:srgbClr val="FFFFFF"/>
                    </a:solidFill>
                  </a:tcPr>
                </a:tc>
              </a:tr>
              <a:tr h="566928">
                <a:tc>
                  <a:txBody>
                    <a:bodyPr/>
                    <a:lstStyle/>
                    <a:p>
                      <a:r>
                        <a:rPr sz="1600" b="0">
                          <a:solidFill>
                            <a:srgbClr val="1B1B1B"/>
                          </a:solidFill>
                          <a:latin typeface="Calibri"/>
                        </a:rPr>
                        <a:t>agree</a:t>
                      </a:r>
                    </a:p>
                  </a:txBody>
                  <a:tcPr>
                    <a:solidFill>
                      <a:srgbClr val="E3F3EE"/>
                    </a:solidFill>
                  </a:tcPr>
                </a:tc>
                <a:tc>
                  <a:txBody>
                    <a:bodyPr/>
                    <a:lstStyle/>
                    <a:p>
                      <a:r>
                        <a:rPr sz="1600" b="0">
                          <a:solidFill>
                            <a:srgbClr val="1B1B1B"/>
                          </a:solidFill>
                          <a:latin typeface="Calibri"/>
                        </a:rPr>
                        <a:t>I agree with Mai — and I'd add that…</a:t>
                      </a:r>
                    </a:p>
                  </a:txBody>
                  <a:tcPr>
                    <a:solidFill>
                      <a:srgbClr val="E3F3EE"/>
                    </a:solidFill>
                  </a:tcPr>
                </a:tc>
              </a:tr>
              <a:tr h="566928">
                <a:tc>
                  <a:txBody>
                    <a:bodyPr/>
                    <a:lstStyle/>
                    <a:p>
                      <a:r>
                        <a:rPr sz="1600" b="0">
                          <a:solidFill>
                            <a:srgbClr val="1B1B1B"/>
                          </a:solidFill>
                          <a:latin typeface="Calibri"/>
                        </a:rPr>
                        <a:t>disagree politely</a:t>
                      </a:r>
                    </a:p>
                  </a:txBody>
                  <a:tcPr>
                    <a:solidFill>
                      <a:srgbClr val="FFFFFF"/>
                    </a:solidFill>
                  </a:tcPr>
                </a:tc>
                <a:tc>
                  <a:txBody>
                    <a:bodyPr/>
                    <a:lstStyle/>
                    <a:p>
                      <a:r>
                        <a:rPr sz="1600" b="0">
                          <a:solidFill>
                            <a:srgbClr val="1B1B1B"/>
                          </a:solidFill>
                          <a:latin typeface="Calibri"/>
                        </a:rPr>
                        <a:t>I see what you mean, but what about the night?</a:t>
                      </a:r>
                    </a:p>
                  </a:txBody>
                  <a:tcPr>
                    <a:solidFill>
                      <a:srgbClr val="FFFFFF"/>
                    </a:solidFill>
                  </a:tcPr>
                </a:tc>
              </a:tr>
              <a:tr h="566928">
                <a:tc>
                  <a:txBody>
                    <a:bodyPr/>
                    <a:lstStyle/>
                    <a:p>
                      <a:r>
                        <a:rPr sz="1600" b="0">
                          <a:solidFill>
                            <a:srgbClr val="1B1B1B"/>
                          </a:solidFill>
                          <a:latin typeface="Calibri"/>
                        </a:rPr>
                        <a:t>concede</a:t>
                      </a:r>
                    </a:p>
                  </a:txBody>
                  <a:tcPr>
                    <a:solidFill>
                      <a:srgbClr val="E3F3EE"/>
                    </a:solidFill>
                  </a:tcPr>
                </a:tc>
                <a:tc>
                  <a:txBody>
                    <a:bodyPr/>
                    <a:lstStyle/>
                    <a:p>
                      <a:r>
                        <a:rPr sz="1600" b="0">
                          <a:solidFill>
                            <a:srgbClr val="1B1B1B"/>
                          </a:solidFill>
                          <a:latin typeface="Calibri"/>
                        </a:rPr>
                        <a:t>Although that is true, batteries are still expensive.</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my opinion, every school should have solar panels, because we use most electricity exactly when the sun is strongest.</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see what you mean, but who will pay for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 disagree you* → 'I disagree WITH you'. *According to me* → 'In my opinion'.</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In my opinion, every school should have solar panels, because we use most electricity exactly when the sun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Stress in debate sentences and long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a debate, stress the KEY word of your argument: 'It is FREE after you buy the panels.' Watch: gene'rator, in'stall, su'pply, a'fford, con'nect.</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'generator (Oooo)</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in'stall (oO)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su'pply (oO)</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a'fford (oO)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In my opinion, / solar power / is the ANSWER, / because it is FREE.</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 see what you MEAN, / but who will PAY for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What will you do this month?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what one person will do in the near future. Single speaker — Natalie / England. It lasts 1:00.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One Minute English · 1:00 · Single speaker — Natalie / England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which foods are not healthy B. talking about amounts of things C. what one person will do in the near future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 am a little sad that I won't be here for his birthday, but he won't care.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Perhaps I will buy him a gift in Spain.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He'll be too busy partying with his friends.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I'll be in Spain on holiday.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What will I buy him for his birthday present?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brother _____ turn 18 years old this month.</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_____ buy him a gift for his birthday, but I won't be 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_____ forget to call him from Spain to wish him happy birthday.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Maybe I will buy him some spices, although I _____ be able to take spices on the airplane.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 will be here for his _____ birthday, though.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The village that got its evenings back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Until 2018, the village of Ta Van Chu in Lao Cai province had no electricity. It is 26 kilometres from the nearest town, on the other side of two mountains, and connecting it to the national grid would have cost more than eleven billion dong. For years the village used a small diesel generator. It was loud, it smelled, and diesel had to be carried up the mountain by motorbike. Families could afford to run it for about two hours a night — long enough to charge phones and light one room. In 2018 a project installed forty solar panels and a room full of batteries. The panels charge the batteries in the day; the batteries light the village at night. The change nobody predicted was not about light. It was about time. Before, children did their homework between six and eight, or not at all. Now they can study any evening. Two years after the panels arrived, the number of village children in 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solar panels work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How electricity changed one mountain village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The cost of diesel in Viet Nam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far is the village from the nearest town, and what would connecting it have cost?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were the three problems with the generator?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was installed in 2018?</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unexpected change happened?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Give two problems that remain.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national electricity system (paragraph 1)</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to have enough money for (paragraph 2)</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put in place and made ready to use (paragraph 3)</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become twice as many (paragraph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Explain the village leader's last sentence.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do you think the number of students doubled?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Who should pay for the new batteries in eight years? Give a reason.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village had no electricity before 2018.</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Connecting to the grid would have been cheap.</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generator ran all night.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number of students in upper secondary school doubled.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batteries will last for ever.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expressions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In my opinion   I agree with   I see what you mean, but   That's a good point   Although that is true</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 every school should have panels.</a:t>
            </a:r>
          </a:p>
        </p:txBody>
      </p:sp>
      <p:sp>
        <p:nvSpPr>
          <p:cNvPr id="13" name="TextBox 12"/>
          <p:cNvSpPr txBox="1"/>
          <p:nvPr/>
        </p:nvSpPr>
        <p:spPr>
          <a:xfrm>
            <a:off x="1005840" y="385876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Nam — and I would add one more reason.</a:t>
            </a:r>
          </a:p>
        </p:txBody>
      </p:sp>
      <p:sp>
        <p:nvSpPr>
          <p:cNvPr id="14" name="TextBox 13"/>
          <p:cNvSpPr txBox="1"/>
          <p:nvPr/>
        </p:nvSpPr>
        <p:spPr>
          <a:xfrm>
            <a:off x="1005840" y="451713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who will pay for them?</a:t>
            </a:r>
          </a:p>
        </p:txBody>
      </p:sp>
      <p:sp>
        <p:nvSpPr>
          <p:cNvPr id="15" name="TextBox 14"/>
          <p:cNvSpPr txBox="1"/>
          <p:nvPr/>
        </p:nvSpPr>
        <p:spPr>
          <a:xfrm>
            <a:off x="1005840" y="517550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 I hadn't thought of that.</a:t>
            </a:r>
          </a:p>
        </p:txBody>
      </p:sp>
      <p:sp>
        <p:nvSpPr>
          <p:cNvPr id="16" name="TextBox 15"/>
          <p:cNvSpPr txBox="1"/>
          <p:nvPr/>
        </p:nvSpPr>
        <p:spPr>
          <a:xfrm>
            <a:off x="1005840" y="583387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 the money must come from somewhere.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the story of Ta Van Chu in five sentences.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Close the book. Tell your partner the story of Ta Van Chu in five sentences.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Take part in U10.5-S2.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Take part in U10.5-S2.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Prepare for the class debate. Write two arguments and one answer to the other side.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Motion: 'Every school in our province should have solar panels.'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My side: FOR / AGAINST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Argument 1 + reason: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Argument 2 + reason: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The other side will say… and I will answer: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Hold the class debate: three speakers for, three against, then open discussion and a vote.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Rules: one minute each; you must use one debate expression; no interrupting; the class votes at the end.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Debating politely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my opinion,…</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agree with…</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see what you mean, but…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a good point.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Although that is true,…</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I say something?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Class debate with a chairperson (a student) who gives turns and stops interruptions.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two arguments as full sentences.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Write your two arguments as full sentences.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Debate language: opinion, agreement, polite disagreement</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Every argument needs a reason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U10L5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connect, generator, battery, install, supply, afford.</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debate arguments as a paragraph (90–100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U10.5-H4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one-minute debate speech three times.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U10L5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