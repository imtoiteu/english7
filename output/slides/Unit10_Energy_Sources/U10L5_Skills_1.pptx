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5_1_A2-025-NATALIE-WILL-WONT.mp3" TargetMode="External"/><Relationship Id="rId3" Type="http://schemas.openxmlformats.org/officeDocument/2006/relationships/hyperlink" Target="https://elllo.org/video/A2BEG/A2-025-NATALIE-WILL-WONT.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5  ·  PERIOD 76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 village with electricity + Speaking: Energy debate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short class debate with reasons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agree and disagree politely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Prediction ping-pong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gives a topic; students make a will-prediction.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predictions.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connect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/kəˈnekt/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nối, nối điện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was connected in 2018.</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generator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/ˈdʒenəreɪtə/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máy phát điện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used a noisy diesel generator.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battery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/ˈbætri/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pin, ắc quy</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batteries store energy for the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install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/ɪnˈstɔːl/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lắp đặt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Workers installed forty solar panels.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supply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/səˈplaɪ/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nguồn cung cấp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now has a reliable supply.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afford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/əˈfɔːd/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đủ tiền mua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Not every family can afford a fridge.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connected to the grid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store energy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cost of living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afford to buy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a difference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Debate language: opinion, agreement, disagreement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Opinion: In my opinion… / I think… / It seems to me that…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Agreement: I agree with Nam. / That's a good point.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Polite disagreement: I see what you mean, but… / I'm afraid I disagree, because…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Concession (Unit 8): Although that is true,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give an opinion</a:t>
                      </a:r>
                    </a:p>
                  </a:txBody>
                  <a:tcPr>
                    <a:solidFill>
                      <a:srgbClr val="E3F3EE"/>
                    </a:solidFill>
                  </a:tcPr>
                </a:tc>
                <a:tc>
                  <a:txBody>
                    <a:bodyPr/>
                    <a:lstStyle/>
                    <a:p>
                      <a:r>
                        <a:rPr sz="1600" b="0">
                          <a:solidFill>
                            <a:srgbClr val="1B1B1B"/>
                          </a:solidFill>
                          <a:latin typeface="Calibri"/>
                        </a:rPr>
                        <a:t>In my opinion, solar power is the answer.</a:t>
                      </a:r>
                    </a:p>
                  </a:txBody>
                  <a:tcPr>
                    <a:solidFill>
                      <a:srgbClr val="E3F3EE"/>
                    </a:solidFill>
                  </a:tcPr>
                </a:tc>
              </a:tr>
              <a:tr h="566928">
                <a:tc>
                  <a:txBody>
                    <a:bodyPr/>
                    <a:lstStyle/>
                    <a:p>
                      <a:r>
                        <a:rPr sz="1600" b="0">
                          <a:solidFill>
                            <a:srgbClr val="1B1B1B"/>
                          </a:solidFill>
                          <a:latin typeface="Calibri"/>
                        </a:rPr>
                        <a:t>support it</a:t>
                      </a:r>
                    </a:p>
                  </a:txBody>
                  <a:tcPr>
                    <a:solidFill>
                      <a:srgbClr val="FFFFFF"/>
                    </a:solidFill>
                  </a:tcPr>
                </a:tc>
                <a:tc>
                  <a:txBody>
                    <a:bodyPr/>
                    <a:lstStyle/>
                    <a:p>
                      <a:r>
                        <a:rPr sz="1600" b="0">
                          <a:solidFill>
                            <a:srgbClr val="1B1B1B"/>
                          </a:solidFill>
                          <a:latin typeface="Calibri"/>
                        </a:rPr>
                        <a:t>…because it is free after you buy the panels.</a:t>
                      </a:r>
                    </a:p>
                  </a:txBody>
                  <a:tcPr>
                    <a:solidFill>
                      <a:srgbClr val="FFFFFF"/>
                    </a:solidFill>
                  </a:tcPr>
                </a:tc>
              </a:tr>
              <a:tr h="566928">
                <a:tc>
                  <a:txBody>
                    <a:bodyPr/>
                    <a:lstStyle/>
                    <a:p>
                      <a:r>
                        <a:rPr sz="1600" b="0">
                          <a:solidFill>
                            <a:srgbClr val="1B1B1B"/>
                          </a:solidFill>
                          <a:latin typeface="Calibri"/>
                        </a:rPr>
                        <a:t>agree</a:t>
                      </a:r>
                    </a:p>
                  </a:txBody>
                  <a:tcPr>
                    <a:solidFill>
                      <a:srgbClr val="E3F3EE"/>
                    </a:solidFill>
                  </a:tcPr>
                </a:tc>
                <a:tc>
                  <a:txBody>
                    <a:bodyPr/>
                    <a:lstStyle/>
                    <a:p>
                      <a:r>
                        <a:rPr sz="1600" b="0">
                          <a:solidFill>
                            <a:srgbClr val="1B1B1B"/>
                          </a:solidFill>
                          <a:latin typeface="Calibri"/>
                        </a:rPr>
                        <a:t>I agree with Mai — and I'd add that…</a:t>
                      </a:r>
                    </a:p>
                  </a:txBody>
                  <a:tcPr>
                    <a:solidFill>
                      <a:srgbClr val="E3F3EE"/>
                    </a:solidFill>
                  </a:tcPr>
                </a:tc>
              </a:tr>
              <a:tr h="566928">
                <a:tc>
                  <a:txBody>
                    <a:bodyPr/>
                    <a:lstStyle/>
                    <a:p>
                      <a:r>
                        <a:rPr sz="1600" b="0">
                          <a:solidFill>
                            <a:srgbClr val="1B1B1B"/>
                          </a:solidFill>
                          <a:latin typeface="Calibri"/>
                        </a:rPr>
                        <a:t>disagree politely</a:t>
                      </a:r>
                    </a:p>
                  </a:txBody>
                  <a:tcPr>
                    <a:solidFill>
                      <a:srgbClr val="FFFFFF"/>
                    </a:solidFill>
                  </a:tcPr>
                </a:tc>
                <a:tc>
                  <a:txBody>
                    <a:bodyPr/>
                    <a:lstStyle/>
                    <a:p>
                      <a:r>
                        <a:rPr sz="1600" b="0">
                          <a:solidFill>
                            <a:srgbClr val="1B1B1B"/>
                          </a:solidFill>
                          <a:latin typeface="Calibri"/>
                        </a:rPr>
                        <a:t>I see what you mean, but what about the night?</a:t>
                      </a:r>
                    </a:p>
                  </a:txBody>
                  <a:tcPr>
                    <a:solidFill>
                      <a:srgbClr val="FFFFFF"/>
                    </a:solidFill>
                  </a:tcPr>
                </a:tc>
              </a:tr>
              <a:tr h="566928">
                <a:tc>
                  <a:txBody>
                    <a:bodyPr/>
                    <a:lstStyle/>
                    <a:p>
                      <a:r>
                        <a:rPr sz="1600" b="0">
                          <a:solidFill>
                            <a:srgbClr val="1B1B1B"/>
                          </a:solidFill>
                          <a:latin typeface="Calibri"/>
                        </a:rPr>
                        <a:t>concede</a:t>
                      </a:r>
                    </a:p>
                  </a:txBody>
                  <a:tcPr>
                    <a:solidFill>
                      <a:srgbClr val="E3F3EE"/>
                    </a:solidFill>
                  </a:tcPr>
                </a:tc>
                <a:tc>
                  <a:txBody>
                    <a:bodyPr/>
                    <a:lstStyle/>
                    <a:p>
                      <a:r>
                        <a:rPr sz="1600" b="0">
                          <a:solidFill>
                            <a:srgbClr val="1B1B1B"/>
                          </a:solidFill>
                          <a:latin typeface="Calibri"/>
                        </a:rPr>
                        <a:t>Although that is true, batteries are still expensive.</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every school should have solar panels, because we use most electricity exactly when the sun is strongest.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see what you mean, but who will pay for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disagree you* → 'I disagree WITH you'. *According to me* → 'In my opinion'.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my opinion, every school should have solar panels, because we use most electricity exactly when the sun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debate sentences and long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a debate, stress the KEY word of your argument: 'It is FREE after you buy the panels.' Watch: gene'rator, in'stall, su'pply, a'fford, con'nect.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'generator (Oooo)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in'stall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su'pply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a'fford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In my opinion, / solar power / is the ANSWER, / because it is FREE.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see what you MEAN, / but who will PAY for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will you do this month?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one person will do in the near future. Single speaker — Natalie / England. It lasts 1:00.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1:00 · Single speaker — Natalie / England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talking about amounts of things C. what one person will do in the near future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am a little sad that I won't be here for his birthday, but he won't care.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Perhaps I will buy him a gift in Spain.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He'll be too busy partying with his friends.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I'll be in Spain on holiday.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What will I buy him for his birthday present?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brother _____ turn 18 years old this month.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 buy him a gift for his birthday, but I won't be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_____ forget to call him from Spain to wish him happy birthday.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Maybe I will buy him some spices, although I _____ be able to take spices on the airplane.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will be here for his _____ birthday, though.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The village that got its evenings back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Until 2018, the village of Ta Van Chu in Lao Cai province had no electricity. It is 26 kilometres from the nearest town, on the other side of two mountains, and connecting it to the national grid would have cost more than eleven billion dong. For years the village used a small diesel generator. It was loud, it smelled, and diesel had to be carried up the mountain by motorbike. Families could afford to run it for about two hours a night — long enough to charge phones and light one room. In 2018 a project installed forty solar panels and a room full of batteries. The panels charge the batteries in the day; the batteries light the village at night. The change nobody predicted was not about light. It was about time. Before, children did their homework between six and eight, or not at all. Now they can study any evening. Two years after the panels arrived, the number of village children in 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solar panels work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How electricity changed one mountain village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cost of diesel in Viet Nam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is the village from the nearest town, and what would connecting it have cost?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were the three problems with the generator?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was installed in 2018?</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unexpected change happened?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two problems that remain.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national electricity system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 have enough money for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put in place and made ready to use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become twice as many (paragraph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Explain the village leader's last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the number of students doubled?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should pay for the new batteries in eight years? Give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village had no electricity before 2018.</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Connecting to the grid would have been cheap.</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generator ran all night.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number of students in upper secondary school doubled.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batteries will last for ever.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expressions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In my opinion   I agree with   I see what you mean, but   That's a good point   Although that is true</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every school should have panels.</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Nam — and I would add one more reason.</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who will pay for them?</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I hadn't thought of that.</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 the money must come from somewhere.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Ta Van Chu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Ta Van Chu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Take part in U10.5-S2.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Take part in U10.5-S2.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Prepare for the class debate. Write two arguments and one answer to the other side.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Motion: 'Every school in our province should have solar panels.'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My side: FOR / AGAINST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Argument 1 + reason: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Argument 2 + reason: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other side will say… and I will answer: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Hold the class debate: three speakers for, three against, then open discussion and a vote.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Rules: one minute each; you must use one debate expression; no interrupting; the class votes at the 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Debating politely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see what you mean,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point.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that is true,…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say something?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debate with a chairperson (a student) who gives turns and stops interruptions.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two arguments as full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your two arguments as full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Debate language: opinion, agreement, polite disagreement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argument needs a reason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connect, generator, battery, install, supply, afford.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debate arguments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one-minute debate speech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