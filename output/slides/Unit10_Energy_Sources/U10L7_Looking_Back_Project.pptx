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7  ·  PERIOD 76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10 review and Save Energy at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energy vocabulary of Unit 10</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will and won't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real energy-saving plan for the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Prediction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six predictions; teacher reads similar ones; students cross out matches.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/plæn/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 hoạch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our three-point plan.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/kɒst/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 phí; tốn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costs nothing to turn off a light.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suggest three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has three parts.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do this, we will save…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costs nothing.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 that the school…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10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won't + bare verb for predictions, promises, decisions and offers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subject + verb? for questions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probably / probably won't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don't think … will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will + bare verb</a:t>
                      </a:r>
                    </a:p>
                  </a:txBody>
                  <a:tcPr>
                    <a:solidFill>
                      <a:srgbClr val="E3F3EE"/>
                    </a:solidFill>
                  </a:tcPr>
                </a:tc>
                <a:tc>
                  <a:txBody>
                    <a:bodyPr/>
                    <a:lstStyle/>
                    <a:p>
                      <a:r>
                        <a:rPr sz="1600" b="0">
                          <a:solidFill>
                            <a:srgbClr val="1B1B1B"/>
                          </a:solidFill>
                          <a:latin typeface="Calibri"/>
                        </a:rPr>
                        <a:t>It will be cheaper.</a:t>
                      </a:r>
                    </a:p>
                  </a:txBody>
                  <a:tcPr>
                    <a:solidFill>
                      <a:srgbClr val="E3F3EE"/>
                    </a:solidFill>
                  </a:tcPr>
                </a:tc>
                <a:tc>
                  <a:txBody>
                    <a:bodyPr/>
                    <a:lstStyle/>
                    <a:p>
                      <a:r>
                        <a:rPr sz="1600" b="0">
                          <a:solidFill>
                            <a:srgbClr val="1B1B1B"/>
                          </a:solidFill>
                          <a:latin typeface="Calibri"/>
                        </a:rPr>
                        <a:t>*It will to be cheaper.</a:t>
                      </a:r>
                    </a:p>
                  </a:txBody>
                  <a:tcPr>
                    <a:solidFill>
                      <a:srgbClr val="E3F3EE"/>
                    </a:solidFill>
                  </a:tcPr>
                </a:tc>
              </a:tr>
              <a:tr h="566928">
                <a:tc>
                  <a:txBody>
                    <a:bodyPr/>
                    <a:lstStyle/>
                    <a:p>
                      <a:r>
                        <a:rPr sz="1600" b="0">
                          <a:solidFill>
                            <a:srgbClr val="1B1B1B"/>
                          </a:solidFill>
                          <a:latin typeface="Calibri"/>
                        </a:rPr>
                        <a:t>no -s</a:t>
                      </a:r>
                    </a:p>
                  </a:txBody>
                  <a:tcPr>
                    <a:solidFill>
                      <a:srgbClr val="FFFFFF"/>
                    </a:solidFill>
                  </a:tcPr>
                </a:tc>
                <a:tc>
                  <a:txBody>
                    <a:bodyPr/>
                    <a:lstStyle/>
                    <a:p>
                      <a:r>
                        <a:rPr sz="1600" b="0">
                          <a:solidFill>
                            <a:srgbClr val="1B1B1B"/>
                          </a:solidFill>
                          <a:latin typeface="Calibri"/>
                        </a:rPr>
                        <a:t>She will go.</a:t>
                      </a:r>
                    </a:p>
                  </a:txBody>
                  <a:tcPr>
                    <a:solidFill>
                      <a:srgbClr val="FFFFFF"/>
                    </a:solidFill>
                  </a:tcPr>
                </a:tc>
                <a:tc>
                  <a:txBody>
                    <a:bodyPr/>
                    <a:lstStyle/>
                    <a:p>
                      <a:r>
                        <a:rPr sz="1600" b="0">
                          <a:solidFill>
                            <a:srgbClr val="1B1B1B"/>
                          </a:solidFill>
                          <a:latin typeface="Calibri"/>
                        </a:rPr>
                        <a:t>*She wills go.</a:t>
                      </a:r>
                    </a:p>
                  </a:txBody>
                  <a:tcPr>
                    <a:solidFill>
                      <a:srgbClr val="FFFFFF"/>
                    </a:solidFill>
                  </a:tcPr>
                </a:tc>
              </a:tr>
              <a:tr h="566928">
                <a:tc>
                  <a:txBody>
                    <a:bodyPr/>
                    <a:lstStyle/>
                    <a:p>
                      <a:r>
                        <a:rPr sz="1600" b="0">
                          <a:solidFill>
                            <a:srgbClr val="1B1B1B"/>
                          </a:solidFill>
                          <a:latin typeface="Calibri"/>
                        </a:rPr>
                        <a:t>won't</a:t>
                      </a:r>
                    </a:p>
                  </a:txBody>
                  <a:tcPr>
                    <a:solidFill>
                      <a:srgbClr val="E3F3EE"/>
                    </a:solidFill>
                  </a:tcPr>
                </a:tc>
                <a:tc>
                  <a:txBody>
                    <a:bodyPr/>
                    <a:lstStyle/>
                    <a:p>
                      <a:r>
                        <a:rPr sz="1600" b="0">
                          <a:solidFill>
                            <a:srgbClr val="1B1B1B"/>
                          </a:solidFill>
                          <a:latin typeface="Calibri"/>
                        </a:rPr>
                        <a:t>It won't disappear.</a:t>
                      </a:r>
                    </a:p>
                  </a:txBody>
                  <a:tcPr>
                    <a:solidFill>
                      <a:srgbClr val="E3F3EE"/>
                    </a:solidFill>
                  </a:tcPr>
                </a:tc>
                <a:tc>
                  <a:txBody>
                    <a:bodyPr/>
                    <a:lstStyle/>
                    <a:p>
                      <a:r>
                        <a:rPr sz="1600" b="0">
                          <a:solidFill>
                            <a:srgbClr val="1B1B1B"/>
                          </a:solidFill>
                          <a:latin typeface="Calibri"/>
                        </a:rPr>
                        <a:t>*It willn't disappear.</a:t>
                      </a:r>
                    </a:p>
                  </a:txBody>
                  <a:tcPr>
                    <a:solidFill>
                      <a:srgbClr val="E3F3EE"/>
                    </a:solidFill>
                  </a:tcPr>
                </a:tc>
              </a:tr>
              <a:tr h="566928">
                <a:tc>
                  <a:txBody>
                    <a:bodyPr/>
                    <a:lstStyle/>
                    <a:p>
                      <a:r>
                        <a:rPr sz="1600" b="0">
                          <a:solidFill>
                            <a:srgbClr val="1B1B1B"/>
                          </a:solidFill>
                          <a:latin typeface="Calibri"/>
                        </a:rPr>
                        <a:t>adverb</a:t>
                      </a:r>
                    </a:p>
                  </a:txBody>
                  <a:tcPr>
                    <a:solidFill>
                      <a:srgbClr val="FFFFFF"/>
                    </a:solidFill>
                  </a:tcPr>
                </a:tc>
                <a:tc>
                  <a:txBody>
                    <a:bodyPr/>
                    <a:lstStyle/>
                    <a:p>
                      <a:r>
                        <a:rPr sz="1600" b="0">
                          <a:solidFill>
                            <a:srgbClr val="1B1B1B"/>
                          </a:solidFill>
                          <a:latin typeface="Calibri"/>
                        </a:rPr>
                        <a:t>It will probably rain. / It probably won't rain.</a:t>
                      </a:r>
                    </a:p>
                  </a:txBody>
                  <a:tcPr>
                    <a:solidFill>
                      <a:srgbClr val="FFFFFF"/>
                    </a:solidFill>
                  </a:tcPr>
                </a:tc>
                <a:tc>
                  <a:txBody>
                    <a:bodyPr/>
                    <a:lstStyle/>
                    <a:p>
                      <a:r>
                        <a:rPr sz="1600" b="0">
                          <a:solidFill>
                            <a:srgbClr val="1B1B1B"/>
                          </a:solidFill>
                          <a:latin typeface="Calibri"/>
                        </a:rPr>
                        <a:t>*It will rain probably.</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 don't think it will rain.</a:t>
                      </a:r>
                    </a:p>
                  </a:txBody>
                  <a:tcPr>
                    <a:solidFill>
                      <a:srgbClr val="E3F3EE"/>
                    </a:solidFill>
                  </a:tcPr>
                </a:tc>
                <a:tc>
                  <a:txBody>
                    <a:bodyPr/>
                    <a:lstStyle/>
                    <a:p>
                      <a:r>
                        <a:rPr sz="1600" b="0">
                          <a:solidFill>
                            <a:srgbClr val="1B1B1B"/>
                          </a:solidFill>
                          <a:latin typeface="Calibri"/>
                        </a:rPr>
                        <a:t>*I think it won't rain.</a:t>
                      </a:r>
                    </a:p>
                  </a:txBody>
                  <a:tcPr>
                    <a:solidFill>
                      <a:srgbClr val="E3F3EE"/>
                    </a:solidFill>
                  </a:tcPr>
                </a:tc>
              </a:tr>
              <a:tr h="566928">
                <a:tc>
                  <a:txBody>
                    <a:bodyPr/>
                    <a:lstStyle/>
                    <a:p>
                      <a:r>
                        <a:rPr sz="1600" b="0">
                          <a:solidFill>
                            <a:srgbClr val="1B1B1B"/>
                          </a:solidFill>
                          <a:latin typeface="Calibri"/>
                        </a:rPr>
                        <a:t>cause/result</a:t>
                      </a:r>
                    </a:p>
                  </a:txBody>
                  <a:tcPr>
                    <a:solidFill>
                      <a:srgbClr val="FFFFFF"/>
                    </a:solidFill>
                  </a:tcPr>
                </a:tc>
                <a:tc>
                  <a:txBody>
                    <a:bodyPr/>
                    <a:lstStyle/>
                    <a:p>
                      <a:r>
                        <a:rPr sz="1600" b="0">
                          <a:solidFill>
                            <a:srgbClr val="1B1B1B"/>
                          </a:solidFill>
                          <a:latin typeface="Calibri"/>
                        </a:rPr>
                        <a:t>It was hot, so we used the fan.</a:t>
                      </a:r>
                    </a:p>
                  </a:txBody>
                  <a:tcPr>
                    <a:solidFill>
                      <a:srgbClr val="FFFFFF"/>
                    </a:solidFill>
                  </a:tcPr>
                </a:tc>
                <a:tc>
                  <a:txBody>
                    <a:bodyPr/>
                    <a:lstStyle/>
                    <a:p>
                      <a:r>
                        <a:rPr sz="1600" b="0">
                          <a:solidFill>
                            <a:srgbClr val="1B1B1B"/>
                          </a:solidFill>
                          <a:latin typeface="Calibri"/>
                        </a:rPr>
                        <a:t>*Because it was hot so we used the fan.</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change the bulbs, we will save about four million dong a year, so the money will pay for itself in fourteen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If we change the bulbs, we will save about four million dong a year, so the money will pay for itself in four…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10 sounds review: /tʃ/ /dʒ/, contractions,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does 'energy' have /dʒ/? is 'I'll' one quick sound? are the numbers clear?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village, change, charge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I'll, we'll, it'll, won't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4.5 million, 80 per cent, 26 degrees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I'll change the bulbs in the village school — it'll save eighty per cent.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Going to — plans people have made · Will — predictions and promises.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The school that pays for its own electricity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2021, a secondary school in Ninh Thuan installed 120 solar panels on the roofs of three buildings. The cost was 480 million dong, and most of it came from a provincial programme. The school uses most of its electricity between eight in the morning and four in the afternoon — exactly when the sun is strongest. In the first full year, the panels produced slightly more electricity than the school used. The bill has not disappeared, because the school still buys electricity at night and on rainy days. But it has fallen by about 78 per cent, and the school sells a small amount back to the grid at the weekend, when nobody is there. The savings pay for two things: 40 new fans, and a science teacher's salary for one extra afternoon a week. The head teacher is careful about the numbers. 'People say solar power is free. It isn't. The sun is free; the panels are not. But over twenty years, it 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panels were installed, and what did they cost?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this school a good place for solar panels?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has the bill not disappeared completely?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has the bill fallen?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head teacher's last two sentences.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energy from the sun: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never runs out: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use something badly and lose it: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dirty air and water: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thing that stores electricity: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put equipment in and make it ready: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will goes to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will to save energy.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willn't rain.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it won't be cold.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will rain probably.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Because it was hot so we used the fan.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energy plan and rehearse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energy plan and rehearse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energy-saving plan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 looked at… We counted… The results show that… We suggest three things. If we do this, we will save… Thank you.'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plan with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measured / counted…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 three things.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do this, we will save…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costs nothing.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Present to the class or, if possible, to the head teacher.</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we measured and the numbers (2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Three suggestions with 'If we…, we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sentence about the cost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sentence about the long term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Energy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for predictions, promises, decisions, offers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 position</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causes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Prediction paragraph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10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paragraph (110–120 words): 'Energy in my house in 2050'.</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11 — Write five ways of travelling that might exist in the future,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