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0L2_1_A2-05-Going-To.mp3" TargetMode="External"/><Relationship Id="rId3" Type="http://schemas.openxmlformats.org/officeDocument/2006/relationships/hyperlink" Target="../../../audio/FU10L3_1_A2-04-Will-Future.mp3"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10  ·  LESSON 7  ·  PERIOD 78</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LOOKING BACK &amp; PROJECT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Unit 10 review and Save Energy at School</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recall the energy vocabulary of Unit 10</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will and won't accurately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typical mistakes of the unit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present a real energy-saving plan for the school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Prediction bingo  (6')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write six predictions; teacher reads similar ones; students cross out matches.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Play bingo with predictions.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plan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/plæn/   (n/v)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kế hoạch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Here is our three-point plan.</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cost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/kɒst/   (n/v)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chi phí; tốn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costs nothing to turn off a light.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suggest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/səˈdʒest/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đề xuất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suggest three changes.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plan has three parts.</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If we do this, we will save…</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costs nothing.</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suggest that the school…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 10 grammar in one page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will / won't + bare verb for predictions, promises, decisions and offers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Will + subject + verb? for questions</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will probably / probably won't</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 don't think … will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Common mistake</a:t>
                      </a:r>
                    </a:p>
                  </a:txBody>
                  <a:tcPr>
                    <a:solidFill>
                      <a:srgbClr val="0E7C66"/>
                    </a:solidFill>
                  </a:tcPr>
                </a:tc>
              </a:tr>
              <a:tr h="566928">
                <a:tc>
                  <a:txBody>
                    <a:bodyPr/>
                    <a:lstStyle/>
                    <a:p>
                      <a:r>
                        <a:rPr sz="1600" b="0">
                          <a:solidFill>
                            <a:srgbClr val="1B1B1B"/>
                          </a:solidFill>
                          <a:latin typeface="Calibri"/>
                        </a:rPr>
                        <a:t>will + bare verb</a:t>
                      </a:r>
                    </a:p>
                  </a:txBody>
                  <a:tcPr>
                    <a:solidFill>
                      <a:srgbClr val="E3F3EE"/>
                    </a:solidFill>
                  </a:tcPr>
                </a:tc>
                <a:tc>
                  <a:txBody>
                    <a:bodyPr/>
                    <a:lstStyle/>
                    <a:p>
                      <a:r>
                        <a:rPr sz="1600" b="0">
                          <a:solidFill>
                            <a:srgbClr val="1B1B1B"/>
                          </a:solidFill>
                          <a:latin typeface="Calibri"/>
                        </a:rPr>
                        <a:t>It will be cheaper.</a:t>
                      </a:r>
                    </a:p>
                  </a:txBody>
                  <a:tcPr>
                    <a:solidFill>
                      <a:srgbClr val="E3F3EE"/>
                    </a:solidFill>
                  </a:tcPr>
                </a:tc>
                <a:tc>
                  <a:txBody>
                    <a:bodyPr/>
                    <a:lstStyle/>
                    <a:p>
                      <a:r>
                        <a:rPr sz="1600" b="0">
                          <a:solidFill>
                            <a:srgbClr val="1B1B1B"/>
                          </a:solidFill>
                          <a:latin typeface="Calibri"/>
                        </a:rPr>
                        <a:t>*It will to be cheaper.</a:t>
                      </a:r>
                    </a:p>
                  </a:txBody>
                  <a:tcPr>
                    <a:solidFill>
                      <a:srgbClr val="E3F3EE"/>
                    </a:solidFill>
                  </a:tcPr>
                </a:tc>
              </a:tr>
              <a:tr h="566928">
                <a:tc>
                  <a:txBody>
                    <a:bodyPr/>
                    <a:lstStyle/>
                    <a:p>
                      <a:r>
                        <a:rPr sz="1600" b="0">
                          <a:solidFill>
                            <a:srgbClr val="1B1B1B"/>
                          </a:solidFill>
                          <a:latin typeface="Calibri"/>
                        </a:rPr>
                        <a:t>no -s</a:t>
                      </a:r>
                    </a:p>
                  </a:txBody>
                  <a:tcPr>
                    <a:solidFill>
                      <a:srgbClr val="FFFFFF"/>
                    </a:solidFill>
                  </a:tcPr>
                </a:tc>
                <a:tc>
                  <a:txBody>
                    <a:bodyPr/>
                    <a:lstStyle/>
                    <a:p>
                      <a:r>
                        <a:rPr sz="1600" b="0">
                          <a:solidFill>
                            <a:srgbClr val="1B1B1B"/>
                          </a:solidFill>
                          <a:latin typeface="Calibri"/>
                        </a:rPr>
                        <a:t>She will go.</a:t>
                      </a:r>
                    </a:p>
                  </a:txBody>
                  <a:tcPr>
                    <a:solidFill>
                      <a:srgbClr val="FFFFFF"/>
                    </a:solidFill>
                  </a:tcPr>
                </a:tc>
                <a:tc>
                  <a:txBody>
                    <a:bodyPr/>
                    <a:lstStyle/>
                    <a:p>
                      <a:r>
                        <a:rPr sz="1600" b="0">
                          <a:solidFill>
                            <a:srgbClr val="1B1B1B"/>
                          </a:solidFill>
                          <a:latin typeface="Calibri"/>
                        </a:rPr>
                        <a:t>*She wills go.</a:t>
                      </a:r>
                    </a:p>
                  </a:txBody>
                  <a:tcPr>
                    <a:solidFill>
                      <a:srgbClr val="FFFFFF"/>
                    </a:solidFill>
                  </a:tcPr>
                </a:tc>
              </a:tr>
              <a:tr h="566928">
                <a:tc>
                  <a:txBody>
                    <a:bodyPr/>
                    <a:lstStyle/>
                    <a:p>
                      <a:r>
                        <a:rPr sz="1600" b="0">
                          <a:solidFill>
                            <a:srgbClr val="1B1B1B"/>
                          </a:solidFill>
                          <a:latin typeface="Calibri"/>
                        </a:rPr>
                        <a:t>won't</a:t>
                      </a:r>
                    </a:p>
                  </a:txBody>
                  <a:tcPr>
                    <a:solidFill>
                      <a:srgbClr val="E3F3EE"/>
                    </a:solidFill>
                  </a:tcPr>
                </a:tc>
                <a:tc>
                  <a:txBody>
                    <a:bodyPr/>
                    <a:lstStyle/>
                    <a:p>
                      <a:r>
                        <a:rPr sz="1600" b="0">
                          <a:solidFill>
                            <a:srgbClr val="1B1B1B"/>
                          </a:solidFill>
                          <a:latin typeface="Calibri"/>
                        </a:rPr>
                        <a:t>It won't disappear.</a:t>
                      </a:r>
                    </a:p>
                  </a:txBody>
                  <a:tcPr>
                    <a:solidFill>
                      <a:srgbClr val="E3F3EE"/>
                    </a:solidFill>
                  </a:tcPr>
                </a:tc>
                <a:tc>
                  <a:txBody>
                    <a:bodyPr/>
                    <a:lstStyle/>
                    <a:p>
                      <a:r>
                        <a:rPr sz="1600" b="0">
                          <a:solidFill>
                            <a:srgbClr val="1B1B1B"/>
                          </a:solidFill>
                          <a:latin typeface="Calibri"/>
                        </a:rPr>
                        <a:t>*It willn't disappear.</a:t>
                      </a:r>
                    </a:p>
                  </a:txBody>
                  <a:tcPr>
                    <a:solidFill>
                      <a:srgbClr val="E3F3EE"/>
                    </a:solidFill>
                  </a:tcPr>
                </a:tc>
              </a:tr>
              <a:tr h="566928">
                <a:tc>
                  <a:txBody>
                    <a:bodyPr/>
                    <a:lstStyle/>
                    <a:p>
                      <a:r>
                        <a:rPr sz="1600" b="0">
                          <a:solidFill>
                            <a:srgbClr val="1B1B1B"/>
                          </a:solidFill>
                          <a:latin typeface="Calibri"/>
                        </a:rPr>
                        <a:t>adverb</a:t>
                      </a:r>
                    </a:p>
                  </a:txBody>
                  <a:tcPr>
                    <a:solidFill>
                      <a:srgbClr val="FFFFFF"/>
                    </a:solidFill>
                  </a:tcPr>
                </a:tc>
                <a:tc>
                  <a:txBody>
                    <a:bodyPr/>
                    <a:lstStyle/>
                    <a:p>
                      <a:r>
                        <a:rPr sz="1600" b="0">
                          <a:solidFill>
                            <a:srgbClr val="1B1B1B"/>
                          </a:solidFill>
                          <a:latin typeface="Calibri"/>
                        </a:rPr>
                        <a:t>It will probably rain. / It probably won't rain.</a:t>
                      </a:r>
                    </a:p>
                  </a:txBody>
                  <a:tcPr>
                    <a:solidFill>
                      <a:srgbClr val="FFFFFF"/>
                    </a:solidFill>
                  </a:tcPr>
                </a:tc>
                <a:tc>
                  <a:txBody>
                    <a:bodyPr/>
                    <a:lstStyle/>
                    <a:p>
                      <a:r>
                        <a:rPr sz="1600" b="0">
                          <a:solidFill>
                            <a:srgbClr val="1B1B1B"/>
                          </a:solidFill>
                          <a:latin typeface="Calibri"/>
                        </a:rPr>
                        <a:t>*It will rain probably.</a:t>
                      </a:r>
                    </a:p>
                  </a:txBody>
                  <a:tcPr>
                    <a:solidFill>
                      <a:srgbClr val="FFFFFF"/>
                    </a:solidFill>
                  </a:tcPr>
                </a:tc>
              </a:tr>
              <a:tr h="566928">
                <a:tc>
                  <a:txBody>
                    <a:bodyPr/>
                    <a:lstStyle/>
                    <a:p>
                      <a:r>
                        <a:rPr sz="1600" b="0">
                          <a:solidFill>
                            <a:srgbClr val="1B1B1B"/>
                          </a:solidFill>
                          <a:latin typeface="Calibri"/>
                        </a:rPr>
                        <a:t>opinion</a:t>
                      </a:r>
                    </a:p>
                  </a:txBody>
                  <a:tcPr>
                    <a:solidFill>
                      <a:srgbClr val="E3F3EE"/>
                    </a:solidFill>
                  </a:tcPr>
                </a:tc>
                <a:tc>
                  <a:txBody>
                    <a:bodyPr/>
                    <a:lstStyle/>
                    <a:p>
                      <a:r>
                        <a:rPr sz="1600" b="0">
                          <a:solidFill>
                            <a:srgbClr val="1B1B1B"/>
                          </a:solidFill>
                          <a:latin typeface="Calibri"/>
                        </a:rPr>
                        <a:t>I don't think it will rain.</a:t>
                      </a:r>
                    </a:p>
                  </a:txBody>
                  <a:tcPr>
                    <a:solidFill>
                      <a:srgbClr val="E3F3EE"/>
                    </a:solidFill>
                  </a:tcPr>
                </a:tc>
                <a:tc>
                  <a:txBody>
                    <a:bodyPr/>
                    <a:lstStyle/>
                    <a:p>
                      <a:r>
                        <a:rPr sz="1600" b="0">
                          <a:solidFill>
                            <a:srgbClr val="1B1B1B"/>
                          </a:solidFill>
                          <a:latin typeface="Calibri"/>
                        </a:rPr>
                        <a:t>*I think it won't rain.</a:t>
                      </a:r>
                    </a:p>
                  </a:txBody>
                  <a:tcPr>
                    <a:solidFill>
                      <a:srgbClr val="E3F3EE"/>
                    </a:solidFill>
                  </a:tcPr>
                </a:tc>
              </a:tr>
              <a:tr h="566928">
                <a:tc>
                  <a:txBody>
                    <a:bodyPr/>
                    <a:lstStyle/>
                    <a:p>
                      <a:r>
                        <a:rPr sz="1600" b="0">
                          <a:solidFill>
                            <a:srgbClr val="1B1B1B"/>
                          </a:solidFill>
                          <a:latin typeface="Calibri"/>
                        </a:rPr>
                        <a:t>cause/result</a:t>
                      </a:r>
                    </a:p>
                  </a:txBody>
                  <a:tcPr>
                    <a:solidFill>
                      <a:srgbClr val="FFFFFF"/>
                    </a:solidFill>
                  </a:tcPr>
                </a:tc>
                <a:tc>
                  <a:txBody>
                    <a:bodyPr/>
                    <a:lstStyle/>
                    <a:p>
                      <a:r>
                        <a:rPr sz="1600" b="0">
                          <a:solidFill>
                            <a:srgbClr val="1B1B1B"/>
                          </a:solidFill>
                          <a:latin typeface="Calibri"/>
                        </a:rPr>
                        <a:t>It was hot, so we used the fan.</a:t>
                      </a:r>
                    </a:p>
                  </a:txBody>
                  <a:tcPr>
                    <a:solidFill>
                      <a:srgbClr val="FFFFFF"/>
                    </a:solidFill>
                  </a:tcPr>
                </a:tc>
                <a:tc>
                  <a:txBody>
                    <a:bodyPr/>
                    <a:lstStyle/>
                    <a:p>
                      <a:r>
                        <a:rPr sz="1600" b="0">
                          <a:solidFill>
                            <a:srgbClr val="1B1B1B"/>
                          </a:solidFill>
                          <a:latin typeface="Calibri"/>
                        </a:rPr>
                        <a:t>*Because it was hot so we used the fan.</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If we change the bulbs, we will save about four million dong a year, so the money will pay for itself in fourteen month…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Add these six to the classroom wall list.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If we change the bulbs, we will save about four million dong a year, so the money will pay for itself in four…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Unit 10 sounds review: /tʃ/ /dʒ/, contractions, numbers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Three checks: does 'energy' have /dʒ/? is 'I'll' one quick sound? are the numbers clear?</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energy, village, change, charge</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I'll, we'll, it'll, won't</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4.5 million, 80 per cent, 26 degrees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I'll change the bulbs in the village school — it'll save eighty per cent.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Looking Back — listen again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No new recording. You hear this unit’s own recordings again: Going to — plans people have made · Will — predictions and promises.</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5294376"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U10L2</a:t>
            </a:r>
          </a:p>
        </p:txBody>
      </p:sp>
      <p:sp>
        <p:nvSpPr>
          <p:cNvPr id="12" name="Rounded Rectangle 11"/>
          <p:cNvSpPr/>
          <p:nvPr/>
        </p:nvSpPr>
        <p:spPr>
          <a:xfrm>
            <a:off x="6135624" y="5440680"/>
            <a:ext cx="5294376"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3"/>
              </a:rPr>
              <a:t>▶ U10L3</a:t>
            </a:r>
          </a:p>
        </p:txBody>
      </p:sp>
      <p:sp>
        <p:nvSpPr>
          <p:cNvPr id="13" name="TextBox 12"/>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Recycled — this unit’s own verified recordings · replayed extracts · As in the original recordings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____________________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____________________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____________________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____________________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____________________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The school that pays for its own electricity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In 2021, a secondary school in Ninh Thuan installed 120 solar panels on the roofs of three buildings. The cost was 480 million dong, and most of it came from a provincial programme. The school uses most of its electricity between eight in the morning and four in the afternoon — exactly when the sun is strongest. In the first full year, the panels produced slightly more electricity than the school used. The bill has not disappeared, because the school still buys electricity at night and on rainy days. But it has fallen by about 78 per cent, and the school sells a small amount back to the grid at the weekend, when nobody is there. The savings pay for two things: 40 new fans, and a science teacher's salary for one extra afternoon a week. The head teacher is careful about the numbers. 'People say solar power is free. It isn't. The sun is free; the panels are not. But over twenty years, it 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many panels were installed, and what did they cost?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is this school a good place for solar panels?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Why has the bill not disappeared completely?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much has the bill fallen?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Explain the head teacher's last two sentences.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energy from the sun: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never runs out: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to use something badly and lose it: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dirty air and water: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 thing that stores electricity: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to put equipment in and make it ready: 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She will goes to Hanoi.</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We will to save energy.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 willn't rain.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think it won't be cold.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will rain probably.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Because it was hot so we used the fan.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text.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seven answers.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Finish your energy plan and rehearse the presentation.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Finish your energy plan and rehearse the presentation.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Present your energy-saving plan for two minutes. Everyone speaks.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Frame: 'We looked at… We counted… The results show that… We suggest three things. If we do this, we will save… Thank you.'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Presenting a plan with numbers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measured / counted…</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results show that…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suggest three things.</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If we do this, we will save…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costs nothing.</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Any questions?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Present to the class or, if possible, to the head teacher.</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U10.7-W1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your group's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What we measured and the numbers (2 sentences)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Three suggestions with 'If we…, we will…'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One sentence about the cost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One sentence about the long term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Energy vocabulary (26 items)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will / won't for predictions, promises, decisions, offers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Adverb position</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because / so / causes</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Prediction paragraph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U10L7</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U10.7-H1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10 words from Unit 10 with Vietnamese meanings.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U10.7-H2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Choose the correct answer.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U10.7-H3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 paragraph (110–120 words): 'Energy in my house in 2050'.</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U10.7-H4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11 — Write five ways of travelling that might exist in the future, in English or Vietnamese.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U10L7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