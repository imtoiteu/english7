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4  ·  LESSON 1  ·  PERIOD 26</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GETTING STARTED</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What kind of music do you like?</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eight kinds of music and art forms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and answer about musical preferences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a conversation about a concert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three sentences about their favourite music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Guess the music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Play or hum four short pieces (pop, folk, classical, rock). Students shout the kind.</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Identify the kinds of music.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pop music</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/ˈpɒp ˌmjuːzɪk/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nhạc pop</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Pop music is popular with teenagers.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folk music</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/ˈfəʊk ˌmjuːzɪk/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dân ca</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Folk music tells the story of a village.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classical music</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/ˈklæsɪkl ˌmjuːzɪk/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nhạc cổ điển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My father listens to classical music.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rock music</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/ˈrɒk ˌmjuːzɪk/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nhạc rock</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Rock music is loud and fast.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concert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/ˈkɒnsət/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buổi hòa nhạc</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went to a concert last Saturday.</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audience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/ˈɔːdiəns/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khán giả</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audience clapped for five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performance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/pəˈfɔːməns/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buổi biểu diễn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performance started at eight.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instrument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/ˈɪnstrəmənt/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nhạc cụ</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guitar is my favourite instrument.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listen to music</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play an instrument</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go to a concert</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kind of music…?</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into… / I'm not really into…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Adjectives to describe music and art (preparation for compa…</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Adjectives go BEFORE the noun: a beautiful song.</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Or AFTER be: The song is beautiful.</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Learn adjectives in opposite pairs — it makes comparison easy next lesson.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Adjective</a:t>
                      </a:r>
                    </a:p>
                  </a:txBody>
                  <a:tcPr>
                    <a:solidFill>
                      <a:srgbClr val="0E7C66"/>
                    </a:solidFill>
                  </a:tcPr>
                </a:tc>
                <a:tc>
                  <a:txBody>
                    <a:bodyPr/>
                    <a:lstStyle/>
                    <a:p>
                      <a:r>
                        <a:rPr sz="1600" b="1">
                          <a:solidFill>
                            <a:srgbClr val="FFFFFF"/>
                          </a:solidFill>
                          <a:latin typeface="Calibri"/>
                        </a:rPr>
                        <a:t>Opposite</a:t>
                      </a:r>
                    </a:p>
                  </a:txBody>
                  <a:tcPr>
                    <a:solidFill>
                      <a:srgbClr val="0E7C66"/>
                    </a:solidFill>
                  </a:tcPr>
                </a:tc>
              </a:tr>
              <a:tr h="566928">
                <a:tc>
                  <a:txBody>
                    <a:bodyPr/>
                    <a:lstStyle/>
                    <a:p>
                      <a:r>
                        <a:rPr sz="1600" b="0">
                          <a:solidFill>
                            <a:srgbClr val="1B1B1B"/>
                          </a:solidFill>
                          <a:latin typeface="Calibri"/>
                        </a:rPr>
                        <a:t>loud</a:t>
                      </a:r>
                    </a:p>
                  </a:txBody>
                  <a:tcPr>
                    <a:solidFill>
                      <a:srgbClr val="E3F3EE"/>
                    </a:solidFill>
                  </a:tcPr>
                </a:tc>
                <a:tc>
                  <a:txBody>
                    <a:bodyPr/>
                    <a:lstStyle/>
                    <a:p>
                      <a:r>
                        <a:rPr sz="1600" b="0">
                          <a:solidFill>
                            <a:srgbClr val="1B1B1B"/>
                          </a:solidFill>
                          <a:latin typeface="Calibri"/>
                        </a:rPr>
                        <a:t>quiet</a:t>
                      </a:r>
                    </a:p>
                  </a:txBody>
                  <a:tcPr>
                    <a:solidFill>
                      <a:srgbClr val="E3F3EE"/>
                    </a:solidFill>
                  </a:tcPr>
                </a:tc>
              </a:tr>
              <a:tr h="566928">
                <a:tc>
                  <a:txBody>
                    <a:bodyPr/>
                    <a:lstStyle/>
                    <a:p>
                      <a:r>
                        <a:rPr sz="1600" b="0">
                          <a:solidFill>
                            <a:srgbClr val="1B1B1B"/>
                          </a:solidFill>
                          <a:latin typeface="Calibri"/>
                        </a:rPr>
                        <a:t>fast</a:t>
                      </a:r>
                    </a:p>
                  </a:txBody>
                  <a:tcPr>
                    <a:solidFill>
                      <a:srgbClr val="FFFFFF"/>
                    </a:solidFill>
                  </a:tcPr>
                </a:tc>
                <a:tc>
                  <a:txBody>
                    <a:bodyPr/>
                    <a:lstStyle/>
                    <a:p>
                      <a:r>
                        <a:rPr sz="1600" b="0">
                          <a:solidFill>
                            <a:srgbClr val="1B1B1B"/>
                          </a:solidFill>
                          <a:latin typeface="Calibri"/>
                        </a:rPr>
                        <a:t>slow</a:t>
                      </a:r>
                    </a:p>
                  </a:txBody>
                  <a:tcPr>
                    <a:solidFill>
                      <a:srgbClr val="FFFFFF"/>
                    </a:solidFill>
                  </a:tcPr>
                </a:tc>
              </a:tr>
              <a:tr h="566928">
                <a:tc>
                  <a:txBody>
                    <a:bodyPr/>
                    <a:lstStyle/>
                    <a:p>
                      <a:r>
                        <a:rPr sz="1600" b="0">
                          <a:solidFill>
                            <a:srgbClr val="1B1B1B"/>
                          </a:solidFill>
                          <a:latin typeface="Calibri"/>
                        </a:rPr>
                        <a:t>modern</a:t>
                      </a:r>
                    </a:p>
                  </a:txBody>
                  <a:tcPr>
                    <a:solidFill>
                      <a:srgbClr val="E3F3EE"/>
                    </a:solidFill>
                  </a:tcPr>
                </a:tc>
                <a:tc>
                  <a:txBody>
                    <a:bodyPr/>
                    <a:lstStyle/>
                    <a:p>
                      <a:r>
                        <a:rPr sz="1600" b="0">
                          <a:solidFill>
                            <a:srgbClr val="1B1B1B"/>
                          </a:solidFill>
                          <a:latin typeface="Calibri"/>
                        </a:rPr>
                        <a:t>traditional</a:t>
                      </a:r>
                    </a:p>
                  </a:txBody>
                  <a:tcPr>
                    <a:solidFill>
                      <a:srgbClr val="E3F3EE"/>
                    </a:solidFill>
                  </a:tcPr>
                </a:tc>
              </a:tr>
              <a:tr h="566928">
                <a:tc>
                  <a:txBody>
                    <a:bodyPr/>
                    <a:lstStyle/>
                    <a:p>
                      <a:r>
                        <a:rPr sz="1600" b="0">
                          <a:solidFill>
                            <a:srgbClr val="1B1B1B"/>
                          </a:solidFill>
                          <a:latin typeface="Calibri"/>
                        </a:rPr>
                        <a:t>exciting</a:t>
                      </a:r>
                    </a:p>
                  </a:txBody>
                  <a:tcPr>
                    <a:solidFill>
                      <a:srgbClr val="FFFFFF"/>
                    </a:solidFill>
                  </a:tcPr>
                </a:tc>
                <a:tc>
                  <a:txBody>
                    <a:bodyPr/>
                    <a:lstStyle/>
                    <a:p>
                      <a:r>
                        <a:rPr sz="1600" b="0">
                          <a:solidFill>
                            <a:srgbClr val="1B1B1B"/>
                          </a:solidFill>
                          <a:latin typeface="Calibri"/>
                        </a:rPr>
                        <a:t>boring</a:t>
                      </a:r>
                    </a:p>
                  </a:txBody>
                  <a:tcPr>
                    <a:solidFill>
                      <a:srgbClr val="FFFFFF"/>
                    </a:solidFill>
                  </a:tcPr>
                </a:tc>
              </a:tr>
              <a:tr h="566928">
                <a:tc>
                  <a:txBody>
                    <a:bodyPr/>
                    <a:lstStyle/>
                    <a:p>
                      <a:r>
                        <a:rPr sz="1600" b="0">
                          <a:solidFill>
                            <a:srgbClr val="1B1B1B"/>
                          </a:solidFill>
                          <a:latin typeface="Calibri"/>
                        </a:rPr>
                        <a:t>easy</a:t>
                      </a:r>
                    </a:p>
                  </a:txBody>
                  <a:tcPr>
                    <a:solidFill>
                      <a:srgbClr val="E3F3EE"/>
                    </a:solidFill>
                  </a:tcPr>
                </a:tc>
                <a:tc>
                  <a:txBody>
                    <a:bodyPr/>
                    <a:lstStyle/>
                    <a:p>
                      <a:r>
                        <a:rPr sz="1600" b="0">
                          <a:solidFill>
                            <a:srgbClr val="1B1B1B"/>
                          </a:solidFill>
                          <a:latin typeface="Calibri"/>
                        </a:rPr>
                        <a:t>difficult</a:t>
                      </a:r>
                    </a:p>
                  </a:txBody>
                  <a:tcPr>
                    <a:solidFill>
                      <a:srgbClr val="E3F3EE"/>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Rock music is loud and fast.</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Folk music is quiet and traditional.</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 was an exciting performance.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In Vietnamese the adjective comes AFTER the noun (bài hát hay), so students write *a song beautiful*. In English: adjective FIRST, then the noun.</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Rock music is loud and fast.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The sounds /ʊ/ (short) and /uː/ (long)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/ʊ/ is short and relaxed: good, book, put. /uː/ is long, with rounded lips: music, blue, school, too.</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/ʊ/: good, book, look, put, could</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/uː/: music, blue, school, too, group</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Minimal pairs: full – fool | pull – pool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Look at this good book about blue music.</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school group is too good.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45: This Land is Your Land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a road trip across the United States and a famous song. American English — VOA’s professional actors (Anna, Pete, Marsha, Ms. Weaver…), slowed learner delivery. It lasts 4:00.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4:00 · American English — VOA’s professional actors (Anna, Pete, Marsha, Ms. Weaver…), slowed learner delivery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plans for a trip next summer B. a road trip across the United States and a famous song C. who visits at holiday times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And don’t forget the Grand Canyon!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You know I love Washington, D.C.</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And I want to see Mount Rushmore!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Quiz - Lesson 48: This Land is Your Land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Let’s Learn English - Level 4 - Lesson 45: This Land is Your Land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You know, our trip is like that famous American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(sings) "This _____ is your land, This land is my land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BOTH: this _____ was made for you and me!”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See below for the lyrics and videos of Woody Guthrie and Pete Seeger and Bruce Springsteen performing the 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Music around Viet Nam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Viet Nam has more kinds of music than most countries of its size. In the north, Quan Ho singing from Bac Ninh is more than 400 years old. Two groups, one of men and one of women, sing to each other — and they never use instruments. In the centre, Hue royal court music was once played only for the king. It is slow, quiet and very formal. In the south, cai luong is a kind of modern folk opera. It started about a hundred years ago and it mixes traditional songs with stories from real life. And in every city today, young people listen to V-pop. The most popular singers have millions of fans, and some of their songs mix modern beats with traditional instruments like the dan bau.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kind of music.</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more than 400 years old, no instruments: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once played only for the king: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modern folk opera from the south: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mixes modern beats and traditional instruments: ______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Where does Quan Ho singing come from?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do the two groups sing in Quan Ho?</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old is cai luong?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Name a traditional instrument mentioned in the text.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music with the description.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rock music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folk music</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classical music</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pop music</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traditional, from the countryside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music with the description.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loud and fast, with electric guitars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modern, popular with young people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an orchestra, often 200 years old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Put the words in the correct order.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music / loud / is / rock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 performance / beautiful / was / it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songs / traditional / are / quiet / these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 / concert / exciting / was /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words in the box.</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concert   audience   performance   instrument   folk</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Last Saturday we went to a (1) ______ at the cultural centre. It was an evening of (2) ______ music. The (3) ______ was very quiet during the songs.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survey and report two results.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survey and report two results.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four classmates and complete the table.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What kind of music do you like? / How often do you listen to it? / Do you play an instrument?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Talking about preferences and reacting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kind of music do you like?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into…</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really into…</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Me too! / Really? I prefer…</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 was amazing!</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was too loud.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and a friend are choosing a concert to go to. Each of you likes a different kind of music. Agree on one and give reasons.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three sentences about your favourite music.</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favourite kind of music is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listen to it ______ (when/how often).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like it because it is ______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8 music and art words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Adjective + noun word order</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/ʊ/ short vs /uː/ long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the correct word.</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the sentences with the adjective in the right place.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about a concert or performance you have seen (on TV or live).</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 words aloud: good, book, put (short /ʊ/); music, blue, school (long /uː/).</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U4L1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