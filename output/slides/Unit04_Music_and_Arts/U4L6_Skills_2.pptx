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4L6_1_A2-19-Also-As-Well-Too.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4  ·  LESSON 6  ·  PERIOD 31</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radio review + Writing: Comparing two things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 review and complete a comparison table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organise a comparison paragraph (introduction – similarities – differences – opinion)</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comparison paragraph of 80–100 words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writing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Same or different?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Show two pictures. Students say one similarity and one difference each.</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similarities and differences.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review</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/rɪˈvjuː/   (n/v)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bài đánh giá</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read a review of the concert.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similar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/ˈsɪmələ/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giống nhau</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two songs are quite similar.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different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/ˈdɪfrənt/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khác nhau</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They are different in one important 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both</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/bəʊθ/   (det)</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cả hai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Both concerts were excellent.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however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/haʊˈevə/   (adv)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tuy nhiên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However, the tickets were expensive.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while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/waɪl/   (conj)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trong khi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Rock is loud, while folk music is quiet.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Both … and …</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 , while …</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However, …</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my opinion, …</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main difference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Comparison paragraph: structure and linking words (writing …</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1. Introduction: name the two things.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2. Similarities: Both … and … / They are both …</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3. Differences: A is …-er than B / A is …, while B is … / However, …</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4. Opinion: In my opinion, … because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Introduction</a:t>
                      </a:r>
                    </a:p>
                  </a:txBody>
                  <a:tcPr>
                    <a:solidFill>
                      <a:srgbClr val="E3F3EE"/>
                    </a:solidFill>
                  </a:tcPr>
                </a:tc>
                <a:tc>
                  <a:txBody>
                    <a:bodyPr/>
                    <a:lstStyle/>
                    <a:p>
                      <a:r>
                        <a:rPr sz="1600" b="0">
                          <a:solidFill>
                            <a:srgbClr val="1B1B1B"/>
                          </a:solidFill>
                          <a:latin typeface="Calibri"/>
                        </a:rPr>
                        <a:t>…and… are two…</a:t>
                      </a:r>
                    </a:p>
                  </a:txBody>
                  <a:tcPr>
                    <a:solidFill>
                      <a:srgbClr val="E3F3EE"/>
                    </a:solidFill>
                  </a:tcPr>
                </a:tc>
                <a:tc>
                  <a:txBody>
                    <a:bodyPr/>
                    <a:lstStyle/>
                    <a:p>
                      <a:r>
                        <a:rPr sz="1600" b="0">
                          <a:solidFill>
                            <a:srgbClr val="1B1B1B"/>
                          </a:solidFill>
                          <a:latin typeface="Calibri"/>
                        </a:rPr>
                        <a:t>Rock and folk music are two very different kinds of music.</a:t>
                      </a:r>
                    </a:p>
                  </a:txBody>
                  <a:tcPr>
                    <a:solidFill>
                      <a:srgbClr val="E3F3EE"/>
                    </a:solidFill>
                  </a:tcPr>
                </a:tc>
              </a:tr>
              <a:tr h="566928">
                <a:tc>
                  <a:txBody>
                    <a:bodyPr/>
                    <a:lstStyle/>
                    <a:p>
                      <a:r>
                        <a:rPr sz="1600" b="0">
                          <a:solidFill>
                            <a:srgbClr val="1B1B1B"/>
                          </a:solidFill>
                          <a:latin typeface="Calibri"/>
                        </a:rPr>
                        <a:t>Similarity</a:t>
                      </a:r>
                    </a:p>
                  </a:txBody>
                  <a:tcPr>
                    <a:solidFill>
                      <a:srgbClr val="FFFFFF"/>
                    </a:solidFill>
                  </a:tcPr>
                </a:tc>
                <a:tc>
                  <a:txBody>
                    <a:bodyPr/>
                    <a:lstStyle/>
                    <a:p>
                      <a:r>
                        <a:rPr sz="1600" b="0">
                          <a:solidFill>
                            <a:srgbClr val="1B1B1B"/>
                          </a:solidFill>
                          <a:latin typeface="Calibri"/>
                        </a:rPr>
                        <a:t>Both … and …</a:t>
                      </a:r>
                    </a:p>
                  </a:txBody>
                  <a:tcPr>
                    <a:solidFill>
                      <a:srgbClr val="FFFFFF"/>
                    </a:solidFill>
                  </a:tcPr>
                </a:tc>
                <a:tc>
                  <a:txBody>
                    <a:bodyPr/>
                    <a:lstStyle/>
                    <a:p>
                      <a:r>
                        <a:rPr sz="1600" b="0">
                          <a:solidFill>
                            <a:srgbClr val="1B1B1B"/>
                          </a:solidFill>
                          <a:latin typeface="Calibri"/>
                        </a:rPr>
                        <a:t>Both of them tell stories about people's lives.</a:t>
                      </a:r>
                    </a:p>
                  </a:txBody>
                  <a:tcPr>
                    <a:solidFill>
                      <a:srgbClr val="FFFFFF"/>
                    </a:solidFill>
                  </a:tcPr>
                </a:tc>
              </a:tr>
              <a:tr h="566928">
                <a:tc>
                  <a:txBody>
                    <a:bodyPr/>
                    <a:lstStyle/>
                    <a:p>
                      <a:r>
                        <a:rPr sz="1600" b="0">
                          <a:solidFill>
                            <a:srgbClr val="1B1B1B"/>
                          </a:solidFill>
                          <a:latin typeface="Calibri"/>
                        </a:rPr>
                        <a:t>Difference</a:t>
                      </a:r>
                    </a:p>
                  </a:txBody>
                  <a:tcPr>
                    <a:solidFill>
                      <a:srgbClr val="E3F3EE"/>
                    </a:solidFill>
                  </a:tcPr>
                </a:tc>
                <a:tc>
                  <a:txBody>
                    <a:bodyPr/>
                    <a:lstStyle/>
                    <a:p>
                      <a:r>
                        <a:rPr sz="1600" b="0">
                          <a:solidFill>
                            <a:srgbClr val="1B1B1B"/>
                          </a:solidFill>
                          <a:latin typeface="Calibri"/>
                        </a:rPr>
                        <a:t>…-er/more … than</a:t>
                      </a:r>
                    </a:p>
                  </a:txBody>
                  <a:tcPr>
                    <a:solidFill>
                      <a:srgbClr val="E3F3EE"/>
                    </a:solidFill>
                  </a:tcPr>
                </a:tc>
                <a:tc>
                  <a:txBody>
                    <a:bodyPr/>
                    <a:lstStyle/>
                    <a:p>
                      <a:r>
                        <a:rPr sz="1600" b="0">
                          <a:solidFill>
                            <a:srgbClr val="1B1B1B"/>
                          </a:solidFill>
                          <a:latin typeface="Calibri"/>
                        </a:rPr>
                        <a:t>Rock is much louder than folk music.</a:t>
                      </a:r>
                    </a:p>
                  </a:txBody>
                  <a:tcPr>
                    <a:solidFill>
                      <a:srgbClr val="E3F3EE"/>
                    </a:solidFill>
                  </a:tcPr>
                </a:tc>
              </a:tr>
              <a:tr h="566928">
                <a:tc>
                  <a:txBody>
                    <a:bodyPr/>
                    <a:lstStyle/>
                    <a:p>
                      <a:r>
                        <a:rPr sz="1600" b="0">
                          <a:solidFill>
                            <a:srgbClr val="1B1B1B"/>
                          </a:solidFill>
                          <a:latin typeface="Calibri"/>
                        </a:rPr>
                        <a:t>Difference</a:t>
                      </a:r>
                    </a:p>
                  </a:txBody>
                  <a:tcPr>
                    <a:solidFill>
                      <a:srgbClr val="FFFFFF"/>
                    </a:solidFill>
                  </a:tcPr>
                </a:tc>
                <a:tc>
                  <a:txBody>
                    <a:bodyPr/>
                    <a:lstStyle/>
                    <a:p>
                      <a:r>
                        <a:rPr sz="1600" b="0">
                          <a:solidFill>
                            <a:srgbClr val="1B1B1B"/>
                          </a:solidFill>
                          <a:latin typeface="Calibri"/>
                        </a:rPr>
                        <a:t>…, while …</a:t>
                      </a:r>
                    </a:p>
                  </a:txBody>
                  <a:tcPr>
                    <a:solidFill>
                      <a:srgbClr val="FFFFFF"/>
                    </a:solidFill>
                  </a:tcPr>
                </a:tc>
                <a:tc>
                  <a:txBody>
                    <a:bodyPr/>
                    <a:lstStyle/>
                    <a:p>
                      <a:r>
                        <a:rPr sz="1600" b="0">
                          <a:solidFill>
                            <a:srgbClr val="1B1B1B"/>
                          </a:solidFill>
                          <a:latin typeface="Calibri"/>
                        </a:rPr>
                        <a:t>Rock uses electric guitars, while folk music uses traditional instruments.</a:t>
                      </a:r>
                    </a:p>
                  </a:txBody>
                  <a:tcPr>
                    <a:solidFill>
                      <a:srgbClr val="FFFFFF"/>
                    </a:solidFill>
                  </a:tcPr>
                </a:tc>
              </a:tr>
              <a:tr h="566928">
                <a:tc>
                  <a:txBody>
                    <a:bodyPr/>
                    <a:lstStyle/>
                    <a:p>
                      <a:r>
                        <a:rPr sz="1600" b="0">
                          <a:solidFill>
                            <a:srgbClr val="1B1B1B"/>
                          </a:solidFill>
                          <a:latin typeface="Calibri"/>
                        </a:rPr>
                        <a:t>Opinion</a:t>
                      </a:r>
                    </a:p>
                  </a:txBody>
                  <a:tcPr>
                    <a:solidFill>
                      <a:srgbClr val="E3F3EE"/>
                    </a:solidFill>
                  </a:tcPr>
                </a:tc>
                <a:tc>
                  <a:txBody>
                    <a:bodyPr/>
                    <a:lstStyle/>
                    <a:p>
                      <a:r>
                        <a:rPr sz="1600" b="0">
                          <a:solidFill>
                            <a:srgbClr val="1B1B1B"/>
                          </a:solidFill>
                          <a:latin typeface="Calibri"/>
                        </a:rPr>
                        <a:t>In my opinion, … because…</a:t>
                      </a:r>
                    </a:p>
                  </a:txBody>
                  <a:tcPr>
                    <a:solidFill>
                      <a:srgbClr val="E3F3EE"/>
                    </a:solidFill>
                  </a:tcPr>
                </a:tc>
                <a:tc>
                  <a:txBody>
                    <a:bodyPr/>
                    <a:lstStyle/>
                    <a:p>
                      <a:r>
                        <a:rPr sz="1600" b="0">
                          <a:solidFill>
                            <a:srgbClr val="1B1B1B"/>
                          </a:solidFill>
                          <a:latin typeface="Calibri"/>
                        </a:rPr>
                        <a:t>In my opinion, folk music is more beautiful because it is part of our history.</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Both water puppetry and cai luong are traditional Vietnamese arts. However, water puppetry is much older.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list facts about A, then facts about B, with no linking words, so the reader cannot see the comparison. The linking words ARE the comparison.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Both water puppetry and cai luong are traditional Vietnamese arts. However, water puppetry is much older.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Linking words and pausing in reading aloud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Pause slightly BEFORE 'however' and 'while', and stress them a little: 'Rock is loud, / WHILE folk music is quiet.'</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Both … and …</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 while …</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However, …</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In my opinion,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Both of them are traditional. / However, / water puppetry is much older.</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Rock is loud, / while folk music is quiet.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Also, as well, too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saying that two things are the same. Two speakers, scripted dialogue, native English. It lasts 1:03.</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Sound Grammar · 1:03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changing the plan when something goes wrong B. saying that two things are the same C. where one person's family lives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Complete the conversation with the correct word!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really like Jon Snow.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No way! I also teach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Do you have a pet?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Cool! I am a teacher, too.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My cat is black,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I am a teacher,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I like him, as _____..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comparison paragraph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Rock music and folk music are two very different kinds of music, but they have something important in common. Both of them tell stories about people's lives, and both are usually played by a small group. However, the differences are easy to hear. Rock music is much louder and faster, and it uses electric guitars and drums, while folk music is quiet and often uses traditional instruments. Rock concerts are also far more expensive than folk evenings. In my opinion, folk music is more beautiful, because it carries the history of the people who sing it. (96 words)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Which sentence is the introduction?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two similarities does the writer give?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Find three differences.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linking words show a difference?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Where is the writer's opinion, and what reason is given?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Both, However, while, In my opinion.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rock and folk music tell stories.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Rock is loud, ______ folk music is quiet.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concert was exciting. ______ , it was very expensive.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 folk music is more beautiful.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S (similarity) or D (difference).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Both are traditional arts.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Water puppetry is older than cai luong.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They both come from the north.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Cai luong uses many words, while water puppetry uses almost none. 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However, the tickets are cheaper. 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U4.6-W1 and W2.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U4.6-W1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your paragraph to your partner, who says whether they agree and why.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Read your paragraph to your partner, who says whether they agree and why.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your comparison in four sentences before writing.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Both… / However… / …, while… / In my opinion…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Giving a balanced opinion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Both … are good, but…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the one hand… on the other hand…</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depends on…</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For me, the best is… because…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Balloon debate: two students each defend one art form for one minute; the class votes.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Thing A: ______ Thing B: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Introduction sentence: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Two similarities (Both…):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Three differences (…-er than / while / However):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Opinion + reason: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80–100 words comparing two kinds of music, two art forms, or two concerts.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U4.6-W2</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80–100 words comparing two kinds of music, two art forms, or two concerts.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introduction naming both things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one 'Both … and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two comparatives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'while' or 'However' used correctly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opinion with 'because'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80–100 words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Comparison paragraph: introduction – similarities – differences – opinion</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Both / while / However / In my opinion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Listening: comparison tables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U4L6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review.</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Join the sentences with while or However.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comparison paragraph neatly after correction.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U4.6-H4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paragraph aloud twice, pausing before 'while' and 'However'.</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U4L6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