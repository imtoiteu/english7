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4  ·  LESSON 7  ·  PERIOD 30</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4 review and the Class Art Gallery</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music and art vocabulary of Unit 4</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comparatives and superlatives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create and guide a gallery corner about a Vietnamese art form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Superlative circle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gives an adjective; students make a superlative sentence about the class, the school or Viet Nam. Be kind!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superlatives.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gallery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/ˈɡæləri/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phòng trưng bày</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classroom became a small gallery.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guide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/ɡaɪd/   (n/v)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hướng dẫn viên; hướng dẫn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Nam was the guide for our corner.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visitor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/ˈvɪzɪtə/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khách tham quan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Visitors asked a lot of questions.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corner.</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is a…</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comes from…</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 questions?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4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short adjective + -er / the -est</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long adjective + more / the most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irregular: good–better–the best; bad–worse–the worst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as … as / not as … 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short + er</a:t>
                      </a:r>
                    </a:p>
                  </a:txBody>
                  <a:tcPr>
                    <a:solidFill>
                      <a:srgbClr val="E3F3EE"/>
                    </a:solidFill>
                  </a:tcPr>
                </a:tc>
                <a:tc>
                  <a:txBody>
                    <a:bodyPr/>
                    <a:lstStyle/>
                    <a:p>
                      <a:r>
                        <a:rPr sz="1600" b="0">
                          <a:solidFill>
                            <a:srgbClr val="1B1B1B"/>
                          </a:solidFill>
                          <a:latin typeface="Calibri"/>
                        </a:rPr>
                        <a:t>louder than</a:t>
                      </a:r>
                    </a:p>
                  </a:txBody>
                  <a:tcPr>
                    <a:solidFill>
                      <a:srgbClr val="E3F3EE"/>
                    </a:solidFill>
                  </a:tcPr>
                </a:tc>
                <a:tc>
                  <a:txBody>
                    <a:bodyPr/>
                    <a:lstStyle/>
                    <a:p>
                      <a:r>
                        <a:rPr sz="1600" b="0">
                          <a:solidFill>
                            <a:srgbClr val="1B1B1B"/>
                          </a:solidFill>
                          <a:latin typeface="Calibri"/>
                        </a:rPr>
                        <a:t>*more louder than</a:t>
                      </a:r>
                    </a:p>
                  </a:txBody>
                  <a:tcPr>
                    <a:solidFill>
                      <a:srgbClr val="E3F3EE"/>
                    </a:solidFill>
                  </a:tcPr>
                </a:tc>
              </a:tr>
              <a:tr h="566928">
                <a:tc>
                  <a:txBody>
                    <a:bodyPr/>
                    <a:lstStyle/>
                    <a:p>
                      <a:r>
                        <a:rPr sz="1600" b="0">
                          <a:solidFill>
                            <a:srgbClr val="1B1B1B"/>
                          </a:solidFill>
                          <a:latin typeface="Calibri"/>
                        </a:rPr>
                        <a:t>long + more</a:t>
                      </a:r>
                    </a:p>
                  </a:txBody>
                  <a:tcPr>
                    <a:solidFill>
                      <a:srgbClr val="FFFFFF"/>
                    </a:solidFill>
                  </a:tcPr>
                </a:tc>
                <a:tc>
                  <a:txBody>
                    <a:bodyPr/>
                    <a:lstStyle/>
                    <a:p>
                      <a:r>
                        <a:rPr sz="1600" b="0">
                          <a:solidFill>
                            <a:srgbClr val="1B1B1B"/>
                          </a:solidFill>
                          <a:latin typeface="Calibri"/>
                        </a:rPr>
                        <a:t>more popular than</a:t>
                      </a:r>
                    </a:p>
                  </a:txBody>
                  <a:tcPr>
                    <a:solidFill>
                      <a:srgbClr val="FFFFFF"/>
                    </a:solidFill>
                  </a:tcPr>
                </a:tc>
                <a:tc>
                  <a:txBody>
                    <a:bodyPr/>
                    <a:lstStyle/>
                    <a:p>
                      <a:r>
                        <a:rPr sz="1600" b="0">
                          <a:solidFill>
                            <a:srgbClr val="1B1B1B"/>
                          </a:solidFill>
                          <a:latin typeface="Calibri"/>
                        </a:rPr>
                        <a:t>*popularer than</a:t>
                      </a:r>
                    </a:p>
                  </a:txBody>
                  <a:tcPr>
                    <a:solidFill>
                      <a:srgbClr val="FFFFFF"/>
                    </a:solidFill>
                  </a:tcPr>
                </a:tc>
              </a:tr>
              <a:tr h="566928">
                <a:tc>
                  <a:txBody>
                    <a:bodyPr/>
                    <a:lstStyle/>
                    <a:p>
                      <a:r>
                        <a:rPr sz="1600" b="0">
                          <a:solidFill>
                            <a:srgbClr val="1B1B1B"/>
                          </a:solidFill>
                          <a:latin typeface="Calibri"/>
                        </a:rPr>
                        <a:t>the + superlative</a:t>
                      </a:r>
                    </a:p>
                  </a:txBody>
                  <a:tcPr>
                    <a:solidFill>
                      <a:srgbClr val="E3F3EE"/>
                    </a:solidFill>
                  </a:tcPr>
                </a:tc>
                <a:tc>
                  <a:txBody>
                    <a:bodyPr/>
                    <a:lstStyle/>
                    <a:p>
                      <a:r>
                        <a:rPr sz="1600" b="0">
                          <a:solidFill>
                            <a:srgbClr val="1B1B1B"/>
                          </a:solidFill>
                          <a:latin typeface="Calibri"/>
                        </a:rPr>
                        <a:t>the most famous singer</a:t>
                      </a:r>
                    </a:p>
                  </a:txBody>
                  <a:tcPr>
                    <a:solidFill>
                      <a:srgbClr val="E3F3EE"/>
                    </a:solidFill>
                  </a:tcPr>
                </a:tc>
                <a:tc>
                  <a:txBody>
                    <a:bodyPr/>
                    <a:lstStyle/>
                    <a:p>
                      <a:r>
                        <a:rPr sz="1600" b="0">
                          <a:solidFill>
                            <a:srgbClr val="1B1B1B"/>
                          </a:solidFill>
                          <a:latin typeface="Calibri"/>
                        </a:rPr>
                        <a:t>*most famous singer</a:t>
                      </a:r>
                    </a:p>
                  </a:txBody>
                  <a:tcPr>
                    <a:solidFill>
                      <a:srgbClr val="E3F3EE"/>
                    </a:solidFill>
                  </a:tcPr>
                </a:tc>
              </a:tr>
              <a:tr h="566928">
                <a:tc>
                  <a:txBody>
                    <a:bodyPr/>
                    <a:lstStyle/>
                    <a:p>
                      <a:r>
                        <a:rPr sz="1600" b="0">
                          <a:solidFill>
                            <a:srgbClr val="1B1B1B"/>
                          </a:solidFill>
                          <a:latin typeface="Calibri"/>
                        </a:rPr>
                        <a:t>irregular</a:t>
                      </a:r>
                    </a:p>
                  </a:txBody>
                  <a:tcPr>
                    <a:solidFill>
                      <a:srgbClr val="FFFFFF"/>
                    </a:solidFill>
                  </a:tcPr>
                </a:tc>
                <a:tc>
                  <a:txBody>
                    <a:bodyPr/>
                    <a:lstStyle/>
                    <a:p>
                      <a:r>
                        <a:rPr sz="1600" b="0">
                          <a:solidFill>
                            <a:srgbClr val="1B1B1B"/>
                          </a:solidFill>
                          <a:latin typeface="Calibri"/>
                        </a:rPr>
                        <a:t>better / the best</a:t>
                      </a:r>
                    </a:p>
                  </a:txBody>
                  <a:tcPr>
                    <a:solidFill>
                      <a:srgbClr val="FFFFFF"/>
                    </a:solidFill>
                  </a:tcPr>
                </a:tc>
                <a:tc>
                  <a:txBody>
                    <a:bodyPr/>
                    <a:lstStyle/>
                    <a:p>
                      <a:r>
                        <a:rPr sz="1600" b="0">
                          <a:solidFill>
                            <a:srgbClr val="1B1B1B"/>
                          </a:solidFill>
                          <a:latin typeface="Calibri"/>
                        </a:rPr>
                        <a:t>*more good</a:t>
                      </a:r>
                    </a:p>
                  </a:txBody>
                  <a:tcPr>
                    <a:solidFill>
                      <a:srgbClr val="FFFFFF"/>
                    </a:solidFill>
                  </a:tcPr>
                </a:tc>
              </a:tr>
              <a:tr h="566928">
                <a:tc>
                  <a:txBody>
                    <a:bodyPr/>
                    <a:lstStyle/>
                    <a:p>
                      <a:r>
                        <a:rPr sz="1600" b="0">
                          <a:solidFill>
                            <a:srgbClr val="1B1B1B"/>
                          </a:solidFill>
                          <a:latin typeface="Calibri"/>
                        </a:rPr>
                        <a:t>as … as</a:t>
                      </a:r>
                    </a:p>
                  </a:txBody>
                  <a:tcPr>
                    <a:solidFill>
                      <a:srgbClr val="E3F3EE"/>
                    </a:solidFill>
                  </a:tcPr>
                </a:tc>
                <a:tc>
                  <a:txBody>
                    <a:bodyPr/>
                    <a:lstStyle/>
                    <a:p>
                      <a:r>
                        <a:rPr sz="1600" b="0">
                          <a:solidFill>
                            <a:srgbClr val="1B1B1B"/>
                          </a:solidFill>
                          <a:latin typeface="Calibri"/>
                        </a:rPr>
                        <a:t>as good as mine</a:t>
                      </a:r>
                    </a:p>
                  </a:txBody>
                  <a:tcPr>
                    <a:solidFill>
                      <a:srgbClr val="E3F3EE"/>
                    </a:solidFill>
                  </a:tcPr>
                </a:tc>
                <a:tc>
                  <a:txBody>
                    <a:bodyPr/>
                    <a:lstStyle/>
                    <a:p>
                      <a:r>
                        <a:rPr sz="1600" b="0">
                          <a:solidFill>
                            <a:srgbClr val="1B1B1B"/>
                          </a:solidFill>
                          <a:latin typeface="Calibri"/>
                        </a:rPr>
                        <a:t>*as good than mine</a:t>
                      </a:r>
                    </a:p>
                  </a:txBody>
                  <a:tcPr>
                    <a:solidFill>
                      <a:srgbClr val="E3F3EE"/>
                    </a:solidFill>
                  </a:tcPr>
                </a:tc>
              </a:tr>
              <a:tr h="566928">
                <a:tc>
                  <a:txBody>
                    <a:bodyPr/>
                    <a:lstStyle/>
                    <a:p>
                      <a:r>
                        <a:rPr sz="1600" b="0">
                          <a:solidFill>
                            <a:srgbClr val="1B1B1B"/>
                          </a:solidFill>
                          <a:latin typeface="Calibri"/>
                        </a:rPr>
                        <a:t>look + adj</a:t>
                      </a:r>
                    </a:p>
                  </a:txBody>
                  <a:tcPr>
                    <a:solidFill>
                      <a:srgbClr val="FFFFFF"/>
                    </a:solidFill>
                  </a:tcPr>
                </a:tc>
                <a:tc>
                  <a:txBody>
                    <a:bodyPr/>
                    <a:lstStyle/>
                    <a:p>
                      <a:r>
                        <a:rPr sz="1600" b="0">
                          <a:solidFill>
                            <a:srgbClr val="1B1B1B"/>
                          </a:solidFill>
                          <a:latin typeface="Calibri"/>
                        </a:rPr>
                        <a:t>It looks beautiful.</a:t>
                      </a:r>
                    </a:p>
                  </a:txBody>
                  <a:tcPr>
                    <a:solidFill>
                      <a:srgbClr val="FFFFFF"/>
                    </a:solidFill>
                  </a:tcPr>
                </a:tc>
                <a:tc>
                  <a:txBody>
                    <a:bodyPr/>
                    <a:lstStyle/>
                    <a:p>
                      <a:r>
                        <a:rPr sz="1600" b="0">
                          <a:solidFill>
                            <a:srgbClr val="1B1B1B"/>
                          </a:solidFill>
                          <a:latin typeface="Calibri"/>
                        </a:rPr>
                        <a:t>*It looks like beautiful.</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Water puppetry is older than cai luong, but cai luong is more emotional. For me, Quan Ho is the most beautiful music 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Water puppetry is older than cai luong, but cai luong is more emotional. For me, Quan Ho is the most beautifu…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4 sounds review: /ʊ/ /uː/, -tion stress, weak 'th…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is /ʊ/ short? is the stress before -tion? is 'than' weak?</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good – school</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ex-hi-BI-tion, i-ma-gi-NA-tion</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LOUDER than FOLK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Look at the good exhibition at the school — it is better than the last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Superlatives · Comparatives.</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school art week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Last month our school held its first Art Week. Every class made a corner about one Vietnamese art form, and for three days the corridors became a gallery. Class 7A chose water puppetry and built a small pool from a plastic sheet. Class 7B chose Dong Ho paintings and printed their own pictures with potato blocks. Class 8C chose ao dai design and borrowed six ao dai from their mothers and grandmothers. More than 400 visitors came, including parents and students from two other schools. The most popular corner was 7A's — the puppets really moved on the water — but the prize for the best guide went to Hoa in 7B, who explained her corner in English to three foreign teachers. 'It was the most difficult English I have ever spoken,' she said, 'and the most useful.'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did Art Week last?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did class 7B make and how?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many visitors came?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corner was the most popular? Why?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did Hoa win the prize?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people who watch a show: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public show of art: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person who creates art: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wooden figures on water: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musical thing you play: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something you win: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is more louder than folk music.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is most talented singer.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This song is more good than that one.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My drawing is as good than yours.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looks like beautiful.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 like the music traditional.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five answers.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Build your gallery corner and prepare to guide.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Build your gallery corner and prepare to guide.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Guide visitors round your gallery corner for two minutes.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'Welcome to our corner. This is… It comes from… It is about … years old. It is more … than… For us it is the most… Any questions?'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Guiding visitors and answering questions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corner.</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As you can see…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one is my favourite.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 questions?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 good question.</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visiting.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Half the class guides while the other half visits, then swap.</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six sentences for your corner.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it is / where it comes from / how old / two comparatives / one superlative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Music and art vocabulary (24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Comparatives and superlatives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as … as</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look/sound + adjective</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Comparison paragraph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4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comparison paragraph (90–100 words) about two Vietnamese art forms.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5 — Write ten kinds of food and drink you eat in a week,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U4L7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