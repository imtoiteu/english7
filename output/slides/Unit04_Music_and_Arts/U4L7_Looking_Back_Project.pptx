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4  ·  LESSON 7  ·  PERIOD 32</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LOOKING BACK &amp; PROJECT</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Unit 4 review and the Class Art Gallery</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U4L7</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recall the music and art vocabulary of Unit 4</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use comparatives and superlatives accurately</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correct the six typical mistakes of the unit</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create and guide a gallery corner about a Vietnamese art form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Superlative circle  (6')</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U4L7</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Teacher gives an adjective; students make a superlative sentence about the class, the school or Viet Nam. Be kind!</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Produce superlatives.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U4L7</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gallery</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/ˈɡæləri/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phòng trưng bày</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Our classroom became a small gallery.</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guide</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/ɡaɪd/   (n/v)</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hướng dẫn viên; hướng dẫn</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Nam was the guide for our corner.</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visitor</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/ˈvɪzɪtə/   (n)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khách tham quan</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Visitors asked a lot of questions.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U4L7</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Welcome to our corner.</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This is a…</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 comes from…</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Any questions?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Grammar: Unit 4 grammar in one page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U4L7</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short adjective + -er / the -est</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long adjective + more / the most</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irregular: good–better–the best; bad–worse–the worst</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as … as / not as … as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U4L7</a:t>
            </a:r>
          </a:p>
        </p:txBody>
      </p:sp>
      <p:graphicFrame>
        <p:nvGraphicFramePr>
          <p:cNvPr id="8" name="Table 7"/>
          <p:cNvGraphicFramePr>
            <a:graphicFrameLocks noGrp="1"/>
          </p:cNvGraphicFramePr>
          <p:nvPr/>
        </p:nvGraphicFramePr>
        <p:xfrm>
          <a:off x="548640" y="1463040"/>
          <a:ext cx="11064240" cy="3968496"/>
        </p:xfrm>
        <a:graphic>
          <a:graphicData uri="http://schemas.openxmlformats.org/drawingml/2006/table">
            <a:tbl>
              <a:tblPr firstRow="1" bandRow="1">
                <a:tableStyleId>{5C22544A-7EE6-4342-B048-85BDC9FD1C3A}</a:tableStyleId>
              </a:tblPr>
              <a:tblGrid>
                <a:gridCol w="3688080"/>
                <a:gridCol w="3688080"/>
                <a:gridCol w="3688080"/>
              </a:tblGrid>
              <a:tr h="566928">
                <a:tc>
                  <a:txBody>
                    <a:bodyPr/>
                    <a:lstStyle/>
                    <a:p>
                      <a:r>
                        <a:rPr sz="1600" b="1">
                          <a:solidFill>
                            <a:srgbClr val="FFFFFF"/>
                          </a:solidFill>
                          <a:latin typeface="Calibri"/>
                        </a:rPr>
                        <a:t>Structure</a:t>
                      </a:r>
                    </a:p>
                  </a:txBody>
                  <a:tcPr>
                    <a:solidFill>
                      <a:srgbClr val="0E7C66"/>
                    </a:solidFill>
                  </a:tcPr>
                </a:tc>
                <a:tc>
                  <a:txBody>
                    <a:bodyPr/>
                    <a:lstStyle/>
                    <a:p>
                      <a:r>
                        <a:rPr sz="1600" b="1">
                          <a:solidFill>
                            <a:srgbClr val="FFFFFF"/>
                          </a:solidFill>
                          <a:latin typeface="Calibri"/>
                        </a:rPr>
                        <a:t>Example</a:t>
                      </a:r>
                    </a:p>
                  </a:txBody>
                  <a:tcPr>
                    <a:solidFill>
                      <a:srgbClr val="0E7C66"/>
                    </a:solidFill>
                  </a:tcPr>
                </a:tc>
                <a:tc>
                  <a:txBody>
                    <a:bodyPr/>
                    <a:lstStyle/>
                    <a:p>
                      <a:r>
                        <a:rPr sz="1600" b="1">
                          <a:solidFill>
                            <a:srgbClr val="FFFFFF"/>
                          </a:solidFill>
                          <a:latin typeface="Calibri"/>
                        </a:rPr>
                        <a:t>Common mistake</a:t>
                      </a:r>
                    </a:p>
                  </a:txBody>
                  <a:tcPr>
                    <a:solidFill>
                      <a:srgbClr val="0E7C66"/>
                    </a:solidFill>
                  </a:tcPr>
                </a:tc>
              </a:tr>
              <a:tr h="566928">
                <a:tc>
                  <a:txBody>
                    <a:bodyPr/>
                    <a:lstStyle/>
                    <a:p>
                      <a:r>
                        <a:rPr sz="1600" b="0">
                          <a:solidFill>
                            <a:srgbClr val="1B1B1B"/>
                          </a:solidFill>
                          <a:latin typeface="Calibri"/>
                        </a:rPr>
                        <a:t>short + er</a:t>
                      </a:r>
                    </a:p>
                  </a:txBody>
                  <a:tcPr>
                    <a:solidFill>
                      <a:srgbClr val="E3F3EE"/>
                    </a:solidFill>
                  </a:tcPr>
                </a:tc>
                <a:tc>
                  <a:txBody>
                    <a:bodyPr/>
                    <a:lstStyle/>
                    <a:p>
                      <a:r>
                        <a:rPr sz="1600" b="0">
                          <a:solidFill>
                            <a:srgbClr val="1B1B1B"/>
                          </a:solidFill>
                          <a:latin typeface="Calibri"/>
                        </a:rPr>
                        <a:t>louder than</a:t>
                      </a:r>
                    </a:p>
                  </a:txBody>
                  <a:tcPr>
                    <a:solidFill>
                      <a:srgbClr val="E3F3EE"/>
                    </a:solidFill>
                  </a:tcPr>
                </a:tc>
                <a:tc>
                  <a:txBody>
                    <a:bodyPr/>
                    <a:lstStyle/>
                    <a:p>
                      <a:r>
                        <a:rPr sz="1600" b="0">
                          <a:solidFill>
                            <a:srgbClr val="1B1B1B"/>
                          </a:solidFill>
                          <a:latin typeface="Calibri"/>
                        </a:rPr>
                        <a:t>*more louder than</a:t>
                      </a:r>
                    </a:p>
                  </a:txBody>
                  <a:tcPr>
                    <a:solidFill>
                      <a:srgbClr val="E3F3EE"/>
                    </a:solidFill>
                  </a:tcPr>
                </a:tc>
              </a:tr>
              <a:tr h="566928">
                <a:tc>
                  <a:txBody>
                    <a:bodyPr/>
                    <a:lstStyle/>
                    <a:p>
                      <a:r>
                        <a:rPr sz="1600" b="0">
                          <a:solidFill>
                            <a:srgbClr val="1B1B1B"/>
                          </a:solidFill>
                          <a:latin typeface="Calibri"/>
                        </a:rPr>
                        <a:t>long + more</a:t>
                      </a:r>
                    </a:p>
                  </a:txBody>
                  <a:tcPr>
                    <a:solidFill>
                      <a:srgbClr val="FFFFFF"/>
                    </a:solidFill>
                  </a:tcPr>
                </a:tc>
                <a:tc>
                  <a:txBody>
                    <a:bodyPr/>
                    <a:lstStyle/>
                    <a:p>
                      <a:r>
                        <a:rPr sz="1600" b="0">
                          <a:solidFill>
                            <a:srgbClr val="1B1B1B"/>
                          </a:solidFill>
                          <a:latin typeface="Calibri"/>
                        </a:rPr>
                        <a:t>more popular than</a:t>
                      </a:r>
                    </a:p>
                  </a:txBody>
                  <a:tcPr>
                    <a:solidFill>
                      <a:srgbClr val="FFFFFF"/>
                    </a:solidFill>
                  </a:tcPr>
                </a:tc>
                <a:tc>
                  <a:txBody>
                    <a:bodyPr/>
                    <a:lstStyle/>
                    <a:p>
                      <a:r>
                        <a:rPr sz="1600" b="0">
                          <a:solidFill>
                            <a:srgbClr val="1B1B1B"/>
                          </a:solidFill>
                          <a:latin typeface="Calibri"/>
                        </a:rPr>
                        <a:t>*popularer than</a:t>
                      </a:r>
                    </a:p>
                  </a:txBody>
                  <a:tcPr>
                    <a:solidFill>
                      <a:srgbClr val="FFFFFF"/>
                    </a:solidFill>
                  </a:tcPr>
                </a:tc>
              </a:tr>
              <a:tr h="566928">
                <a:tc>
                  <a:txBody>
                    <a:bodyPr/>
                    <a:lstStyle/>
                    <a:p>
                      <a:r>
                        <a:rPr sz="1600" b="0">
                          <a:solidFill>
                            <a:srgbClr val="1B1B1B"/>
                          </a:solidFill>
                          <a:latin typeface="Calibri"/>
                        </a:rPr>
                        <a:t>the + superlative</a:t>
                      </a:r>
                    </a:p>
                  </a:txBody>
                  <a:tcPr>
                    <a:solidFill>
                      <a:srgbClr val="E3F3EE"/>
                    </a:solidFill>
                  </a:tcPr>
                </a:tc>
                <a:tc>
                  <a:txBody>
                    <a:bodyPr/>
                    <a:lstStyle/>
                    <a:p>
                      <a:r>
                        <a:rPr sz="1600" b="0">
                          <a:solidFill>
                            <a:srgbClr val="1B1B1B"/>
                          </a:solidFill>
                          <a:latin typeface="Calibri"/>
                        </a:rPr>
                        <a:t>the most famous singer</a:t>
                      </a:r>
                    </a:p>
                  </a:txBody>
                  <a:tcPr>
                    <a:solidFill>
                      <a:srgbClr val="E3F3EE"/>
                    </a:solidFill>
                  </a:tcPr>
                </a:tc>
                <a:tc>
                  <a:txBody>
                    <a:bodyPr/>
                    <a:lstStyle/>
                    <a:p>
                      <a:r>
                        <a:rPr sz="1600" b="0">
                          <a:solidFill>
                            <a:srgbClr val="1B1B1B"/>
                          </a:solidFill>
                          <a:latin typeface="Calibri"/>
                        </a:rPr>
                        <a:t>*most famous singer</a:t>
                      </a:r>
                    </a:p>
                  </a:txBody>
                  <a:tcPr>
                    <a:solidFill>
                      <a:srgbClr val="E3F3EE"/>
                    </a:solidFill>
                  </a:tcPr>
                </a:tc>
              </a:tr>
              <a:tr h="566928">
                <a:tc>
                  <a:txBody>
                    <a:bodyPr/>
                    <a:lstStyle/>
                    <a:p>
                      <a:r>
                        <a:rPr sz="1600" b="0">
                          <a:solidFill>
                            <a:srgbClr val="1B1B1B"/>
                          </a:solidFill>
                          <a:latin typeface="Calibri"/>
                        </a:rPr>
                        <a:t>irregular</a:t>
                      </a:r>
                    </a:p>
                  </a:txBody>
                  <a:tcPr>
                    <a:solidFill>
                      <a:srgbClr val="FFFFFF"/>
                    </a:solidFill>
                  </a:tcPr>
                </a:tc>
                <a:tc>
                  <a:txBody>
                    <a:bodyPr/>
                    <a:lstStyle/>
                    <a:p>
                      <a:r>
                        <a:rPr sz="1600" b="0">
                          <a:solidFill>
                            <a:srgbClr val="1B1B1B"/>
                          </a:solidFill>
                          <a:latin typeface="Calibri"/>
                        </a:rPr>
                        <a:t>better / the best</a:t>
                      </a:r>
                    </a:p>
                  </a:txBody>
                  <a:tcPr>
                    <a:solidFill>
                      <a:srgbClr val="FFFFFF"/>
                    </a:solidFill>
                  </a:tcPr>
                </a:tc>
                <a:tc>
                  <a:txBody>
                    <a:bodyPr/>
                    <a:lstStyle/>
                    <a:p>
                      <a:r>
                        <a:rPr sz="1600" b="0">
                          <a:solidFill>
                            <a:srgbClr val="1B1B1B"/>
                          </a:solidFill>
                          <a:latin typeface="Calibri"/>
                        </a:rPr>
                        <a:t>*more good</a:t>
                      </a:r>
                    </a:p>
                  </a:txBody>
                  <a:tcPr>
                    <a:solidFill>
                      <a:srgbClr val="FFFFFF"/>
                    </a:solidFill>
                  </a:tcPr>
                </a:tc>
              </a:tr>
              <a:tr h="566928">
                <a:tc>
                  <a:txBody>
                    <a:bodyPr/>
                    <a:lstStyle/>
                    <a:p>
                      <a:r>
                        <a:rPr sz="1600" b="0">
                          <a:solidFill>
                            <a:srgbClr val="1B1B1B"/>
                          </a:solidFill>
                          <a:latin typeface="Calibri"/>
                        </a:rPr>
                        <a:t>as … as</a:t>
                      </a:r>
                    </a:p>
                  </a:txBody>
                  <a:tcPr>
                    <a:solidFill>
                      <a:srgbClr val="E3F3EE"/>
                    </a:solidFill>
                  </a:tcPr>
                </a:tc>
                <a:tc>
                  <a:txBody>
                    <a:bodyPr/>
                    <a:lstStyle/>
                    <a:p>
                      <a:r>
                        <a:rPr sz="1600" b="0">
                          <a:solidFill>
                            <a:srgbClr val="1B1B1B"/>
                          </a:solidFill>
                          <a:latin typeface="Calibri"/>
                        </a:rPr>
                        <a:t>as good as mine</a:t>
                      </a:r>
                    </a:p>
                  </a:txBody>
                  <a:tcPr>
                    <a:solidFill>
                      <a:srgbClr val="E3F3EE"/>
                    </a:solidFill>
                  </a:tcPr>
                </a:tc>
                <a:tc>
                  <a:txBody>
                    <a:bodyPr/>
                    <a:lstStyle/>
                    <a:p>
                      <a:r>
                        <a:rPr sz="1600" b="0">
                          <a:solidFill>
                            <a:srgbClr val="1B1B1B"/>
                          </a:solidFill>
                          <a:latin typeface="Calibri"/>
                        </a:rPr>
                        <a:t>*as good than mine</a:t>
                      </a:r>
                    </a:p>
                  </a:txBody>
                  <a:tcPr>
                    <a:solidFill>
                      <a:srgbClr val="E3F3EE"/>
                    </a:solidFill>
                  </a:tcPr>
                </a:tc>
              </a:tr>
              <a:tr h="566928">
                <a:tc>
                  <a:txBody>
                    <a:bodyPr/>
                    <a:lstStyle/>
                    <a:p>
                      <a:r>
                        <a:rPr sz="1600" b="0">
                          <a:solidFill>
                            <a:srgbClr val="1B1B1B"/>
                          </a:solidFill>
                          <a:latin typeface="Calibri"/>
                        </a:rPr>
                        <a:t>look + adj</a:t>
                      </a:r>
                    </a:p>
                  </a:txBody>
                  <a:tcPr>
                    <a:solidFill>
                      <a:srgbClr val="FFFFFF"/>
                    </a:solidFill>
                  </a:tcPr>
                </a:tc>
                <a:tc>
                  <a:txBody>
                    <a:bodyPr/>
                    <a:lstStyle/>
                    <a:p>
                      <a:r>
                        <a:rPr sz="1600" b="0">
                          <a:solidFill>
                            <a:srgbClr val="1B1B1B"/>
                          </a:solidFill>
                          <a:latin typeface="Calibri"/>
                        </a:rPr>
                        <a:t>It looks beautiful.</a:t>
                      </a:r>
                    </a:p>
                  </a:txBody>
                  <a:tcPr>
                    <a:solidFill>
                      <a:srgbClr val="FFFFFF"/>
                    </a:solidFill>
                  </a:tcPr>
                </a:tc>
                <a:tc>
                  <a:txBody>
                    <a:bodyPr/>
                    <a:lstStyle/>
                    <a:p>
                      <a:r>
                        <a:rPr sz="1600" b="0">
                          <a:solidFill>
                            <a:srgbClr val="1B1B1B"/>
                          </a:solidFill>
                          <a:latin typeface="Calibri"/>
                        </a:rPr>
                        <a:t>*It looks like beautiful.</a:t>
                      </a:r>
                    </a:p>
                  </a:txBody>
                  <a:tcP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U4L7</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Water puppetry is older than cai luong, but cai luong is more emotional. For me, Quan Ho is the most beautiful music 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U4L7</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Add these six to the classroom wall list.</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Water puppetry is older than cai luong, but cai luong is more emotional. For me, Quan Ho is the most beautifu…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000" b="1" i="0">
                <a:solidFill>
                  <a:srgbClr val="FFFFFF"/>
                </a:solidFill>
                <a:latin typeface="Calibri"/>
              </a:rPr>
              <a:t>Pronunciation: Unit 4 sounds review: /ʊ/ /uː/, -tion stress, weak 'th…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U4L7</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Three checks: is /ʊ/ short? is the stress before -tion? is 'than' weak?</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good – school</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ex-hi-BI-tion, i-ma-gi-NA-tion</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LOUDER than FOLK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U4L7</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Look at the good exhibition at the school — it is better than the last one.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Looking Back — listen again</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U4L7</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No new recording. You hear this unit’s own recordings again: Superlatives · Comparatives.</a:t>
            </a:r>
          </a:p>
        </p:txBody>
      </p:sp>
      <p:sp>
        <p:nvSpPr>
          <p:cNvPr id="10" name="TextBox 9"/>
          <p:cNvSpPr txBox="1"/>
          <p:nvPr/>
        </p:nvSpPr>
        <p:spPr>
          <a:xfrm>
            <a:off x="731520" y="4023360"/>
            <a:ext cx="10698480" cy="1463040"/>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TextBox 10"/>
          <p:cNvSpPr txBox="1"/>
          <p:nvPr/>
        </p:nvSpPr>
        <p:spPr>
          <a:xfrm>
            <a:off x="731520" y="5577840"/>
            <a:ext cx="10698480" cy="822960"/>
          </a:xfrm>
          <a:prstGeom prst="rect">
            <a:avLst/>
          </a:prstGeom>
          <a:noFill/>
        </p:spPr>
        <p:txBody>
          <a:bodyPr wrap="square" anchor="t">
            <a:spAutoFit/>
          </a:bodyPr>
          <a:lstStyle/>
          <a:p>
            <a:pPr algn="l">
              <a:lnSpc>
                <a:spcPct val="100000"/>
              </a:lnSpc>
              <a:spcAft>
                <a:spcPts val="600"/>
              </a:spcAft>
            </a:pPr>
            <a:r>
              <a:rPr sz="1200" b="0" i="0">
                <a:solidFill>
                  <a:srgbClr val="6B7280"/>
                </a:solidFill>
                <a:latin typeface="Calibri"/>
              </a:rPr>
              <a:t>Recycled — this unit’s own verified recordings · replayed extracts · As in the original recordings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U4.7-L1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Your teacher plays six lines from this unit’s recordings. Write each line.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____________________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____________________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____________________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____________________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____________________</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U4.7-L1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Your teacher plays six lines from this unit’s recordings. Write each line.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____________________</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The school art week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U4L7</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Last month our school held its first Art Week. Every class made a corner about one Vietnamese art form, and for three days the corridors became a gallery. Class 7A chose water puppetry and built a small pool from a plastic sheet. Class 7B chose Dong Ho paintings and printed their own pictures with potato blocks. Class 8C chose ao dai design and borrowed six ao dai from their mothers and grandmothers. More than 400 visitors came, including parents and students from two other schools. The most popular corner was 7A's — the puppets really moved on the water — but the prize for the best guide went to Hoa in 7B, who explained her corner in English to three foreign teachers. 'It was the most difficult English I have ever spoken,' she said, 'and the most useful.'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U4.7-R1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How long did Art Week last?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What did class 7B make and how?</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How many visitors came?</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Which corner was the most popular? Why?</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Why did Hoa win the prize?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U4.7-G1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people who watch a show: 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a public show of art: 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a person who creates art: 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wooden figures on water: ______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a musical thing you play: ______</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U4.7-G1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something you win: ______</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U4.7-G2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Correct one mistake in each sentence.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Rock is more louder than folk music.</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She is most talented singer.</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This song is more good than that one.</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My drawing is as good than yours.</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It looks like beautiful.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U4.7-G2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Correct one mistake in each sentence.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I like the music traditional.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U4.7-I1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text.</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Write the five answers.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U4.7-I2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Build your gallery corner and prepare to guide.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U4.7-I2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Build your gallery corner and prepare to guide.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U4.7-S1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Guide visitors round your gallery corner for two minutes.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Frame: 'Welcome to our corner. This is… It comes from… It is about … years old. It is more … than… For us it is the most… Any questions?'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Real-life English: Guiding visitors and answering questions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U4L7</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Welcome to our corner.</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As you can see…</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This one is my favourite.</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Any questions?</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That's a good question.</a:t>
            </a:r>
          </a:p>
        </p:txBody>
      </p:sp>
      <p:sp>
        <p:nvSpPr>
          <p:cNvPr id="18" name="Rounded Rectangle 17"/>
          <p:cNvSpPr/>
          <p:nvPr/>
        </p:nvSpPr>
        <p:spPr>
          <a:xfrm>
            <a:off x="822960" y="521208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97280" y="525780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Thank you for visiting.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U4L7</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Half the class guides while the other half visits, then swap.</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U4.7-W1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six sentences for your corner.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What it is / where it comes from / how old / two comparatives / one superlative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U4L7</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Music and art vocabulary (24 items)</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Comparatives and superlatives</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as … as</a:t>
            </a:r>
          </a:p>
        </p:txBody>
      </p:sp>
      <p:sp>
        <p:nvSpPr>
          <p:cNvPr id="14" name="Rounded Rectangle 13"/>
          <p:cNvSpPr/>
          <p:nvPr/>
        </p:nvSpPr>
        <p:spPr>
          <a:xfrm>
            <a:off x="731520" y="448056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51560" y="455371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look/sound + adjective</a:t>
            </a:r>
          </a:p>
        </p:txBody>
      </p:sp>
      <p:sp>
        <p:nvSpPr>
          <p:cNvPr id="16" name="Rounded Rectangle 15"/>
          <p:cNvSpPr/>
          <p:nvPr/>
        </p:nvSpPr>
        <p:spPr>
          <a:xfrm>
            <a:off x="731520" y="544068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51560" y="551383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Comparison paragraph</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U4L7</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U4.7-H1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Vocabulary — Write 10 words from Unit 4 with Vietnamese meanings.</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U4.7-H2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Grammar — Choose the correct answer.</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U4.7-H3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Write a comparison paragraph (90–100 words) about two Vietnamese art forms.</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U4.7-H4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Prepare for Unit 5 — Write ten kinds of food and drink you eat in a week, in English or Vietnamese.</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U4L7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