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4  ·  LESSON 2  ·  PERIOD 27</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Art forms and the sounds /ʊ/ and /uː/</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name six Vietnamese and international art forms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eight adjectives to describe a performance or a work of art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pronounce /ʊ/ and /uː/ correctly in words and sentences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describe a picture or a performance in three sentences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Slap the board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Eight music words from Lesson 1 on the board; two teams; Vietnamese → English.</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Play in teams.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water puppetry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/ˈwɔːtə ˈpʌpɪtri/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múa rối nước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Water puppetry began in the Red River Delta.</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painting</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/ˈpeɪntɪŋ/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bức tranh; hội họa</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This painting is 200 years old.</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sculpture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/ˈskʌlptʃə/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tác phẩm điêu khắc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is a stone sculpture in the yard.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photography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/fəˈtɒɡrəfi/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nhiếp ảnh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Photography is an art, too.</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dance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/dɑːns/   (n/v)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múa; nhảy</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dance tells a story about the rice harvest.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craft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/krɑːft/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nghề thủ công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Silk weaving is a traditional craft.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artist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/ˈɑːtɪst/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nghệ sĩ</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artist painted for thirty years.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colourful</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/ˈkʌləfl/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nhiều màu sắc</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Dong Ho paintings are very colourful.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work of art</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traditional craft</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 good at + V-ing</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looks / sounds + adjective</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reminds me of…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Describing with 'look', 'sound' and adjectives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look + adjective (for things you SEE): The painting looks old.</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sound + adjective (for things you HEAR): The song sounds sad.</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Do NOT use 'like' before an adjective: *It looks like beautiful.*</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'look like / sound like' + NOUN: It looks like a bird.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look + adjective</a:t>
                      </a:r>
                    </a:p>
                  </a:txBody>
                  <a:tcPr>
                    <a:solidFill>
                      <a:srgbClr val="E3F3EE"/>
                    </a:solidFill>
                  </a:tcPr>
                </a:tc>
                <a:tc>
                  <a:txBody>
                    <a:bodyPr/>
                    <a:lstStyle/>
                    <a:p>
                      <a:r>
                        <a:rPr sz="1600" b="0">
                          <a:solidFill>
                            <a:srgbClr val="1B1B1B"/>
                          </a:solidFill>
                          <a:latin typeface="Calibri"/>
                        </a:rPr>
                        <a:t>The sculpture looks heavy.</a:t>
                      </a:r>
                    </a:p>
                  </a:txBody>
                  <a:tcPr>
                    <a:solidFill>
                      <a:srgbClr val="E3F3EE"/>
                    </a:solidFill>
                  </a:tcPr>
                </a:tc>
              </a:tr>
              <a:tr h="566928">
                <a:tc>
                  <a:txBody>
                    <a:bodyPr/>
                    <a:lstStyle/>
                    <a:p>
                      <a:r>
                        <a:rPr sz="1600" b="0">
                          <a:solidFill>
                            <a:srgbClr val="1B1B1B"/>
                          </a:solidFill>
                          <a:latin typeface="Calibri"/>
                        </a:rPr>
                        <a:t>sound + adjective</a:t>
                      </a:r>
                    </a:p>
                  </a:txBody>
                  <a:tcPr>
                    <a:solidFill>
                      <a:srgbClr val="FFFFFF"/>
                    </a:solidFill>
                  </a:tcPr>
                </a:tc>
                <a:tc>
                  <a:txBody>
                    <a:bodyPr/>
                    <a:lstStyle/>
                    <a:p>
                      <a:r>
                        <a:rPr sz="1600" b="0">
                          <a:solidFill>
                            <a:srgbClr val="1B1B1B"/>
                          </a:solidFill>
                          <a:latin typeface="Calibri"/>
                        </a:rPr>
                        <a:t>Folk music sounds peaceful.</a:t>
                      </a:r>
                    </a:p>
                  </a:txBody>
                  <a:tcPr>
                    <a:solidFill>
                      <a:srgbClr val="FFFFFF"/>
                    </a:solidFill>
                  </a:tcPr>
                </a:tc>
              </a:tr>
              <a:tr h="566928">
                <a:tc>
                  <a:txBody>
                    <a:bodyPr/>
                    <a:lstStyle/>
                    <a:p>
                      <a:r>
                        <a:rPr sz="1600" b="0">
                          <a:solidFill>
                            <a:srgbClr val="1B1B1B"/>
                          </a:solidFill>
                          <a:latin typeface="Calibri"/>
                        </a:rPr>
                        <a:t>look like + noun</a:t>
                      </a:r>
                    </a:p>
                  </a:txBody>
                  <a:tcPr>
                    <a:solidFill>
                      <a:srgbClr val="E3F3EE"/>
                    </a:solidFill>
                  </a:tcPr>
                </a:tc>
                <a:tc>
                  <a:txBody>
                    <a:bodyPr/>
                    <a:lstStyle/>
                    <a:p>
                      <a:r>
                        <a:rPr sz="1600" b="0">
                          <a:solidFill>
                            <a:srgbClr val="1B1B1B"/>
                          </a:solidFill>
                          <a:latin typeface="Calibri"/>
                        </a:rPr>
                        <a:t>That cloud looks like a dragon.</a:t>
                      </a:r>
                    </a:p>
                  </a:txBody>
                  <a:tcPr>
                    <a:solidFill>
                      <a:srgbClr val="E3F3EE"/>
                    </a:solidFill>
                  </a:tcPr>
                </a:tc>
              </a:tr>
              <a:tr h="566928">
                <a:tc>
                  <a:txBody>
                    <a:bodyPr/>
                    <a:lstStyle/>
                    <a:p>
                      <a:r>
                        <a:rPr sz="1600" b="0">
                          <a:solidFill>
                            <a:srgbClr val="1B1B1B"/>
                          </a:solidFill>
                          <a:latin typeface="Calibri"/>
                        </a:rPr>
                        <a:t>sound like + noun</a:t>
                      </a:r>
                    </a:p>
                  </a:txBody>
                  <a:tcPr>
                    <a:solidFill>
                      <a:srgbClr val="FFFFFF"/>
                    </a:solidFill>
                  </a:tcPr>
                </a:tc>
                <a:tc>
                  <a:txBody>
                    <a:bodyPr/>
                    <a:lstStyle/>
                    <a:p>
                      <a:r>
                        <a:rPr sz="1600" b="0">
                          <a:solidFill>
                            <a:srgbClr val="1B1B1B"/>
                          </a:solidFill>
                          <a:latin typeface="Calibri"/>
                        </a:rPr>
                        <a:t>It sounds like rain.</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Dong Ho painting looks simple, but it is very old.</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Quan Ho singing sounds gentle.</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This sculpture looks like a fish.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*It looks like beautiful* — the word 'like' is only used before a NOUN. Before an adjective, use nothing: It looks beautiful.</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The Dong Ho painting looks simple, but it is very old.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/ʊ/ and /uː/ — short and long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/ʊ/ is short, the lips are only a little round: good, book, put, would. /uː/ is long, the lips are very round and pushed forward: music, blue, group, school.</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/ʊ/: good, book, look, put, could, woman</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/uː/: music, blue, school, group, too, beautiful (-ful is weak!)</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Minimal pairs: full – fool | pull – pool | look – Luke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Look at the good book.</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music group is too beautiful for words.</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Could you put the blue book on the school desk?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Superlatives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the best, the fastest and the most popular things. Two speakers, scripted dialogue, native English. It lasts 1:47.</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Sound Grammar · 1:47 · Two speakers, scripted dialogue, native English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training for a marathon as a fitness goal B. the best, the fastest and the most popular things C. going back to school and studying a subject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the number of the conversation (1-4) you hear each line in.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costs are very high.</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was the movie last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Well, it’s not the most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local bus. But, it's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Complete the conversation with the correct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Woman: What is the _____ way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Man: By taxi, but it’s the 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Man: Yeah, it’s _____ if you do.</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Woman: What is the _____ place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Man: Yeah, it was the 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Water puppetry: a theatre on water</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Water puppetry (mua roi nuoc) is one of the oldest art forms in Viet Nam. It began about a thousand years ago in the villages of the Red River Delta, when farmers played with wooden puppets in the flooded rice fields after the harvest. The stage is a pool of water. The puppeteers stand behind a bamboo screen, in the water up to their waist, and move the puppets with long poles. The audience cannot see the poles, so the puppets seem to dance on the water by themselves. The stories are simple and funny: a farmer and his buffalo, a fishing competition, a dragon dance. Traditional music is played live, and the audience often laughs aloud. Today water puppetry is more popular with foreign visitors than with young Vietnamese people. But some schools in Hanoi now teach it, and last year a group of students performed for their whole village.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old is water puppetry?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Where did it begin and why?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Where do the puppeteers stand?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Why can't the audience see the poles?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Give two examples of the stories.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in your own words.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do you think water puppetry started in rice fields?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is it more popular with foreign visitors today?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Is it a good idea to teach it in schools? Why (not)?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art form with the description.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water puppetry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sculpture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painting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craft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photography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art form with the description.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made with a camera</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wooden figures dancing on water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made by hand, often for daily use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made with a brush and colours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made from wood or stone, in three dimensions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This painting ______ very old.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That cloud ______ a horse.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Quan Ho music ______ peaceful.</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It ______ rain outside.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sculpture ______ heavy.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Sort the words into two groups.</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good   music   book   school   put   blue   look   group</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/ʊ/ (short): ______</a:t>
            </a:r>
          </a:p>
        </p:txBody>
      </p:sp>
      <p:sp>
        <p:nvSpPr>
          <p:cNvPr id="13" name="TextBox 12"/>
          <p:cNvSpPr txBox="1"/>
          <p:nvPr/>
        </p:nvSpPr>
        <p:spPr>
          <a:xfrm>
            <a:off x="1005840" y="385876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/uː/ (long): ______</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U4.2-S2 in groups of four.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U4.2-S2 in groups of four.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Look at a picture card and describe it in three sentences. Your partner guesses which picture it is.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'It looks…', 'It looks like…', 'The colours are…', 'It reminds me of…'</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 are a guide. Tell your group about ONE art form for 45 seconds.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What it is / where it comes from / how old / one interesting fact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Describing and reacting to art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looks beautiful / strange / old.</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looks like a…</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reminds me of…</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do you think of it?</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really like it. / It's not really my thing.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Gallery visit: A shows B a picture and describes it; B reacts and asks one question. Then swap.</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U4.2-W1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four sentences about a painting, a sculpture or a photograph you like.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What is it? / What can you see? / What does it look like? / Why do you like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6 art forms + 8 describing adjectives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look/sound + adjective; look/sound like + noun</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/ʊ/ short vs /uː/ long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U4L2</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U4.2-H1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the art form.</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U4.2-H2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look(s), look(s) like, sound(s), sound(s) like.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U4.2-H3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4 sentences describing a Vietnamese art form to a foreign friend.</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U4.2-H4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each pair five times: full – fool, pull – pool, look – Luke.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U4L2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