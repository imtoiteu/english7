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2  ·  PERIOD 25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 forms and the sounds /ʊ/ and /uː/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Vietnamese and international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adjectives to describe a performance or a work of art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/ʊ/ and /uː/ correctly in words and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picture or a performance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Eight music words from Lesson 1 on the board; two teams; Vietnamese →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water puppetry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/ˈwɔːtə ˈpʌpɪtri/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rối nước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Water puppetry began in the Red River Delta.</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/ˈpeɪntɪŋ/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bức tranh; hội họa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painting is 200 years old.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sculpture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/ˈskʌlptʃə/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tác phẩm điêu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stone sculpture in the yard.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an art, too.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/dɑːns/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nhảy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dance tells a story about the rice harvest.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craft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/krɑːft/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nghề thủ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Silk weaving is a traditional craft.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artist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/ˈɑːtɪst/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nghệ sĩ</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artist painted for thirty years.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 màu sắc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Dong Ho paintings are very colourful.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work of art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traditional craft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 sounds + adjective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with 'look', 'sound' and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look + adjective (for things you SEE): The painting looks old.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sound + adjective (for things you HEAR): The song sounds sad.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NOT use 'like' before an adjective: *It looks like beautiful.*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'look like / sound like' + NOUN: It looks like a bird.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look + adjective</a:t>
                      </a:r>
                    </a:p>
                  </a:txBody>
                  <a:tcPr>
                    <a:solidFill>
                      <a:srgbClr val="E3F3EE"/>
                    </a:solidFill>
                  </a:tcPr>
                </a:tc>
                <a:tc>
                  <a:txBody>
                    <a:bodyPr/>
                    <a:lstStyle/>
                    <a:p>
                      <a:r>
                        <a:rPr sz="1600" b="0">
                          <a:solidFill>
                            <a:srgbClr val="1B1B1B"/>
                          </a:solidFill>
                          <a:latin typeface="Calibri"/>
                        </a:rPr>
                        <a:t>The sculpture looks heavy.</a:t>
                      </a:r>
                    </a:p>
                  </a:txBody>
                  <a:tcPr>
                    <a:solidFill>
                      <a:srgbClr val="E3F3EE"/>
                    </a:solidFill>
                  </a:tcPr>
                </a:tc>
              </a:tr>
              <a:tr h="566928">
                <a:tc>
                  <a:txBody>
                    <a:bodyPr/>
                    <a:lstStyle/>
                    <a:p>
                      <a:r>
                        <a:rPr sz="1600" b="0">
                          <a:solidFill>
                            <a:srgbClr val="1B1B1B"/>
                          </a:solidFill>
                          <a:latin typeface="Calibri"/>
                        </a:rPr>
                        <a:t>sound + adjective</a:t>
                      </a:r>
                    </a:p>
                  </a:txBody>
                  <a:tcPr>
                    <a:solidFill>
                      <a:srgbClr val="FFFFFF"/>
                    </a:solidFill>
                  </a:tcPr>
                </a:tc>
                <a:tc>
                  <a:txBody>
                    <a:bodyPr/>
                    <a:lstStyle/>
                    <a:p>
                      <a:r>
                        <a:rPr sz="1600" b="0">
                          <a:solidFill>
                            <a:srgbClr val="1B1B1B"/>
                          </a:solidFill>
                          <a:latin typeface="Calibri"/>
                        </a:rPr>
                        <a:t>Folk music sounds peaceful.</a:t>
                      </a:r>
                    </a:p>
                  </a:txBody>
                  <a:tcPr>
                    <a:solidFill>
                      <a:srgbClr val="FFFFFF"/>
                    </a:solidFill>
                  </a:tcPr>
                </a:tc>
              </a:tr>
              <a:tr h="566928">
                <a:tc>
                  <a:txBody>
                    <a:bodyPr/>
                    <a:lstStyle/>
                    <a:p>
                      <a:r>
                        <a:rPr sz="1600" b="0">
                          <a:solidFill>
                            <a:srgbClr val="1B1B1B"/>
                          </a:solidFill>
                          <a:latin typeface="Calibri"/>
                        </a:rPr>
                        <a:t>look like + noun</a:t>
                      </a:r>
                    </a:p>
                  </a:txBody>
                  <a:tcPr>
                    <a:solidFill>
                      <a:srgbClr val="E3F3EE"/>
                    </a:solidFill>
                  </a:tcPr>
                </a:tc>
                <a:tc>
                  <a:txBody>
                    <a:bodyPr/>
                    <a:lstStyle/>
                    <a:p>
                      <a:r>
                        <a:rPr sz="1600" b="0">
                          <a:solidFill>
                            <a:srgbClr val="1B1B1B"/>
                          </a:solidFill>
                          <a:latin typeface="Calibri"/>
                        </a:rPr>
                        <a:t>That cloud looks like a dragon.</a:t>
                      </a:r>
                    </a:p>
                  </a:txBody>
                  <a:tcPr>
                    <a:solidFill>
                      <a:srgbClr val="E3F3EE"/>
                    </a:solidFill>
                  </a:tcPr>
                </a:tc>
              </a:tr>
              <a:tr h="566928">
                <a:tc>
                  <a:txBody>
                    <a:bodyPr/>
                    <a:lstStyle/>
                    <a:p>
                      <a:r>
                        <a:rPr sz="1600" b="0">
                          <a:solidFill>
                            <a:srgbClr val="1B1B1B"/>
                          </a:solidFill>
                          <a:latin typeface="Calibri"/>
                        </a:rPr>
                        <a:t>sound like + noun</a:t>
                      </a:r>
                    </a:p>
                  </a:txBody>
                  <a:tcPr>
                    <a:solidFill>
                      <a:srgbClr val="FFFFFF"/>
                    </a:solidFill>
                  </a:tcPr>
                </a:tc>
                <a:tc>
                  <a:txBody>
                    <a:bodyPr/>
                    <a:lstStyle/>
                    <a:p>
                      <a:r>
                        <a:rPr sz="1600" b="0">
                          <a:solidFill>
                            <a:srgbClr val="1B1B1B"/>
                          </a:solidFill>
                          <a:latin typeface="Calibri"/>
                        </a:rPr>
                        <a:t>It sounds like rain.</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Dong Ho painting looks simple, but it is very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sounds gentle.</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sculpture looks like a fish.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looks like beautiful* — the word 'like' is only used before a NOUN. Before an adjective, use nothing: It looks beautiful.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Dong Ho painting looks simple, but it is very old.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/ʊ/ and /uː/ — short and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the lips are only a little round: good, book, put, would. /uː/ is long, the lips are very round and pushed forward: music, blue, group,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 woman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group, too, beautiful (-ful is weak!)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 | look – Luke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book.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music group is too beautiful for words.</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Could you put the blue book on the school desk?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Superlatives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best, the fastest and the most popular things. Two speakers, scripted dialogue, native English. It lasts 1:47.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1:47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best, the fastest and the most popular things C. going back to school and studying a subject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costs are very high.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was the movie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Well, it’s not the most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local bus. But, it's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Complete the conversation with the correct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is the _____ way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By taxi, but it’s the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Yeah, it’s _____ if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What is the _____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Yeah, it was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Water puppetry: a theatre on water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Water puppetry (mua roi nuoc) is one of the oldest art forms in Viet Nam. It began about a thousand years ago in the villages of the Red River Delta, when farmers played with wooden puppets in the flooded rice fields after the harvest. The stage is a pool of water. The puppeteers stand behind a bamboo screen, in the water up to their waist, and move the puppets with long poles. The audience cannot see the poles, so the puppets seem to dance on the water by themselves. The stories are simple and funny: a farmer and his buffalo, a fishing competition, a dragon dance. Traditional music is played live, and the audience often laughs aloud. Today water puppetry is more popular with foreign visitors than with young Vietnamese people. But some schools in Hanoi now teach it, and last year a group of students performed for their whole village.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old is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did it begin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the puppeteers stand?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can't the audience see the poles?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examples of the stories.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your own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water puppetry started in rice fields?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it more popular with foreign visitors today?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it a good idea to teach it in schools?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sculpture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painting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craft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photography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made with a camera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wooden figures dancing on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made by hand, often for daily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made with a brush and colours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made from wood or stone, in three dimensions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painting ______ very 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That cloud ______ a horse.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music ______ peaceful.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rain outside.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sculpture ______ heavy.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Sort the words into two groups.</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good   music   book   school   put   blue   look   group</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/ʊ/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/uː/ (long): ______</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U4.2-S2 in groups of four.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U4.2-S2 in groups of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a picture card and describe it in three sentences. Your partner guesses which picture it is.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 looks…', 'It looks like…', 'The colours are…', 'It reminds me of…'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are a guide. Tell your group about ONE art form for 45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one interesting fact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Describing and reacting to 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beautiful / strange / old.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like a…</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 of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really like it. / It's not really my thing.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Gallery visit: A shows B a picture and describes it; B reacts and asks one question.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four sentences about a painting, a sculpture or a photograph you like.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is it? / What can you see? / What does it look like? / Why do you like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art forms + 8 describing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 look/sound like + noun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art form.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look(s), look(s) like, sound(s), sound(s) like.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a Vietnamese art form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full – fool, pull – pool, look – Luke.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