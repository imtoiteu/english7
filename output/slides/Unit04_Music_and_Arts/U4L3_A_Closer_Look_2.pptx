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4  ·  LESSON 3  ·  PERIOD 26</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A CLOSER LOOK 2</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Comparative and superlative adjectives</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U4L3</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form comparatives and superlatives of short and long adjectives</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compare two things with -er/more … than</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say which is the best/the most … with superlatives</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compare two kinds of music or art in a short conversation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Taller, older, louder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U4L3</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Two students stand up. Class makes comparisons: 'Nam is taller than Mai.' Repeat with three pairs.</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Produce comparative sentences.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U4L3</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popular</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/ˈpɒpjələ/   (adj)</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phổ biến</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V-pop is more popular than jazz here.</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famous</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/ˈfeɪməs/   (adj)</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nổi tiếng</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She is the most famous singer in the country.</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expensive</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/ɪkˈspensɪv/   (adj)</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đắt</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Concert tickets are more expensive than films.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U4L3</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interesting</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/ˈɪntrəstɪŋ/   (adj)</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thú vị</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This exhibition is more interesting.</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peaceful</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/ˈpiːsfl/   (adj)</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yên bình</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Folk music is more peaceful than rock.</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talented</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/ˈtæləntɪd/   (adj)</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tài năng</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He is the most talented student in the class.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U4L3</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 than …</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best / the worst</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much + comparative (much louder)</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one of the most … in the world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Grammar: Comparative and superlative adjectives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U4L3</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SHORT adjectives (1 syllable, and 2 syllables ending in -y): add -er / -est → louder, the loudest; easy → easier, the easiest.</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LONG adjectives (2+ syllables): more / the most → more popular, the most popular.</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Comparative + THAN: Rock is louder THAN folk music.</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Superlative + THE: It is THE loudest music in the world.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U4L3</a:t>
            </a:r>
          </a:p>
        </p:txBody>
      </p:sp>
      <p:graphicFrame>
        <p:nvGraphicFramePr>
          <p:cNvPr id="8" name="Table 7"/>
          <p:cNvGraphicFramePr>
            <a:graphicFrameLocks noGrp="1"/>
          </p:cNvGraphicFramePr>
          <p:nvPr/>
        </p:nvGraphicFramePr>
        <p:xfrm>
          <a:off x="548640" y="1463040"/>
          <a:ext cx="11064240" cy="3968496"/>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Adjective</a:t>
                      </a:r>
                    </a:p>
                  </a:txBody>
                  <a:tcPr>
                    <a:solidFill>
                      <a:srgbClr val="0E7C66"/>
                    </a:solidFill>
                  </a:tcPr>
                </a:tc>
                <a:tc>
                  <a:txBody>
                    <a:bodyPr/>
                    <a:lstStyle/>
                    <a:p>
                      <a:r>
                        <a:rPr sz="1600" b="1">
                          <a:solidFill>
                            <a:srgbClr val="FFFFFF"/>
                          </a:solidFill>
                          <a:latin typeface="Calibri"/>
                        </a:rPr>
                        <a:t>Comparative</a:t>
                      </a:r>
                    </a:p>
                  </a:txBody>
                  <a:tcPr>
                    <a:solidFill>
                      <a:srgbClr val="0E7C66"/>
                    </a:solidFill>
                  </a:tcPr>
                </a:tc>
                <a:tc>
                  <a:txBody>
                    <a:bodyPr/>
                    <a:lstStyle/>
                    <a:p>
                      <a:r>
                        <a:rPr sz="1600" b="1">
                          <a:solidFill>
                            <a:srgbClr val="FFFFFF"/>
                          </a:solidFill>
                          <a:latin typeface="Calibri"/>
                        </a:rPr>
                        <a:t>Superlative</a:t>
                      </a:r>
                    </a:p>
                  </a:txBody>
                  <a:tcPr>
                    <a:solidFill>
                      <a:srgbClr val="0E7C66"/>
                    </a:solidFill>
                  </a:tcPr>
                </a:tc>
              </a:tr>
              <a:tr h="566928">
                <a:tc>
                  <a:txBody>
                    <a:bodyPr/>
                    <a:lstStyle/>
                    <a:p>
                      <a:r>
                        <a:rPr sz="1600" b="0">
                          <a:solidFill>
                            <a:srgbClr val="1B1B1B"/>
                          </a:solidFill>
                          <a:latin typeface="Calibri"/>
                        </a:rPr>
                        <a:t>loud (short)</a:t>
                      </a:r>
                    </a:p>
                  </a:txBody>
                  <a:tcPr>
                    <a:solidFill>
                      <a:srgbClr val="E3F3EE"/>
                    </a:solidFill>
                  </a:tcPr>
                </a:tc>
                <a:tc>
                  <a:txBody>
                    <a:bodyPr/>
                    <a:lstStyle/>
                    <a:p>
                      <a:r>
                        <a:rPr sz="1600" b="0">
                          <a:solidFill>
                            <a:srgbClr val="1B1B1B"/>
                          </a:solidFill>
                          <a:latin typeface="Calibri"/>
                        </a:rPr>
                        <a:t>louder</a:t>
                      </a:r>
                    </a:p>
                  </a:txBody>
                  <a:tcPr>
                    <a:solidFill>
                      <a:srgbClr val="E3F3EE"/>
                    </a:solidFill>
                  </a:tcPr>
                </a:tc>
                <a:tc>
                  <a:txBody>
                    <a:bodyPr/>
                    <a:lstStyle/>
                    <a:p>
                      <a:r>
                        <a:rPr sz="1600" b="0">
                          <a:solidFill>
                            <a:srgbClr val="1B1B1B"/>
                          </a:solidFill>
                          <a:latin typeface="Calibri"/>
                        </a:rPr>
                        <a:t>the loudest</a:t>
                      </a:r>
                    </a:p>
                  </a:txBody>
                  <a:tcPr>
                    <a:solidFill>
                      <a:srgbClr val="E3F3EE"/>
                    </a:solidFill>
                  </a:tcPr>
                </a:tc>
              </a:tr>
              <a:tr h="566928">
                <a:tc>
                  <a:txBody>
                    <a:bodyPr/>
                    <a:lstStyle/>
                    <a:p>
                      <a:r>
                        <a:rPr sz="1600" b="0">
                          <a:solidFill>
                            <a:srgbClr val="1B1B1B"/>
                          </a:solidFill>
                          <a:latin typeface="Calibri"/>
                        </a:rPr>
                        <a:t>easy (-y)</a:t>
                      </a:r>
                    </a:p>
                  </a:txBody>
                  <a:tcPr>
                    <a:solidFill>
                      <a:srgbClr val="FFFFFF"/>
                    </a:solidFill>
                  </a:tcPr>
                </a:tc>
                <a:tc>
                  <a:txBody>
                    <a:bodyPr/>
                    <a:lstStyle/>
                    <a:p>
                      <a:r>
                        <a:rPr sz="1600" b="0">
                          <a:solidFill>
                            <a:srgbClr val="1B1B1B"/>
                          </a:solidFill>
                          <a:latin typeface="Calibri"/>
                        </a:rPr>
                        <a:t>easier</a:t>
                      </a:r>
                    </a:p>
                  </a:txBody>
                  <a:tcPr>
                    <a:solidFill>
                      <a:srgbClr val="FFFFFF"/>
                    </a:solidFill>
                  </a:tcPr>
                </a:tc>
                <a:tc>
                  <a:txBody>
                    <a:bodyPr/>
                    <a:lstStyle/>
                    <a:p>
                      <a:r>
                        <a:rPr sz="1600" b="0">
                          <a:solidFill>
                            <a:srgbClr val="1B1B1B"/>
                          </a:solidFill>
                          <a:latin typeface="Calibri"/>
                        </a:rPr>
                        <a:t>the easiest</a:t>
                      </a:r>
                    </a:p>
                  </a:txBody>
                  <a:tcPr>
                    <a:solidFill>
                      <a:srgbClr val="FFFFFF"/>
                    </a:solidFill>
                  </a:tcPr>
                </a:tc>
              </a:tr>
              <a:tr h="566928">
                <a:tc>
                  <a:txBody>
                    <a:bodyPr/>
                    <a:lstStyle/>
                    <a:p>
                      <a:r>
                        <a:rPr sz="1600" b="0">
                          <a:solidFill>
                            <a:srgbClr val="1B1B1B"/>
                          </a:solidFill>
                          <a:latin typeface="Calibri"/>
                        </a:rPr>
                        <a:t>big (short vowel + consonant)</a:t>
                      </a:r>
                    </a:p>
                  </a:txBody>
                  <a:tcPr>
                    <a:solidFill>
                      <a:srgbClr val="E3F3EE"/>
                    </a:solidFill>
                  </a:tcPr>
                </a:tc>
                <a:tc>
                  <a:txBody>
                    <a:bodyPr/>
                    <a:lstStyle/>
                    <a:p>
                      <a:r>
                        <a:rPr sz="1600" b="0">
                          <a:solidFill>
                            <a:srgbClr val="1B1B1B"/>
                          </a:solidFill>
                          <a:latin typeface="Calibri"/>
                        </a:rPr>
                        <a:t>bigger</a:t>
                      </a:r>
                    </a:p>
                  </a:txBody>
                  <a:tcPr>
                    <a:solidFill>
                      <a:srgbClr val="E3F3EE"/>
                    </a:solidFill>
                  </a:tcPr>
                </a:tc>
                <a:tc>
                  <a:txBody>
                    <a:bodyPr/>
                    <a:lstStyle/>
                    <a:p>
                      <a:r>
                        <a:rPr sz="1600" b="0">
                          <a:solidFill>
                            <a:srgbClr val="1B1B1B"/>
                          </a:solidFill>
                          <a:latin typeface="Calibri"/>
                        </a:rPr>
                        <a:t>the biggest</a:t>
                      </a:r>
                    </a:p>
                  </a:txBody>
                  <a:tcPr>
                    <a:solidFill>
                      <a:srgbClr val="E3F3EE"/>
                    </a:solidFill>
                  </a:tcPr>
                </a:tc>
              </a:tr>
              <a:tr h="566928">
                <a:tc>
                  <a:txBody>
                    <a:bodyPr/>
                    <a:lstStyle/>
                    <a:p>
                      <a:r>
                        <a:rPr sz="1600" b="0">
                          <a:solidFill>
                            <a:srgbClr val="1B1B1B"/>
                          </a:solidFill>
                          <a:latin typeface="Calibri"/>
                        </a:rPr>
                        <a:t>popular (long)</a:t>
                      </a:r>
                    </a:p>
                  </a:txBody>
                  <a:tcPr>
                    <a:solidFill>
                      <a:srgbClr val="FFFFFF"/>
                    </a:solidFill>
                  </a:tcPr>
                </a:tc>
                <a:tc>
                  <a:txBody>
                    <a:bodyPr/>
                    <a:lstStyle/>
                    <a:p>
                      <a:r>
                        <a:rPr sz="1600" b="0">
                          <a:solidFill>
                            <a:srgbClr val="1B1B1B"/>
                          </a:solidFill>
                          <a:latin typeface="Calibri"/>
                        </a:rPr>
                        <a:t>more popular</a:t>
                      </a:r>
                    </a:p>
                  </a:txBody>
                  <a:tcPr>
                    <a:solidFill>
                      <a:srgbClr val="FFFFFF"/>
                    </a:solidFill>
                  </a:tcPr>
                </a:tc>
                <a:tc>
                  <a:txBody>
                    <a:bodyPr/>
                    <a:lstStyle/>
                    <a:p>
                      <a:r>
                        <a:rPr sz="1600" b="0">
                          <a:solidFill>
                            <a:srgbClr val="1B1B1B"/>
                          </a:solidFill>
                          <a:latin typeface="Calibri"/>
                        </a:rPr>
                        <a:t>the most popular</a:t>
                      </a:r>
                    </a:p>
                  </a:txBody>
                  <a:tcPr>
                    <a:solidFill>
                      <a:srgbClr val="FFFFFF"/>
                    </a:solidFill>
                  </a:tcPr>
                </a:tc>
              </a:tr>
              <a:tr h="566928">
                <a:tc>
                  <a:txBody>
                    <a:bodyPr/>
                    <a:lstStyle/>
                    <a:p>
                      <a:r>
                        <a:rPr sz="1600" b="0">
                          <a:solidFill>
                            <a:srgbClr val="1B1B1B"/>
                          </a:solidFill>
                          <a:latin typeface="Calibri"/>
                        </a:rPr>
                        <a:t>good</a:t>
                      </a:r>
                    </a:p>
                  </a:txBody>
                  <a:tcPr>
                    <a:solidFill>
                      <a:srgbClr val="E3F3EE"/>
                    </a:solidFill>
                  </a:tcPr>
                </a:tc>
                <a:tc>
                  <a:txBody>
                    <a:bodyPr/>
                    <a:lstStyle/>
                    <a:p>
                      <a:r>
                        <a:rPr sz="1600" b="0">
                          <a:solidFill>
                            <a:srgbClr val="1B1B1B"/>
                          </a:solidFill>
                          <a:latin typeface="Calibri"/>
                        </a:rPr>
                        <a:t>better</a:t>
                      </a:r>
                    </a:p>
                  </a:txBody>
                  <a:tcPr>
                    <a:solidFill>
                      <a:srgbClr val="E3F3EE"/>
                    </a:solidFill>
                  </a:tcPr>
                </a:tc>
                <a:tc>
                  <a:txBody>
                    <a:bodyPr/>
                    <a:lstStyle/>
                    <a:p>
                      <a:r>
                        <a:rPr sz="1600" b="0">
                          <a:solidFill>
                            <a:srgbClr val="1B1B1B"/>
                          </a:solidFill>
                          <a:latin typeface="Calibri"/>
                        </a:rPr>
                        <a:t>the best</a:t>
                      </a:r>
                    </a:p>
                  </a:txBody>
                  <a:tcPr>
                    <a:solidFill>
                      <a:srgbClr val="E3F3EE"/>
                    </a:solidFill>
                  </a:tcPr>
                </a:tc>
              </a:tr>
              <a:tr h="566928">
                <a:tc>
                  <a:txBody>
                    <a:bodyPr/>
                    <a:lstStyle/>
                    <a:p>
                      <a:r>
                        <a:rPr sz="1600" b="0">
                          <a:solidFill>
                            <a:srgbClr val="1B1B1B"/>
                          </a:solidFill>
                          <a:latin typeface="Calibri"/>
                        </a:rPr>
                        <a:t>bad</a:t>
                      </a:r>
                    </a:p>
                  </a:txBody>
                  <a:tcPr>
                    <a:solidFill>
                      <a:srgbClr val="FFFFFF"/>
                    </a:solidFill>
                  </a:tcPr>
                </a:tc>
                <a:tc>
                  <a:txBody>
                    <a:bodyPr/>
                    <a:lstStyle/>
                    <a:p>
                      <a:r>
                        <a:rPr sz="1600" b="0">
                          <a:solidFill>
                            <a:srgbClr val="1B1B1B"/>
                          </a:solidFill>
                          <a:latin typeface="Calibri"/>
                        </a:rPr>
                        <a:t>worse</a:t>
                      </a:r>
                    </a:p>
                  </a:txBody>
                  <a:tcPr>
                    <a:solidFill>
                      <a:srgbClr val="FFFFFF"/>
                    </a:solidFill>
                  </a:tcPr>
                </a:tc>
                <a:tc>
                  <a:txBody>
                    <a:bodyPr/>
                    <a:lstStyle/>
                    <a:p>
                      <a:r>
                        <a:rPr sz="1600" b="0">
                          <a:solidFill>
                            <a:srgbClr val="1B1B1B"/>
                          </a:solidFill>
                          <a:latin typeface="Calibri"/>
                        </a:rPr>
                        <a:t>the worst</a:t>
                      </a:r>
                    </a:p>
                  </a:txBody>
                  <a:tcP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U4L3</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Rock music is louder than classical music.</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Quan Ho singing is more peaceful than pop.</a:t>
            </a:r>
          </a:p>
        </p:txBody>
      </p:sp>
      <p:sp>
        <p:nvSpPr>
          <p:cNvPr id="12" name="Rounded Rectangle 11"/>
          <p:cNvSpPr/>
          <p:nvPr/>
        </p:nvSpPr>
        <p:spPr>
          <a:xfrm>
            <a:off x="731520" y="3346704"/>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419856"/>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She is the most talented dancer in our school.</a:t>
            </a:r>
          </a:p>
        </p:txBody>
      </p:sp>
      <p:sp>
        <p:nvSpPr>
          <p:cNvPr id="14" name="Rounded Rectangle 13"/>
          <p:cNvSpPr/>
          <p:nvPr/>
        </p:nvSpPr>
        <p:spPr>
          <a:xfrm>
            <a:off x="731520" y="4242816"/>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51560" y="4315968"/>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This is the best concert of the year.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U4L3</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Three classic errors: *more louder* (never use 'more' with -er), *more good* (good is irregular → better), and forgetting THE before a superlative (*She is best singer*).</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Rock music is louder than classical music.</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Weak 'than' and stress in comparisons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U4L3</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In natural speech 'than' is weak: /ðən/. The stress falls on the two things you compare and on the adjective: 'ROCK music is LOUDER than FOLK music.'</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louder than /ˈlaʊdə ðən/</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more popular than /mɔː ˈpɒpjələ ðən/</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better than /ˈbetə ðən/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U4L3</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ROCK is LOUDER than FOLK.</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V-pop is MORE POPULAR than JAZZ.</a:t>
            </a:r>
          </a:p>
        </p:txBody>
      </p:sp>
      <p:sp>
        <p:nvSpPr>
          <p:cNvPr id="12" name="Rounded Rectangle 11"/>
          <p:cNvSpPr/>
          <p:nvPr/>
        </p:nvSpPr>
        <p:spPr>
          <a:xfrm>
            <a:off x="731520" y="384048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93192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This song is BETTER than that one.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Comparatives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U4L3</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comparing two things. Two speakers, scripted dialogue, native English. It lasts 3:34.</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TextBox 10"/>
          <p:cNvSpPr txBox="1"/>
          <p:nvPr/>
        </p:nvSpPr>
        <p:spPr>
          <a:xfrm>
            <a:off x="731520" y="5577840"/>
            <a:ext cx="10698480" cy="822960"/>
          </a:xfrm>
          <a:prstGeom prst="rect">
            <a:avLst/>
          </a:prstGeom>
          <a:noFill/>
        </p:spPr>
        <p:txBody>
          <a:bodyPr wrap="square" anchor="t">
            <a:spAutoFit/>
          </a:bodyPr>
          <a:lstStyle/>
          <a:p>
            <a:pPr algn="l">
              <a:lnSpc>
                <a:spcPct val="100000"/>
              </a:lnSpc>
              <a:spcAft>
                <a:spcPts val="600"/>
              </a:spcAft>
            </a:pPr>
            <a:r>
              <a:rPr sz="1200" b="0" i="0">
                <a:solidFill>
                  <a:srgbClr val="6B7280"/>
                </a:solidFill>
                <a:latin typeface="Calibri"/>
              </a:rPr>
              <a:t>ELLLO — Sound Grammar · 3:34 · Two speakers, scripted dialogue, native English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U4.3-L1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comparing two things B. giving instructions and telling somebody what to do C. what somebody did yesterday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U4.3-L2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the number of the conversation (1-4) you hear each line in.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 want a dog actually, but I need a bigger place if I get one.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You should cook more. It's much healthier and cheaper</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Good advice. I think I'll do that.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Good. It's better than I expected.</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How's the camera? Does it take better pictures?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U4.3-L3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Woman: It is _____ than my last phone.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Man: Does it take _____ pictures?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Woman: Well, if you do buy it online, it's 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Woman: It's better _____ I expected.</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Woman: Yeah, it's _____ convenient to study at home and it is also more relaxing.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Reading: Three famous places for music in Viet Nam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U4L3</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The Hanoi Opera House is more than a hundred years old. It is the most beautiful concert hall in the country, with 600 seats, but the tickets are also the most expensive. The Ho Chi Minh City Conservatory is bigger and more modern. Young musicians study there for seven years, and student concerts are much cheaper — sometimes free. But the most popular place for music in Viet Nam is not a building at all. Every evening, in parks and on street corners, students play guitars and sing together. It costs nothing, and for many people it is better than any concert hall.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U4.3-R1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Which place is the oldest?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Which has the most expensive tickets?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Which is bigger and more modern?</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How long do students study at the Conservatory?</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What does the writer say is the most popular place for music?</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U4.3-G1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comparative.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loud →</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quiet →</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big →</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easy →</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popular →</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U4.3-G1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comparative.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interesting →</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7. good →</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8. bad →</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U4.3-G2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superlative.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loud →</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easy →</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big →</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famous →</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talented →</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U4.3-G2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superlative.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good →</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7. bad →</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8. expensive →</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U4.3-I1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Rock music is more louder than folk music.</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She is more good than her brother at singing.</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This is best concert of the year.</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V-pop is popular than jazz.</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He is the most talentedest dancer.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U4.3-I1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My village is more small than your town.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U4.3-I2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the concert role play (communication section).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U4.3-I2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the concert role play (communication section).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U4.3-S1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Compare the two things with your partner. Give a reason.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rock music / folk music (loud)</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 concert / a film (expensive)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water puppetry / a modern play (interesting)</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singing / playing an instrument (difficult)</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your town / Hanoi (big)</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U4.3-S2</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In groups, agree on five superlative sentences about your class or school (be kind!).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Ideas: the funniest song / the most talented singer / the best subject / the most beautiful place in our school</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Real-life English: Comparing and choosing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U4L3</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Which is better, A or B?</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think A is more … than B.</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For me, the best is…</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Yes, but B is cheaper.</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OK, let's choose A.</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U4L3</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and your friend must choose ONE of two concerts (or two art exhibitions). Compare price, distance, length and interest, then agree.</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U4.3-W1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a sentence comparing the two things.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classical music / pop music (peaceful)</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 painting / a photograph (expensive)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Quan Ho / V-pop (traditional)</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a guitar / a piano (big)</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this year's concert / last year's concert (good)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U4L3</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short adjective + er/est; long adjective + more/most</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than after comparatives; the before superlatives</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good/bad are irregular</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U4L3</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U4.3-H1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Complete with the comparative.</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U4.3-H2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Complete with the superlative.</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U4.3-H3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5 sentences comparing two kinds of music you know.</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U4.3-H4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Pronunciation — Say the sentences with weak 'than' five times: 'Rock is LOUDER than FOLK.' 'V-pop is MORE POPULAR than JAZZ.'</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U4L3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