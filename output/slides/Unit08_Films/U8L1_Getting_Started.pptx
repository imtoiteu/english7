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1_1_5085086e-5053-401a-9f9c-826aabe8abcb_hq.mp3" TargetMode="External"/><Relationship Id="rId3" Type="http://schemas.openxmlformats.org/officeDocument/2006/relationships/hyperlink" Target="https://learningenglish.voanews.com/a/lets-learn-english-lesson-26-this-game-is-fun/3457248.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1  ·  PERIOD 56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 kind of films do you like?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kinds of film</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film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choosing a film</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film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Film posters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four film posters or describe four films; students guess the kind of film.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 of film.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comedy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/ˈkɒmədi/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hài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watched a comedy on Saturday.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action film</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/ˈækʃn fɪlm/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hành động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Action films are full of fighting.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horror film</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/ˈhɒrə fɪlm/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kinh dị</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can't watch horror films at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cartoon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/kɑːˈtuːn/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hoạt hình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little sister loves cartoons.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documentary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/ˌdɒkjuˈmentri/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tài liệu</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a documentary about the ocean.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science fiction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/ˈsaɪəns ˈfɪkʃn/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khoa học viễn tưởng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Science fiction is about the future.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romance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/rəʊˈmæns/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phim tình cảm</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prefers a good romance.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character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/ˈkærəktə/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nhân vật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main character is a young girl.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films do you like?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about…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character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based on a true story.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rather watch…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Talking about films: 'It's about…' and 'It's a film about…'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topic: It's about a boy who finds a dragon.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kind: It's a comedy / an action film.</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the people: The main character is…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To give your opinion: I think it's… / For me it was…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kind</a:t>
                      </a:r>
                    </a:p>
                  </a:txBody>
                  <a:tcPr>
                    <a:solidFill>
                      <a:srgbClr val="E3F3EE"/>
                    </a:solidFill>
                  </a:tcPr>
                </a:tc>
                <a:tc>
                  <a:txBody>
                    <a:bodyPr/>
                    <a:lstStyle/>
                    <a:p>
                      <a:r>
                        <a:rPr sz="1600" b="0">
                          <a:solidFill>
                            <a:srgbClr val="1B1B1B"/>
                          </a:solidFill>
                          <a:latin typeface="Calibri"/>
                        </a:rPr>
                        <a:t>It's a + kind of film</a:t>
                      </a:r>
                    </a:p>
                  </a:txBody>
                  <a:tcPr>
                    <a:solidFill>
                      <a:srgbClr val="E3F3EE"/>
                    </a:solidFill>
                  </a:tcPr>
                </a:tc>
                <a:tc>
                  <a:txBody>
                    <a:bodyPr/>
                    <a:lstStyle/>
                    <a:p>
                      <a:r>
                        <a:rPr sz="1600" b="0">
                          <a:solidFill>
                            <a:srgbClr val="1B1B1B"/>
                          </a:solidFill>
                          <a:latin typeface="Calibri"/>
                        </a:rPr>
                        <a:t>It's a science fiction film.</a:t>
                      </a:r>
                    </a:p>
                  </a:txBody>
                  <a:tcPr>
                    <a:solidFill>
                      <a:srgbClr val="E3F3EE"/>
                    </a:solidFill>
                  </a:tcPr>
                </a:tc>
              </a:tr>
              <a:tr h="566928">
                <a:tc>
                  <a:txBody>
                    <a:bodyPr/>
                    <a:lstStyle/>
                    <a:p>
                      <a:r>
                        <a:rPr sz="1600" b="0">
                          <a:solidFill>
                            <a:srgbClr val="1B1B1B"/>
                          </a:solidFill>
                          <a:latin typeface="Calibri"/>
                        </a:rPr>
                        <a:t>topic</a:t>
                      </a:r>
                    </a:p>
                  </a:txBody>
                  <a:tcPr>
                    <a:solidFill>
                      <a:srgbClr val="FFFFFF"/>
                    </a:solidFill>
                  </a:tcPr>
                </a:tc>
                <a:tc>
                  <a:txBody>
                    <a:bodyPr/>
                    <a:lstStyle/>
                    <a:p>
                      <a:r>
                        <a:rPr sz="1600" b="0">
                          <a:solidFill>
                            <a:srgbClr val="1B1B1B"/>
                          </a:solidFill>
                          <a:latin typeface="Calibri"/>
                        </a:rPr>
                        <a:t>It's about + noun / V-ing</a:t>
                      </a:r>
                    </a:p>
                  </a:txBody>
                  <a:tcPr>
                    <a:solidFill>
                      <a:srgbClr val="FFFFFF"/>
                    </a:solidFill>
                  </a:tcPr>
                </a:tc>
                <a:tc>
                  <a:txBody>
                    <a:bodyPr/>
                    <a:lstStyle/>
                    <a:p>
                      <a:r>
                        <a:rPr sz="1600" b="0">
                          <a:solidFill>
                            <a:srgbClr val="1B1B1B"/>
                          </a:solidFill>
                          <a:latin typeface="Calibri"/>
                        </a:rPr>
                        <a:t>It's about a family who move to the city.</a:t>
                      </a:r>
                    </a:p>
                  </a:txBody>
                  <a:tcPr>
                    <a:solidFill>
                      <a:srgbClr val="FFFFFF"/>
                    </a:solidFill>
                  </a:tcPr>
                </a:tc>
              </a:tr>
              <a:tr h="566928">
                <a:tc>
                  <a:txBody>
                    <a:bodyPr/>
                    <a:lstStyle/>
                    <a:p>
                      <a:r>
                        <a:rPr sz="1600" b="0">
                          <a:solidFill>
                            <a:srgbClr val="1B1B1B"/>
                          </a:solidFill>
                          <a:latin typeface="Calibri"/>
                        </a:rPr>
                        <a:t>people</a:t>
                      </a:r>
                    </a:p>
                  </a:txBody>
                  <a:tcPr>
                    <a:solidFill>
                      <a:srgbClr val="E3F3EE"/>
                    </a:solidFill>
                  </a:tcPr>
                </a:tc>
                <a:tc>
                  <a:txBody>
                    <a:bodyPr/>
                    <a:lstStyle/>
                    <a:p>
                      <a:r>
                        <a:rPr sz="1600" b="0">
                          <a:solidFill>
                            <a:srgbClr val="1B1B1B"/>
                          </a:solidFill>
                          <a:latin typeface="Calibri"/>
                        </a:rPr>
                        <a:t>The main character is…</a:t>
                      </a:r>
                    </a:p>
                  </a:txBody>
                  <a:tcPr>
                    <a:solidFill>
                      <a:srgbClr val="E3F3EE"/>
                    </a:solidFill>
                  </a:tcPr>
                </a:tc>
                <a:tc>
                  <a:txBody>
                    <a:bodyPr/>
                    <a:lstStyle/>
                    <a:p>
                      <a:r>
                        <a:rPr sz="1600" b="0">
                          <a:solidFill>
                            <a:srgbClr val="1B1B1B"/>
                          </a:solidFill>
                          <a:latin typeface="Calibri"/>
                        </a:rPr>
                        <a:t>The main character is a fisherman.</a:t>
                      </a:r>
                    </a:p>
                  </a:txBody>
                  <a:tcPr>
                    <a:solidFill>
                      <a:srgbClr val="E3F3EE"/>
                    </a:solidFill>
                  </a:tcPr>
                </a:tc>
              </a:tr>
              <a:tr h="566928">
                <a:tc>
                  <a:txBody>
                    <a:bodyPr/>
                    <a:lstStyle/>
                    <a:p>
                      <a:r>
                        <a:rPr sz="1600" b="0">
                          <a:solidFill>
                            <a:srgbClr val="1B1B1B"/>
                          </a:solidFill>
                          <a:latin typeface="Calibri"/>
                        </a:rPr>
                        <a:t>opinion</a:t>
                      </a:r>
                    </a:p>
                  </a:txBody>
                  <a:tcPr>
                    <a:solidFill>
                      <a:srgbClr val="FFFFFF"/>
                    </a:solidFill>
                  </a:tcPr>
                </a:tc>
                <a:tc>
                  <a:txBody>
                    <a:bodyPr/>
                    <a:lstStyle/>
                    <a:p>
                      <a:r>
                        <a:rPr sz="1600" b="0">
                          <a:solidFill>
                            <a:srgbClr val="1B1B1B"/>
                          </a:solidFill>
                          <a:latin typeface="Calibri"/>
                        </a:rPr>
                        <a:t>I think it's…</a:t>
                      </a:r>
                    </a:p>
                  </a:txBody>
                  <a:tcPr>
                    <a:solidFill>
                      <a:srgbClr val="FFFFFF"/>
                    </a:solidFill>
                  </a:tcPr>
                </a:tc>
                <a:tc>
                  <a:txBody>
                    <a:bodyPr/>
                    <a:lstStyle/>
                    <a:p>
                      <a:r>
                        <a:rPr sz="1600" b="0">
                          <a:solidFill>
                            <a:srgbClr val="1B1B1B"/>
                          </a:solidFill>
                          <a:latin typeface="Calibri"/>
                        </a:rPr>
                        <a:t>I think it's the funniest film of the year.</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cartoon about a small fish who gets lost.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main character is a teenage girl from Hanoi.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*It's about a boy that he finds a dragon* — do not repeat the subject. Also *It talks about…* is a direct translation of 'nói về'; English says 'It's about…'.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It's a cartoon about a small fish who gets lost.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/ɪ/ (short) and /iː/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/ɪ/ is short and relaxed: film, ship, live, this, sit. /iː/ is long, with the lips spread like a smile: sheep, see, feel, leave, seat.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/ɪ/: film, ship, live, sit, this, it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/iː/: see, sheep, feel, leave, seat, three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ship – sheep | live – leave | sit – seat | it – eat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film is about three ships.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Sit in your seat and see the sheep.</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live here — I don't want to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26: This Game Is Fun!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playing a game to find American symbols at the memorials. American English — VOA’s professional actors (Anna, Pete, Marsha, Ms. Weaver…), slowed learner delivery. It lasts 2:02.</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2:02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visiting a historic house and the person who lived there B. playing a game to find American symbols at the memorials C. things that are possible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First three to find it wins?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remembers that Dan said: You have to find things that aren't really there.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1 - Lesson 26: This Game Is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Please give me my Fun Fact.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Yes, I found three and won 130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you find an American symbol, you win points and a _____ Fact about a 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What is the _____ Fact?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This _____ is a lot of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 learned a lot about presidents with this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Vietnamese cinema in five facts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1. The first Vietnamese film was made in 1923. It was silent and only about 30 minutes long. 2. The most successful Vietnamese film of recent years sold more than 6 million tickets — more than many foreign films shown here. 3. Cartoons made in Viet Nam are becoming popular abroad, especially short films about village life. 4. Many young Vietnamese people now watch films on their phones. Cinema tickets cost between 45,000 and 120,000 dong, so a phone is cheaper — but the screen is very small. 5. English-language films in Vietnamese cinemas usually have Vietnamese subtitles, not dubbing. Many teachers say this is one reason why young Vietnamese people are getting better at English.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was the first Vietnamese film made and how long was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tickets did the most successful recent film sell?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kind of Vietnamese films are popular abroad?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much does a cinema ticket cost?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 teachers like subtitles?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makes you laugh: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makes you frightened: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drawn, not filmed: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gives real information: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It's about the future and space: ______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It's about love: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for each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cartoon / a fish who gets lost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documentary / life in the ocean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comedy / a family who move to the city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action film / a police officer in Ho Chi Minh City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(1) ______ of films do you like?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 like comedies. What about you?</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prefer science (2) ______ . Have you seen the new 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No. What's it (3) 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It's (4) ______ a boy who travels to another planet. The main (5) ______ is only thirteen.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three-friends role play and agree on one film.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three-friends role play and agree on one film.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kind of films do you like? / What is your favourite film? / How often do you watch films?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Making and responding to suggestions about films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shall we watch?</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about…?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rather watch…</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 the horror film!</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right, then.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two friends must choose ONE film from three. Each of you prefers a different one. Agree in six turns.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film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It's a ______ about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main character is ______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kinds of film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 about …</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/ɪ/ short vs /iː/ long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kind of film.</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four sentences with 'It's a … about …'.</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 film you watched recently.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ship – sheep, live – leave, sit – seat, it – eat.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