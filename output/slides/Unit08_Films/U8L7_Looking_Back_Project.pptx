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6858000"/>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Oval 3"/>
          <p:cNvSpPr/>
          <p:nvPr/>
        </p:nvSpPr>
        <p:spPr>
          <a:xfrm>
            <a:off x="-1097280" y="4389120"/>
            <a:ext cx="6858000" cy="4114800"/>
          </a:xfrm>
          <a:prstGeom prst="ellipse">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Oval 4"/>
          <p:cNvSpPr/>
          <p:nvPr/>
        </p:nvSpPr>
        <p:spPr>
          <a:xfrm>
            <a:off x="8778240" y="-1828800"/>
            <a:ext cx="5486400" cy="4572000"/>
          </a:xfrm>
          <a:prstGeom prst="ellipse">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822960" y="1371600"/>
            <a:ext cx="10515600" cy="548640"/>
          </a:xfrm>
          <a:prstGeom prst="rect">
            <a:avLst/>
          </a:prstGeom>
          <a:noFill/>
        </p:spPr>
        <p:txBody>
          <a:bodyPr wrap="square" anchor="t">
            <a:spAutoFit/>
          </a:bodyPr>
          <a:lstStyle/>
          <a:p>
            <a:pPr algn="l">
              <a:lnSpc>
                <a:spcPct val="100000"/>
              </a:lnSpc>
              <a:spcAft>
                <a:spcPts val="600"/>
              </a:spcAft>
            </a:pPr>
            <a:r>
              <a:rPr sz="2000" b="1" i="0">
                <a:solidFill>
                  <a:srgbClr val="FFFFFF"/>
                </a:solidFill>
                <a:latin typeface="Calibri"/>
              </a:rPr>
              <a:t>UNIT 8  ·  LESSON 7  ·  PERIOD 60</a:t>
            </a:r>
          </a:p>
        </p:txBody>
      </p:sp>
      <p:sp>
        <p:nvSpPr>
          <p:cNvPr id="7" name="TextBox 6"/>
          <p:cNvSpPr txBox="1"/>
          <p:nvPr/>
        </p:nvSpPr>
        <p:spPr>
          <a:xfrm>
            <a:off x="822960" y="2011680"/>
            <a:ext cx="10515600" cy="1463040"/>
          </a:xfrm>
          <a:prstGeom prst="rect">
            <a:avLst/>
          </a:prstGeom>
          <a:noFill/>
        </p:spPr>
        <p:txBody>
          <a:bodyPr wrap="square" anchor="t">
            <a:spAutoFit/>
          </a:bodyPr>
          <a:lstStyle/>
          <a:p>
            <a:pPr algn="l">
              <a:lnSpc>
                <a:spcPct val="100000"/>
              </a:lnSpc>
              <a:spcAft>
                <a:spcPts val="600"/>
              </a:spcAft>
            </a:pPr>
            <a:r>
              <a:rPr sz="3000" b="1" i="0">
                <a:solidFill>
                  <a:srgbClr val="E7F1FA"/>
                </a:solidFill>
                <a:latin typeface="Calibri"/>
              </a:rPr>
              <a:t>LOOKING BACK &amp; PROJECT</a:t>
            </a:r>
          </a:p>
        </p:txBody>
      </p:sp>
      <p:sp>
        <p:nvSpPr>
          <p:cNvPr id="8" name="TextBox 7"/>
          <p:cNvSpPr txBox="1"/>
          <p:nvPr/>
        </p:nvSpPr>
        <p:spPr>
          <a:xfrm>
            <a:off x="822960" y="2926080"/>
            <a:ext cx="10515600" cy="2011680"/>
          </a:xfrm>
          <a:prstGeom prst="rect">
            <a:avLst/>
          </a:prstGeom>
          <a:noFill/>
        </p:spPr>
        <p:txBody>
          <a:bodyPr wrap="square" anchor="t">
            <a:spAutoFit/>
          </a:bodyPr>
          <a:lstStyle/>
          <a:p>
            <a:pPr algn="l">
              <a:lnSpc>
                <a:spcPct val="100000"/>
              </a:lnSpc>
              <a:spcAft>
                <a:spcPts val="600"/>
              </a:spcAft>
            </a:pPr>
            <a:r>
              <a:rPr sz="4400" b="1" i="0">
                <a:solidFill>
                  <a:srgbClr val="FFFFFF"/>
                </a:solidFill>
                <a:latin typeface="Calibri"/>
              </a:rPr>
              <a:t>Unit 8 review and the Class Film Awards</a:t>
            </a:r>
          </a:p>
        </p:txBody>
      </p:sp>
      <p:sp>
        <p:nvSpPr>
          <p:cNvPr id="9" name="TextBox 8"/>
          <p:cNvSpPr txBox="1"/>
          <p:nvPr/>
        </p:nvSpPr>
        <p:spPr>
          <a:xfrm>
            <a:off x="822960" y="5303520"/>
            <a:ext cx="10515600" cy="731520"/>
          </a:xfrm>
          <a:prstGeom prst="rect">
            <a:avLst/>
          </a:prstGeom>
          <a:noFill/>
        </p:spPr>
        <p:txBody>
          <a:bodyPr wrap="square" anchor="t">
            <a:spAutoFit/>
          </a:bodyPr>
          <a:lstStyle/>
          <a:p>
            <a:pPr algn="l">
              <a:lnSpc>
                <a:spcPct val="100000"/>
              </a:lnSpc>
              <a:spcAft>
                <a:spcPts val="600"/>
              </a:spcAft>
            </a:pPr>
            <a:r>
              <a:rPr sz="2000" b="0" i="0">
                <a:solidFill>
                  <a:srgbClr val="E7F1FA"/>
                </a:solidFill>
                <a:latin typeface="Calibri"/>
              </a:rPr>
              <a:t>English 7  ·  Let's start! 👋</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Today we will learn to…</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U8L7</a:t>
            </a:r>
          </a:p>
        </p:txBody>
      </p:sp>
      <p:sp>
        <p:nvSpPr>
          <p:cNvPr id="8" name="Rounded Rectangle 7"/>
          <p:cNvSpPr/>
          <p:nvPr/>
        </p:nvSpPr>
        <p:spPr>
          <a:xfrm>
            <a:off x="640080" y="1463040"/>
            <a:ext cx="1088136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640080" y="1463040"/>
            <a:ext cx="128016" cy="86868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960120" y="1508760"/>
            <a:ext cx="914400" cy="777240"/>
          </a:xfrm>
          <a:prstGeom prst="rect">
            <a:avLst/>
          </a:prstGeom>
          <a:noFill/>
        </p:spPr>
        <p:txBody>
          <a:bodyPr wrap="square" anchor="ctr">
            <a:spAutoFit/>
          </a:bodyPr>
          <a:lstStyle/>
          <a:p>
            <a:pPr algn="l">
              <a:lnSpc>
                <a:spcPct val="100000"/>
              </a:lnSpc>
              <a:spcAft>
                <a:spcPts val="600"/>
              </a:spcAft>
            </a:pPr>
            <a:r>
              <a:rPr sz="2600" b="1" i="0">
                <a:solidFill>
                  <a:srgbClr val="1E6FB8"/>
                </a:solidFill>
                <a:latin typeface="Calibri"/>
              </a:rPr>
              <a:t>1</a:t>
            </a:r>
          </a:p>
        </p:txBody>
      </p:sp>
      <p:sp>
        <p:nvSpPr>
          <p:cNvPr id="11" name="TextBox 10"/>
          <p:cNvSpPr txBox="1"/>
          <p:nvPr/>
        </p:nvSpPr>
        <p:spPr>
          <a:xfrm>
            <a:off x="1737360" y="1508760"/>
            <a:ext cx="950976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recall the film vocabulary of Unit 8</a:t>
            </a:r>
          </a:p>
        </p:txBody>
      </p:sp>
      <p:sp>
        <p:nvSpPr>
          <p:cNvPr id="12" name="Rounded Rectangle 11"/>
          <p:cNvSpPr/>
          <p:nvPr/>
        </p:nvSpPr>
        <p:spPr>
          <a:xfrm>
            <a:off x="640080" y="2450592"/>
            <a:ext cx="1088136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ectangle 12"/>
          <p:cNvSpPr/>
          <p:nvPr/>
        </p:nvSpPr>
        <p:spPr>
          <a:xfrm>
            <a:off x="640080" y="2450592"/>
            <a:ext cx="128016" cy="86868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960120" y="2496312"/>
            <a:ext cx="914400" cy="777240"/>
          </a:xfrm>
          <a:prstGeom prst="rect">
            <a:avLst/>
          </a:prstGeom>
          <a:noFill/>
        </p:spPr>
        <p:txBody>
          <a:bodyPr wrap="square" anchor="ctr">
            <a:spAutoFit/>
          </a:bodyPr>
          <a:lstStyle/>
          <a:p>
            <a:pPr algn="l">
              <a:lnSpc>
                <a:spcPct val="100000"/>
              </a:lnSpc>
              <a:spcAft>
                <a:spcPts val="600"/>
              </a:spcAft>
            </a:pPr>
            <a:r>
              <a:rPr sz="2600" b="1" i="0">
                <a:solidFill>
                  <a:srgbClr val="1E6FB8"/>
                </a:solidFill>
                <a:latin typeface="Calibri"/>
              </a:rPr>
              <a:t>2</a:t>
            </a:r>
          </a:p>
        </p:txBody>
      </p:sp>
      <p:sp>
        <p:nvSpPr>
          <p:cNvPr id="15" name="TextBox 14"/>
          <p:cNvSpPr txBox="1"/>
          <p:nvPr/>
        </p:nvSpPr>
        <p:spPr>
          <a:xfrm>
            <a:off x="1737360" y="2496312"/>
            <a:ext cx="950976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use -ed/-ing adjectives and contrast connectors accurately</a:t>
            </a:r>
          </a:p>
        </p:txBody>
      </p:sp>
      <p:sp>
        <p:nvSpPr>
          <p:cNvPr id="16" name="Rounded Rectangle 15"/>
          <p:cNvSpPr/>
          <p:nvPr/>
        </p:nvSpPr>
        <p:spPr>
          <a:xfrm>
            <a:off x="640080" y="3438144"/>
            <a:ext cx="1088136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ectangle 16"/>
          <p:cNvSpPr/>
          <p:nvPr/>
        </p:nvSpPr>
        <p:spPr>
          <a:xfrm>
            <a:off x="640080" y="3438144"/>
            <a:ext cx="128016" cy="86868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960120" y="3483864"/>
            <a:ext cx="914400" cy="777240"/>
          </a:xfrm>
          <a:prstGeom prst="rect">
            <a:avLst/>
          </a:prstGeom>
          <a:noFill/>
        </p:spPr>
        <p:txBody>
          <a:bodyPr wrap="square" anchor="ctr">
            <a:spAutoFit/>
          </a:bodyPr>
          <a:lstStyle/>
          <a:p>
            <a:pPr algn="l">
              <a:lnSpc>
                <a:spcPct val="100000"/>
              </a:lnSpc>
              <a:spcAft>
                <a:spcPts val="600"/>
              </a:spcAft>
            </a:pPr>
            <a:r>
              <a:rPr sz="2600" b="1" i="0">
                <a:solidFill>
                  <a:srgbClr val="1E6FB8"/>
                </a:solidFill>
                <a:latin typeface="Calibri"/>
              </a:rPr>
              <a:t>3</a:t>
            </a:r>
          </a:p>
        </p:txBody>
      </p:sp>
      <p:sp>
        <p:nvSpPr>
          <p:cNvPr id="19" name="TextBox 18"/>
          <p:cNvSpPr txBox="1"/>
          <p:nvPr/>
        </p:nvSpPr>
        <p:spPr>
          <a:xfrm>
            <a:off x="1737360" y="3483864"/>
            <a:ext cx="950976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correct the six typical mistakes of the unit</a:t>
            </a:r>
          </a:p>
        </p:txBody>
      </p:sp>
      <p:sp>
        <p:nvSpPr>
          <p:cNvPr id="20" name="Rounded Rectangle 19"/>
          <p:cNvSpPr/>
          <p:nvPr/>
        </p:nvSpPr>
        <p:spPr>
          <a:xfrm>
            <a:off x="640080" y="4425696"/>
            <a:ext cx="1088136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640080" y="4425696"/>
            <a:ext cx="128016" cy="86868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960120" y="4471416"/>
            <a:ext cx="914400" cy="777240"/>
          </a:xfrm>
          <a:prstGeom prst="rect">
            <a:avLst/>
          </a:prstGeom>
          <a:noFill/>
        </p:spPr>
        <p:txBody>
          <a:bodyPr wrap="square" anchor="ctr">
            <a:spAutoFit/>
          </a:bodyPr>
          <a:lstStyle/>
          <a:p>
            <a:pPr algn="l">
              <a:lnSpc>
                <a:spcPct val="100000"/>
              </a:lnSpc>
              <a:spcAft>
                <a:spcPts val="600"/>
              </a:spcAft>
            </a:pPr>
            <a:r>
              <a:rPr sz="2600" b="1" i="0">
                <a:solidFill>
                  <a:srgbClr val="1E6FB8"/>
                </a:solidFill>
                <a:latin typeface="Calibri"/>
              </a:rPr>
              <a:t>4</a:t>
            </a:r>
          </a:p>
        </p:txBody>
      </p:sp>
      <p:sp>
        <p:nvSpPr>
          <p:cNvPr id="23" name="TextBox 22"/>
          <p:cNvSpPr txBox="1"/>
          <p:nvPr/>
        </p:nvSpPr>
        <p:spPr>
          <a:xfrm>
            <a:off x="1737360" y="4471416"/>
            <a:ext cx="950976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hold a class film awards ceremony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E07A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Warm-up: Adjective bingo  (6')</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U8L7</a:t>
            </a:r>
          </a:p>
        </p:txBody>
      </p:sp>
      <p:sp>
        <p:nvSpPr>
          <p:cNvPr id="8" name="Rounded Rectangle 7"/>
          <p:cNvSpPr/>
          <p:nvPr/>
        </p:nvSpPr>
        <p:spPr>
          <a:xfrm>
            <a:off x="640080" y="1463040"/>
            <a:ext cx="10881360" cy="4206240"/>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05840" y="1737360"/>
            <a:ext cx="10149840" cy="82296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 Students write nine film adjectives; teacher reads definitions.</a:t>
            </a:r>
          </a:p>
        </p:txBody>
      </p:sp>
      <p:sp>
        <p:nvSpPr>
          <p:cNvPr id="10" name="TextBox 9"/>
          <p:cNvSpPr txBox="1"/>
          <p:nvPr/>
        </p:nvSpPr>
        <p:spPr>
          <a:xfrm>
            <a:off x="1005840" y="5852160"/>
            <a:ext cx="10149840" cy="640080"/>
          </a:xfrm>
          <a:prstGeom prst="rect">
            <a:avLst/>
          </a:prstGeom>
          <a:noFill/>
        </p:spPr>
        <p:txBody>
          <a:bodyPr wrap="square" anchor="t">
            <a:spAutoFit/>
          </a:bodyPr>
          <a:lstStyle/>
          <a:p>
            <a:pPr algn="l">
              <a:lnSpc>
                <a:spcPct val="100000"/>
              </a:lnSpc>
              <a:spcAft>
                <a:spcPts val="600"/>
              </a:spcAft>
            </a:pPr>
            <a:r>
              <a:rPr sz="1800" b="0" i="1">
                <a:solidFill>
                  <a:srgbClr val="6B7280"/>
                </a:solidFill>
                <a:latin typeface="Calibri"/>
              </a:rPr>
              <a:t>👉 You: Play bingo.</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E07A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New words</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U8L7</a:t>
            </a:r>
          </a:p>
        </p:txBody>
      </p:sp>
      <p:sp>
        <p:nvSpPr>
          <p:cNvPr id="8" name="Rounded Rectangle 7"/>
          <p:cNvSpPr/>
          <p:nvPr/>
        </p:nvSpPr>
        <p:spPr>
          <a:xfrm>
            <a:off x="548640" y="14173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868680" y="15270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award ceremony</a:t>
            </a:r>
          </a:p>
        </p:txBody>
      </p:sp>
      <p:sp>
        <p:nvSpPr>
          <p:cNvPr id="10" name="TextBox 9"/>
          <p:cNvSpPr txBox="1"/>
          <p:nvPr/>
        </p:nvSpPr>
        <p:spPr>
          <a:xfrm>
            <a:off x="868680" y="21671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/əˈwɔːd ˈserəməni/   (n)</a:t>
            </a:r>
          </a:p>
        </p:txBody>
      </p:sp>
      <p:sp>
        <p:nvSpPr>
          <p:cNvPr id="11" name="TextBox 10"/>
          <p:cNvSpPr txBox="1"/>
          <p:nvPr/>
        </p:nvSpPr>
        <p:spPr>
          <a:xfrm>
            <a:off x="5212080" y="15270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lễ trao giải</a:t>
            </a:r>
          </a:p>
        </p:txBody>
      </p:sp>
      <p:sp>
        <p:nvSpPr>
          <p:cNvPr id="12" name="TextBox 11"/>
          <p:cNvSpPr txBox="1"/>
          <p:nvPr/>
        </p:nvSpPr>
        <p:spPr>
          <a:xfrm>
            <a:off x="5212080" y="21945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Our award ceremony is on Friday.</a:t>
            </a:r>
          </a:p>
        </p:txBody>
      </p:sp>
      <p:sp>
        <p:nvSpPr>
          <p:cNvPr id="13" name="Rounded Rectangle 12"/>
          <p:cNvSpPr/>
          <p:nvPr/>
        </p:nvSpPr>
        <p:spPr>
          <a:xfrm>
            <a:off x="548640" y="30175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868680" y="31272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nominate</a:t>
            </a:r>
          </a:p>
        </p:txBody>
      </p:sp>
      <p:sp>
        <p:nvSpPr>
          <p:cNvPr id="15" name="TextBox 14"/>
          <p:cNvSpPr txBox="1"/>
          <p:nvPr/>
        </p:nvSpPr>
        <p:spPr>
          <a:xfrm>
            <a:off x="868680" y="37673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/ˈnɒmɪneɪt/   (v)</a:t>
            </a:r>
          </a:p>
        </p:txBody>
      </p:sp>
      <p:sp>
        <p:nvSpPr>
          <p:cNvPr id="16" name="TextBox 15"/>
          <p:cNvSpPr txBox="1"/>
          <p:nvPr/>
        </p:nvSpPr>
        <p:spPr>
          <a:xfrm>
            <a:off x="5212080" y="31272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đề cử</a:t>
            </a:r>
          </a:p>
        </p:txBody>
      </p:sp>
      <p:sp>
        <p:nvSpPr>
          <p:cNvPr id="17" name="TextBox 16"/>
          <p:cNvSpPr txBox="1"/>
          <p:nvPr/>
        </p:nvSpPr>
        <p:spPr>
          <a:xfrm>
            <a:off x="5212080" y="37947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We nominate three films for each award.</a:t>
            </a:r>
          </a:p>
        </p:txBody>
      </p:sp>
      <p:sp>
        <p:nvSpPr>
          <p:cNvPr id="18" name="Rounded Rectangle 17"/>
          <p:cNvSpPr/>
          <p:nvPr/>
        </p:nvSpPr>
        <p:spPr>
          <a:xfrm>
            <a:off x="548640" y="46177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868680" y="47274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winner</a:t>
            </a:r>
          </a:p>
        </p:txBody>
      </p:sp>
      <p:sp>
        <p:nvSpPr>
          <p:cNvPr id="20" name="TextBox 19"/>
          <p:cNvSpPr txBox="1"/>
          <p:nvPr/>
        </p:nvSpPr>
        <p:spPr>
          <a:xfrm>
            <a:off x="868680" y="53675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/ˈwɪnə/   (n)</a:t>
            </a:r>
          </a:p>
        </p:txBody>
      </p:sp>
      <p:sp>
        <p:nvSpPr>
          <p:cNvPr id="21" name="TextBox 20"/>
          <p:cNvSpPr txBox="1"/>
          <p:nvPr/>
        </p:nvSpPr>
        <p:spPr>
          <a:xfrm>
            <a:off x="5212080" y="47274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người/tác phẩm thắng cuộc</a:t>
            </a:r>
          </a:p>
        </p:txBody>
      </p:sp>
      <p:sp>
        <p:nvSpPr>
          <p:cNvPr id="22" name="TextBox 21"/>
          <p:cNvSpPr txBox="1"/>
          <p:nvPr/>
        </p:nvSpPr>
        <p:spPr>
          <a:xfrm>
            <a:off x="5212080" y="53949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And the winner 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E07A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Useful phrases — learn them as one block!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U8L7</a:t>
            </a:r>
          </a:p>
        </p:txBody>
      </p:sp>
      <p:sp>
        <p:nvSpPr>
          <p:cNvPr id="8" name="Rounded Rectangle 7"/>
          <p:cNvSpPr/>
          <p:nvPr/>
        </p:nvSpPr>
        <p:spPr>
          <a:xfrm>
            <a:off x="822960" y="1554480"/>
            <a:ext cx="10515600" cy="621792"/>
          </a:xfrm>
          <a:prstGeom prst="roundRect">
            <a:avLst>
              <a:gd name="adj" fmla="val 6000"/>
            </a:avLst>
          </a:prstGeom>
          <a:solidFill>
            <a:srgbClr val="FFFFFF"/>
          </a:solidFill>
          <a:ln w="19050">
            <a:solidFill>
              <a:srgbClr val="E07A1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1609344"/>
            <a:ext cx="10058400" cy="54864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We nominate…</a:t>
            </a:r>
          </a:p>
        </p:txBody>
      </p:sp>
      <p:sp>
        <p:nvSpPr>
          <p:cNvPr id="10" name="Rounded Rectangle 9"/>
          <p:cNvSpPr/>
          <p:nvPr/>
        </p:nvSpPr>
        <p:spPr>
          <a:xfrm>
            <a:off x="822960" y="2267712"/>
            <a:ext cx="10515600" cy="621792"/>
          </a:xfrm>
          <a:prstGeom prst="roundRect">
            <a:avLst>
              <a:gd name="adj" fmla="val 6000"/>
            </a:avLst>
          </a:prstGeom>
          <a:solidFill>
            <a:srgbClr val="FFFFFF"/>
          </a:solidFill>
          <a:ln w="19050">
            <a:solidFill>
              <a:srgbClr val="E07A1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97280" y="2322576"/>
            <a:ext cx="10058400" cy="54864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And the winner is…</a:t>
            </a:r>
          </a:p>
        </p:txBody>
      </p:sp>
      <p:sp>
        <p:nvSpPr>
          <p:cNvPr id="12" name="Rounded Rectangle 11"/>
          <p:cNvSpPr/>
          <p:nvPr/>
        </p:nvSpPr>
        <p:spPr>
          <a:xfrm>
            <a:off x="822960" y="2980944"/>
            <a:ext cx="10515600" cy="621792"/>
          </a:xfrm>
          <a:prstGeom prst="roundRect">
            <a:avLst>
              <a:gd name="adj" fmla="val 6000"/>
            </a:avLst>
          </a:prstGeom>
          <a:solidFill>
            <a:srgbClr val="FFFFFF"/>
          </a:solidFill>
          <a:ln w="19050">
            <a:solidFill>
              <a:srgbClr val="E07A1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097280" y="3035808"/>
            <a:ext cx="10058400" cy="54864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It wins because…</a:t>
            </a:r>
          </a:p>
        </p:txBody>
      </p:sp>
      <p:sp>
        <p:nvSpPr>
          <p:cNvPr id="14" name="Rounded Rectangle 13"/>
          <p:cNvSpPr/>
          <p:nvPr/>
        </p:nvSpPr>
        <p:spPr>
          <a:xfrm>
            <a:off x="822960" y="3694176"/>
            <a:ext cx="10515600" cy="621792"/>
          </a:xfrm>
          <a:prstGeom prst="roundRect">
            <a:avLst>
              <a:gd name="adj" fmla="val 6000"/>
            </a:avLst>
          </a:prstGeom>
          <a:solidFill>
            <a:srgbClr val="FFFFFF"/>
          </a:solidFill>
          <a:ln w="19050">
            <a:solidFill>
              <a:srgbClr val="E07A1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097280" y="3749040"/>
            <a:ext cx="10058400" cy="54864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Congratulations!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Grammar: Unit 8 grammar in one page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U8L7</a:t>
            </a:r>
          </a:p>
        </p:txBody>
      </p:sp>
      <p:sp>
        <p:nvSpPr>
          <p:cNvPr id="8" name="Rounded Rectangle 7"/>
          <p:cNvSpPr/>
          <p:nvPr/>
        </p:nvSpPr>
        <p:spPr>
          <a:xfrm>
            <a:off x="640080" y="1463040"/>
            <a:ext cx="10881360" cy="91440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60120" y="1536192"/>
            <a:ext cx="1033272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-ing adjectives describe the thing; -ed adjectives describe the person</a:t>
            </a:r>
          </a:p>
        </p:txBody>
      </p:sp>
      <p:sp>
        <p:nvSpPr>
          <p:cNvPr id="10" name="Rounded Rectangle 9"/>
          <p:cNvSpPr/>
          <p:nvPr/>
        </p:nvSpPr>
        <p:spPr>
          <a:xfrm>
            <a:off x="640080" y="2487168"/>
            <a:ext cx="10881360" cy="91440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960120" y="2560320"/>
            <a:ext cx="1033272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although + clause (comma if it comes first)</a:t>
            </a:r>
          </a:p>
        </p:txBody>
      </p:sp>
      <p:sp>
        <p:nvSpPr>
          <p:cNvPr id="12" name="Rounded Rectangle 11"/>
          <p:cNvSpPr/>
          <p:nvPr/>
        </p:nvSpPr>
        <p:spPr>
          <a:xfrm>
            <a:off x="640080" y="3511296"/>
            <a:ext cx="10881360" cy="91440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960120" y="3584448"/>
            <a:ext cx="1033272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but joins two clauses; However starts a new sentence with a comma</a:t>
            </a:r>
          </a:p>
        </p:txBody>
      </p:sp>
      <p:sp>
        <p:nvSpPr>
          <p:cNvPr id="14" name="Rounded Rectangle 13"/>
          <p:cNvSpPr/>
          <p:nvPr/>
        </p:nvSpPr>
        <p:spPr>
          <a:xfrm>
            <a:off x="640080" y="4535424"/>
            <a:ext cx="10881360" cy="91440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960120" y="4608576"/>
            <a:ext cx="1033272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Never use although and but together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The form</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U8L7</a:t>
            </a:r>
          </a:p>
        </p:txBody>
      </p:sp>
      <p:graphicFrame>
        <p:nvGraphicFramePr>
          <p:cNvPr id="8" name="Table 7"/>
          <p:cNvGraphicFramePr>
            <a:graphicFrameLocks noGrp="1"/>
          </p:cNvGraphicFramePr>
          <p:nvPr/>
        </p:nvGraphicFramePr>
        <p:xfrm>
          <a:off x="548640" y="1463040"/>
          <a:ext cx="11064240" cy="3968496"/>
        </p:xfrm>
        <a:graphic>
          <a:graphicData uri="http://schemas.openxmlformats.org/drawingml/2006/table">
            <a:tbl>
              <a:tblPr firstRow="1" bandRow="1">
                <a:tableStyleId>{5C22544A-7EE6-4342-B048-85BDC9FD1C3A}</a:tableStyleId>
              </a:tblPr>
              <a:tblGrid>
                <a:gridCol w="3688080"/>
                <a:gridCol w="3688080"/>
                <a:gridCol w="3688080"/>
              </a:tblGrid>
              <a:tr h="566928">
                <a:tc>
                  <a:txBody>
                    <a:bodyPr/>
                    <a:lstStyle/>
                    <a:p>
                      <a:r>
                        <a:rPr sz="1600" b="1">
                          <a:solidFill>
                            <a:srgbClr val="FFFFFF"/>
                          </a:solidFill>
                          <a:latin typeface="Calibri"/>
                        </a:rPr>
                        <a:t>Structure</a:t>
                      </a:r>
                    </a:p>
                  </a:txBody>
                  <a:tcPr>
                    <a:solidFill>
                      <a:srgbClr val="0E7C66"/>
                    </a:solidFill>
                  </a:tcPr>
                </a:tc>
                <a:tc>
                  <a:txBody>
                    <a:bodyPr/>
                    <a:lstStyle/>
                    <a:p>
                      <a:r>
                        <a:rPr sz="1600" b="1">
                          <a:solidFill>
                            <a:srgbClr val="FFFFFF"/>
                          </a:solidFill>
                          <a:latin typeface="Calibri"/>
                        </a:rPr>
                        <a:t>Example</a:t>
                      </a:r>
                    </a:p>
                  </a:txBody>
                  <a:tcPr>
                    <a:solidFill>
                      <a:srgbClr val="0E7C66"/>
                    </a:solidFill>
                  </a:tcPr>
                </a:tc>
                <a:tc>
                  <a:txBody>
                    <a:bodyPr/>
                    <a:lstStyle/>
                    <a:p>
                      <a:r>
                        <a:rPr sz="1600" b="1">
                          <a:solidFill>
                            <a:srgbClr val="FFFFFF"/>
                          </a:solidFill>
                          <a:latin typeface="Calibri"/>
                        </a:rPr>
                        <a:t>Common mistake</a:t>
                      </a:r>
                    </a:p>
                  </a:txBody>
                  <a:tcPr>
                    <a:solidFill>
                      <a:srgbClr val="0E7C66"/>
                    </a:solidFill>
                  </a:tcPr>
                </a:tc>
              </a:tr>
              <a:tr h="566928">
                <a:tc>
                  <a:txBody>
                    <a:bodyPr/>
                    <a:lstStyle/>
                    <a:p>
                      <a:r>
                        <a:rPr sz="1600" b="0">
                          <a:solidFill>
                            <a:srgbClr val="1B1B1B"/>
                          </a:solidFill>
                          <a:latin typeface="Calibri"/>
                        </a:rPr>
                        <a:t>-ing for things</a:t>
                      </a:r>
                    </a:p>
                  </a:txBody>
                  <a:tcPr>
                    <a:solidFill>
                      <a:srgbClr val="E3F3EE"/>
                    </a:solidFill>
                  </a:tcPr>
                </a:tc>
                <a:tc>
                  <a:txBody>
                    <a:bodyPr/>
                    <a:lstStyle/>
                    <a:p>
                      <a:r>
                        <a:rPr sz="1600" b="0">
                          <a:solidFill>
                            <a:srgbClr val="1B1B1B"/>
                          </a:solidFill>
                          <a:latin typeface="Calibri"/>
                        </a:rPr>
                        <a:t>The film was boring.</a:t>
                      </a:r>
                    </a:p>
                  </a:txBody>
                  <a:tcPr>
                    <a:solidFill>
                      <a:srgbClr val="E3F3EE"/>
                    </a:solidFill>
                  </a:tcPr>
                </a:tc>
                <a:tc>
                  <a:txBody>
                    <a:bodyPr/>
                    <a:lstStyle/>
                    <a:p>
                      <a:r>
                        <a:rPr sz="1600" b="0">
                          <a:solidFill>
                            <a:srgbClr val="1B1B1B"/>
                          </a:solidFill>
                          <a:latin typeface="Calibri"/>
                        </a:rPr>
                        <a:t>*The film was bored.</a:t>
                      </a:r>
                    </a:p>
                  </a:txBody>
                  <a:tcPr>
                    <a:solidFill>
                      <a:srgbClr val="E3F3EE"/>
                    </a:solidFill>
                  </a:tcPr>
                </a:tc>
              </a:tr>
              <a:tr h="566928">
                <a:tc>
                  <a:txBody>
                    <a:bodyPr/>
                    <a:lstStyle/>
                    <a:p>
                      <a:r>
                        <a:rPr sz="1600" b="0">
                          <a:solidFill>
                            <a:srgbClr val="1B1B1B"/>
                          </a:solidFill>
                          <a:latin typeface="Calibri"/>
                        </a:rPr>
                        <a:t>-ed for people</a:t>
                      </a:r>
                    </a:p>
                  </a:txBody>
                  <a:tcPr>
                    <a:solidFill>
                      <a:srgbClr val="FFFFFF"/>
                    </a:solidFill>
                  </a:tcPr>
                </a:tc>
                <a:tc>
                  <a:txBody>
                    <a:bodyPr/>
                    <a:lstStyle/>
                    <a:p>
                      <a:r>
                        <a:rPr sz="1600" b="0">
                          <a:solidFill>
                            <a:srgbClr val="1B1B1B"/>
                          </a:solidFill>
                          <a:latin typeface="Calibri"/>
                        </a:rPr>
                        <a:t>I was bored.</a:t>
                      </a:r>
                    </a:p>
                  </a:txBody>
                  <a:tcPr>
                    <a:solidFill>
                      <a:srgbClr val="FFFFFF"/>
                    </a:solidFill>
                  </a:tcPr>
                </a:tc>
                <a:tc>
                  <a:txBody>
                    <a:bodyPr/>
                    <a:lstStyle/>
                    <a:p>
                      <a:r>
                        <a:rPr sz="1600" b="0">
                          <a:solidFill>
                            <a:srgbClr val="1B1B1B"/>
                          </a:solidFill>
                          <a:latin typeface="Calibri"/>
                        </a:rPr>
                        <a:t>*I was boring.</a:t>
                      </a:r>
                    </a:p>
                  </a:txBody>
                  <a:tcPr>
                    <a:solidFill>
                      <a:srgbClr val="FFFFFF"/>
                    </a:solidFill>
                  </a:tcPr>
                </a:tc>
              </a:tr>
              <a:tr h="566928">
                <a:tc>
                  <a:txBody>
                    <a:bodyPr/>
                    <a:lstStyle/>
                    <a:p>
                      <a:r>
                        <a:rPr sz="1600" b="0">
                          <a:solidFill>
                            <a:srgbClr val="1B1B1B"/>
                          </a:solidFill>
                          <a:latin typeface="Calibri"/>
                        </a:rPr>
                        <a:t>although + clause</a:t>
                      </a:r>
                    </a:p>
                  </a:txBody>
                  <a:tcPr>
                    <a:solidFill>
                      <a:srgbClr val="E3F3EE"/>
                    </a:solidFill>
                  </a:tcPr>
                </a:tc>
                <a:tc>
                  <a:txBody>
                    <a:bodyPr/>
                    <a:lstStyle/>
                    <a:p>
                      <a:r>
                        <a:rPr sz="1600" b="0">
                          <a:solidFill>
                            <a:srgbClr val="1B1B1B"/>
                          </a:solidFill>
                          <a:latin typeface="Calibri"/>
                        </a:rPr>
                        <a:t>Although it was long, I liked it.</a:t>
                      </a:r>
                    </a:p>
                  </a:txBody>
                  <a:tcPr>
                    <a:solidFill>
                      <a:srgbClr val="E3F3EE"/>
                    </a:solidFill>
                  </a:tcPr>
                </a:tc>
                <a:tc>
                  <a:txBody>
                    <a:bodyPr/>
                    <a:lstStyle/>
                    <a:p>
                      <a:r>
                        <a:rPr sz="1600" b="0">
                          <a:solidFill>
                            <a:srgbClr val="1B1B1B"/>
                          </a:solidFill>
                          <a:latin typeface="Calibri"/>
                        </a:rPr>
                        <a:t>*Although it was long but I liked it.</a:t>
                      </a:r>
                    </a:p>
                  </a:txBody>
                  <a:tcPr>
                    <a:solidFill>
                      <a:srgbClr val="E3F3EE"/>
                    </a:solidFill>
                  </a:tcPr>
                </a:tc>
              </a:tr>
              <a:tr h="566928">
                <a:tc>
                  <a:txBody>
                    <a:bodyPr/>
                    <a:lstStyle/>
                    <a:p>
                      <a:r>
                        <a:rPr sz="1600" b="0">
                          <a:solidFill>
                            <a:srgbClr val="1B1B1B"/>
                          </a:solidFill>
                          <a:latin typeface="Calibri"/>
                        </a:rPr>
                        <a:t>However + comma</a:t>
                      </a:r>
                    </a:p>
                  </a:txBody>
                  <a:tcPr>
                    <a:solidFill>
                      <a:srgbClr val="FFFFFF"/>
                    </a:solidFill>
                  </a:tcPr>
                </a:tc>
                <a:tc>
                  <a:txBody>
                    <a:bodyPr/>
                    <a:lstStyle/>
                    <a:p>
                      <a:r>
                        <a:rPr sz="1600" b="0">
                          <a:solidFill>
                            <a:srgbClr val="1B1B1B"/>
                          </a:solidFill>
                          <a:latin typeface="Calibri"/>
                        </a:rPr>
                        <a:t>It was long. However, I liked it.</a:t>
                      </a:r>
                    </a:p>
                  </a:txBody>
                  <a:tcPr>
                    <a:solidFill>
                      <a:srgbClr val="FFFFFF"/>
                    </a:solidFill>
                  </a:tcPr>
                </a:tc>
                <a:tc>
                  <a:txBody>
                    <a:bodyPr/>
                    <a:lstStyle/>
                    <a:p>
                      <a:r>
                        <a:rPr sz="1600" b="0">
                          <a:solidFill>
                            <a:srgbClr val="1B1B1B"/>
                          </a:solidFill>
                          <a:latin typeface="Calibri"/>
                        </a:rPr>
                        <a:t>*It was long, however I liked it.</a:t>
                      </a:r>
                    </a:p>
                  </a:txBody>
                  <a:tcPr>
                    <a:solidFill>
                      <a:srgbClr val="FFFFFF"/>
                    </a:solidFill>
                  </a:tcPr>
                </a:tc>
              </a:tr>
              <a:tr h="566928">
                <a:tc>
                  <a:txBody>
                    <a:bodyPr/>
                    <a:lstStyle/>
                    <a:p>
                      <a:r>
                        <a:rPr sz="1600" b="0">
                          <a:solidFill>
                            <a:srgbClr val="1B1B1B"/>
                          </a:solidFill>
                          <a:latin typeface="Calibri"/>
                        </a:rPr>
                        <a:t>worth + V-ing</a:t>
                      </a:r>
                    </a:p>
                  </a:txBody>
                  <a:tcPr>
                    <a:solidFill>
                      <a:srgbClr val="E3F3EE"/>
                    </a:solidFill>
                  </a:tcPr>
                </a:tc>
                <a:tc>
                  <a:txBody>
                    <a:bodyPr/>
                    <a:lstStyle/>
                    <a:p>
                      <a:r>
                        <a:rPr sz="1600" b="0">
                          <a:solidFill>
                            <a:srgbClr val="1B1B1B"/>
                          </a:solidFill>
                          <a:latin typeface="Calibri"/>
                        </a:rPr>
                        <a:t>It's worth watching.</a:t>
                      </a:r>
                    </a:p>
                  </a:txBody>
                  <a:tcPr>
                    <a:solidFill>
                      <a:srgbClr val="E3F3EE"/>
                    </a:solidFill>
                  </a:tcPr>
                </a:tc>
                <a:tc>
                  <a:txBody>
                    <a:bodyPr/>
                    <a:lstStyle/>
                    <a:p>
                      <a:r>
                        <a:rPr sz="1600" b="0">
                          <a:solidFill>
                            <a:srgbClr val="1B1B1B"/>
                          </a:solidFill>
                          <a:latin typeface="Calibri"/>
                        </a:rPr>
                        <a:t>*It's worth to watch.</a:t>
                      </a:r>
                    </a:p>
                  </a:txBody>
                  <a:tcPr>
                    <a:solidFill>
                      <a:srgbClr val="E3F3EE"/>
                    </a:solidFill>
                  </a:tcPr>
                </a:tc>
              </a:tr>
              <a:tr h="566928">
                <a:tc>
                  <a:txBody>
                    <a:bodyPr/>
                    <a:lstStyle/>
                    <a:p>
                      <a:r>
                        <a:rPr sz="1600" b="0">
                          <a:solidFill>
                            <a:srgbClr val="1B1B1B"/>
                          </a:solidFill>
                          <a:latin typeface="Calibri"/>
                        </a:rPr>
                        <a:t>It's about…</a:t>
                      </a:r>
                    </a:p>
                  </a:txBody>
                  <a:tcPr>
                    <a:solidFill>
                      <a:srgbClr val="FFFFFF"/>
                    </a:solidFill>
                  </a:tcPr>
                </a:tc>
                <a:tc>
                  <a:txBody>
                    <a:bodyPr/>
                    <a:lstStyle/>
                    <a:p>
                      <a:r>
                        <a:rPr sz="1600" b="0">
                          <a:solidFill>
                            <a:srgbClr val="1B1B1B"/>
                          </a:solidFill>
                          <a:latin typeface="Calibri"/>
                        </a:rPr>
                        <a:t>It's about a boy who…</a:t>
                      </a:r>
                    </a:p>
                  </a:txBody>
                  <a:tcPr>
                    <a:solidFill>
                      <a:srgbClr val="FFFFFF"/>
                    </a:solidFill>
                  </a:tcPr>
                </a:tc>
                <a:tc>
                  <a:txBody>
                    <a:bodyPr/>
                    <a:lstStyle/>
                    <a:p>
                      <a:r>
                        <a:rPr sz="1600" b="0">
                          <a:solidFill>
                            <a:srgbClr val="1B1B1B"/>
                          </a:solidFill>
                          <a:latin typeface="Calibri"/>
                        </a:rPr>
                        <a:t>*It talks about a boy that he…</a:t>
                      </a:r>
                    </a:p>
                  </a:txBody>
                  <a:tcPr>
                    <a:solidFill>
                      <a:srgbClr val="FFFFFF"/>
                    </a:solidFill>
                  </a:tcPr>
                </a:tc>
              </a:tr>
            </a:tbl>
          </a:graphicData>
        </a:graphic>
      </p:graphicFrame>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Look at the examples</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U8L7</a:t>
            </a:r>
          </a:p>
        </p:txBody>
      </p:sp>
      <p:sp>
        <p:nvSpPr>
          <p:cNvPr id="8" name="Rounded Rectangle 7"/>
          <p:cNvSpPr/>
          <p:nvPr/>
        </p:nvSpPr>
        <p:spPr>
          <a:xfrm>
            <a:off x="731520" y="1554480"/>
            <a:ext cx="10698480" cy="777240"/>
          </a:xfrm>
          <a:prstGeom prst="roundRect">
            <a:avLst>
              <a:gd name="adj" fmla="val 6000"/>
            </a:avLst>
          </a:prstGeom>
          <a:solidFill>
            <a:srgbClr val="FFFFFF"/>
          </a:solidFill>
          <a:ln w="19050">
            <a:solidFill>
              <a:srgbClr val="0E7C6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51560" y="1627632"/>
            <a:ext cx="10241280" cy="64008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Although the plot is confusing, the acting is excellent. However, the film is too violent for younger viewers. Overall,…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Be careful! A very common mistake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U8L7</a:t>
            </a:r>
          </a:p>
        </p:txBody>
      </p:sp>
      <p:sp>
        <p:nvSpPr>
          <p:cNvPr id="8" name="Rounded Rectangle 7"/>
          <p:cNvSpPr/>
          <p:nvPr/>
        </p:nvSpPr>
        <p:spPr>
          <a:xfrm>
            <a:off x="731520" y="1645920"/>
            <a:ext cx="10698480" cy="2377440"/>
          </a:xfrm>
          <a:prstGeom prst="roundRect">
            <a:avLst>
              <a:gd name="adj" fmla="val 6000"/>
            </a:avLst>
          </a:prstGeom>
          <a:solidFill>
            <a:srgbClr val="FCEA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1828800"/>
            <a:ext cx="10058400" cy="2011680"/>
          </a:xfrm>
          <a:prstGeom prst="rect">
            <a:avLst/>
          </a:prstGeom>
          <a:noFill/>
        </p:spPr>
        <p:txBody>
          <a:bodyPr wrap="square" anchor="t">
            <a:spAutoFit/>
          </a:bodyPr>
          <a:lstStyle/>
          <a:p>
            <a:pPr algn="l">
              <a:lnSpc>
                <a:spcPct val="100000"/>
              </a:lnSpc>
              <a:spcAft>
                <a:spcPts val="600"/>
              </a:spcAft>
            </a:pPr>
            <a:r>
              <a:rPr sz="2100" b="0" i="0">
                <a:solidFill>
                  <a:srgbClr val="1B1B1B"/>
                </a:solidFill>
                <a:latin typeface="Calibri"/>
              </a:rPr>
              <a:t>Add these six to the classroom wall list.</a:t>
            </a:r>
          </a:p>
        </p:txBody>
      </p:sp>
      <p:sp>
        <p:nvSpPr>
          <p:cNvPr id="10" name="TextBox 9"/>
          <p:cNvSpPr txBox="1"/>
          <p:nvPr/>
        </p:nvSpPr>
        <p:spPr>
          <a:xfrm>
            <a:off x="1097280" y="4389120"/>
            <a:ext cx="10058400" cy="1280160"/>
          </a:xfrm>
          <a:prstGeom prst="rect">
            <a:avLst/>
          </a:prstGeom>
          <a:noFill/>
        </p:spPr>
        <p:txBody>
          <a:bodyPr wrap="square" anchor="t">
            <a:spAutoFit/>
          </a:bodyPr>
          <a:lstStyle/>
          <a:p>
            <a:pPr algn="l">
              <a:lnSpc>
                <a:spcPct val="100000"/>
              </a:lnSpc>
              <a:spcAft>
                <a:spcPts val="600"/>
              </a:spcAft>
            </a:pPr>
            <a:r>
              <a:rPr sz="2200" b="1" i="0">
                <a:solidFill>
                  <a:srgbClr val="2E7D32"/>
                </a:solidFill>
                <a:latin typeface="Calibri"/>
              </a:rPr>
              <a:t>👍 Say it like this:  Although the plot is confusing, the acting is excellent. However, the film is too violent for younger viewers…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6B3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000" b="1" i="0">
                <a:solidFill>
                  <a:srgbClr val="FFFFFF"/>
                </a:solidFill>
                <a:latin typeface="Calibri"/>
              </a:rPr>
              <a:t>Pronunciation: Unit 8 sounds review: /ɪ/ /iː/, -teen/-ty numbers, lon…</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U8L7</a:t>
            </a:r>
          </a:p>
        </p:txBody>
      </p:sp>
      <p:sp>
        <p:nvSpPr>
          <p:cNvPr id="8" name="Rounded Rectangle 7"/>
          <p:cNvSpPr/>
          <p:nvPr/>
        </p:nvSpPr>
        <p:spPr>
          <a:xfrm>
            <a:off x="640080" y="1417320"/>
            <a:ext cx="10881360" cy="1234440"/>
          </a:xfrm>
          <a:prstGeom prst="roundRect">
            <a:avLst>
              <a:gd name="adj" fmla="val 6000"/>
            </a:avLst>
          </a:prstGeom>
          <a:solidFill>
            <a:srgbClr val="F1EA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60120" y="1508760"/>
            <a:ext cx="10332720" cy="1097280"/>
          </a:xfrm>
          <a:prstGeom prst="rect">
            <a:avLst/>
          </a:prstGeom>
          <a:noFill/>
        </p:spPr>
        <p:txBody>
          <a:bodyPr wrap="square" anchor="ctr">
            <a:spAutoFit/>
          </a:bodyPr>
          <a:lstStyle/>
          <a:p>
            <a:pPr algn="l">
              <a:lnSpc>
                <a:spcPct val="100000"/>
              </a:lnSpc>
              <a:spcAft>
                <a:spcPts val="600"/>
              </a:spcAft>
            </a:pPr>
            <a:r>
              <a:rPr sz="1800" b="0" i="0">
                <a:solidFill>
                  <a:srgbClr val="1B1B1B"/>
                </a:solidFill>
                <a:latin typeface="Calibri"/>
              </a:rPr>
              <a:t>Three checks: ship or sheep? thirTEEN or THIRty? di-REC-tor?</a:t>
            </a:r>
          </a:p>
        </p:txBody>
      </p:sp>
      <p:sp>
        <p:nvSpPr>
          <p:cNvPr id="10" name="Rounded Rectangle 9"/>
          <p:cNvSpPr/>
          <p:nvPr/>
        </p:nvSpPr>
        <p:spPr>
          <a:xfrm>
            <a:off x="731520" y="2880360"/>
            <a:ext cx="10698480" cy="621792"/>
          </a:xfrm>
          <a:prstGeom prst="roundRect">
            <a:avLst>
              <a:gd name="adj" fmla="val 6000"/>
            </a:avLst>
          </a:prstGeom>
          <a:solidFill>
            <a:srgbClr val="FFFFFF"/>
          </a:solidFill>
          <a:ln w="19050">
            <a:solidFill>
              <a:srgbClr val="6B3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05840" y="2926080"/>
            <a:ext cx="10241280" cy="5486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film – scene, live – leave</a:t>
            </a:r>
          </a:p>
        </p:txBody>
      </p:sp>
      <p:sp>
        <p:nvSpPr>
          <p:cNvPr id="12" name="Rounded Rectangle 11"/>
          <p:cNvSpPr/>
          <p:nvPr/>
        </p:nvSpPr>
        <p:spPr>
          <a:xfrm>
            <a:off x="731520" y="3593592"/>
            <a:ext cx="10698480" cy="621792"/>
          </a:xfrm>
          <a:prstGeom prst="roundRect">
            <a:avLst>
              <a:gd name="adj" fmla="val 6000"/>
            </a:avLst>
          </a:prstGeom>
          <a:solidFill>
            <a:srgbClr val="FFFFFF"/>
          </a:solidFill>
          <a:ln w="19050">
            <a:solidFill>
              <a:srgbClr val="6B3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005840" y="3639312"/>
            <a:ext cx="10241280" cy="5486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13/30, 14/40, 15/50</a:t>
            </a:r>
          </a:p>
        </p:txBody>
      </p:sp>
      <p:sp>
        <p:nvSpPr>
          <p:cNvPr id="14" name="Rounded Rectangle 13"/>
          <p:cNvSpPr/>
          <p:nvPr/>
        </p:nvSpPr>
        <p:spPr>
          <a:xfrm>
            <a:off x="731520" y="4306824"/>
            <a:ext cx="10698480" cy="621792"/>
          </a:xfrm>
          <a:prstGeom prst="roundRect">
            <a:avLst>
              <a:gd name="adj" fmla="val 6000"/>
            </a:avLst>
          </a:prstGeom>
          <a:solidFill>
            <a:srgbClr val="FFFFFF"/>
          </a:solidFill>
          <a:ln w="19050">
            <a:solidFill>
              <a:srgbClr val="6B3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005840" y="4352544"/>
            <a:ext cx="10241280" cy="5486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di'rector, 'audience, in'teresting</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6B3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Repeat after me — three times each!</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U8L7</a:t>
            </a:r>
          </a:p>
        </p:txBody>
      </p:sp>
      <p:sp>
        <p:nvSpPr>
          <p:cNvPr id="8" name="Rounded Rectangle 7"/>
          <p:cNvSpPr/>
          <p:nvPr/>
        </p:nvSpPr>
        <p:spPr>
          <a:xfrm>
            <a:off x="731520" y="1737360"/>
            <a:ext cx="10698480" cy="914400"/>
          </a:xfrm>
          <a:prstGeom prst="roundRect">
            <a:avLst>
              <a:gd name="adj" fmla="val 6000"/>
            </a:avLst>
          </a:prstGeom>
          <a:solidFill>
            <a:srgbClr val="F1EA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51560" y="1828800"/>
            <a:ext cx="10241280" cy="777240"/>
          </a:xfrm>
          <a:prstGeom prst="rect">
            <a:avLst/>
          </a:prstGeom>
          <a:noFill/>
        </p:spPr>
        <p:txBody>
          <a:bodyPr wrap="square" anchor="ctr">
            <a:spAutoFit/>
          </a:bodyPr>
          <a:lstStyle/>
          <a:p>
            <a:pPr algn="l">
              <a:lnSpc>
                <a:spcPct val="100000"/>
              </a:lnSpc>
              <a:spcAft>
                <a:spcPts val="600"/>
              </a:spcAft>
            </a:pPr>
            <a:r>
              <a:rPr sz="2100" b="0" i="0">
                <a:solidFill>
                  <a:srgbClr val="1B1B1B"/>
                </a:solidFill>
                <a:latin typeface="Calibri"/>
              </a:rPr>
              <a:t>🗣 This interesting film has thirteen scenes and it lasts thirty minutes.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Listening: Looking Back — listen again</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U8L7</a:t>
            </a:r>
          </a:p>
        </p:txBody>
      </p:sp>
      <p:sp>
        <p:nvSpPr>
          <p:cNvPr id="8" name="Rounded Rectangle 7"/>
          <p:cNvSpPr/>
          <p:nvPr/>
        </p:nvSpPr>
        <p:spPr>
          <a:xfrm>
            <a:off x="731520" y="1737360"/>
            <a:ext cx="10698480" cy="182880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1920240"/>
            <a:ext cx="10058400" cy="1554480"/>
          </a:xfrm>
          <a:prstGeom prst="rect">
            <a:avLst/>
          </a:prstGeom>
          <a:noFill/>
        </p:spPr>
        <p:txBody>
          <a:bodyPr wrap="square" anchor="ctr">
            <a:spAutoFit/>
          </a:bodyPr>
          <a:lstStyle/>
          <a:p>
            <a:pPr algn="l">
              <a:lnSpc>
                <a:spcPct val="100000"/>
              </a:lnSpc>
              <a:spcAft>
                <a:spcPts val="600"/>
              </a:spcAft>
            </a:pPr>
            <a:r>
              <a:rPr sz="2100" b="0" i="0">
                <a:solidFill>
                  <a:srgbClr val="1B1B1B"/>
                </a:solidFill>
                <a:latin typeface="Calibri"/>
              </a:rPr>
              <a:t>No new recording. You hear this unit’s own recordings again: Adjectives and adverbs of degree · Connectors: but, so, because.</a:t>
            </a:r>
          </a:p>
        </p:txBody>
      </p:sp>
      <p:sp>
        <p:nvSpPr>
          <p:cNvPr id="10" name="TextBox 9"/>
          <p:cNvSpPr txBox="1"/>
          <p:nvPr/>
        </p:nvSpPr>
        <p:spPr>
          <a:xfrm>
            <a:off x="731520" y="4023360"/>
            <a:ext cx="10698480" cy="1463040"/>
          </a:xfrm>
          <a:prstGeom prst="rect">
            <a:avLst/>
          </a:prstGeom>
          <a:noFill/>
        </p:spPr>
        <p:txBody>
          <a:bodyPr wrap="square" anchor="t">
            <a:spAutoFit/>
          </a:bodyPr>
          <a:lstStyle/>
          <a:p>
            <a:pPr algn="l">
              <a:lnSpc>
                <a:spcPct val="100000"/>
              </a:lnSpc>
              <a:spcAft>
                <a:spcPts val="600"/>
              </a:spcAft>
            </a:pPr>
            <a:r>
              <a:rPr sz="2000" b="0" i="0">
                <a:solidFill>
                  <a:srgbClr val="142C4F"/>
                </a:solidFill>
                <a:latin typeface="Calibri"/>
              </a:rPr>
              <a:t>🎧  Listen 1: just listen — do not write.</a:t>
            </a:r>
          </a:p>
          <a:p>
            <a:pPr algn="l">
              <a:lnSpc>
                <a:spcPct val="100000"/>
              </a:lnSpc>
              <a:spcAft>
                <a:spcPts val="600"/>
              </a:spcAft>
            </a:pPr>
            <a:r>
              <a:rPr sz="2000" b="0" i="0">
                <a:solidFill>
                  <a:srgbClr val="142C4F"/>
                </a:solidFill>
                <a:latin typeface="Calibri"/>
              </a:rPr>
              <a:t>🎧  Listen 2: write your answers.</a:t>
            </a:r>
          </a:p>
          <a:p>
            <a:pPr algn="l">
              <a:lnSpc>
                <a:spcPct val="100000"/>
              </a:lnSpc>
              <a:spcAft>
                <a:spcPts val="600"/>
              </a:spcAft>
            </a:pPr>
            <a:r>
              <a:rPr sz="2000" b="0" i="0">
                <a:solidFill>
                  <a:srgbClr val="142C4F"/>
                </a:solidFill>
                <a:latin typeface="Calibri"/>
              </a:rPr>
              <a:t>🎧  Listen 3: check with your partner.</a:t>
            </a:r>
          </a:p>
        </p:txBody>
      </p:sp>
      <p:sp>
        <p:nvSpPr>
          <p:cNvPr id="11" name="TextBox 10"/>
          <p:cNvSpPr txBox="1"/>
          <p:nvPr/>
        </p:nvSpPr>
        <p:spPr>
          <a:xfrm>
            <a:off x="731520" y="5577840"/>
            <a:ext cx="10698480" cy="822960"/>
          </a:xfrm>
          <a:prstGeom prst="rect">
            <a:avLst/>
          </a:prstGeom>
          <a:noFill/>
        </p:spPr>
        <p:txBody>
          <a:bodyPr wrap="square" anchor="t">
            <a:spAutoFit/>
          </a:bodyPr>
          <a:lstStyle/>
          <a:p>
            <a:pPr algn="l">
              <a:lnSpc>
                <a:spcPct val="100000"/>
              </a:lnSpc>
              <a:spcAft>
                <a:spcPts val="600"/>
              </a:spcAft>
            </a:pPr>
            <a:r>
              <a:rPr sz="1200" b="0" i="0">
                <a:solidFill>
                  <a:srgbClr val="6B7280"/>
                </a:solidFill>
                <a:latin typeface="Calibri"/>
              </a:rPr>
              <a:t>Recycled — this unit’s own verified recordings · replayed extracts · As in the original recordings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Listening task  (1/2)</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U8.7-L1</a:t>
            </a:r>
          </a:p>
        </p:txBody>
      </p:sp>
      <p:sp>
        <p:nvSpPr>
          <p:cNvPr id="8" name="Rounded Rectangle 7"/>
          <p:cNvSpPr/>
          <p:nvPr/>
        </p:nvSpPr>
        <p:spPr>
          <a:xfrm>
            <a:off x="640080" y="1371600"/>
            <a:ext cx="10881360" cy="77724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Your teacher plays six lines from this unit’s recordings. Write each line.</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____________________</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____________________</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____________________</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____________________</a:t>
            </a:r>
          </a:p>
        </p:txBody>
      </p:sp>
      <p:sp>
        <p:nvSpPr>
          <p:cNvPr id="14" name="TextBox 13"/>
          <p:cNvSpPr txBox="1"/>
          <p:nvPr/>
        </p:nvSpPr>
        <p:spPr>
          <a:xfrm>
            <a:off x="1005840" y="5010912"/>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5. ____________________</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Listening task  (2/2)</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U8.7-L1</a:t>
            </a:r>
          </a:p>
        </p:txBody>
      </p:sp>
      <p:sp>
        <p:nvSpPr>
          <p:cNvPr id="8" name="Rounded Rectangle 7"/>
          <p:cNvSpPr/>
          <p:nvPr/>
        </p:nvSpPr>
        <p:spPr>
          <a:xfrm>
            <a:off x="640080" y="1371600"/>
            <a:ext cx="10881360" cy="77724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Your teacher plays six lines from this unit’s recordings. Write each line.</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6. ____________________</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Reading: The film club that grew</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U8L7</a:t>
            </a:r>
          </a:p>
        </p:txBody>
      </p:sp>
      <p:sp>
        <p:nvSpPr>
          <p:cNvPr id="8" name="Rounded Rectangle 7"/>
          <p:cNvSpPr/>
          <p:nvPr/>
        </p:nvSpPr>
        <p:spPr>
          <a:xfrm>
            <a:off x="640080" y="1371600"/>
            <a:ext cx="10881360" cy="4846320"/>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60120" y="1554480"/>
            <a:ext cx="10332720" cy="4480560"/>
          </a:xfrm>
          <a:prstGeom prst="rect">
            <a:avLst/>
          </a:prstGeom>
          <a:noFill/>
        </p:spPr>
        <p:txBody>
          <a:bodyPr wrap="square" anchor="t">
            <a:spAutoFit/>
          </a:bodyPr>
          <a:lstStyle/>
          <a:p>
            <a:pPr algn="l">
              <a:lnSpc>
                <a:spcPct val="115000"/>
              </a:lnSpc>
              <a:spcAft>
                <a:spcPts val="600"/>
              </a:spcAft>
            </a:pPr>
            <a:r>
              <a:rPr sz="1500" b="0" i="0">
                <a:solidFill>
                  <a:srgbClr val="1B1B1B"/>
                </a:solidFill>
                <a:latin typeface="Calibri"/>
              </a:rPr>
              <a:t>Four years ago, six students in a school in Nam Dinh started a film club. They had no projector, so they watched films on a laptop in an empty classroom on Friday afternoons. The rule was simple: one film a week, and everybody had to say one thing they liked and one thing they didn't — in English. In the first term only six students came. In the second, twenty-two. Today the club has 130 members, a real projector bought with money from a school fair, and its own film magazine with reviews written in English. 'Our English improved more in that classroom than in any lesson,' says Hoa, one of the six. 'Although we watched for fun, we were reading subtitles for two hours every week.'</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Reading task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U8.7-R1</a:t>
            </a:r>
          </a:p>
        </p:txBody>
      </p:sp>
      <p:sp>
        <p:nvSpPr>
          <p:cNvPr id="8" name="Rounded Rectangle 7"/>
          <p:cNvSpPr/>
          <p:nvPr/>
        </p:nvSpPr>
        <p:spPr>
          <a:xfrm>
            <a:off x="640080" y="1371600"/>
            <a:ext cx="10881360" cy="777240"/>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Answer the questions.</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How did they watch films at the beginning?</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What was the club rule?</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How many members are there now?</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How did they buy the projector?</a:t>
            </a:r>
          </a:p>
        </p:txBody>
      </p:sp>
      <p:sp>
        <p:nvSpPr>
          <p:cNvPr id="14" name="TextBox 13"/>
          <p:cNvSpPr txBox="1"/>
          <p:nvPr/>
        </p:nvSpPr>
        <p:spPr>
          <a:xfrm>
            <a:off x="1005840" y="5010912"/>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5. Why does Hoa say their English improved?</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Guided practice  (1/2)</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U8.7-G1</a:t>
            </a:r>
          </a:p>
        </p:txBody>
      </p:sp>
      <p:sp>
        <p:nvSpPr>
          <p:cNvPr id="8" name="Rounded Rectangle 7"/>
          <p:cNvSpPr/>
          <p:nvPr/>
        </p:nvSpPr>
        <p:spPr>
          <a:xfrm>
            <a:off x="640080" y="1371600"/>
            <a:ext cx="10881360" cy="77724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Write the word.</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a film that makes you laugh: ______</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a drawn film: ______</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a film about real life: ______</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the people watching: ______</a:t>
            </a:r>
          </a:p>
        </p:txBody>
      </p:sp>
      <p:sp>
        <p:nvSpPr>
          <p:cNvPr id="14" name="TextBox 13"/>
          <p:cNvSpPr txBox="1"/>
          <p:nvPr/>
        </p:nvSpPr>
        <p:spPr>
          <a:xfrm>
            <a:off x="1005840" y="5010912"/>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5. the person who makes a film: ______</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Guided practice  (2/2)</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U8.7-G1</a:t>
            </a:r>
          </a:p>
        </p:txBody>
      </p:sp>
      <p:sp>
        <p:nvSpPr>
          <p:cNvPr id="8" name="Rounded Rectangle 7"/>
          <p:cNvSpPr/>
          <p:nvPr/>
        </p:nvSpPr>
        <p:spPr>
          <a:xfrm>
            <a:off x="640080" y="1371600"/>
            <a:ext cx="10881360" cy="77724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Write the word.</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6. the music of a film: ______</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Guided practice  (1/2)</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U8.7-G2</a:t>
            </a:r>
          </a:p>
        </p:txBody>
      </p:sp>
      <p:sp>
        <p:nvSpPr>
          <p:cNvPr id="8" name="Rounded Rectangle 7"/>
          <p:cNvSpPr/>
          <p:nvPr/>
        </p:nvSpPr>
        <p:spPr>
          <a:xfrm>
            <a:off x="640080" y="1371600"/>
            <a:ext cx="10881360" cy="77724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Correct one mistake in each sentence.</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I am very boring in this lesson.</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The film was frightened.</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Although it was long but I enjoyed it.</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The film is slow, however the ending is good.</a:t>
            </a:r>
          </a:p>
        </p:txBody>
      </p:sp>
      <p:sp>
        <p:nvSpPr>
          <p:cNvPr id="14" name="TextBox 13"/>
          <p:cNvSpPr txBox="1"/>
          <p:nvPr/>
        </p:nvSpPr>
        <p:spPr>
          <a:xfrm>
            <a:off x="1005840" y="5010912"/>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5. It's worth to watch.</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Guided practice  (2/2)</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U8.7-G2</a:t>
            </a:r>
          </a:p>
        </p:txBody>
      </p:sp>
      <p:sp>
        <p:nvSpPr>
          <p:cNvPr id="8" name="Rounded Rectangle 7"/>
          <p:cNvSpPr/>
          <p:nvPr/>
        </p:nvSpPr>
        <p:spPr>
          <a:xfrm>
            <a:off x="640080" y="1371600"/>
            <a:ext cx="10881360" cy="77724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Correct one mistake in each sentence.</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6. It talks about a boy that he loses his dog.</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Your turn — independent practice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U8.7-I1</a:t>
            </a:r>
          </a:p>
        </p:txBody>
      </p:sp>
      <p:sp>
        <p:nvSpPr>
          <p:cNvPr id="8" name="Rounded Rectangle 7"/>
          <p:cNvSpPr/>
          <p:nvPr/>
        </p:nvSpPr>
        <p:spPr>
          <a:xfrm>
            <a:off x="640080" y="1371600"/>
            <a:ext cx="10881360" cy="77724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Complete the text with one word in each gap.</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Write the seven words.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Your turn — independent practice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U8.7-I2</a:t>
            </a:r>
          </a:p>
        </p:txBody>
      </p:sp>
      <p:sp>
        <p:nvSpPr>
          <p:cNvPr id="8" name="Rounded Rectangle 7"/>
          <p:cNvSpPr/>
          <p:nvPr/>
        </p:nvSpPr>
        <p:spPr>
          <a:xfrm>
            <a:off x="640080" y="1371600"/>
            <a:ext cx="10881360" cy="77724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Prepare your award nominations and the ceremony.</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Your turn — independent practice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U8.7-I2</a:t>
            </a:r>
          </a:p>
        </p:txBody>
      </p:sp>
      <p:sp>
        <p:nvSpPr>
          <p:cNvPr id="8" name="Rounded Rectangle 7"/>
          <p:cNvSpPr/>
          <p:nvPr/>
        </p:nvSpPr>
        <p:spPr>
          <a:xfrm>
            <a:off x="731520" y="1828800"/>
            <a:ext cx="10698480" cy="219456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2011680"/>
            <a:ext cx="10058400" cy="1828800"/>
          </a:xfrm>
          <a:prstGeom prst="rect">
            <a:avLst/>
          </a:prstGeom>
          <a:noFill/>
        </p:spPr>
        <p:txBody>
          <a:bodyPr wrap="square" anchor="ctr">
            <a:spAutoFit/>
          </a:bodyPr>
          <a:lstStyle/>
          <a:p>
            <a:pPr algn="l">
              <a:lnSpc>
                <a:spcPct val="100000"/>
              </a:lnSpc>
              <a:spcAft>
                <a:spcPts val="600"/>
              </a:spcAft>
            </a:pPr>
            <a:r>
              <a:rPr sz="2200" b="0" i="0">
                <a:solidFill>
                  <a:srgbClr val="1B1B1B"/>
                </a:solidFill>
                <a:latin typeface="Calibri"/>
              </a:rPr>
              <a:t>Prepare your award nominations and the ceremony.</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Speaking</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U8.7-S1</a:t>
            </a:r>
          </a:p>
        </p:txBody>
      </p:sp>
      <p:sp>
        <p:nvSpPr>
          <p:cNvPr id="8" name="Rounded Rectangle 7"/>
          <p:cNvSpPr/>
          <p:nvPr/>
        </p:nvSpPr>
        <p:spPr>
          <a:xfrm>
            <a:off x="640080" y="1371600"/>
            <a:ext cx="10881360" cy="777240"/>
          </a:xfrm>
          <a:prstGeom prst="roundRect">
            <a:avLst>
              <a:gd name="adj" fmla="val 6000"/>
            </a:avLst>
          </a:prstGeom>
          <a:solidFill>
            <a:srgbClr val="FCEA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Present your nominations and announce the winners.</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Frame: 'For Best Film, we nominate… It's a … about… Although…, it… And the winner is… Congratulations!'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Real-life English: Presenting an award</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U8L7</a:t>
            </a:r>
          </a:p>
        </p:txBody>
      </p:sp>
      <p:sp>
        <p:nvSpPr>
          <p:cNvPr id="8" name="Rounded Rectangle 7"/>
          <p:cNvSpPr/>
          <p:nvPr/>
        </p:nvSpPr>
        <p:spPr>
          <a:xfrm>
            <a:off x="822960" y="1463040"/>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1508760"/>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The nominations are…</a:t>
            </a:r>
          </a:p>
        </p:txBody>
      </p:sp>
      <p:sp>
        <p:nvSpPr>
          <p:cNvPr id="10" name="Rounded Rectangle 9"/>
          <p:cNvSpPr/>
          <p:nvPr/>
        </p:nvSpPr>
        <p:spPr>
          <a:xfrm>
            <a:off x="822960" y="2212848"/>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97280" y="2258568"/>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And the winner is…</a:t>
            </a:r>
          </a:p>
        </p:txBody>
      </p:sp>
      <p:sp>
        <p:nvSpPr>
          <p:cNvPr id="12" name="Rounded Rectangle 11"/>
          <p:cNvSpPr/>
          <p:nvPr/>
        </p:nvSpPr>
        <p:spPr>
          <a:xfrm>
            <a:off x="822960" y="2962656"/>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097280" y="3008376"/>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It wins because…</a:t>
            </a:r>
          </a:p>
        </p:txBody>
      </p:sp>
      <p:sp>
        <p:nvSpPr>
          <p:cNvPr id="14" name="Rounded Rectangle 13"/>
          <p:cNvSpPr/>
          <p:nvPr/>
        </p:nvSpPr>
        <p:spPr>
          <a:xfrm>
            <a:off x="822960" y="3712464"/>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097280" y="3758184"/>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Congratulations!</a:t>
            </a:r>
          </a:p>
        </p:txBody>
      </p:sp>
      <p:sp>
        <p:nvSpPr>
          <p:cNvPr id="16" name="Rounded Rectangle 15"/>
          <p:cNvSpPr/>
          <p:nvPr/>
        </p:nvSpPr>
        <p:spPr>
          <a:xfrm>
            <a:off x="822960" y="4462272"/>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1097280" y="4507992"/>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Thank you to everybody who voted.</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Role play — in pairs</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U8L7</a:t>
            </a:r>
          </a:p>
        </p:txBody>
      </p:sp>
      <p:sp>
        <p:nvSpPr>
          <p:cNvPr id="8" name="Rounded Rectangle 7"/>
          <p:cNvSpPr/>
          <p:nvPr/>
        </p:nvSpPr>
        <p:spPr>
          <a:xfrm>
            <a:off x="731520" y="1737360"/>
            <a:ext cx="10698480" cy="2560320"/>
          </a:xfrm>
          <a:prstGeom prst="roundRect">
            <a:avLst>
              <a:gd name="adj" fmla="val 6000"/>
            </a:avLst>
          </a:prstGeom>
          <a:solidFill>
            <a:srgbClr val="FCEA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1920240"/>
            <a:ext cx="10058400" cy="2194560"/>
          </a:xfrm>
          <a:prstGeom prst="rect">
            <a:avLst/>
          </a:prstGeom>
          <a:noFill/>
        </p:spPr>
        <p:txBody>
          <a:bodyPr wrap="square" anchor="ctr">
            <a:spAutoFit/>
          </a:bodyPr>
          <a:lstStyle/>
          <a:p>
            <a:pPr algn="l">
              <a:lnSpc>
                <a:spcPct val="100000"/>
              </a:lnSpc>
              <a:spcAft>
                <a:spcPts val="600"/>
              </a:spcAft>
            </a:pPr>
            <a:r>
              <a:rPr sz="2100" b="0" i="0">
                <a:solidFill>
                  <a:srgbClr val="1B1B1B"/>
                </a:solidFill>
                <a:latin typeface="Calibri"/>
              </a:rPr>
              <a:t>Awards ceremony: each group presents one award; the class votes.</a:t>
            </a:r>
          </a:p>
        </p:txBody>
      </p:sp>
      <p:sp>
        <p:nvSpPr>
          <p:cNvPr id="10" name="TextBox 9"/>
          <p:cNvSpPr txBox="1"/>
          <p:nvPr/>
        </p:nvSpPr>
        <p:spPr>
          <a:xfrm>
            <a:off x="822960" y="4663440"/>
            <a:ext cx="10515600" cy="1280160"/>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 2 minutes to prepare  ·  2 minutes to perform  ·  then swap roles</a:t>
            </a:r>
          </a:p>
          <a:p>
            <a:pPr algn="l">
              <a:lnSpc>
                <a:spcPct val="100000"/>
              </a:lnSpc>
              <a:spcAft>
                <a:spcPts val="600"/>
              </a:spcAft>
            </a:pPr>
            <a:r>
              <a:rPr sz="1900" b="1" i="0">
                <a:solidFill>
                  <a:srgbClr val="142C4F"/>
                </a:solidFill>
                <a:latin typeface="Calibri"/>
              </a:rPr>
              <a:t>Do not read! Look at your partner.</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Writing</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U8.7-W1</a:t>
            </a:r>
          </a:p>
        </p:txBody>
      </p:sp>
      <p:sp>
        <p:nvSpPr>
          <p:cNvPr id="8" name="Rounded Rectangle 7"/>
          <p:cNvSpPr/>
          <p:nvPr/>
        </p:nvSpPr>
        <p:spPr>
          <a:xfrm>
            <a:off x="640080" y="1371600"/>
            <a:ext cx="10881360" cy="77724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Write two sentences for each of your four nominations.</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Sentence 1: what the film is and what it's about.</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Sentence 2: why it deserves the award, using although / but / however.</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Let's remember today's English</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U8L7</a:t>
            </a:r>
          </a:p>
        </p:txBody>
      </p:sp>
      <p:sp>
        <p:nvSpPr>
          <p:cNvPr id="8" name="Rounded Rectangle 7"/>
          <p:cNvSpPr/>
          <p:nvPr/>
        </p:nvSpPr>
        <p:spPr>
          <a:xfrm>
            <a:off x="731520" y="1600200"/>
            <a:ext cx="10698480" cy="841248"/>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51560" y="1673352"/>
            <a:ext cx="10241280" cy="713232"/>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Film vocabulary (26 items)</a:t>
            </a:r>
          </a:p>
        </p:txBody>
      </p:sp>
      <p:sp>
        <p:nvSpPr>
          <p:cNvPr id="10" name="Rounded Rectangle 9"/>
          <p:cNvSpPr/>
          <p:nvPr/>
        </p:nvSpPr>
        <p:spPr>
          <a:xfrm>
            <a:off x="731520" y="2560320"/>
            <a:ext cx="10698480" cy="841248"/>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51560" y="2633472"/>
            <a:ext cx="10241280" cy="713232"/>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-ed / -ing adjectives</a:t>
            </a:r>
          </a:p>
        </p:txBody>
      </p:sp>
      <p:sp>
        <p:nvSpPr>
          <p:cNvPr id="12" name="Rounded Rectangle 11"/>
          <p:cNvSpPr/>
          <p:nvPr/>
        </p:nvSpPr>
        <p:spPr>
          <a:xfrm>
            <a:off x="731520" y="3520440"/>
            <a:ext cx="10698480" cy="841248"/>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051560" y="3593592"/>
            <a:ext cx="10241280" cy="713232"/>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although / but / however</a:t>
            </a:r>
          </a:p>
        </p:txBody>
      </p:sp>
      <p:sp>
        <p:nvSpPr>
          <p:cNvPr id="14" name="Rounded Rectangle 13"/>
          <p:cNvSpPr/>
          <p:nvPr/>
        </p:nvSpPr>
        <p:spPr>
          <a:xfrm>
            <a:off x="731520" y="4480560"/>
            <a:ext cx="10698480" cy="841248"/>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051560" y="4553712"/>
            <a:ext cx="10241280" cy="713232"/>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worth + V-ing</a:t>
            </a:r>
          </a:p>
        </p:txBody>
      </p:sp>
      <p:sp>
        <p:nvSpPr>
          <p:cNvPr id="16" name="Rounded Rectangle 15"/>
          <p:cNvSpPr/>
          <p:nvPr/>
        </p:nvSpPr>
        <p:spPr>
          <a:xfrm>
            <a:off x="731520" y="5440680"/>
            <a:ext cx="10698480" cy="841248"/>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1051560" y="5513832"/>
            <a:ext cx="10241280" cy="713232"/>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Review writing</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Homework — write it in your notebook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U8L7</a:t>
            </a:r>
          </a:p>
        </p:txBody>
      </p:sp>
      <p:sp>
        <p:nvSpPr>
          <p:cNvPr id="8" name="Rounded Rectangle 7"/>
          <p:cNvSpPr/>
          <p:nvPr/>
        </p:nvSpPr>
        <p:spPr>
          <a:xfrm>
            <a:off x="731520" y="1554480"/>
            <a:ext cx="1069848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05840" y="1609344"/>
            <a:ext cx="1828800" cy="777240"/>
          </a:xfrm>
          <a:prstGeom prst="rect">
            <a:avLst/>
          </a:prstGeom>
          <a:noFill/>
        </p:spPr>
        <p:txBody>
          <a:bodyPr wrap="square" anchor="ctr">
            <a:spAutoFit/>
          </a:bodyPr>
          <a:lstStyle/>
          <a:p>
            <a:pPr algn="l">
              <a:lnSpc>
                <a:spcPct val="100000"/>
              </a:lnSpc>
              <a:spcAft>
                <a:spcPts val="600"/>
              </a:spcAft>
            </a:pPr>
            <a:r>
              <a:rPr sz="1900" b="1" i="0">
                <a:solidFill>
                  <a:srgbClr val="142C4F"/>
                </a:solidFill>
                <a:latin typeface="Calibri"/>
              </a:rPr>
              <a:t>U8.7-H1</a:t>
            </a:r>
          </a:p>
        </p:txBody>
      </p:sp>
      <p:sp>
        <p:nvSpPr>
          <p:cNvPr id="10" name="TextBox 9"/>
          <p:cNvSpPr txBox="1"/>
          <p:nvPr/>
        </p:nvSpPr>
        <p:spPr>
          <a:xfrm>
            <a:off x="2743200" y="1609344"/>
            <a:ext cx="8503920" cy="777240"/>
          </a:xfrm>
          <a:prstGeom prst="rect">
            <a:avLst/>
          </a:prstGeom>
          <a:noFill/>
        </p:spPr>
        <p:txBody>
          <a:bodyPr wrap="square" anchor="ctr">
            <a:spAutoFit/>
          </a:bodyPr>
          <a:lstStyle/>
          <a:p>
            <a:pPr algn="l">
              <a:lnSpc>
                <a:spcPct val="100000"/>
              </a:lnSpc>
              <a:spcAft>
                <a:spcPts val="600"/>
              </a:spcAft>
            </a:pPr>
            <a:r>
              <a:rPr sz="1700" b="0" i="0">
                <a:solidFill>
                  <a:srgbClr val="1B1B1B"/>
                </a:solidFill>
                <a:latin typeface="Calibri"/>
              </a:rPr>
              <a:t>Vocabulary — Write 10 words from Unit 8 with Vietnamese meanings.</a:t>
            </a:r>
          </a:p>
        </p:txBody>
      </p:sp>
      <p:sp>
        <p:nvSpPr>
          <p:cNvPr id="11" name="Rounded Rectangle 10"/>
          <p:cNvSpPr/>
          <p:nvPr/>
        </p:nvSpPr>
        <p:spPr>
          <a:xfrm>
            <a:off x="731520" y="2523744"/>
            <a:ext cx="1069848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1005840" y="2578608"/>
            <a:ext cx="1828800" cy="777240"/>
          </a:xfrm>
          <a:prstGeom prst="rect">
            <a:avLst/>
          </a:prstGeom>
          <a:noFill/>
        </p:spPr>
        <p:txBody>
          <a:bodyPr wrap="square" anchor="ctr">
            <a:spAutoFit/>
          </a:bodyPr>
          <a:lstStyle/>
          <a:p>
            <a:pPr algn="l">
              <a:lnSpc>
                <a:spcPct val="100000"/>
              </a:lnSpc>
              <a:spcAft>
                <a:spcPts val="600"/>
              </a:spcAft>
            </a:pPr>
            <a:r>
              <a:rPr sz="1900" b="1" i="0">
                <a:solidFill>
                  <a:srgbClr val="142C4F"/>
                </a:solidFill>
                <a:latin typeface="Calibri"/>
              </a:rPr>
              <a:t>U8.7-H2</a:t>
            </a:r>
          </a:p>
        </p:txBody>
      </p:sp>
      <p:sp>
        <p:nvSpPr>
          <p:cNvPr id="13" name="TextBox 12"/>
          <p:cNvSpPr txBox="1"/>
          <p:nvPr/>
        </p:nvSpPr>
        <p:spPr>
          <a:xfrm>
            <a:off x="2743200" y="2578608"/>
            <a:ext cx="8503920" cy="777240"/>
          </a:xfrm>
          <a:prstGeom prst="rect">
            <a:avLst/>
          </a:prstGeom>
          <a:noFill/>
        </p:spPr>
        <p:txBody>
          <a:bodyPr wrap="square" anchor="ctr">
            <a:spAutoFit/>
          </a:bodyPr>
          <a:lstStyle/>
          <a:p>
            <a:pPr algn="l">
              <a:lnSpc>
                <a:spcPct val="100000"/>
              </a:lnSpc>
              <a:spcAft>
                <a:spcPts val="600"/>
              </a:spcAft>
            </a:pPr>
            <a:r>
              <a:rPr sz="1700" b="0" i="0">
                <a:solidFill>
                  <a:srgbClr val="1B1B1B"/>
                </a:solidFill>
                <a:latin typeface="Calibri"/>
              </a:rPr>
              <a:t>Grammar — Choose the correct answer.</a:t>
            </a:r>
          </a:p>
        </p:txBody>
      </p:sp>
      <p:sp>
        <p:nvSpPr>
          <p:cNvPr id="14" name="Rounded Rectangle 13"/>
          <p:cNvSpPr/>
          <p:nvPr/>
        </p:nvSpPr>
        <p:spPr>
          <a:xfrm>
            <a:off x="731520" y="3493008"/>
            <a:ext cx="1069848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005840" y="3547872"/>
            <a:ext cx="1828800" cy="777240"/>
          </a:xfrm>
          <a:prstGeom prst="rect">
            <a:avLst/>
          </a:prstGeom>
          <a:noFill/>
        </p:spPr>
        <p:txBody>
          <a:bodyPr wrap="square" anchor="ctr">
            <a:spAutoFit/>
          </a:bodyPr>
          <a:lstStyle/>
          <a:p>
            <a:pPr algn="l">
              <a:lnSpc>
                <a:spcPct val="100000"/>
              </a:lnSpc>
              <a:spcAft>
                <a:spcPts val="600"/>
              </a:spcAft>
            </a:pPr>
            <a:r>
              <a:rPr sz="1900" b="1" i="0">
                <a:solidFill>
                  <a:srgbClr val="142C4F"/>
                </a:solidFill>
                <a:latin typeface="Calibri"/>
              </a:rPr>
              <a:t>U8.7-H3</a:t>
            </a:r>
          </a:p>
        </p:txBody>
      </p:sp>
      <p:sp>
        <p:nvSpPr>
          <p:cNvPr id="16" name="TextBox 15"/>
          <p:cNvSpPr txBox="1"/>
          <p:nvPr/>
        </p:nvSpPr>
        <p:spPr>
          <a:xfrm>
            <a:off x="2743200" y="3547872"/>
            <a:ext cx="8503920" cy="777240"/>
          </a:xfrm>
          <a:prstGeom prst="rect">
            <a:avLst/>
          </a:prstGeom>
          <a:noFill/>
        </p:spPr>
        <p:txBody>
          <a:bodyPr wrap="square" anchor="ctr">
            <a:spAutoFit/>
          </a:bodyPr>
          <a:lstStyle/>
          <a:p>
            <a:pPr algn="l">
              <a:lnSpc>
                <a:spcPct val="100000"/>
              </a:lnSpc>
              <a:spcAft>
                <a:spcPts val="600"/>
              </a:spcAft>
            </a:pPr>
            <a:r>
              <a:rPr sz="1700" b="0" i="0">
                <a:solidFill>
                  <a:srgbClr val="1B1B1B"/>
                </a:solidFill>
                <a:latin typeface="Calibri"/>
              </a:rPr>
              <a:t>Writing — Write a film review (100–110 words) for the class film magazine.</a:t>
            </a:r>
          </a:p>
        </p:txBody>
      </p:sp>
      <p:sp>
        <p:nvSpPr>
          <p:cNvPr id="17" name="Rounded Rectangle 16"/>
          <p:cNvSpPr/>
          <p:nvPr/>
        </p:nvSpPr>
        <p:spPr>
          <a:xfrm>
            <a:off x="731520" y="4462272"/>
            <a:ext cx="1069848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1005840" y="4517136"/>
            <a:ext cx="1828800" cy="777240"/>
          </a:xfrm>
          <a:prstGeom prst="rect">
            <a:avLst/>
          </a:prstGeom>
          <a:noFill/>
        </p:spPr>
        <p:txBody>
          <a:bodyPr wrap="square" anchor="ctr">
            <a:spAutoFit/>
          </a:bodyPr>
          <a:lstStyle/>
          <a:p>
            <a:pPr algn="l">
              <a:lnSpc>
                <a:spcPct val="100000"/>
              </a:lnSpc>
              <a:spcAft>
                <a:spcPts val="600"/>
              </a:spcAft>
            </a:pPr>
            <a:r>
              <a:rPr sz="1900" b="1" i="0">
                <a:solidFill>
                  <a:srgbClr val="142C4F"/>
                </a:solidFill>
                <a:latin typeface="Calibri"/>
              </a:rPr>
              <a:t>U8.7-H4</a:t>
            </a:r>
          </a:p>
        </p:txBody>
      </p:sp>
      <p:sp>
        <p:nvSpPr>
          <p:cNvPr id="19" name="TextBox 18"/>
          <p:cNvSpPr txBox="1"/>
          <p:nvPr/>
        </p:nvSpPr>
        <p:spPr>
          <a:xfrm>
            <a:off x="2743200" y="4517136"/>
            <a:ext cx="8503920" cy="777240"/>
          </a:xfrm>
          <a:prstGeom prst="rect">
            <a:avLst/>
          </a:prstGeom>
          <a:noFill/>
        </p:spPr>
        <p:txBody>
          <a:bodyPr wrap="square" anchor="ctr">
            <a:spAutoFit/>
          </a:bodyPr>
          <a:lstStyle/>
          <a:p>
            <a:pPr algn="l">
              <a:lnSpc>
                <a:spcPct val="100000"/>
              </a:lnSpc>
              <a:spcAft>
                <a:spcPts val="600"/>
              </a:spcAft>
            </a:pPr>
            <a:r>
              <a:rPr sz="1700" b="0" i="0">
                <a:solidFill>
                  <a:srgbClr val="1B1B1B"/>
                </a:solidFill>
                <a:latin typeface="Calibri"/>
              </a:rPr>
              <a:t>Prepare for Unit 9 — Write the names of five festivals you know (Vietnamese or foreign), in English or Vietnamese.</a:t>
            </a:r>
          </a:p>
        </p:txBody>
      </p:sp>
      <p:sp>
        <p:nvSpPr>
          <p:cNvPr id="20" name="TextBox 19"/>
          <p:cNvSpPr txBox="1"/>
          <p:nvPr/>
        </p:nvSpPr>
        <p:spPr>
          <a:xfrm>
            <a:off x="731520" y="5989320"/>
            <a:ext cx="10698480" cy="640080"/>
          </a:xfrm>
          <a:prstGeom prst="rect">
            <a:avLst/>
          </a:prstGeom>
          <a:noFill/>
        </p:spPr>
        <p:txBody>
          <a:bodyPr wrap="square" anchor="t">
            <a:spAutoFit/>
          </a:bodyPr>
          <a:lstStyle/>
          <a:p>
            <a:pPr algn="ctr">
              <a:lnSpc>
                <a:spcPct val="100000"/>
              </a:lnSpc>
              <a:spcAft>
                <a:spcPts val="600"/>
              </a:spcAft>
            </a:pPr>
            <a:r>
              <a:rPr sz="1800" b="0" i="0">
                <a:solidFill>
                  <a:srgbClr val="6B7280"/>
                </a:solidFill>
                <a:latin typeface="Calibri"/>
              </a:rPr>
              <a:t>Homework Book, section U8L7   ·   See you next lesson!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