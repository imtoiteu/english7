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7  ·  PERIOD 62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8 review and the Class Film Awards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film vocabulary of Unit 8</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-ed/-ing adjectives and contrast connectors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hold a class film awards ceremony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Adjective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film adjectives;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 ceremony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ˈserəməni/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trao giải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award ceremony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nominate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/ˈnɒmɪneɪt/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cử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nominate three films for each award.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winner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người/tác phẩm thắng cuộc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And the winner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nominate…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8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-ed adjectives describe the person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(comma if it comes first)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However starts a new sentence with a comma</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although and but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-ing for things</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*The film was bored.</a:t>
                      </a:r>
                    </a:p>
                  </a:txBody>
                  <a:tcPr>
                    <a:solidFill>
                      <a:srgbClr val="E3F3EE"/>
                    </a:solidFill>
                  </a:tcPr>
                </a:tc>
              </a:tr>
              <a:tr h="566928">
                <a:tc>
                  <a:txBody>
                    <a:bodyPr/>
                    <a:lstStyle/>
                    <a:p>
                      <a:r>
                        <a:rPr sz="1600" b="0">
                          <a:solidFill>
                            <a:srgbClr val="1B1B1B"/>
                          </a:solidFill>
                          <a:latin typeface="Calibri"/>
                        </a:rPr>
                        <a:t>-ed for people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c>
                  <a:txBody>
                    <a:bodyPr/>
                    <a:lstStyle/>
                    <a:p>
                      <a:r>
                        <a:rPr sz="1600" b="0">
                          <a:solidFill>
                            <a:srgbClr val="1B1B1B"/>
                          </a:solidFill>
                          <a:latin typeface="Calibri"/>
                        </a:rPr>
                        <a:t>*I was boring.</a:t>
                      </a:r>
                    </a:p>
                  </a:txBody>
                  <a:tcPr>
                    <a:solidFill>
                      <a:srgbClr val="FFFFFF"/>
                    </a:solidFill>
                  </a:tcPr>
                </a:tc>
              </a:tr>
              <a:tr h="566928">
                <a:tc>
                  <a:txBody>
                    <a:bodyPr/>
                    <a:lstStyle/>
                    <a:p>
                      <a:r>
                        <a:rPr sz="1600" b="0">
                          <a:solidFill>
                            <a:srgbClr val="1B1B1B"/>
                          </a:solidFill>
                          <a:latin typeface="Calibri"/>
                        </a:rPr>
                        <a:t>although + clause</a:t>
                      </a:r>
                    </a:p>
                  </a:txBody>
                  <a:tcPr>
                    <a:solidFill>
                      <a:srgbClr val="E3F3EE"/>
                    </a:solidFill>
                  </a:tcPr>
                </a:tc>
                <a:tc>
                  <a:txBody>
                    <a:bodyPr/>
                    <a:lstStyle/>
                    <a:p>
                      <a:r>
                        <a:rPr sz="1600" b="0">
                          <a:solidFill>
                            <a:srgbClr val="1B1B1B"/>
                          </a:solidFill>
                          <a:latin typeface="Calibri"/>
                        </a:rPr>
                        <a:t>Although it was long, I liked it.</a:t>
                      </a:r>
                    </a:p>
                  </a:txBody>
                  <a:tcPr>
                    <a:solidFill>
                      <a:srgbClr val="E3F3EE"/>
                    </a:solidFill>
                  </a:tcPr>
                </a:tc>
                <a:tc>
                  <a:txBody>
                    <a:bodyPr/>
                    <a:lstStyle/>
                    <a:p>
                      <a:r>
                        <a:rPr sz="1600" b="0">
                          <a:solidFill>
                            <a:srgbClr val="1B1B1B"/>
                          </a:solidFill>
                          <a:latin typeface="Calibri"/>
                        </a:rPr>
                        <a:t>*Although it was long but I liked it.</a:t>
                      </a:r>
                    </a:p>
                  </a:txBody>
                  <a:tcPr>
                    <a:solidFill>
                      <a:srgbClr val="E3F3EE"/>
                    </a:solidFill>
                  </a:tcPr>
                </a:tc>
              </a:tr>
              <a:tr h="566928">
                <a:tc>
                  <a:txBody>
                    <a:bodyPr/>
                    <a:lstStyle/>
                    <a:p>
                      <a:r>
                        <a:rPr sz="1600" b="0">
                          <a:solidFill>
                            <a:srgbClr val="1B1B1B"/>
                          </a:solidFill>
                          <a:latin typeface="Calibri"/>
                        </a:rPr>
                        <a:t>However + comma</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r>
              <a:tr h="566928">
                <a:tc>
                  <a:txBody>
                    <a:bodyPr/>
                    <a:lstStyle/>
                    <a:p>
                      <a:r>
                        <a:rPr sz="1600" b="0">
                          <a:solidFill>
                            <a:srgbClr val="1B1B1B"/>
                          </a:solidFill>
                          <a:latin typeface="Calibri"/>
                        </a:rPr>
                        <a:t>worth + V-ing</a:t>
                      </a:r>
                    </a:p>
                  </a:txBody>
                  <a:tcPr>
                    <a:solidFill>
                      <a:srgbClr val="E3F3EE"/>
                    </a:solidFill>
                  </a:tcPr>
                </a:tc>
                <a:tc>
                  <a:txBody>
                    <a:bodyPr/>
                    <a:lstStyle/>
                    <a:p>
                      <a:r>
                        <a:rPr sz="1600" b="0">
                          <a:solidFill>
                            <a:srgbClr val="1B1B1B"/>
                          </a:solidFill>
                          <a:latin typeface="Calibri"/>
                        </a:rPr>
                        <a:t>It's worth watching.</a:t>
                      </a:r>
                    </a:p>
                  </a:txBody>
                  <a:tcPr>
                    <a:solidFill>
                      <a:srgbClr val="E3F3EE"/>
                    </a:solidFill>
                  </a:tcPr>
                </a:tc>
                <a:tc>
                  <a:txBody>
                    <a:bodyPr/>
                    <a:lstStyle/>
                    <a:p>
                      <a:r>
                        <a:rPr sz="1600" b="0">
                          <a:solidFill>
                            <a:srgbClr val="1B1B1B"/>
                          </a:solidFill>
                          <a:latin typeface="Calibri"/>
                        </a:rPr>
                        <a:t>*It's worth to watch.</a:t>
                      </a:r>
                    </a:p>
                  </a:txBody>
                  <a:tcPr>
                    <a:solidFill>
                      <a:srgbClr val="E3F3EE"/>
                    </a:solidFill>
                  </a:tcPr>
                </a:tc>
              </a:tr>
              <a:tr h="566928">
                <a:tc>
                  <a:txBody>
                    <a:bodyPr/>
                    <a:lstStyle/>
                    <a:p>
                      <a:r>
                        <a:rPr sz="1600" b="0">
                          <a:solidFill>
                            <a:srgbClr val="1B1B1B"/>
                          </a:solidFill>
                          <a:latin typeface="Calibri"/>
                        </a:rPr>
                        <a:t>It's about…</a:t>
                      </a:r>
                    </a:p>
                  </a:txBody>
                  <a:tcPr>
                    <a:solidFill>
                      <a:srgbClr val="FFFFFF"/>
                    </a:solidFill>
                  </a:tcPr>
                </a:tc>
                <a:tc>
                  <a:txBody>
                    <a:bodyPr/>
                    <a:lstStyle/>
                    <a:p>
                      <a:r>
                        <a:rPr sz="1600" b="0">
                          <a:solidFill>
                            <a:srgbClr val="1B1B1B"/>
                          </a:solidFill>
                          <a:latin typeface="Calibri"/>
                        </a:rPr>
                        <a:t>It's about a boy who…</a:t>
                      </a:r>
                    </a:p>
                  </a:txBody>
                  <a:tcPr>
                    <a:solidFill>
                      <a:srgbClr val="FFFFFF"/>
                    </a:solidFill>
                  </a:tcPr>
                </a:tc>
                <a:tc>
                  <a:txBody>
                    <a:bodyPr/>
                    <a:lstStyle/>
                    <a:p>
                      <a:r>
                        <a:rPr sz="1600" b="0">
                          <a:solidFill>
                            <a:srgbClr val="1B1B1B"/>
                          </a:solidFill>
                          <a:latin typeface="Calibri"/>
                        </a:rPr>
                        <a:t>*It talks about a boy that he…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confusing, the acting is excellent. However, the film is too violent for younger viewers. Overall,…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confusing, the acting is excellent. However, the film is too violent for younger viewers…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8 sounds review: /ɪ/ /iː/, -teen/-ty numbers, lon…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ship or sheep? thirTEEN or THIRty? di-REC-tor?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film – scene, live – leave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13/30, 14/40, 15/50</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 'audience, in'teresting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film has thirteen scenes and it lasts thirty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Adjectives and adverbs of degree · Connectors: but, so, because.</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club that grew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Four years ago, six students in a school in Nam Dinh started a film club. They had no projector, so they watched films on a laptop in an empty classroom on Friday afternoons. The rule was simple: one film a week, and everybody had to say one thing they liked and one thing they didn't — in English. In the first term only six students came. In the second, twenty-two. Today the club has 130 members, a real projector bought with money from a school fair, and its own film magazine with reviews written in English. 'Our English improved more in that classroom than in any lesson,' says Hoa, one of the six. 'Although we watched for fun, we were reading subtitles for two hours every week.'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they watch films at the beginning?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club rule?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members are there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they buy the projector?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Hoa say their English improved?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film that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drawn film: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about real life: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person who makes a film: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music of a film: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was long but I enjoyed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is slow, however the ending is good.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worth to watch.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talks about a boy that he loses his dog.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your award nominations and the ceremony.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Prepare your award nominations and the ceremony.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nominations and announce the winners.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'For Best Film, we nominate… It's a … about… Although…, it… And the winner is… Congratulations!'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an award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nominations are…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to everybody who voted.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Awards ceremony: each group presents one award;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two sentences for each of your four nominations.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what the film is and what it's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why it deserves the award, using although / but / however.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Film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 -ing adjectives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8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film review (100–110 words)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9 — Write the names of five festivals you know (Vietnamese or foreign),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