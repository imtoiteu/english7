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8L2_1_A2-08-Adjectives.mp3" TargetMode="External"/><Relationship Id="rId3" Type="http://schemas.openxmlformats.org/officeDocument/2006/relationships/hyperlink" Target="../../../audio/FU8L3_1_A2-13-Connectors.mp3" TargetMode="External"/><Relationship Id="rId4" Type="http://schemas.openxmlformats.org/officeDocument/2006/relationships/hyperlink" Target="https://elllo.org/book/A2/A2-08-Adjectives.html" TargetMode="External"/><Relationship Id="rId5" Type="http://schemas.openxmlformats.org/officeDocument/2006/relationships/hyperlink" Target="https://elllo.org/book/A2/A2-13-Connector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7  ·  PERIOD 62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8 review and the Class Film Awards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film vocabulary of Unit 8</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-ed/-ing adjectives and contrast connectors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hold a class film awards ceremony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Adjective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film adjectives; teacher reads definitions.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award ceremony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/əˈwɔːd ˈserəməni/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lễ trao giải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award ceremony is on Friday.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nominate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/ˈnɒmɪneɪt/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 cử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nominate three films for each award.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winner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/ˈwɪnə/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người/tác phẩm thắng cuộc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And the winner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nominate…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And the winner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wins because…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Congratulations!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8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-ing adjectives describe the thing; -ed adjectives describe the person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although + clause (comma if it comes first)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joins two clauses; However starts a new sentence with a comma</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Never use although and but together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-ing for things</a:t>
                      </a:r>
                    </a:p>
                  </a:txBody>
                  <a:tcPr>
                    <a:solidFill>
                      <a:srgbClr val="E3F3EE"/>
                    </a:solidFill>
                  </a:tcPr>
                </a:tc>
                <a:tc>
                  <a:txBody>
                    <a:bodyPr/>
                    <a:lstStyle/>
                    <a:p>
                      <a:r>
                        <a:rPr sz="1600" b="0">
                          <a:solidFill>
                            <a:srgbClr val="1B1B1B"/>
                          </a:solidFill>
                          <a:latin typeface="Calibri"/>
                        </a:rPr>
                        <a:t>The film was boring.</a:t>
                      </a:r>
                    </a:p>
                  </a:txBody>
                  <a:tcPr>
                    <a:solidFill>
                      <a:srgbClr val="E3F3EE"/>
                    </a:solidFill>
                  </a:tcPr>
                </a:tc>
                <a:tc>
                  <a:txBody>
                    <a:bodyPr/>
                    <a:lstStyle/>
                    <a:p>
                      <a:r>
                        <a:rPr sz="1600" b="0">
                          <a:solidFill>
                            <a:srgbClr val="1B1B1B"/>
                          </a:solidFill>
                          <a:latin typeface="Calibri"/>
                        </a:rPr>
                        <a:t>*The film was bored.</a:t>
                      </a:r>
                    </a:p>
                  </a:txBody>
                  <a:tcPr>
                    <a:solidFill>
                      <a:srgbClr val="E3F3EE"/>
                    </a:solidFill>
                  </a:tcPr>
                </a:tc>
              </a:tr>
              <a:tr h="566928">
                <a:tc>
                  <a:txBody>
                    <a:bodyPr/>
                    <a:lstStyle/>
                    <a:p>
                      <a:r>
                        <a:rPr sz="1600" b="0">
                          <a:solidFill>
                            <a:srgbClr val="1B1B1B"/>
                          </a:solidFill>
                          <a:latin typeface="Calibri"/>
                        </a:rPr>
                        <a:t>-ed for people</a:t>
                      </a:r>
                    </a:p>
                  </a:txBody>
                  <a:tcPr>
                    <a:solidFill>
                      <a:srgbClr val="FFFFFF"/>
                    </a:solidFill>
                  </a:tcPr>
                </a:tc>
                <a:tc>
                  <a:txBody>
                    <a:bodyPr/>
                    <a:lstStyle/>
                    <a:p>
                      <a:r>
                        <a:rPr sz="1600" b="0">
                          <a:solidFill>
                            <a:srgbClr val="1B1B1B"/>
                          </a:solidFill>
                          <a:latin typeface="Calibri"/>
                        </a:rPr>
                        <a:t>I was bored.</a:t>
                      </a:r>
                    </a:p>
                  </a:txBody>
                  <a:tcPr>
                    <a:solidFill>
                      <a:srgbClr val="FFFFFF"/>
                    </a:solidFill>
                  </a:tcPr>
                </a:tc>
                <a:tc>
                  <a:txBody>
                    <a:bodyPr/>
                    <a:lstStyle/>
                    <a:p>
                      <a:r>
                        <a:rPr sz="1600" b="0">
                          <a:solidFill>
                            <a:srgbClr val="1B1B1B"/>
                          </a:solidFill>
                          <a:latin typeface="Calibri"/>
                        </a:rPr>
                        <a:t>*I was boring.</a:t>
                      </a:r>
                    </a:p>
                  </a:txBody>
                  <a:tcPr>
                    <a:solidFill>
                      <a:srgbClr val="FFFFFF"/>
                    </a:solidFill>
                  </a:tcPr>
                </a:tc>
              </a:tr>
              <a:tr h="566928">
                <a:tc>
                  <a:txBody>
                    <a:bodyPr/>
                    <a:lstStyle/>
                    <a:p>
                      <a:r>
                        <a:rPr sz="1600" b="0">
                          <a:solidFill>
                            <a:srgbClr val="1B1B1B"/>
                          </a:solidFill>
                          <a:latin typeface="Calibri"/>
                        </a:rPr>
                        <a:t>although + clause</a:t>
                      </a:r>
                    </a:p>
                  </a:txBody>
                  <a:tcPr>
                    <a:solidFill>
                      <a:srgbClr val="E3F3EE"/>
                    </a:solidFill>
                  </a:tcPr>
                </a:tc>
                <a:tc>
                  <a:txBody>
                    <a:bodyPr/>
                    <a:lstStyle/>
                    <a:p>
                      <a:r>
                        <a:rPr sz="1600" b="0">
                          <a:solidFill>
                            <a:srgbClr val="1B1B1B"/>
                          </a:solidFill>
                          <a:latin typeface="Calibri"/>
                        </a:rPr>
                        <a:t>Although it was long, I liked it.</a:t>
                      </a:r>
                    </a:p>
                  </a:txBody>
                  <a:tcPr>
                    <a:solidFill>
                      <a:srgbClr val="E3F3EE"/>
                    </a:solidFill>
                  </a:tcPr>
                </a:tc>
                <a:tc>
                  <a:txBody>
                    <a:bodyPr/>
                    <a:lstStyle/>
                    <a:p>
                      <a:r>
                        <a:rPr sz="1600" b="0">
                          <a:solidFill>
                            <a:srgbClr val="1B1B1B"/>
                          </a:solidFill>
                          <a:latin typeface="Calibri"/>
                        </a:rPr>
                        <a:t>*Although it was long but I liked it.</a:t>
                      </a:r>
                    </a:p>
                  </a:txBody>
                  <a:tcPr>
                    <a:solidFill>
                      <a:srgbClr val="E3F3EE"/>
                    </a:solidFill>
                  </a:tcPr>
                </a:tc>
              </a:tr>
              <a:tr h="566928">
                <a:tc>
                  <a:txBody>
                    <a:bodyPr/>
                    <a:lstStyle/>
                    <a:p>
                      <a:r>
                        <a:rPr sz="1600" b="0">
                          <a:solidFill>
                            <a:srgbClr val="1B1B1B"/>
                          </a:solidFill>
                          <a:latin typeface="Calibri"/>
                        </a:rPr>
                        <a:t>However + comma</a:t>
                      </a:r>
                    </a:p>
                  </a:txBody>
                  <a:tcPr>
                    <a:solidFill>
                      <a:srgbClr val="FFFFFF"/>
                    </a:solidFill>
                  </a:tcPr>
                </a:tc>
                <a:tc>
                  <a:txBody>
                    <a:bodyPr/>
                    <a:lstStyle/>
                    <a:p>
                      <a:r>
                        <a:rPr sz="1600" b="0">
                          <a:solidFill>
                            <a:srgbClr val="1B1B1B"/>
                          </a:solidFill>
                          <a:latin typeface="Calibri"/>
                        </a:rPr>
                        <a:t>It was long. However, I liked it.</a:t>
                      </a:r>
                    </a:p>
                  </a:txBody>
                  <a:tcPr>
                    <a:solidFill>
                      <a:srgbClr val="FFFFFF"/>
                    </a:solidFill>
                  </a:tcPr>
                </a:tc>
                <a:tc>
                  <a:txBody>
                    <a:bodyPr/>
                    <a:lstStyle/>
                    <a:p>
                      <a:r>
                        <a:rPr sz="1600" b="0">
                          <a:solidFill>
                            <a:srgbClr val="1B1B1B"/>
                          </a:solidFill>
                          <a:latin typeface="Calibri"/>
                        </a:rPr>
                        <a:t>*It was long, however I liked it.</a:t>
                      </a:r>
                    </a:p>
                  </a:txBody>
                  <a:tcPr>
                    <a:solidFill>
                      <a:srgbClr val="FFFFFF"/>
                    </a:solidFill>
                  </a:tcPr>
                </a:tc>
              </a:tr>
              <a:tr h="566928">
                <a:tc>
                  <a:txBody>
                    <a:bodyPr/>
                    <a:lstStyle/>
                    <a:p>
                      <a:r>
                        <a:rPr sz="1600" b="0">
                          <a:solidFill>
                            <a:srgbClr val="1B1B1B"/>
                          </a:solidFill>
                          <a:latin typeface="Calibri"/>
                        </a:rPr>
                        <a:t>worth + V-ing</a:t>
                      </a:r>
                    </a:p>
                  </a:txBody>
                  <a:tcPr>
                    <a:solidFill>
                      <a:srgbClr val="E3F3EE"/>
                    </a:solidFill>
                  </a:tcPr>
                </a:tc>
                <a:tc>
                  <a:txBody>
                    <a:bodyPr/>
                    <a:lstStyle/>
                    <a:p>
                      <a:r>
                        <a:rPr sz="1600" b="0">
                          <a:solidFill>
                            <a:srgbClr val="1B1B1B"/>
                          </a:solidFill>
                          <a:latin typeface="Calibri"/>
                        </a:rPr>
                        <a:t>It's worth watching.</a:t>
                      </a:r>
                    </a:p>
                  </a:txBody>
                  <a:tcPr>
                    <a:solidFill>
                      <a:srgbClr val="E3F3EE"/>
                    </a:solidFill>
                  </a:tcPr>
                </a:tc>
                <a:tc>
                  <a:txBody>
                    <a:bodyPr/>
                    <a:lstStyle/>
                    <a:p>
                      <a:r>
                        <a:rPr sz="1600" b="0">
                          <a:solidFill>
                            <a:srgbClr val="1B1B1B"/>
                          </a:solidFill>
                          <a:latin typeface="Calibri"/>
                        </a:rPr>
                        <a:t>*It's worth to watch.</a:t>
                      </a:r>
                    </a:p>
                  </a:txBody>
                  <a:tcPr>
                    <a:solidFill>
                      <a:srgbClr val="E3F3EE"/>
                    </a:solidFill>
                  </a:tcPr>
                </a:tc>
              </a:tr>
              <a:tr h="566928">
                <a:tc>
                  <a:txBody>
                    <a:bodyPr/>
                    <a:lstStyle/>
                    <a:p>
                      <a:r>
                        <a:rPr sz="1600" b="0">
                          <a:solidFill>
                            <a:srgbClr val="1B1B1B"/>
                          </a:solidFill>
                          <a:latin typeface="Calibri"/>
                        </a:rPr>
                        <a:t>It's about…</a:t>
                      </a:r>
                    </a:p>
                  </a:txBody>
                  <a:tcPr>
                    <a:solidFill>
                      <a:srgbClr val="FFFFFF"/>
                    </a:solidFill>
                  </a:tcPr>
                </a:tc>
                <a:tc>
                  <a:txBody>
                    <a:bodyPr/>
                    <a:lstStyle/>
                    <a:p>
                      <a:r>
                        <a:rPr sz="1600" b="0">
                          <a:solidFill>
                            <a:srgbClr val="1B1B1B"/>
                          </a:solidFill>
                          <a:latin typeface="Calibri"/>
                        </a:rPr>
                        <a:t>It's about a boy who…</a:t>
                      </a:r>
                    </a:p>
                  </a:txBody>
                  <a:tcPr>
                    <a:solidFill>
                      <a:srgbClr val="FFFFFF"/>
                    </a:solidFill>
                  </a:tcPr>
                </a:tc>
                <a:tc>
                  <a:txBody>
                    <a:bodyPr/>
                    <a:lstStyle/>
                    <a:p>
                      <a:r>
                        <a:rPr sz="1600" b="0">
                          <a:solidFill>
                            <a:srgbClr val="1B1B1B"/>
                          </a:solidFill>
                          <a:latin typeface="Calibri"/>
                        </a:rPr>
                        <a:t>*It talks about a boy that he…</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the plot is confusing, the acting is excellent. However, the film is too violent for younger viewers. Overall,…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Although the plot is confusing, the acting is excellent. However, the film is too violent for younger viewers…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8 sounds review: /ɪ/ /iː/, -teen/-ty numbers, lon…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ship or sheep? thirTEEN or THIRty? di-REC-tor?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film – scene, live – leave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13/30, 14/40, 15/50</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di'rector, 'audience, in'teresting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interesting film has thirteen scenes and it lasts thirty minutes.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Adjectives and adverbs of degree · Connectors: but, so, because.</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2"/>
              </a:rPr>
              <a:t>▶ U8L2</a:t>
            </a:r>
          </a:p>
        </p:txBody>
      </p:sp>
      <p:sp>
        <p:nvSpPr>
          <p:cNvPr id="12" name="Rounded Rectangle 11"/>
          <p:cNvSpPr/>
          <p:nvPr/>
        </p:nvSpPr>
        <p:spPr>
          <a:xfrm>
            <a:off x="6135624" y="5248656"/>
            <a:ext cx="5294376"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42C4F"/>
                </a:solidFill>
                <a:hlinkClick r:id="rId3"/>
              </a:rPr>
              <a:t>▶ U8L3</a:t>
            </a:r>
          </a:p>
        </p:txBody>
      </p:sp>
      <p:sp>
        <p:nvSpPr>
          <p:cNvPr id="13" name="Rounded Rectangle 12"/>
          <p:cNvSpPr/>
          <p:nvPr/>
        </p:nvSpPr>
        <p:spPr>
          <a:xfrm>
            <a:off x="731520"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4"/>
              </a:rPr>
              <a:t>🌐 U8L2</a:t>
            </a:r>
          </a:p>
        </p:txBody>
      </p:sp>
      <p:sp>
        <p:nvSpPr>
          <p:cNvPr id="14" name="Rounded Rectangle 13"/>
          <p:cNvSpPr/>
          <p:nvPr/>
        </p:nvSpPr>
        <p:spPr>
          <a:xfrm>
            <a:off x="6135624" y="5824728"/>
            <a:ext cx="5294376"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200" b="1">
                <a:solidFill>
                  <a:srgbClr val="0E7C66"/>
                </a:solidFill>
                <a:hlinkClick r:id="rId5"/>
              </a:rPr>
              <a:t>🌐 U8L3</a:t>
            </a:r>
          </a:p>
        </p:txBody>
      </p:sp>
      <p:sp>
        <p:nvSpPr>
          <p:cNvPr id="15" name="TextBox 14"/>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film club that grew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Four years ago, six students in a school in Nam Dinh started a film club. They had no projector, so they watched films on a laptop in an empty classroom on Friday afternoons. The rule was simple: one film a week, and everybody had to say one thing they liked and one thing they didn't — in English. In the first term only six students came. In the second, twenty-two. Today the club has 130 members, a real projector bought with money from a school fair, and its own film magazine with reviews written in English. 'Our English improved more in that classroom than in any lesson,' says Hoa, one of the six. 'Although we watched for fun, we were reading subtitles for two hours every week.'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did they watch films at the beginning?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was the club rule?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members are there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did they buy the projector?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does Hoa say their English improved?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film that makes you laugh: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drawn film: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film about real life: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people watching: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person who makes a film: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music of a film: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very boring in this lesson.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was frightened.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Although it was long but I enjoyed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film is slow, however the ending is good.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It's worth to watch.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It talks about a boy that he loses his dog.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Prepare your award nominations and the ceremony.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Prepare your award nominations and the ceremony.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nominations and announce the winners.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'For Best Film, we nominate… It's a … about… Although…, it… And the winner is… Congratulations!'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Presenting an award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nominations are…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And the winner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wins because…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Congratulations!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to everybody who voted.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Awards ceremony: each group presents one award; the class votes.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two sentences for each of your four nominations.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1: what the film is and what it's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2: why it deserves the award, using although / but / however.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Film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 -ing adjectives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 but / however</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worth + V-ing</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Review writing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8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film review (100–110 words) for the class film magazine.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9 — Write the names of five festivals you know (Vietnamese or foreign),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