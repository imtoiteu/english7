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8L2_1_A2-08-Adjectives.mp3" TargetMode="External"/><Relationship Id="rId3" Type="http://schemas.openxmlformats.org/officeDocument/2006/relationships/hyperlink" Target="../../../audio/FU8L3_1_A2-13-Connectors.mp3"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8  ·  LESSON 7  ·  PERIOD 62</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LOOKING BACK &amp; PROJECT</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Unit 8 review and the Class Film Awards</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U8L7</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recall the film vocabulary of Unit 8</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-ed/-ing adjectives and contrast connectors accurately</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correct the six typical mistakes of the unit</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hold a class film awards ceremony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Adjective bingo  (6')</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U8L7</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Students write nine film adjectives; teacher reads definitions.</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Play bingo.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U8L7</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award ceremony</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/əˈwɔːd ˈserəməni/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lễ trao giải</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Our award ceremony is on Friday.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nominate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/ˈnɒmɪneɪt/   (v)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đề cử</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nominate three films for each award.</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winner</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/ˈwɪnə/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người/tác phẩm thắng cuộc</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And the winner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U8L7</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nominate…</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And the winner is…</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wins because…</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Congratulations!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Unit 8 grammar in one page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U8L7</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-ing adjectives describe the thing; -ed adjectives describe the person</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although + clause (comma if it comes first)</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but joins two clauses; However starts a new sentence with a comma</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Never use although and but together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U8L7</a:t>
            </a:r>
          </a:p>
        </p:txBody>
      </p:sp>
      <p:graphicFrame>
        <p:nvGraphicFramePr>
          <p:cNvPr id="8" name="Table 7"/>
          <p:cNvGraphicFramePr>
            <a:graphicFrameLocks noGrp="1"/>
          </p:cNvGraphicFramePr>
          <p:nvPr/>
        </p:nvGraphicFramePr>
        <p:xfrm>
          <a:off x="548640" y="1463040"/>
          <a:ext cx="11064240" cy="3968496"/>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Structure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c>
                  <a:txBody>
                    <a:bodyPr/>
                    <a:lstStyle/>
                    <a:p>
                      <a:r>
                        <a:rPr sz="1600" b="1">
                          <a:solidFill>
                            <a:srgbClr val="FFFFFF"/>
                          </a:solidFill>
                          <a:latin typeface="Calibri"/>
                        </a:rPr>
                        <a:t>Common mistake</a:t>
                      </a:r>
                    </a:p>
                  </a:txBody>
                  <a:tcPr>
                    <a:solidFill>
                      <a:srgbClr val="0E7C66"/>
                    </a:solidFill>
                  </a:tcPr>
                </a:tc>
              </a:tr>
              <a:tr h="566928">
                <a:tc>
                  <a:txBody>
                    <a:bodyPr/>
                    <a:lstStyle/>
                    <a:p>
                      <a:r>
                        <a:rPr sz="1600" b="0">
                          <a:solidFill>
                            <a:srgbClr val="1B1B1B"/>
                          </a:solidFill>
                          <a:latin typeface="Calibri"/>
                        </a:rPr>
                        <a:t>-ing for things</a:t>
                      </a:r>
                    </a:p>
                  </a:txBody>
                  <a:tcPr>
                    <a:solidFill>
                      <a:srgbClr val="E3F3EE"/>
                    </a:solidFill>
                  </a:tcPr>
                </a:tc>
                <a:tc>
                  <a:txBody>
                    <a:bodyPr/>
                    <a:lstStyle/>
                    <a:p>
                      <a:r>
                        <a:rPr sz="1600" b="0">
                          <a:solidFill>
                            <a:srgbClr val="1B1B1B"/>
                          </a:solidFill>
                          <a:latin typeface="Calibri"/>
                        </a:rPr>
                        <a:t>The film was boring.</a:t>
                      </a:r>
                    </a:p>
                  </a:txBody>
                  <a:tcPr>
                    <a:solidFill>
                      <a:srgbClr val="E3F3EE"/>
                    </a:solidFill>
                  </a:tcPr>
                </a:tc>
                <a:tc>
                  <a:txBody>
                    <a:bodyPr/>
                    <a:lstStyle/>
                    <a:p>
                      <a:r>
                        <a:rPr sz="1600" b="0">
                          <a:solidFill>
                            <a:srgbClr val="1B1B1B"/>
                          </a:solidFill>
                          <a:latin typeface="Calibri"/>
                        </a:rPr>
                        <a:t>*The film was bored.</a:t>
                      </a:r>
                    </a:p>
                  </a:txBody>
                  <a:tcPr>
                    <a:solidFill>
                      <a:srgbClr val="E3F3EE"/>
                    </a:solidFill>
                  </a:tcPr>
                </a:tc>
              </a:tr>
              <a:tr h="566928">
                <a:tc>
                  <a:txBody>
                    <a:bodyPr/>
                    <a:lstStyle/>
                    <a:p>
                      <a:r>
                        <a:rPr sz="1600" b="0">
                          <a:solidFill>
                            <a:srgbClr val="1B1B1B"/>
                          </a:solidFill>
                          <a:latin typeface="Calibri"/>
                        </a:rPr>
                        <a:t>-ed for people</a:t>
                      </a:r>
                    </a:p>
                  </a:txBody>
                  <a:tcPr>
                    <a:solidFill>
                      <a:srgbClr val="FFFFFF"/>
                    </a:solidFill>
                  </a:tcPr>
                </a:tc>
                <a:tc>
                  <a:txBody>
                    <a:bodyPr/>
                    <a:lstStyle/>
                    <a:p>
                      <a:r>
                        <a:rPr sz="1600" b="0">
                          <a:solidFill>
                            <a:srgbClr val="1B1B1B"/>
                          </a:solidFill>
                          <a:latin typeface="Calibri"/>
                        </a:rPr>
                        <a:t>I was bored.</a:t>
                      </a:r>
                    </a:p>
                  </a:txBody>
                  <a:tcPr>
                    <a:solidFill>
                      <a:srgbClr val="FFFFFF"/>
                    </a:solidFill>
                  </a:tcPr>
                </a:tc>
                <a:tc>
                  <a:txBody>
                    <a:bodyPr/>
                    <a:lstStyle/>
                    <a:p>
                      <a:r>
                        <a:rPr sz="1600" b="0">
                          <a:solidFill>
                            <a:srgbClr val="1B1B1B"/>
                          </a:solidFill>
                          <a:latin typeface="Calibri"/>
                        </a:rPr>
                        <a:t>*I was boring.</a:t>
                      </a:r>
                    </a:p>
                  </a:txBody>
                  <a:tcPr>
                    <a:solidFill>
                      <a:srgbClr val="FFFFFF"/>
                    </a:solidFill>
                  </a:tcPr>
                </a:tc>
              </a:tr>
              <a:tr h="566928">
                <a:tc>
                  <a:txBody>
                    <a:bodyPr/>
                    <a:lstStyle/>
                    <a:p>
                      <a:r>
                        <a:rPr sz="1600" b="0">
                          <a:solidFill>
                            <a:srgbClr val="1B1B1B"/>
                          </a:solidFill>
                          <a:latin typeface="Calibri"/>
                        </a:rPr>
                        <a:t>although + clause</a:t>
                      </a:r>
                    </a:p>
                  </a:txBody>
                  <a:tcPr>
                    <a:solidFill>
                      <a:srgbClr val="E3F3EE"/>
                    </a:solidFill>
                  </a:tcPr>
                </a:tc>
                <a:tc>
                  <a:txBody>
                    <a:bodyPr/>
                    <a:lstStyle/>
                    <a:p>
                      <a:r>
                        <a:rPr sz="1600" b="0">
                          <a:solidFill>
                            <a:srgbClr val="1B1B1B"/>
                          </a:solidFill>
                          <a:latin typeface="Calibri"/>
                        </a:rPr>
                        <a:t>Although it was long, I liked it.</a:t>
                      </a:r>
                    </a:p>
                  </a:txBody>
                  <a:tcPr>
                    <a:solidFill>
                      <a:srgbClr val="E3F3EE"/>
                    </a:solidFill>
                  </a:tcPr>
                </a:tc>
                <a:tc>
                  <a:txBody>
                    <a:bodyPr/>
                    <a:lstStyle/>
                    <a:p>
                      <a:r>
                        <a:rPr sz="1600" b="0">
                          <a:solidFill>
                            <a:srgbClr val="1B1B1B"/>
                          </a:solidFill>
                          <a:latin typeface="Calibri"/>
                        </a:rPr>
                        <a:t>*Although it was long but I liked it.</a:t>
                      </a:r>
                    </a:p>
                  </a:txBody>
                  <a:tcPr>
                    <a:solidFill>
                      <a:srgbClr val="E3F3EE"/>
                    </a:solidFill>
                  </a:tcPr>
                </a:tc>
              </a:tr>
              <a:tr h="566928">
                <a:tc>
                  <a:txBody>
                    <a:bodyPr/>
                    <a:lstStyle/>
                    <a:p>
                      <a:r>
                        <a:rPr sz="1600" b="0">
                          <a:solidFill>
                            <a:srgbClr val="1B1B1B"/>
                          </a:solidFill>
                          <a:latin typeface="Calibri"/>
                        </a:rPr>
                        <a:t>However + comma</a:t>
                      </a:r>
                    </a:p>
                  </a:txBody>
                  <a:tcPr>
                    <a:solidFill>
                      <a:srgbClr val="FFFFFF"/>
                    </a:solidFill>
                  </a:tcPr>
                </a:tc>
                <a:tc>
                  <a:txBody>
                    <a:bodyPr/>
                    <a:lstStyle/>
                    <a:p>
                      <a:r>
                        <a:rPr sz="1600" b="0">
                          <a:solidFill>
                            <a:srgbClr val="1B1B1B"/>
                          </a:solidFill>
                          <a:latin typeface="Calibri"/>
                        </a:rPr>
                        <a:t>It was long. However, I liked it.</a:t>
                      </a:r>
                    </a:p>
                  </a:txBody>
                  <a:tcPr>
                    <a:solidFill>
                      <a:srgbClr val="FFFFFF"/>
                    </a:solidFill>
                  </a:tcPr>
                </a:tc>
                <a:tc>
                  <a:txBody>
                    <a:bodyPr/>
                    <a:lstStyle/>
                    <a:p>
                      <a:r>
                        <a:rPr sz="1600" b="0">
                          <a:solidFill>
                            <a:srgbClr val="1B1B1B"/>
                          </a:solidFill>
                          <a:latin typeface="Calibri"/>
                        </a:rPr>
                        <a:t>*It was long, however I liked it.</a:t>
                      </a:r>
                    </a:p>
                  </a:txBody>
                  <a:tcPr>
                    <a:solidFill>
                      <a:srgbClr val="FFFFFF"/>
                    </a:solidFill>
                  </a:tcPr>
                </a:tc>
              </a:tr>
              <a:tr h="566928">
                <a:tc>
                  <a:txBody>
                    <a:bodyPr/>
                    <a:lstStyle/>
                    <a:p>
                      <a:r>
                        <a:rPr sz="1600" b="0">
                          <a:solidFill>
                            <a:srgbClr val="1B1B1B"/>
                          </a:solidFill>
                          <a:latin typeface="Calibri"/>
                        </a:rPr>
                        <a:t>worth + V-ing</a:t>
                      </a:r>
                    </a:p>
                  </a:txBody>
                  <a:tcPr>
                    <a:solidFill>
                      <a:srgbClr val="E3F3EE"/>
                    </a:solidFill>
                  </a:tcPr>
                </a:tc>
                <a:tc>
                  <a:txBody>
                    <a:bodyPr/>
                    <a:lstStyle/>
                    <a:p>
                      <a:r>
                        <a:rPr sz="1600" b="0">
                          <a:solidFill>
                            <a:srgbClr val="1B1B1B"/>
                          </a:solidFill>
                          <a:latin typeface="Calibri"/>
                        </a:rPr>
                        <a:t>It's worth watching.</a:t>
                      </a:r>
                    </a:p>
                  </a:txBody>
                  <a:tcPr>
                    <a:solidFill>
                      <a:srgbClr val="E3F3EE"/>
                    </a:solidFill>
                  </a:tcPr>
                </a:tc>
                <a:tc>
                  <a:txBody>
                    <a:bodyPr/>
                    <a:lstStyle/>
                    <a:p>
                      <a:r>
                        <a:rPr sz="1600" b="0">
                          <a:solidFill>
                            <a:srgbClr val="1B1B1B"/>
                          </a:solidFill>
                          <a:latin typeface="Calibri"/>
                        </a:rPr>
                        <a:t>*It's worth to watch.</a:t>
                      </a:r>
                    </a:p>
                  </a:txBody>
                  <a:tcPr>
                    <a:solidFill>
                      <a:srgbClr val="E3F3EE"/>
                    </a:solidFill>
                  </a:tcPr>
                </a:tc>
              </a:tr>
              <a:tr h="566928">
                <a:tc>
                  <a:txBody>
                    <a:bodyPr/>
                    <a:lstStyle/>
                    <a:p>
                      <a:r>
                        <a:rPr sz="1600" b="0">
                          <a:solidFill>
                            <a:srgbClr val="1B1B1B"/>
                          </a:solidFill>
                          <a:latin typeface="Calibri"/>
                        </a:rPr>
                        <a:t>It's about…</a:t>
                      </a:r>
                    </a:p>
                  </a:txBody>
                  <a:tcPr>
                    <a:solidFill>
                      <a:srgbClr val="FFFFFF"/>
                    </a:solidFill>
                  </a:tcPr>
                </a:tc>
                <a:tc>
                  <a:txBody>
                    <a:bodyPr/>
                    <a:lstStyle/>
                    <a:p>
                      <a:r>
                        <a:rPr sz="1600" b="0">
                          <a:solidFill>
                            <a:srgbClr val="1B1B1B"/>
                          </a:solidFill>
                          <a:latin typeface="Calibri"/>
                        </a:rPr>
                        <a:t>It's about a boy who…</a:t>
                      </a:r>
                    </a:p>
                  </a:txBody>
                  <a:tcPr>
                    <a:solidFill>
                      <a:srgbClr val="FFFFFF"/>
                    </a:solidFill>
                  </a:tcPr>
                </a:tc>
                <a:tc>
                  <a:txBody>
                    <a:bodyPr/>
                    <a:lstStyle/>
                    <a:p>
                      <a:r>
                        <a:rPr sz="1600" b="0">
                          <a:solidFill>
                            <a:srgbClr val="1B1B1B"/>
                          </a:solidFill>
                          <a:latin typeface="Calibri"/>
                        </a:rPr>
                        <a:t>*It talks about a boy that he…</a:t>
                      </a:r>
                    </a:p>
                  </a:txBody>
                  <a:tcP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U8L7</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Although the plot is confusing, the acting is excellent. However, the film is too violent for younger viewers. Overall,…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U8L7</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Add these six to the classroom wall list.</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Although the plot is confusing, the acting is excellent. However, the film is too violent for younger viewers…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Pronunciation: Unit 8 sounds review: /ɪ/ /iː/, -teen/-ty numbers, lon…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U8L7</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Three checks: ship or sheep? thirTEEN or THIRty? di-REC-tor?</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film – scene, live – leave</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13/30, 14/40, 15/50</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di'rector, 'audience, in'teresting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U8L7</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This interesting film has thirteen scenes and it lasts thirty minutes.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Looking Back — listen again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U8L7</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No new recording. You hear this unit’s own recordings again: Adjectives and adverbs of degree · Connectors: but, so, because.</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440680"/>
            <a:ext cx="5294376" cy="530352"/>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500" b="1">
                <a:solidFill>
                  <a:srgbClr val="142C4F"/>
                </a:solidFill>
                <a:hlinkClick r:id="rId2"/>
              </a:rPr>
              <a:t>▶ U8L2</a:t>
            </a:r>
          </a:p>
        </p:txBody>
      </p:sp>
      <p:sp>
        <p:nvSpPr>
          <p:cNvPr id="12" name="Rounded Rectangle 11"/>
          <p:cNvSpPr/>
          <p:nvPr/>
        </p:nvSpPr>
        <p:spPr>
          <a:xfrm>
            <a:off x="6135624" y="5440680"/>
            <a:ext cx="5294376" cy="530352"/>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500" b="1">
                <a:solidFill>
                  <a:srgbClr val="142C4F"/>
                </a:solidFill>
                <a:hlinkClick r:id="rId3"/>
              </a:rPr>
              <a:t>▶ U8L3</a:t>
            </a:r>
          </a:p>
        </p:txBody>
      </p:sp>
      <p:sp>
        <p:nvSpPr>
          <p:cNvPr id="13" name="TextBox 12"/>
          <p:cNvSpPr txBox="1"/>
          <p:nvPr/>
        </p:nvSpPr>
        <p:spPr>
          <a:xfrm>
            <a:off x="731520" y="6062472"/>
            <a:ext cx="10698480" cy="502920"/>
          </a:xfrm>
          <a:prstGeom prst="rect">
            <a:avLst/>
          </a:prstGeom>
          <a:noFill/>
        </p:spPr>
        <p:txBody>
          <a:bodyPr wrap="square" anchor="t">
            <a:spAutoFit/>
          </a:bodyPr>
          <a:lstStyle/>
          <a:p>
            <a:pPr algn="l">
              <a:lnSpc>
                <a:spcPct val="100000"/>
              </a:lnSpc>
              <a:spcAft>
                <a:spcPts val="600"/>
              </a:spcAft>
            </a:pPr>
            <a:r>
              <a:rPr sz="1100" b="0" i="0">
                <a:solidFill>
                  <a:srgbClr val="6B7280"/>
                </a:solidFill>
                <a:latin typeface="Calibri"/>
              </a:rPr>
              <a:t>Recycled — this unit’s own verified recordings · replayed extracts · As in the original recordings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U8.7-L1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teacher plays six lines from this unit’s recordings. Write each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____________________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____________________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____________________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____________________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____________________</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U8.7-L1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teacher plays six lines from this unit’s recordings. Write each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____________________</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The film club that grew</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U8L7</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Four years ago, six students in a school in Nam Dinh started a film club. They had no projector, so they watched films on a laptop in an empty classroom on Friday afternoons. The rule was simple: one film a week, and everybody had to say one thing they liked and one thing they didn't — in English. In the first term only six students came. In the second, twenty-two. Today the club has 130 members, a real projector bought with money from a school fair, and its own film magazine with reviews written in English. 'Our English improved more in that classroom than in any lesson,' says Hoa, one of the six. 'Although we watched for fun, we were reading subtitles for two hours every week.'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U8.7-R1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did they watch films at the beginning?</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was the club rule?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How many members are there now?</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How did they buy the projector?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Why does Hoa say their English improved?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U8.7-G1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 film that makes you laugh: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 drawn film: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 film about real life: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people watching: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 person who makes a film: ______</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U8.7-G1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the music of a film: ______</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U8.7-G2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am very boring in this lesson.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 film was frightened.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Although it was long but I enjoyed it.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film is slow, however the ending is good.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It's worth to watch.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U8.7-G2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It talks about a boy that he loses his dog.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U8.7-I1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text with one word in each gap.</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Write the seven words.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U8.7-I2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Prepare your award nominations and the ceremony.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U8.7-I2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Prepare your award nominations and the ceremony.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U8.7-S1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Present your nominations and announce the winners.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Frame: 'For Best Film, we nominate… It's a … about… Although…, it… And the winner is… Congratulations!'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Real-life English: Presenting an award</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U8L7</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nominations are…</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And the winner is…</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wins because…</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Congratulations!</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Thank you to everybody who voted.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U8L7</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Awards ceremony: each group presents one award; the class votes.</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U8.7-W1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two sentences for each of your four nominations.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Sentence 1: what the film is and what it's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Sentence 2: why it deserves the award, using although / but / however.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U8L7</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Film vocabulary (26 items)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-ed / -ing adjectives</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although / but / however</a:t>
            </a:r>
          </a:p>
        </p:txBody>
      </p:sp>
      <p:sp>
        <p:nvSpPr>
          <p:cNvPr id="14" name="Rounded Rectangle 13"/>
          <p:cNvSpPr/>
          <p:nvPr/>
        </p:nvSpPr>
        <p:spPr>
          <a:xfrm>
            <a:off x="731520" y="448056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455371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worth + V-ing</a:t>
            </a:r>
          </a:p>
        </p:txBody>
      </p:sp>
      <p:sp>
        <p:nvSpPr>
          <p:cNvPr id="16" name="Rounded Rectangle 15"/>
          <p:cNvSpPr/>
          <p:nvPr/>
        </p:nvSpPr>
        <p:spPr>
          <a:xfrm>
            <a:off x="731520" y="544068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51560" y="551383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Review writing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U8L7</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U8.7-H1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10 words from Unit 8 with Vietnamese meanings.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U8.7-H2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Choose the correct answer.</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U8.7-H3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a film review (100–110 words) for the class film magazine.</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U8.7-H4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Prepare for Unit 9 — Write the names of five festivals you know (Vietnamese or foreign), in English or Vietnamese.</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U8L7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