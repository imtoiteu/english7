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8L5_1_5fd0aa74-ef38-40c2-85fb-47f536c14e28_hq.mp3" TargetMode="External"/><Relationship Id="rId3" Type="http://schemas.openxmlformats.org/officeDocument/2006/relationships/hyperlink" Target="https://learningenglish.voanews.com/a/lets-learn-english-lesson-39-its-unbelieveable/3598920.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8  ·  LESSON 5  ·  PERIOD 60</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1</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Reading: A film that changed something + Speaking: Recommend a film</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read a 230-word article and answer gist, detail and inference questions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guess new words from context</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give a 90-second recommendation of a film</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two follow-up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Contrast chain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Each student gives one 'Although…' sentence about a film.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Produce contrast sentences.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director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/dəˈrektə/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đạo diễn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director was only 26 years old.</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audience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/ˈɔːdiəns/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khán giả</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audience was silent.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award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/əˈwɔːd/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giải thưởng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film won three awards.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based on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/beɪst ɒn/   (adj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dựa trên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It's based on a true story.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message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/ˈmesɪdʒ/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thông điệp</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message of the film is simple.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succeed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/səkˈsiːd/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thành công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film succeeded because it felt 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be based on a true story</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win an award</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main message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made me think</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recommend it to anyone who…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Recommending with a relative clause: 'anyone who…'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Say WHO the film is for: I'd recommend it to anyone who likes documentaries.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Say who it is NOT for: It isn't for people who want a lot of action.</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'who' for people and 'which/that' for things.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This makes a recommendation much more useful than 'It's good'.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I'd recommend it to anyone who…</a:t>
                      </a:r>
                    </a:p>
                  </a:txBody>
                  <a:tcPr>
                    <a:solidFill>
                      <a:srgbClr val="E3F3EE"/>
                    </a:solidFill>
                  </a:tcPr>
                </a:tc>
                <a:tc>
                  <a:txBody>
                    <a:bodyPr/>
                    <a:lstStyle/>
                    <a:p>
                      <a:r>
                        <a:rPr sz="1600" b="0">
                          <a:solidFill>
                            <a:srgbClr val="1B1B1B"/>
                          </a:solidFill>
                          <a:latin typeface="Calibri"/>
                        </a:rPr>
                        <a:t>…who loves animals.</a:t>
                      </a:r>
                    </a:p>
                  </a:txBody>
                  <a:tcPr>
                    <a:solidFill>
                      <a:srgbClr val="E3F3EE"/>
                    </a:solidFill>
                  </a:tcPr>
                </a:tc>
              </a:tr>
              <a:tr h="566928">
                <a:tc>
                  <a:txBody>
                    <a:bodyPr/>
                    <a:lstStyle/>
                    <a:p>
                      <a:r>
                        <a:rPr sz="1600" b="0">
                          <a:solidFill>
                            <a:srgbClr val="1B1B1B"/>
                          </a:solidFill>
                          <a:latin typeface="Calibri"/>
                        </a:rPr>
                        <a:t>It's perfect for people who…</a:t>
                      </a:r>
                    </a:p>
                  </a:txBody>
                  <a:tcPr>
                    <a:solidFill>
                      <a:srgbClr val="FFFFFF"/>
                    </a:solidFill>
                  </a:tcPr>
                </a:tc>
                <a:tc>
                  <a:txBody>
                    <a:bodyPr/>
                    <a:lstStyle/>
                    <a:p>
                      <a:r>
                        <a:rPr sz="1600" b="0">
                          <a:solidFill>
                            <a:srgbClr val="1B1B1B"/>
                          </a:solidFill>
                          <a:latin typeface="Calibri"/>
                        </a:rPr>
                        <a:t>…who like slow, quiet films.</a:t>
                      </a:r>
                    </a:p>
                  </a:txBody>
                  <a:tcPr>
                    <a:solidFill>
                      <a:srgbClr val="FFFFFF"/>
                    </a:solidFill>
                  </a:tcPr>
                </a:tc>
              </a:tr>
              <a:tr h="566928">
                <a:tc>
                  <a:txBody>
                    <a:bodyPr/>
                    <a:lstStyle/>
                    <a:p>
                      <a:r>
                        <a:rPr sz="1600" b="0">
                          <a:solidFill>
                            <a:srgbClr val="1B1B1B"/>
                          </a:solidFill>
                          <a:latin typeface="Calibri"/>
                        </a:rPr>
                        <a:t>It isn't for people who…</a:t>
                      </a:r>
                    </a:p>
                  </a:txBody>
                  <a:tcPr>
                    <a:solidFill>
                      <a:srgbClr val="E3F3EE"/>
                    </a:solidFill>
                  </a:tcPr>
                </a:tc>
                <a:tc>
                  <a:txBody>
                    <a:bodyPr/>
                    <a:lstStyle/>
                    <a:p>
                      <a:r>
                        <a:rPr sz="1600" b="0">
                          <a:solidFill>
                            <a:srgbClr val="1B1B1B"/>
                          </a:solidFill>
                          <a:latin typeface="Calibri"/>
                        </a:rPr>
                        <a:t>…who want a happy ending.</a:t>
                      </a:r>
                    </a:p>
                  </a:txBody>
                  <a:tcPr>
                    <a:solidFill>
                      <a:srgbClr val="E3F3EE"/>
                    </a:solidFill>
                  </a:tcPr>
                </a:tc>
              </a:tr>
              <a:tr h="566928">
                <a:tc>
                  <a:txBody>
                    <a:bodyPr/>
                    <a:lstStyle/>
                    <a:p>
                      <a:r>
                        <a:rPr sz="1600" b="0">
                          <a:solidFill>
                            <a:srgbClr val="1B1B1B"/>
                          </a:solidFill>
                          <a:latin typeface="Calibri"/>
                        </a:rPr>
                        <a:t>It's a film which/that…</a:t>
                      </a:r>
                    </a:p>
                  </a:txBody>
                  <a:tcPr>
                    <a:solidFill>
                      <a:srgbClr val="FFFFFF"/>
                    </a:solidFill>
                  </a:tcPr>
                </a:tc>
                <a:tc>
                  <a:txBody>
                    <a:bodyPr/>
                    <a:lstStyle/>
                    <a:p>
                      <a:r>
                        <a:rPr sz="1600" b="0">
                          <a:solidFill>
                            <a:srgbClr val="1B1B1B"/>
                          </a:solidFill>
                          <a:latin typeface="Calibri"/>
                        </a:rPr>
                        <a:t>…that makes you think for days.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I'd recommend it to anyone who has a grandmother.</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a film that stays in your head for a week.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 recommend it to anyone who he likes films* — do not repeat the subject after 'who'.</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I'd recommend it to anyone who has a grandmother.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Pronunciation: Stress in long words; the /ə/ in 'director', 'audience'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di-REC-tor (oOo), 'AU-di-ence (Ooo), a-WARD (oO), 'MES-sage (Oo). The unstressed vowels are all the weak /ə/.</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di'rector</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'audience</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a'ward</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'message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director was young, but the audience was silent.</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film won an award because its message was true.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39: It’s Unbelievable!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a television advertisement for a hair product. American English — VOA’s professional actors (Anna, Pete, Marsha, Ms. Weaver…), slowed learner delivery. It lasts 3:27.</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3:27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a television advertisement for a hair product B. choosing between healthy food and junk food C. introducing the people in a family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Lesson 43: The Woods Are Alive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Quiz - Lesson 42: It's Unbelievable!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So, go online and order your Hair Be Good today!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I’ll pay with a credit card.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did you do to your hair?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It is _____ windy today.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Will it be _____ this weekend?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I am _____ of my untidy hair.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Pete: Are you _____ of your untidy hair?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Pete: And I have the _____ product for you -- Hair Be Good!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The film that filled a library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 2019, a young Vietnamese director made a documentary called 'Reading Room'. It cost almost nothing: one camera, two students and eleven months. The film follows a small village library in Ha Giang. At the beginning of the year, the library has 340 books and almost no visitors. The librarian, Mrs Chinh, is 61 and has worked there for nineteen years. Nobody has ever interviewed her before. For eleven months, the camera simply sits in the corner. Children come in from the rain. An old man reads the same newspaper every Tuesday. A girl called Sung, aged thirteen, comes every single day and reads everything, including the dictionary. The film has no music and no narrator. Although nothing 'happens', the audience at the first screening in Hanoi stayed for forty minutes afterwards to talk. Then something unexpected happened. People who saw the film started sending books. Within a year the 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Choose the best title.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How to make a cheap film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A quiet documentary that changed a village library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The history of Vietnamese cinema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did the film cost to make?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books did the library have at the start, and after a year?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Who is Mrs Chinh?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Who is Sung and what does she do now?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are the two things the film does NOT have?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U8.5-R3</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a word or phrase that means: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person who makes a film (paragraph 1)</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person who looks after a library (paragraph 2)</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first public showing (paragraph 4)</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not expected (paragraph 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U8.5-R4</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with your own ideas.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Why did the audience stay for forty minutes to talk?</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Why do you think people started sending books?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does the director's last sentence tell us about him?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Read the text again and write T or F.</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The film cost a lot of money.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Mrs Chinh has worked there for 19 years.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film has music and a narrator.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library had more than 9,000 books a year later.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director made the film to collect books.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recommendations.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I'd recommend it to anyone who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isn't for people who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It's perfect for anyone who ______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It's a film that ______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Close the book. Tell your partner the story of the film 'Reading Room' in five sentences.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Close the book. Tell your partner the story of the film 'Reading Room' in five sentences.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U8.5-S2 in your group.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U8.5-S2 in your group.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Make notes for a 90-second recommendation.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the film is (kind, length, what it's about)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Three reasons to watch it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warning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Who you recommend it to ('anyone who…')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Your mark out of ten 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Speak for 90 seconds in a group of four. Listeners ask one question each and decide whether they will watch it.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Useful: 'It's a … about…', 'The best thing is…', 'However,…', 'I'd recommend it to anyone who…'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Persuading someone to watch something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You really should see it.</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Trust me.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not what you expect.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Give it twenty minutes.</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If you don't like it, blame 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Your partner says 'I never watch documentaries.' Persuade them to watch one, with three arguments.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Turn your notes into six sentences.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U8.5-W1</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Turn your notes into six sentences.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Reading: gist → detail → inference</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Recommending with 'anyone who…'</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Balanced opinion with a warning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U8L5</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U8.5-H1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Reading — Answer in full sentences.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U8.5-H2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director, audience, award, based on, message, succeed.</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U8.5-H3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recommendation as a paragraph (90–100 words).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U8.5-H4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your 90-second recommendation three times.</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U8L5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