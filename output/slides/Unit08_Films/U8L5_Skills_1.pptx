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5  ·  PERIOD 60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film that changed something + Speaking: Recommend a film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recommendation of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Contrast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gives one 'Although…' sentence about a film.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contrast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director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/dəˈrektə/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đạo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director was only 26 years old.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was silent.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thưởng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won three awards.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based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/beɪst ɒn/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dựa trên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based on a true story.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the film is simple.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succeeded because it felt 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based on a true story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win an award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message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think</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Recommending with a relative clause: 'anyone who…'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the film is for: I'd recommend it to anyone who likes documentaries.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it is NOT for: It isn't for people who want a lot of action.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'who' for people and 'which/that' for things.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makes a recommendation much more useful than 'It's good'.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I'd recommend it to anyone who…</a:t>
                      </a:r>
                    </a:p>
                  </a:txBody>
                  <a:tcPr>
                    <a:solidFill>
                      <a:srgbClr val="E3F3EE"/>
                    </a:solidFill>
                  </a:tcPr>
                </a:tc>
                <a:tc>
                  <a:txBody>
                    <a:bodyPr/>
                    <a:lstStyle/>
                    <a:p>
                      <a:r>
                        <a:rPr sz="1600" b="0">
                          <a:solidFill>
                            <a:srgbClr val="1B1B1B"/>
                          </a:solidFill>
                          <a:latin typeface="Calibri"/>
                        </a:rPr>
                        <a:t>…who loves animals.</a:t>
                      </a:r>
                    </a:p>
                  </a:txBody>
                  <a:tcPr>
                    <a:solidFill>
                      <a:srgbClr val="E3F3EE"/>
                    </a:solidFill>
                  </a:tcPr>
                </a:tc>
              </a:tr>
              <a:tr h="566928">
                <a:tc>
                  <a:txBody>
                    <a:bodyPr/>
                    <a:lstStyle/>
                    <a:p>
                      <a:r>
                        <a:rPr sz="1600" b="0">
                          <a:solidFill>
                            <a:srgbClr val="1B1B1B"/>
                          </a:solidFill>
                          <a:latin typeface="Calibri"/>
                        </a:rPr>
                        <a:t>It's perfect for people who…</a:t>
                      </a:r>
                    </a:p>
                  </a:txBody>
                  <a:tcPr>
                    <a:solidFill>
                      <a:srgbClr val="FFFFFF"/>
                    </a:solidFill>
                  </a:tcPr>
                </a:tc>
                <a:tc>
                  <a:txBody>
                    <a:bodyPr/>
                    <a:lstStyle/>
                    <a:p>
                      <a:r>
                        <a:rPr sz="1600" b="0">
                          <a:solidFill>
                            <a:srgbClr val="1B1B1B"/>
                          </a:solidFill>
                          <a:latin typeface="Calibri"/>
                        </a:rPr>
                        <a:t>…who like slow, quiet films.</a:t>
                      </a:r>
                    </a:p>
                  </a:txBody>
                  <a:tcPr>
                    <a:solidFill>
                      <a:srgbClr val="FFFFFF"/>
                    </a:solidFill>
                  </a:tcPr>
                </a:tc>
              </a:tr>
              <a:tr h="566928">
                <a:tc>
                  <a:txBody>
                    <a:bodyPr/>
                    <a:lstStyle/>
                    <a:p>
                      <a:r>
                        <a:rPr sz="1600" b="0">
                          <a:solidFill>
                            <a:srgbClr val="1B1B1B"/>
                          </a:solidFill>
                          <a:latin typeface="Calibri"/>
                        </a:rPr>
                        <a:t>It isn't for people who…</a:t>
                      </a:r>
                    </a:p>
                  </a:txBody>
                  <a:tcPr>
                    <a:solidFill>
                      <a:srgbClr val="E3F3EE"/>
                    </a:solidFill>
                  </a:tcPr>
                </a:tc>
                <a:tc>
                  <a:txBody>
                    <a:bodyPr/>
                    <a:lstStyle/>
                    <a:p>
                      <a:r>
                        <a:rPr sz="1600" b="0">
                          <a:solidFill>
                            <a:srgbClr val="1B1B1B"/>
                          </a:solidFill>
                          <a:latin typeface="Calibri"/>
                        </a:rPr>
                        <a:t>…who want a happy ending.</a:t>
                      </a:r>
                    </a:p>
                  </a:txBody>
                  <a:tcPr>
                    <a:solidFill>
                      <a:srgbClr val="E3F3EE"/>
                    </a:solidFill>
                  </a:tcPr>
                </a:tc>
              </a:tr>
              <a:tr h="566928">
                <a:tc>
                  <a:txBody>
                    <a:bodyPr/>
                    <a:lstStyle/>
                    <a:p>
                      <a:r>
                        <a:rPr sz="1600" b="0">
                          <a:solidFill>
                            <a:srgbClr val="1B1B1B"/>
                          </a:solidFill>
                          <a:latin typeface="Calibri"/>
                        </a:rPr>
                        <a:t>It's a film which/that…</a:t>
                      </a:r>
                    </a:p>
                  </a:txBody>
                  <a:tcPr>
                    <a:solidFill>
                      <a:srgbClr val="FFFFFF"/>
                    </a:solidFill>
                  </a:tcPr>
                </a:tc>
                <a:tc>
                  <a:txBody>
                    <a:bodyPr/>
                    <a:lstStyle/>
                    <a:p>
                      <a:r>
                        <a:rPr sz="1600" b="0">
                          <a:solidFill>
                            <a:srgbClr val="1B1B1B"/>
                          </a:solidFill>
                          <a:latin typeface="Calibri"/>
                        </a:rPr>
                        <a:t>…that makes you think for days.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 has a grandmother.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film that stays in your head for a week.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recommend it to anyone who he likes films* — do not repeat the subject after 'who'.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recommend it to anyone who has a grandmother.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Stress in long words; the /ə/ in 'director',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di-REC-tor (oOo), 'AU-di-ence (Ooo), a-WARD (oO), 'MES-sage (Oo). The unstressed vowels are all the weak /ə/.</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'audience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a'ward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'message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director was young, but the audience was silent.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won an award because its message was true.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39: It’s Unbelievable!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television advertisement for a hair product. American English — VOA’s professional actors (Anna, Pete, Marsha, Ms. Weaver…), slowed learner delivery. It lasts 3:27.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3:27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choosing between healthy food and junk food C. introducing the people in a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43: The Woods Are Alive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42: It's Unbelievable!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go online and order your Hair Be Good today!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I’ll pay with a credit card.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you do to your hair?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_____ windy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Will it be _____ this weekend?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am _____ of my untidy hair.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Are you _____ of your untidy hair?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And I have the _____ product for you -- Hair Be Good!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that filled a library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2019, a young Vietnamese director made a documentary called 'Reading Room'. It cost almost nothing: one camera, two students and eleven months. The film follows a small village library in Ha Giang. At the beginning of the year, the library has 340 books and almost no visitors. The librarian, Mrs Chinh, is 61 and has worked there for nineteen years. Nobody has ever interviewed her before. For eleven months, the camera simply sits in the corner. Children come in from the rain. An old man reads the same newspaper every Tuesday. A girl called Sung, aged thirteen, comes every single day and reads everything, including the dictionary. The film has no music and no narrator. Although nothing 'happens', the audience at the first screening in Hanoi stayed for forty minutes afterwards to talk. Then something unexpected happened. People who saw the film started sending books. Within a year the 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make a cheap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quiet documentary that changed a village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Vietnamese cinema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film cost to make?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books did the library have at the start, and after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Mrs Chinh?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is Sung and what does she do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are the two things the film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person who makes a film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person who looks after a library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first public showing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not expected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did the audience stay for forty minutes to talk?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people started sending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the director's last sentence tell us about him?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cost a lot of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Mrs Chinh has worked there for 19 years.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film has music and a narrator.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library had more than 9,000 books a year later.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director made the film to collect books.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recommendations.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recommend it to anyone who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isn't for people who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perfect for anyone who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It's a film that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film 'Reading Room'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film 'Reading Room'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recommendation.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the film is (kind, length, what it's about)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reasons to watch it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warning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you recommend it to ('anyone who…')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mark out of ten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 and decide whether they will watch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'It's a … about…', 'The best thing is…', 'However,…', 'I'd recommend it to anyone who…'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someone to watch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really should see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Trust me.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what you expect.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it twenty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don't like it, blame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Your partner says 'I never watch documentaries.' Persuade them to watch one, with three arguments.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Recommending with 'anyone who…'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Balanced opinion with a warning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director, audience, award, based on, message, succeed.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recommendation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recommendation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