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8L6_1_fdd6be45-f44e-4a0d-8231-e9cc9e710f44_hq.mp3" TargetMode="External"/><Relationship Id="rId3" Type="http://schemas.openxmlformats.org/officeDocument/2006/relationships/hyperlink" Target="https://learningenglish.voanews.com/a/lets-learn-english-lesson-49-operation-spy/3763537.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8  ·  LESSON 6  ·  PERIOD 61</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film review programme + Writing: Write a review</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two reviews and complete a comparison table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the structure of a written film review</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film review of 90–110 words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review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One-sentence films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describe a famous film in one sentence without the title; class guesses.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Describe and guess.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review</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/rɪˈvjuː/   (n/v)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bài đánh giá</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read a review before I watch a film.</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star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/stɑː/   (n/v)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diễn viên chính; đóng vai chính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stars a young actress from Hue.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soundtrack</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/ˈsaʊndtræk/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nhạc phim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soundtrack is beautiful.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cast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/kɑːst/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dàn diễn viên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cast is mostly unknown actors.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overall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/ˌəʊvərˈɔːl/   (adv)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nhìn chung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Overall, it's worth watching.</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rate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/reɪt/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đánh giá, chấm điểm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I'd rate it eight out of 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stars…</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best thing about it is…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only problem is…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Overall,…</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rate it … out of 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Film review structure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1. FACTS: title, kind, length, director/stars, what it's about (2 sentences).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2. GOOD POINTS: two things you liked and why.</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3. WEAK POINTS: one or two things you didn't like ('However,…').</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 RECOMMENDATION: who it is for + a mark out of 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Facts</a:t>
                      </a:r>
                    </a:p>
                  </a:txBody>
                  <a:tcPr>
                    <a:solidFill>
                      <a:srgbClr val="E3F3EE"/>
                    </a:solidFill>
                  </a:tcPr>
                </a:tc>
                <a:tc>
                  <a:txBody>
                    <a:bodyPr/>
                    <a:lstStyle/>
                    <a:p>
                      <a:r>
                        <a:rPr sz="1600" b="0">
                          <a:solidFill>
                            <a:srgbClr val="1B1B1B"/>
                          </a:solidFill>
                          <a:latin typeface="Calibri"/>
                        </a:rPr>
                        <a:t>'The Yellow Kite' is a Vietnamese drama of 104 minutes.</a:t>
                      </a:r>
                    </a:p>
                  </a:txBody>
                  <a:tcPr>
                    <a:solidFill>
                      <a:srgbClr val="E3F3EE"/>
                    </a:solidFill>
                  </a:tcPr>
                </a:tc>
              </a:tr>
              <a:tr h="566928">
                <a:tc>
                  <a:txBody>
                    <a:bodyPr/>
                    <a:lstStyle/>
                    <a:p>
                      <a:r>
                        <a:rPr sz="1600" b="0">
                          <a:solidFill>
                            <a:srgbClr val="1B1B1B"/>
                          </a:solidFill>
                          <a:latin typeface="Calibri"/>
                        </a:rPr>
                        <a:t>Plot (present)</a:t>
                      </a:r>
                    </a:p>
                  </a:txBody>
                  <a:tcPr>
                    <a:solidFill>
                      <a:srgbClr val="FFFFFF"/>
                    </a:solidFill>
                  </a:tcPr>
                </a:tc>
                <a:tc>
                  <a:txBody>
                    <a:bodyPr/>
                    <a:lstStyle/>
                    <a:p>
                      <a:r>
                        <a:rPr sz="1600" b="0">
                          <a:solidFill>
                            <a:srgbClr val="1B1B1B"/>
                          </a:solidFill>
                          <a:latin typeface="Calibri"/>
                        </a:rPr>
                        <a:t>It's about a boy who makes a kite for his sick sister.</a:t>
                      </a:r>
                    </a:p>
                  </a:txBody>
                  <a:tcPr>
                    <a:solidFill>
                      <a:srgbClr val="FFFFFF"/>
                    </a:solidFill>
                  </a:tcPr>
                </a:tc>
              </a:tr>
              <a:tr h="566928">
                <a:tc>
                  <a:txBody>
                    <a:bodyPr/>
                    <a:lstStyle/>
                    <a:p>
                      <a:r>
                        <a:rPr sz="1600" b="0">
                          <a:solidFill>
                            <a:srgbClr val="1B1B1B"/>
                          </a:solidFill>
                          <a:latin typeface="Calibri"/>
                        </a:rPr>
                        <a:t>Good points</a:t>
                      </a:r>
                    </a:p>
                  </a:txBody>
                  <a:tcPr>
                    <a:solidFill>
                      <a:srgbClr val="E3F3EE"/>
                    </a:solidFill>
                  </a:tcPr>
                </a:tc>
                <a:tc>
                  <a:txBody>
                    <a:bodyPr/>
                    <a:lstStyle/>
                    <a:p>
                      <a:r>
                        <a:rPr sz="1600" b="0">
                          <a:solidFill>
                            <a:srgbClr val="1B1B1B"/>
                          </a:solidFill>
                          <a:latin typeface="Calibri"/>
                        </a:rPr>
                        <a:t>The photography is beautiful and the young actors are excellent.</a:t>
                      </a:r>
                    </a:p>
                  </a:txBody>
                  <a:tcPr>
                    <a:solidFill>
                      <a:srgbClr val="E3F3EE"/>
                    </a:solidFill>
                  </a:tcPr>
                </a:tc>
              </a:tr>
              <a:tr h="566928">
                <a:tc>
                  <a:txBody>
                    <a:bodyPr/>
                    <a:lstStyle/>
                    <a:p>
                      <a:r>
                        <a:rPr sz="1600" b="0">
                          <a:solidFill>
                            <a:srgbClr val="1B1B1B"/>
                          </a:solidFill>
                          <a:latin typeface="Calibri"/>
                        </a:rPr>
                        <a:t>Weak point</a:t>
                      </a:r>
                    </a:p>
                  </a:txBody>
                  <a:tcPr>
                    <a:solidFill>
                      <a:srgbClr val="FFFFFF"/>
                    </a:solidFill>
                  </a:tcPr>
                </a:tc>
                <a:tc>
                  <a:txBody>
                    <a:bodyPr/>
                    <a:lstStyle/>
                    <a:p>
                      <a:r>
                        <a:rPr sz="1600" b="0">
                          <a:solidFill>
                            <a:srgbClr val="1B1B1B"/>
                          </a:solidFill>
                          <a:latin typeface="Calibri"/>
                        </a:rPr>
                        <a:t>However, the film is very slow and the music is too loud.</a:t>
                      </a:r>
                    </a:p>
                  </a:txBody>
                  <a:tcPr>
                    <a:solidFill>
                      <a:srgbClr val="FFFFFF"/>
                    </a:solidFill>
                  </a:tcPr>
                </a:tc>
              </a:tr>
              <a:tr h="566928">
                <a:tc>
                  <a:txBody>
                    <a:bodyPr/>
                    <a:lstStyle/>
                    <a:p>
                      <a:r>
                        <a:rPr sz="1600" b="0">
                          <a:solidFill>
                            <a:srgbClr val="1B1B1B"/>
                          </a:solidFill>
                          <a:latin typeface="Calibri"/>
                        </a:rPr>
                        <a:t>Recommendation</a:t>
                      </a:r>
                    </a:p>
                  </a:txBody>
                  <a:tcPr>
                    <a:solidFill>
                      <a:srgbClr val="E3F3EE"/>
                    </a:solidFill>
                  </a:tcPr>
                </a:tc>
                <a:tc>
                  <a:txBody>
                    <a:bodyPr/>
                    <a:lstStyle/>
                    <a:p>
                      <a:r>
                        <a:rPr sz="1600" b="0">
                          <a:solidFill>
                            <a:srgbClr val="1B1B1B"/>
                          </a:solidFill>
                          <a:latin typeface="Calibri"/>
                        </a:rPr>
                        <a:t>I'd recommend it to anyone who likes quiet films. 8/10.</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stars two unknown young actors, and that is one of its strengths.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Overall, it isn't perfect, but it stays in your head for days.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retell the WHOLE story, including the ending. A review gives the situation, not the ending — never spoil it!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It stars two unknown young actors, and that is one of its strengths.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Reading a review aloud: grouping and stress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Group the words: 'The photography / is beautiful' — and stress the adjective. Pause before 'However' and 'Overall'.</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PHOtography / is BEAUtiful.</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HowEVer, / the film is VERy SLOW.</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OverALL, / it's worth WATCHing.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It's a Vietnamese drama / of a hundred and four minutes. / However, / it's slow.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49: Operation Spy!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 spy story and a museum about spies. American English — VOA’s professional actors (Anna, Pete, Marsha, Ms. Weaver…), slowed learner delivery. It lasts 3:24.</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3:24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road trip across the United States and a famous song B. a spy story and a museum about spies C. what one person eats for breakfast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Yes, spies sometimes sneak down air ducts.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Agent Peacock, I completed the mission!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Umm, Agent Flamingo, now answer this question: Do spies have to be in good shape?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Lesson 51: Have You Ever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Let's Learn English - Level 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It is no _____ that Washington, D.C.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Well, it should be a _____ because spying is secret.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There’s even a _____ museum!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The International _____ Museum has created an amazing collection of spy things!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The International Spy _____ is awesome!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review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YELLOW KITE' — review 'The Yellow Kite' is a Vietnamese drama of 104 minutes, directed by Tran Minh Hoang. It's about a ten-year-old boy who decides to make a kite for his sister, who is ill in hospital in the city. There are two excellent things about this film. First, the photography: the scenes of the rice fields at five in the morning are the most beautiful I have seen this year. Second, the acting. The boy says fewer than fifty words in the whole film, but you always know exactly what he is thinking. However, the film has one real problem: it is slow. The first twenty minutes contain almost no dialogue, and three people near me left before the middle. The music is also too loud in two important scenes. Overall, I'd recommend it to anyone who likes quiet, honest films — but not for a Saturday night with a big group of friends. I'd rate it eight out of ten. (152 words — your rev…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Which facts are in the first paragraph?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good points are given, and what are they?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word introduces the weak points?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two words introduce the recommendation?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Does the reviewer tell you the ending?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Number the parts 1–5.</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However, the second half is too long.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'Sky Racers' is an action film of 128 minutes.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Overall, I'd rate it six out of ten.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It's about a young pilot who wants to win a race.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___ The flying scenes are exciting and the soundtrack is excellent.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stars   based on   Overall   rate   However</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film is ______ a true story.</a:t>
            </a:r>
          </a:p>
        </p:txBody>
      </p:sp>
      <p:sp>
        <p:nvSpPr>
          <p:cNvPr id="13" name="TextBox 12"/>
          <p:cNvSpPr txBox="1"/>
          <p:nvPr/>
        </p:nvSpPr>
        <p:spPr>
          <a:xfrm>
            <a:off x="1005840" y="385876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______ a young actress from Hue.</a:t>
            </a:r>
          </a:p>
        </p:txBody>
      </p:sp>
      <p:sp>
        <p:nvSpPr>
          <p:cNvPr id="14" name="TextBox 13"/>
          <p:cNvSpPr txBox="1"/>
          <p:nvPr/>
        </p:nvSpPr>
        <p:spPr>
          <a:xfrm>
            <a:off x="1005840" y="451713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 the acting is excellent.</a:t>
            </a:r>
          </a:p>
        </p:txBody>
      </p:sp>
      <p:sp>
        <p:nvSpPr>
          <p:cNvPr id="15" name="TextBox 14"/>
          <p:cNvSpPr txBox="1"/>
          <p:nvPr/>
        </p:nvSpPr>
        <p:spPr>
          <a:xfrm>
            <a:off x="1005840" y="517550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it's worth watching.</a:t>
            </a:r>
          </a:p>
        </p:txBody>
      </p:sp>
      <p:sp>
        <p:nvSpPr>
          <p:cNvPr id="16" name="TextBox 15"/>
          <p:cNvSpPr txBox="1"/>
          <p:nvPr/>
        </p:nvSpPr>
        <p:spPr>
          <a:xfrm>
            <a:off x="1005840" y="583387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I'd ______ it seven out of ten.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U8.6-W1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U8.6-W1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rating role play with a partner.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rating role play with a partner.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your review in five sentences before writing it.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Facts → good points → weak point → recommendation.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Discussing and rating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would you give it?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rate it… out of ten.</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too generous!</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 I'd give it more.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agree on one thing:…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Two reviewers rate the same film differently and must agree on one mark out of ten.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Title, kind, length: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it's about (1 sentence, no ending!):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Good point 1 + why: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Good point 2 + why: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Weak point (However,…):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Recommendation (anyone who…) + mark: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film review of 90–110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Four parts. Present tense for the plot, past tense for your experience.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title, kind and length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plot in ONE sentence, no ending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good points with reasons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weak point with 'However'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recommendation with 'anyone who'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 mark out of ten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90–110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Review structure: facts – good points – weak point – recommendation</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for the plot, past for your experience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Never give away the ending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radio reviews.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review, star, soundtrack, cast, overall, rate.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review neatly after correction and hand it in for the class film magazine.</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review aloud twice, pausing before 'However' and 'Overall'.</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U8L6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