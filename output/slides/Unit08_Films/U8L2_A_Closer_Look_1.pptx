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2  ·  PERIOD 57</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Describing films: bored or boring?</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ten adjectives to describe films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explain the difference between -ed and -ing adjectives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pronounce /ɪ/ and /iː/ correctly in sentences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describe a film they have seen in three sentences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Film kind quiz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Describe a film in one sentence; students say the kind. Recycles Lesson 1.</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Identify the kinds.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exciting / excited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/ɪkˈsaɪtɪŋ/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hấp dẫn / phấn khích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was an exciting film. I was excited.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boring / bored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/ˈbɔːrɪŋ/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chán / thấy chán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film was boring, so I was bored.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frightening / frightened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/ˈfraɪtnɪŋ/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đáng sợ / sợ hãi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frightening scene made me frightened.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moving</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/ˈmuːvɪŋ/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cảm động</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ending was very moving.</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funny</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/ˈfʌni/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buồn cười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grandmother is the funniest character.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violent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/ˈvaɪələnt/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bạo lực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Some action films are too violent.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realistic</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/ˌrɪəˈlɪstɪk/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chân thực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village scenes are very realistic.</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scene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/siːn/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cảnh phim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favourite scene is at the market.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ending</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/ˈendɪŋ/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kết thúc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ending was a surprise.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plot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/plɒt/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cốt truyện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plot is simple but clever.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happy / sad ending</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best scene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made me cry / laugh.</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was too long.</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recommend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Grammar: -ed and -ing adjectives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-ING adjectives describe the THING (the film, the book, the lesson): The film was boring.</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-ED adjectives describe the PERSON's feeling: I was bored.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Think of it as: the thing gives the feeling; the person receives it.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Pairs: interesting/interested, exciting/excited, boring/bored, frightening/frightened, surprising/surprised, tiring/tired.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The thing (-ing)</a:t>
                      </a:r>
                    </a:p>
                  </a:txBody>
                  <a:tcPr>
                    <a:solidFill>
                      <a:srgbClr val="0E7C66"/>
                    </a:solidFill>
                  </a:tcPr>
                </a:tc>
                <a:tc>
                  <a:txBody>
                    <a:bodyPr/>
                    <a:lstStyle/>
                    <a:p>
                      <a:r>
                        <a:rPr sz="1600" b="1">
                          <a:solidFill>
                            <a:srgbClr val="FFFFFF"/>
                          </a:solidFill>
                          <a:latin typeface="Calibri"/>
                        </a:rPr>
                        <a:t>The person (-ed)</a:t>
                      </a:r>
                    </a:p>
                  </a:txBody>
                  <a:tcPr>
                    <a:solidFill>
                      <a:srgbClr val="0E7C66"/>
                    </a:solidFill>
                  </a:tcPr>
                </a:tc>
              </a:tr>
              <a:tr h="566928">
                <a:tc>
                  <a:txBody>
                    <a:bodyPr/>
                    <a:lstStyle/>
                    <a:p>
                      <a:r>
                        <a:rPr sz="1600" b="0">
                          <a:solidFill>
                            <a:srgbClr val="1B1B1B"/>
                          </a:solidFill>
                          <a:latin typeface="Calibri"/>
                        </a:rPr>
                        <a:t>The film was boring.</a:t>
                      </a:r>
                    </a:p>
                  </a:txBody>
                  <a:tcPr>
                    <a:solidFill>
                      <a:srgbClr val="E3F3EE"/>
                    </a:solidFill>
                  </a:tcPr>
                </a:tc>
                <a:tc>
                  <a:txBody>
                    <a:bodyPr/>
                    <a:lstStyle/>
                    <a:p>
                      <a:r>
                        <a:rPr sz="1600" b="0">
                          <a:solidFill>
                            <a:srgbClr val="1B1B1B"/>
                          </a:solidFill>
                          <a:latin typeface="Calibri"/>
                        </a:rPr>
                        <a:t>I was bored.</a:t>
                      </a:r>
                    </a:p>
                  </a:txBody>
                  <a:tcPr>
                    <a:solidFill>
                      <a:srgbClr val="E3F3EE"/>
                    </a:solidFill>
                  </a:tcPr>
                </a:tc>
              </a:tr>
              <a:tr h="566928">
                <a:tc>
                  <a:txBody>
                    <a:bodyPr/>
                    <a:lstStyle/>
                    <a:p>
                      <a:r>
                        <a:rPr sz="1600" b="0">
                          <a:solidFill>
                            <a:srgbClr val="1B1B1B"/>
                          </a:solidFill>
                          <a:latin typeface="Calibri"/>
                        </a:rPr>
                        <a:t>The story is exciting.</a:t>
                      </a:r>
                    </a:p>
                  </a:txBody>
                  <a:tcPr>
                    <a:solidFill>
                      <a:srgbClr val="FFFFFF"/>
                    </a:solidFill>
                  </a:tcPr>
                </a:tc>
                <a:tc>
                  <a:txBody>
                    <a:bodyPr/>
                    <a:lstStyle/>
                    <a:p>
                      <a:r>
                        <a:rPr sz="1600" b="0">
                          <a:solidFill>
                            <a:srgbClr val="1B1B1B"/>
                          </a:solidFill>
                          <a:latin typeface="Calibri"/>
                        </a:rPr>
                        <a:t>The children were excited.</a:t>
                      </a:r>
                    </a:p>
                  </a:txBody>
                  <a:tcPr>
                    <a:solidFill>
                      <a:srgbClr val="FFFFFF"/>
                    </a:solidFill>
                  </a:tcPr>
                </a:tc>
              </a:tr>
              <a:tr h="566928">
                <a:tc>
                  <a:txBody>
                    <a:bodyPr/>
                    <a:lstStyle/>
                    <a:p>
                      <a:r>
                        <a:rPr sz="1600" b="0">
                          <a:solidFill>
                            <a:srgbClr val="1B1B1B"/>
                          </a:solidFill>
                          <a:latin typeface="Calibri"/>
                        </a:rPr>
                        <a:t>That scene is frightening.</a:t>
                      </a:r>
                    </a:p>
                  </a:txBody>
                  <a:tcPr>
                    <a:solidFill>
                      <a:srgbClr val="E3F3EE"/>
                    </a:solidFill>
                  </a:tcPr>
                </a:tc>
                <a:tc>
                  <a:txBody>
                    <a:bodyPr/>
                    <a:lstStyle/>
                    <a:p>
                      <a:r>
                        <a:rPr sz="1600" b="0">
                          <a:solidFill>
                            <a:srgbClr val="1B1B1B"/>
                          </a:solidFill>
                          <a:latin typeface="Calibri"/>
                        </a:rPr>
                        <a:t>My sister was frightened.</a:t>
                      </a:r>
                    </a:p>
                  </a:txBody>
                  <a:tcPr>
                    <a:solidFill>
                      <a:srgbClr val="E3F3EE"/>
                    </a:solidFill>
                  </a:tcPr>
                </a:tc>
              </a:tr>
              <a:tr h="566928">
                <a:tc>
                  <a:txBody>
                    <a:bodyPr/>
                    <a:lstStyle/>
                    <a:p>
                      <a:r>
                        <a:rPr sz="1600" b="0">
                          <a:solidFill>
                            <a:srgbClr val="1B1B1B"/>
                          </a:solidFill>
                          <a:latin typeface="Calibri"/>
                        </a:rPr>
                        <a:t>English is interesting.</a:t>
                      </a:r>
                    </a:p>
                  </a:txBody>
                  <a:tcPr>
                    <a:solidFill>
                      <a:srgbClr val="FFFFFF"/>
                    </a:solidFill>
                  </a:tcPr>
                </a:tc>
                <a:tc>
                  <a:txBody>
                    <a:bodyPr/>
                    <a:lstStyle/>
                    <a:p>
                      <a:r>
                        <a:rPr sz="1600" b="0">
                          <a:solidFill>
                            <a:srgbClr val="1B1B1B"/>
                          </a:solidFill>
                          <a:latin typeface="Calibri"/>
                        </a:rPr>
                        <a:t>I am interested in English.</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documentary was so interesting that nobody was bored.</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was a frightening film — I was frightened for two hours!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 am very boring* means 'I am a boring person'! The correct sentence is 'I am bored.' This mistake is extremely common and can be embarrassing.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documentary was so interesting that nobody was bored.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/ɪ/ and /iː/ in longer words; stress in -ing adjectives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-ing adjectives the stress stays where it is in the verb: inTEResting, exCITing, FRIGHTening. Watch /ɪ/ vs /iː/ in 'scene' /siːn/ and 'film' /fɪlm/.</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in'teresting (Oooo → IN-tres-ting)</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ex'citing (oOo)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'frightening (Ooo)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scene /siːn/ (long) – film /fɪlm/ (short)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That scene in the film was really exciting.</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This interesting documentary is about three ships and a sheep.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Adjectives and adverbs of degree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describing things with adjectives. Two speakers, scripted dialogue, native English. It lasts 2:19.</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2:19 · Two speakers, scripted dialogue, native English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people do every day and at work B. describing things with adjectives C. what people can and cannot 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Is it light? It doesn’t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would, but the bus is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Oh, I thought you liked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Great! It has a really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don’t you take the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How is your _____ job?</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Woman: I went to the _____ mall.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Man: Oh, that's _____ to know!</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Woman: Yeah, that is pretty _____ for a computer.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Three short film reviews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'The Blue Boat' (cartoon, 88 minutes). A beautiful, moving story about a boy and his grandfather. The animation is simple but the ending made half the cinema cry. Perfect for families. 9/10 'City Nights' (action, 132 minutes). Fast, loud and quite violent. The car chase through the old quarter is exciting, but the plot is confusing and the characters are flat. Watch it for the pictures, not the story. 5/10 'Our Village' (documentary, 74 minutes). Three families, one year, no music and no narrator. Some people will find it boring; I found it the most honest film of the year. 8/10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information.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Film | Kind | Length | Mark | One positive | One negative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The Blue Boat | ___ | ___ | ___ | ___ |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City Nights | ___ | ___ | ___ | ___ |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Our Village | ___ | ___ | ___ | ___ | 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six adjectives describing films in the reviews.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2. ______ 3. ______ 4. ______ 5. ______ 6. ______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moving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violent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realistic</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confusing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funny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letter.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with a lot of fighting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it makes you laugh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it makes you feel emotion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hard to understand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it looks like real life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 (thing → -ing) or P (person → -ed).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film was ______ . (interest)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am ______ in films. (interest)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lesson was ______ . (tire)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students were ______ . (tire)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Her story is ______ . (amaze)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am very boring in this lesson.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film was frightened.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 is interesting in cartoons.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We were very exciting when the match started.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That documentary is very interested.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U8.2-S2 with two partners.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U8.2-S2 with two partners.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Say a sentence about each item using both forms.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 maths test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horror film</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 long bus journey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 football match</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 English lesson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about a film in three sentences: what it is, what you thought, and one adjective for you and one for the film.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Model: 'It's an action film about a police officer. It was exciting, and I was excited from the first minute.'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Agreeing and disagreeing about opinions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thought it was…</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Really? I found it…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true, but…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completely agree.</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sure about that.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recommend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Two students saw the same film and disagree. Each gives two reasons; they must find one thing they agree about.</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correct adjective.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film was very ______ . (bore)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was ______ after two hours. (bore)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That scene is ______ . (frighten)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little sister was ______ . (frighten)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ending was ______ . (surprise)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U8.2-W1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correct adjective.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We were all ______ . (surprise)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10 adjectives for films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-ing (the thing) vs -ed (the person)</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/ɪ/ vs /iː/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U8L2</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U8.2-H1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moving, violent, realistic, plot, scene, ending.</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U8.2-H2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the -ed or -ing adjective.</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U8.2-H3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5 sentences about a film you have seen, using five different adjectives.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U8.2-H4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words five times: interesting (IN-tres-ting), exciting, frightening, scene, film.</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U8L2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