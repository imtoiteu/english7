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8L3_1_A2-13-Connectors.mp3" TargetMode="External"/><Relationship Id="rId3" Type="http://schemas.openxmlformats.org/officeDocument/2006/relationships/hyperlink" Target="https://elllo.org/book/A2/A2-13-Connectors.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8  ·  LESSON 3  ·  PERIOD 58</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Although, but and however</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join two contrasting ideas with although, but and however</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punctuate sentences with these three connectors correctly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give a balanced opinion about a film</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four contrast sentences about films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-ed or -ing?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Quick-fire: teacher gives a sentence with a gap; students shout the correct adjective. Recycles Lesson 2.</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-ed / -ing adjectives.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although</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/ɔːlˈðəʊ/   (conj)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mặc dù</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Although the film was long, I loved it.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however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/haʊˈevə/   (adv)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tuy nhiên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plot is weak. However, the acting is great.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recommend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/ˌrekəˈmend/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giới thiệu, khuyên xem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I'd recommend it to everybody.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worth watching</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/wɜːθ ˈwɒtʃɪŋ/   (adj phr)</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đáng xem</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It's worth watching twice.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disappointing</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/ˌdɪsəˈpɔɪntɪŋ/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gây thất vọng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ending was disappointing.</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acting</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/ˈæktɪŋ/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diễn xuất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acting is excellent.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worth watching</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recommend it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not perfect, but…</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the whole,…</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spite of…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Contrast: although / but / however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ALTHOUGH + clause: Although the film was long, I enjoyed it. (Or: I enjoyed the film although it was long.)</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BUT joins two clauses inside one sentence: The film was long, but I enjoyed it.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HOWEVER starts a NEW sentence and is followed by a comma: The film was long. However, I enjoyed it.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All three show CONTRAST — the second idea is a surprise after the first.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graphicFrame>
        <p:nvGraphicFramePr>
          <p:cNvPr id="8" name="Table 7"/>
          <p:cNvGraphicFramePr>
            <a:graphicFrameLocks noGrp="1"/>
          </p:cNvGraphicFramePr>
          <p:nvPr/>
        </p:nvGraphicFramePr>
        <p:xfrm>
          <a:off x="548640" y="1463040"/>
          <a:ext cx="11064240" cy="2267712"/>
        </p:xfrm>
        <a:graphic>
          <a:graphicData uri="http://schemas.openxmlformats.org/drawingml/2006/table">
            <a:tbl>
              <a:tblPr firstRow="1" bandRow="1">
                <a:tableStyleId>{5C22544A-7EE6-4342-B048-85BDC9FD1C3A}</a:tableStyleId>
              </a:tblPr>
              <a:tblGrid>
                <a:gridCol w="2766060"/>
                <a:gridCol w="2766060"/>
                <a:gridCol w="2766060"/>
                <a:gridCol w="2766060"/>
              </a:tblGrid>
              <a:tr h="566928">
                <a:tc>
                  <a:txBody>
                    <a:bodyPr/>
                    <a:lstStyle/>
                    <a:p>
                      <a:r>
                        <a:rPr sz="1800" b="1">
                          <a:solidFill>
                            <a:srgbClr val="FFFFFF"/>
                          </a:solidFill>
                          <a:latin typeface="Calibri"/>
                        </a:rPr>
                        <a:t>Connector</a:t>
                      </a:r>
                    </a:p>
                  </a:txBody>
                  <a:tcPr>
                    <a:solidFill>
                      <a:srgbClr val="0E7C66"/>
                    </a:solidFill>
                  </a:tcPr>
                </a:tc>
                <a:tc>
                  <a:txBody>
                    <a:bodyPr/>
                    <a:lstStyle/>
                    <a:p>
                      <a:r>
                        <a:rPr sz="1800" b="1">
                          <a:solidFill>
                            <a:srgbClr val="FFFFFF"/>
                          </a:solidFill>
                          <a:latin typeface="Calibri"/>
                        </a:rPr>
                        <a:t>Position</a:t>
                      </a:r>
                    </a:p>
                  </a:txBody>
                  <a:tcPr>
                    <a:solidFill>
                      <a:srgbClr val="0E7C66"/>
                    </a:solidFill>
                  </a:tcPr>
                </a:tc>
                <a:tc>
                  <a:txBody>
                    <a:bodyPr/>
                    <a:lstStyle/>
                    <a:p>
                      <a:r>
                        <a:rPr sz="1800" b="1">
                          <a:solidFill>
                            <a:srgbClr val="FFFFFF"/>
                          </a:solidFill>
                          <a:latin typeface="Calibri"/>
                        </a:rPr>
                        <a:t>Punctuation</a:t>
                      </a:r>
                    </a:p>
                  </a:txBody>
                  <a:tcPr>
                    <a:solidFill>
                      <a:srgbClr val="0E7C66"/>
                    </a:solidFill>
                  </a:tcPr>
                </a:tc>
                <a:tc>
                  <a:txBody>
                    <a:bodyPr/>
                    <a:lstStyle/>
                    <a:p>
                      <a:r>
                        <a:rPr sz="1800" b="1">
                          <a:solidFill>
                            <a:srgbClr val="FFFFFF"/>
                          </a:solidFill>
                          <a:latin typeface="Calibri"/>
                        </a:rPr>
                        <a:t>Example</a:t>
                      </a:r>
                    </a:p>
                  </a:txBody>
                  <a:tcPr>
                    <a:solidFill>
                      <a:srgbClr val="0E7C66"/>
                    </a:solidFill>
                  </a:tcPr>
                </a:tc>
              </a:tr>
              <a:tr h="566928">
                <a:tc>
                  <a:txBody>
                    <a:bodyPr/>
                    <a:lstStyle/>
                    <a:p>
                      <a:r>
                        <a:rPr sz="1800" b="0">
                          <a:solidFill>
                            <a:srgbClr val="1B1B1B"/>
                          </a:solidFill>
                          <a:latin typeface="Calibri"/>
                        </a:rPr>
                        <a:t>although</a:t>
                      </a:r>
                    </a:p>
                  </a:txBody>
                  <a:tcPr>
                    <a:solidFill>
                      <a:srgbClr val="E3F3EE"/>
                    </a:solidFill>
                  </a:tcPr>
                </a:tc>
                <a:tc>
                  <a:txBody>
                    <a:bodyPr/>
                    <a:lstStyle/>
                    <a:p>
                      <a:r>
                        <a:rPr sz="1800" b="0">
                          <a:solidFill>
                            <a:srgbClr val="1B1B1B"/>
                          </a:solidFill>
                          <a:latin typeface="Calibri"/>
                        </a:rPr>
                        <a:t>start of one clause</a:t>
                      </a:r>
                    </a:p>
                  </a:txBody>
                  <a:tcPr>
                    <a:solidFill>
                      <a:srgbClr val="E3F3EE"/>
                    </a:solidFill>
                  </a:tcPr>
                </a:tc>
                <a:tc>
                  <a:txBody>
                    <a:bodyPr/>
                    <a:lstStyle/>
                    <a:p>
                      <a:r>
                        <a:rPr sz="1800" b="0">
                          <a:solidFill>
                            <a:srgbClr val="1B1B1B"/>
                          </a:solidFill>
                          <a:latin typeface="Calibri"/>
                        </a:rPr>
                        <a:t>comma if it comes first</a:t>
                      </a:r>
                    </a:p>
                  </a:txBody>
                  <a:tcPr>
                    <a:solidFill>
                      <a:srgbClr val="E3F3EE"/>
                    </a:solidFill>
                  </a:tcPr>
                </a:tc>
                <a:tc>
                  <a:txBody>
                    <a:bodyPr/>
                    <a:lstStyle/>
                    <a:p>
                      <a:r>
                        <a:rPr sz="1800" b="0">
                          <a:solidFill>
                            <a:srgbClr val="1B1B1B"/>
                          </a:solidFill>
                          <a:latin typeface="Calibri"/>
                        </a:rPr>
                        <a:t>Although it was long, I enjoyed it.</a:t>
                      </a:r>
                    </a:p>
                  </a:txBody>
                  <a:tcPr>
                    <a:solidFill>
                      <a:srgbClr val="E3F3EE"/>
                    </a:solidFill>
                  </a:tcPr>
                </a:tc>
              </a:tr>
              <a:tr h="566928">
                <a:tc>
                  <a:txBody>
                    <a:bodyPr/>
                    <a:lstStyle/>
                    <a:p>
                      <a:r>
                        <a:rPr sz="1800" b="0">
                          <a:solidFill>
                            <a:srgbClr val="1B1B1B"/>
                          </a:solidFill>
                          <a:latin typeface="Calibri"/>
                        </a:rPr>
                        <a:t>but</a:t>
                      </a:r>
                    </a:p>
                  </a:txBody>
                  <a:tcPr>
                    <a:solidFill>
                      <a:srgbClr val="FFFFFF"/>
                    </a:solidFill>
                  </a:tcPr>
                </a:tc>
                <a:tc>
                  <a:txBody>
                    <a:bodyPr/>
                    <a:lstStyle/>
                    <a:p>
                      <a:r>
                        <a:rPr sz="1800" b="0">
                          <a:solidFill>
                            <a:srgbClr val="1B1B1B"/>
                          </a:solidFill>
                          <a:latin typeface="Calibri"/>
                        </a:rPr>
                        <a:t>between two clauses</a:t>
                      </a:r>
                    </a:p>
                  </a:txBody>
                  <a:tcPr>
                    <a:solidFill>
                      <a:srgbClr val="FFFFFF"/>
                    </a:solidFill>
                  </a:tcPr>
                </a:tc>
                <a:tc>
                  <a:txBody>
                    <a:bodyPr/>
                    <a:lstStyle/>
                    <a:p>
                      <a:r>
                        <a:rPr sz="1800" b="0">
                          <a:solidFill>
                            <a:srgbClr val="1B1B1B"/>
                          </a:solidFill>
                          <a:latin typeface="Calibri"/>
                        </a:rPr>
                        <a:t>comma before 'but'</a:t>
                      </a:r>
                    </a:p>
                  </a:txBody>
                  <a:tcPr>
                    <a:solidFill>
                      <a:srgbClr val="FFFFFF"/>
                    </a:solidFill>
                  </a:tcPr>
                </a:tc>
                <a:tc>
                  <a:txBody>
                    <a:bodyPr/>
                    <a:lstStyle/>
                    <a:p>
                      <a:r>
                        <a:rPr sz="1800" b="0">
                          <a:solidFill>
                            <a:srgbClr val="1B1B1B"/>
                          </a:solidFill>
                          <a:latin typeface="Calibri"/>
                        </a:rPr>
                        <a:t>It was long, but I enjoyed it.</a:t>
                      </a:r>
                    </a:p>
                  </a:txBody>
                  <a:tcPr>
                    <a:solidFill>
                      <a:srgbClr val="FFFFFF"/>
                    </a:solidFill>
                  </a:tcPr>
                </a:tc>
              </a:tr>
              <a:tr h="566928">
                <a:tc>
                  <a:txBody>
                    <a:bodyPr/>
                    <a:lstStyle/>
                    <a:p>
                      <a:r>
                        <a:rPr sz="1800" b="0">
                          <a:solidFill>
                            <a:srgbClr val="1B1B1B"/>
                          </a:solidFill>
                          <a:latin typeface="Calibri"/>
                        </a:rPr>
                        <a:t>however</a:t>
                      </a:r>
                    </a:p>
                  </a:txBody>
                  <a:tcPr>
                    <a:solidFill>
                      <a:srgbClr val="E3F3EE"/>
                    </a:solidFill>
                  </a:tcPr>
                </a:tc>
                <a:tc>
                  <a:txBody>
                    <a:bodyPr/>
                    <a:lstStyle/>
                    <a:p>
                      <a:r>
                        <a:rPr sz="1800" b="0">
                          <a:solidFill>
                            <a:srgbClr val="1B1B1B"/>
                          </a:solidFill>
                          <a:latin typeface="Calibri"/>
                        </a:rPr>
                        <a:t>start of a new sentence</a:t>
                      </a:r>
                    </a:p>
                  </a:txBody>
                  <a:tcPr>
                    <a:solidFill>
                      <a:srgbClr val="E3F3EE"/>
                    </a:solidFill>
                  </a:tcPr>
                </a:tc>
                <a:tc>
                  <a:txBody>
                    <a:bodyPr/>
                    <a:lstStyle/>
                    <a:p>
                      <a:r>
                        <a:rPr sz="1800" b="0">
                          <a:solidFill>
                            <a:srgbClr val="1B1B1B"/>
                          </a:solidFill>
                          <a:latin typeface="Calibri"/>
                        </a:rPr>
                        <a:t>full stop before, comma after</a:t>
                      </a:r>
                    </a:p>
                  </a:txBody>
                  <a:tcPr>
                    <a:solidFill>
                      <a:srgbClr val="E3F3EE"/>
                    </a:solidFill>
                  </a:tcPr>
                </a:tc>
                <a:tc>
                  <a:txBody>
                    <a:bodyPr/>
                    <a:lstStyle/>
                    <a:p>
                      <a:r>
                        <a:rPr sz="1800" b="0">
                          <a:solidFill>
                            <a:srgbClr val="1B1B1B"/>
                          </a:solidFill>
                          <a:latin typeface="Calibri"/>
                        </a:rPr>
                        <a:t>It was long. However, I enjoyed it.</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Although the plot is simple, the acting is excellent.</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plot is simple, but the acting is excellent.</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plot is simple. However, the acting is excellent.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Two big errors: (1) *Although … but …* in one sentence (Vietnamese 'mặc dù… nhưng…' uses both!). Choose ONE. (2) *However* used like 'but' inside a sentence without a full stop.</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Although the plot is simple, the acting is excellent.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Pausing and stress with connectors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There is a small pause after the 'although' clause and after 'However,'. The stress falls on the two contrasting ideas.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Although it was LONG, / I enJOYED it.</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was LONG, / but I enJOYED it.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was LONG. / However, / I enJOYED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Although the plot is simple, the acting is excellent.</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film is slow. However, the ending is worth waiting for.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Connectors: but, so, because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joining ideas with but, so and because. Two speakers, scripted dialogue, native English. It lasts 3:22.</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Sound Grammar · 3:22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when one person starts and finishes the day B. joining ideas with but, so and because C. arrangements people have already made for later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No, we went early, so the restaurant was not full.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It’s pretty good. It’s usually sunny, so you can be outdoors most of the year.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fall is really pretty, actually. The weather is cool, and the trees change colors, so it is really beautiful.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your favorite class?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spring is not much better. It rains a lot, and it is really windy.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It snows a lot in winter, _____ it gets really cold.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Woman: There is lots of ice on the streets, _____ it is hard to drive.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Summer is not too bad, _____ it gets really hot, and we have lots of insects.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Man: They are sometimes, _____ sometimes it rains really hard, and we have lighting and flooding, so it’s a little dangerous.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Man: My favorite class is my Spanish class _____ I love learning languages, and the teacher is really funny.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A balanced review</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Yellow Kite' (drama, 104 minutes) Although the story is extremely simple — a boy makes a kite for his sick sister — this is one of the most beautiful Vietnamese films of the year. The photography is the star. The scenes of the rice fields in the early morning are the best I have seen. The two young actors are also excellent; the boy says fewer than fifty words in the whole film, but you always know what he is thinking. However, the film is slow. Very slow. The first twenty minutes contain almost no dialogue, and several people in the cinema left before the middle. The music is also too loud in two important scenes. On the whole, it is worth watching, although it is not a film for a Saturday night with friends. Take somebody who is patient. 8/10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story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does the reviewer praise most?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Give two criticisms.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Who should you take with you?</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Find the three contrast connectors in the review.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the ticket was expensive, the film was worth it.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film was long, ______ I didn't feel bored.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story is weak. ______ , the acting is excellent.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I don't usually like cartoons, I loved this one.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It's a good film, ______ it's too violent for children.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Add the correct punctuation.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Although it was late we stayed to the end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film is slow however the ending is wonderful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liked the music but I didn't like the plot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Although the film was long but I enjoyed it.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plot is simple, however the acting is good.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Although it is expensive. It is worth watching.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But although I like cartoons, I don't like this one.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film was boring but however I stayed.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film club role play; each student gives one good and one weak point.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film club role play; each student gives one good and one weak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Give a balanced opinion about each thing using although, but or however.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your favourite film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homework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your school canteen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living in a city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learning English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 want to watch different films. Give two balanced arguments each, then agree.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'Although it's…, it's…', 'I know it's…, but…', 'That's true. However,…'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Giving a fair, balanced opinion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not perfect, but…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the whole,…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recommend it, although…</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best thing is…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only problem 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Film club meeting: each student recommends one film with one good point and one weak point. The club chooses one to watch.</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Join each pair three ways: with although, but and however.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film was long. / I enjoyed it.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plot is simple. / The acting is excellent.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is expensive. / It is worth watching.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although + clause (comma if first)</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but between two clauses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However. + comma at the start of a new sentence</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Never use although and but together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U8L3</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although, but or however.</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Join each pair with the word in brackets.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balanced sentences about films, school or your town.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 three sentences five times with a clear pause: 'Although it was long, / I enjoyed it.' etc.</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U8L3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