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3L6_1_a087a1f8-4939-4f40-8612-e99605e88caf_hq.mp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3  ·  LESSON 6  ·  PERIOD 22</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A clean-up day + Writing: A diary entry</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 report and complete a table of facts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the layout and language of a diary entry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 diary entry of 80–100 words about a past day</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writing with a checklist and correct a partner's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Yesterday chain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'Yesterday I…' chain round the class; each student repeats the previous sentence in the third person, then adds their own.</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Repeat and add past sentences.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diary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/ˈdaɪəri/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nhật ký</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write in my diary every evening.</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exhausted</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/ɪɡˈzɔːstɪd/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kiệt sức</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were exhausted but happy.</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worth it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/wɜːθ ɪt/   (adj phr)</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đáng công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was hard work, but it was worth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succeed</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/səkˈsiːd/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thành công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succeeded in cleaning the whole beach.</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organise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/ˈɔːɡənaɪz/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tổ chức</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teacher organised the trip.</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altogether</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/ˌɔːltəˈɡeðə/   (adv)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tổng cộng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Altogether we filled 42 bags.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I'll never forget…</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best part was…</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was tiring, but…</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started at… and finished at…</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Altogether we…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Diary entry: layout and language (writing focus)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Start with the DATE (and sometimes the weather / your mood).</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Write in the PAST SIMPLE — a diary is about a finished day.</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'I' and 'we'; a diary is personal and can be informal.</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Order the events with sequence words, and finish with your feeling.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Date</a:t>
                      </a:r>
                    </a:p>
                  </a:txBody>
                  <a:tcPr>
                    <a:solidFill>
                      <a:srgbClr val="E3F3EE"/>
                    </a:solidFill>
                  </a:tcPr>
                </a:tc>
                <a:tc>
                  <a:txBody>
                    <a:bodyPr/>
                    <a:lstStyle/>
                    <a:p>
                      <a:r>
                        <a:rPr sz="1600" b="0">
                          <a:solidFill>
                            <a:srgbClr val="1B1B1B"/>
                          </a:solidFill>
                          <a:latin typeface="Calibri"/>
                        </a:rPr>
                        <a:t>Sunday, 12 November</a:t>
                      </a:r>
                    </a:p>
                  </a:txBody>
                  <a:tcPr>
                    <a:solidFill>
                      <a:srgbClr val="E3F3EE"/>
                    </a:solidFill>
                  </a:tcPr>
                </a:tc>
              </a:tr>
              <a:tr h="566928">
                <a:tc>
                  <a:txBody>
                    <a:bodyPr/>
                    <a:lstStyle/>
                    <a:p>
                      <a:r>
                        <a:rPr sz="1600" b="0">
                          <a:solidFill>
                            <a:srgbClr val="1B1B1B"/>
                          </a:solidFill>
                          <a:latin typeface="Calibri"/>
                        </a:rPr>
                        <a:t>Opening</a:t>
                      </a:r>
                    </a:p>
                  </a:txBody>
                  <a:tcPr>
                    <a:solidFill>
                      <a:srgbClr val="FFFFFF"/>
                    </a:solidFill>
                  </a:tcPr>
                </a:tc>
                <a:tc>
                  <a:txBody>
                    <a:bodyPr/>
                    <a:lstStyle/>
                    <a:p>
                      <a:r>
                        <a:rPr sz="1600" b="0">
                          <a:solidFill>
                            <a:srgbClr val="1B1B1B"/>
                          </a:solidFill>
                          <a:latin typeface="Calibri"/>
                        </a:rPr>
                        <a:t>Today was one of the busiest days of the year.</a:t>
                      </a:r>
                    </a:p>
                  </a:txBody>
                  <a:tcPr>
                    <a:solidFill>
                      <a:srgbClr val="FFFFFF"/>
                    </a:solidFill>
                  </a:tcPr>
                </a:tc>
              </a:tr>
              <a:tr h="566928">
                <a:tc>
                  <a:txBody>
                    <a:bodyPr/>
                    <a:lstStyle/>
                    <a:p>
                      <a:r>
                        <a:rPr sz="1600" b="0">
                          <a:solidFill>
                            <a:srgbClr val="1B1B1B"/>
                          </a:solidFill>
                          <a:latin typeface="Calibri"/>
                        </a:rPr>
                        <a:t>Events (past simple + sequence)</a:t>
                      </a:r>
                    </a:p>
                  </a:txBody>
                  <a:tcPr>
                    <a:solidFill>
                      <a:srgbClr val="E3F3EE"/>
                    </a:solidFill>
                  </a:tcPr>
                </a:tc>
                <a:tc>
                  <a:txBody>
                    <a:bodyPr/>
                    <a:lstStyle/>
                    <a:p>
                      <a:r>
                        <a:rPr sz="1600" b="0">
                          <a:solidFill>
                            <a:srgbClr val="1B1B1B"/>
                          </a:solidFill>
                          <a:latin typeface="Calibri"/>
                        </a:rPr>
                        <a:t>First, we met at school at seven. Then…</a:t>
                      </a:r>
                    </a:p>
                  </a:txBody>
                  <a:tcPr>
                    <a:solidFill>
                      <a:srgbClr val="E3F3EE"/>
                    </a:solidFill>
                  </a:tcPr>
                </a:tc>
              </a:tr>
              <a:tr h="566928">
                <a:tc>
                  <a:txBody>
                    <a:bodyPr/>
                    <a:lstStyle/>
                    <a:p>
                      <a:r>
                        <a:rPr sz="1600" b="0">
                          <a:solidFill>
                            <a:srgbClr val="1B1B1B"/>
                          </a:solidFill>
                          <a:latin typeface="Calibri"/>
                        </a:rPr>
                        <a:t>Details / numbers</a:t>
                      </a:r>
                    </a:p>
                  </a:txBody>
                  <a:tcPr>
                    <a:solidFill>
                      <a:srgbClr val="FFFFFF"/>
                    </a:solidFill>
                  </a:tcPr>
                </a:tc>
                <a:tc>
                  <a:txBody>
                    <a:bodyPr/>
                    <a:lstStyle/>
                    <a:p>
                      <a:r>
                        <a:rPr sz="1600" b="0">
                          <a:solidFill>
                            <a:srgbClr val="1B1B1B"/>
                          </a:solidFill>
                          <a:latin typeface="Calibri"/>
                        </a:rPr>
                        <a:t>Altogether we collected 42 bags of litter.</a:t>
                      </a:r>
                    </a:p>
                  </a:txBody>
                  <a:tcPr>
                    <a:solidFill>
                      <a:srgbClr val="FFFFFF"/>
                    </a:solidFill>
                  </a:tcPr>
                </a:tc>
              </a:tr>
              <a:tr h="566928">
                <a:tc>
                  <a:txBody>
                    <a:bodyPr/>
                    <a:lstStyle/>
                    <a:p>
                      <a:r>
                        <a:rPr sz="1600" b="0">
                          <a:solidFill>
                            <a:srgbClr val="1B1B1B"/>
                          </a:solidFill>
                          <a:latin typeface="Calibri"/>
                        </a:rPr>
                        <a:t>Feeling / closing</a:t>
                      </a:r>
                    </a:p>
                  </a:txBody>
                  <a:tcPr>
                    <a:solidFill>
                      <a:srgbClr val="E3F3EE"/>
                    </a:solidFill>
                  </a:tcPr>
                </a:tc>
                <a:tc>
                  <a:txBody>
                    <a:bodyPr/>
                    <a:lstStyle/>
                    <a:p>
                      <a:r>
                        <a:rPr sz="1600" b="0">
                          <a:solidFill>
                            <a:srgbClr val="1B1B1B"/>
                          </a:solidFill>
                          <a:latin typeface="Calibri"/>
                        </a:rPr>
                        <a:t>I was exhausted, but it was worth it. I'll never forget today.</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Saturday, 3 June. Today our class cleaned the beach.</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was exhausted, but I felt really proud of our class.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write a diary in the present ('Today I go to the beach and I clean'). A diary is written in the EVENING about a FINISHED day — past simple.</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Saturday, 3 June. Today our class cleaned the beach.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Linking words together in fast speech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In natural English, a final consonant joins the next vowel: 'picked_up' → /pɪktʌp/, 'cleaned_it' → /kliːndɪt/, 'a lot_of' → /əlɒtəv/.</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picked up</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cleaned it</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lot of litter</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filled it 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We picked up a lot of litter.</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We cleaned it and filled it up.</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We worked all day and finished at four.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28: I Passed It!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passing a driving test and renting a car. American English — VOA’s professional actors (Anna, Pete, Marsha, Ms. Weaver…), slowed learner delivery. It lasts 3:18.</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VOA Learning English — Let’s Learn English, Level 1 · 3:18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people do every day and at work B. passing a driving test and renting a car C. what people are doing at the moment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Lesson 32: A Long Time Ago</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did you get your driver’s license?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There were cars in the street.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But I was really nervous driving in Washington, D.C.</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Let's Learn English - Level 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I _____ my driving test!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Marsha: Did you pass the _____ the first time?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Marsha: What happened during the first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But, I practiced and _____ the second 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Model diary entry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Sunday, 12 November Today was one of the busiest days of the year, but also one of the best. First, we met at the school gate at half past six. I was still half asleep! Then our teacher divided us into six groups and we walked to the beach. We started work at seven, when the air was still cool. After nine o'clock it became really hot. We picked up bottles, plastic bags, cans and even an old fishing net. Altogether we filled 42 bags. At eleven the ward committee arrived with cold water and bread — that was a lovely surprise. We finished at half past twelve and took a photo together. When I got home I was exhausted and I slept for two hours. But this morning I walked past the beach and it was clean and beautiful. It was hard work, but it was worth it. I'll never forget today.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 about the diary entry.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written on the first line?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Which tense is used almost everywhere?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Find three sequence words.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sentence gives numbers?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 does the writer finish the entry?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Number the sentences 1–6.</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Then we walked to the old people's home.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Saturday, 8 April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I was tired, but I felt very happy.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First, we met at school at eight o'clock.</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Today my class did something special.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Number the sentences 1–6.</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After that, we sang three songs and listened to their stories.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the diary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Today I go to the beach with my class.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We collect 42 bags of litter.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am very tired in the evening.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committee brings us cold water.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is hard work but it is worth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U3.6-W1 and W2.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U3.6-W1 and W2.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your entry to your partner. Your partner reacts and asks one question.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Read your entry to your partner. Your partner reacts and asks one question.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your diary story aloud in five sentences before writing.</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First… Then… After that… Finally… I felt…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Sharing an experience and reacting to it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You'll never guess what happened!</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Really? What did you do then?</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 sounds hard!</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did you feel?</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Good for you!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Read your diary entry to your partner as a story. Your partner must react three times and ask one question.</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Date: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Opening sentence: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Event 1 (First,…):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Event 2 (Then,…):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Event 3 (After that,…): ______</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number or detail: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Feeling / closing: ______</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80–100 words about a day when you helped someone or took part in an activity.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U3.6-W2</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Write 80–100 words about a day when you helped someone or took part in an activity.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books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date on the first line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past simple everywhere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at least three sequence words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number or detail</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 feeling at the end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books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80–100 words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-ed spelling correct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Note-taking with numbers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Diary layout: date – events in past simple – feeling</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Linking in fast speech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report.</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Put the diary into the past simple.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diary entry neatly after correction and hand it in.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Read your diary entry aloud twice, linking the words: picked_up, cleaned_it, a lot_of.</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U3L6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