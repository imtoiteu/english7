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audio/FU3L2_1_A2-06-Past-Tense-ED.mp3" TargetMode="External"/><Relationship Id="rId3" Type="http://schemas.openxmlformats.org/officeDocument/2006/relationships/hyperlink" Target="../../../audio/FU3L3_1_A2-07-Past-Tense-Irregular.mp3" TargetMode="External"/><Relationship Id="rId4" Type="http://schemas.openxmlformats.org/officeDocument/2006/relationships/hyperlink" Target="https://elllo.org/book/A2/A2-06-Past-Tense-Ed.html" TargetMode="External"/><Relationship Id="rId5" Type="http://schemas.openxmlformats.org/officeDocument/2006/relationships/hyperlink" Target="https://elllo.org/book/A2/A2-07-Past-Tense-Irregular.html"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685800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Oval 3"/>
          <p:cNvSpPr/>
          <p:nvPr/>
        </p:nvSpPr>
        <p:spPr>
          <a:xfrm>
            <a:off x="-1097280" y="4389120"/>
            <a:ext cx="6858000" cy="4114800"/>
          </a:xfrm>
          <a:prstGeom prst="ellipse">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Oval 4"/>
          <p:cNvSpPr/>
          <p:nvPr/>
        </p:nvSpPr>
        <p:spPr>
          <a:xfrm>
            <a:off x="8778240" y="-1828800"/>
            <a:ext cx="5486400" cy="4572000"/>
          </a:xfrm>
          <a:prstGeom prst="ellipse">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822960" y="1371600"/>
            <a:ext cx="10515600" cy="548640"/>
          </a:xfrm>
          <a:prstGeom prst="rect">
            <a:avLst/>
          </a:prstGeom>
          <a:noFill/>
        </p:spPr>
        <p:txBody>
          <a:bodyPr wrap="square" anchor="t">
            <a:spAutoFit/>
          </a:bodyPr>
          <a:lstStyle/>
          <a:p>
            <a:pPr algn="l">
              <a:lnSpc>
                <a:spcPct val="100000"/>
              </a:lnSpc>
              <a:spcAft>
                <a:spcPts val="600"/>
              </a:spcAft>
            </a:pPr>
            <a:r>
              <a:rPr sz="2000" b="1" i="0">
                <a:solidFill>
                  <a:srgbClr val="FFFFFF"/>
                </a:solidFill>
                <a:latin typeface="Calibri"/>
              </a:rPr>
              <a:t>UNIT 3  ·  LESSON 7  ·  PERIOD 23</a:t>
            </a:r>
          </a:p>
        </p:txBody>
      </p:sp>
      <p:sp>
        <p:nvSpPr>
          <p:cNvPr id="7" name="TextBox 6"/>
          <p:cNvSpPr txBox="1"/>
          <p:nvPr/>
        </p:nvSpPr>
        <p:spPr>
          <a:xfrm>
            <a:off x="822960" y="2011680"/>
            <a:ext cx="10515600" cy="1463040"/>
          </a:xfrm>
          <a:prstGeom prst="rect">
            <a:avLst/>
          </a:prstGeom>
          <a:noFill/>
        </p:spPr>
        <p:txBody>
          <a:bodyPr wrap="square" anchor="t">
            <a:spAutoFit/>
          </a:bodyPr>
          <a:lstStyle/>
          <a:p>
            <a:pPr algn="l">
              <a:lnSpc>
                <a:spcPct val="100000"/>
              </a:lnSpc>
              <a:spcAft>
                <a:spcPts val="600"/>
              </a:spcAft>
            </a:pPr>
            <a:r>
              <a:rPr sz="3000" b="1" i="0">
                <a:solidFill>
                  <a:srgbClr val="E7F1FA"/>
                </a:solidFill>
                <a:latin typeface="Calibri"/>
              </a:rPr>
              <a:t>LOOKING BACK &amp; PROJECT</a:t>
            </a:r>
          </a:p>
        </p:txBody>
      </p:sp>
      <p:sp>
        <p:nvSpPr>
          <p:cNvPr id="8" name="TextBox 7"/>
          <p:cNvSpPr txBox="1"/>
          <p:nvPr/>
        </p:nvSpPr>
        <p:spPr>
          <a:xfrm>
            <a:off x="822960" y="2926080"/>
            <a:ext cx="10515600" cy="2011680"/>
          </a:xfrm>
          <a:prstGeom prst="rect">
            <a:avLst/>
          </a:prstGeom>
          <a:noFill/>
        </p:spPr>
        <p:txBody>
          <a:bodyPr wrap="square" anchor="t">
            <a:spAutoFit/>
          </a:bodyPr>
          <a:lstStyle/>
          <a:p>
            <a:pPr algn="l">
              <a:lnSpc>
                <a:spcPct val="100000"/>
              </a:lnSpc>
              <a:spcAft>
                <a:spcPts val="600"/>
              </a:spcAft>
            </a:pPr>
            <a:r>
              <a:rPr sz="4400" b="1" i="0">
                <a:solidFill>
                  <a:srgbClr val="FFFFFF"/>
                </a:solidFill>
                <a:latin typeface="Calibri"/>
              </a:rPr>
              <a:t>Unit 3 review and Our Community Service Plan</a:t>
            </a:r>
          </a:p>
        </p:txBody>
      </p:sp>
      <p:sp>
        <p:nvSpPr>
          <p:cNvPr id="9" name="TextBox 8"/>
          <p:cNvSpPr txBox="1"/>
          <p:nvPr/>
        </p:nvSpPr>
        <p:spPr>
          <a:xfrm>
            <a:off x="822960" y="5303520"/>
            <a:ext cx="10515600" cy="731520"/>
          </a:xfrm>
          <a:prstGeom prst="rect">
            <a:avLst/>
          </a:prstGeom>
          <a:noFill/>
        </p:spPr>
        <p:txBody>
          <a:bodyPr wrap="square" anchor="t">
            <a:spAutoFit/>
          </a:bodyPr>
          <a:lstStyle/>
          <a:p>
            <a:pPr algn="l">
              <a:lnSpc>
                <a:spcPct val="100000"/>
              </a:lnSpc>
              <a:spcAft>
                <a:spcPts val="600"/>
              </a:spcAft>
            </a:pPr>
            <a:r>
              <a:rPr sz="2000" b="0" i="0">
                <a:solidFill>
                  <a:srgbClr val="E7F1FA"/>
                </a:solidFill>
                <a:latin typeface="Calibri"/>
              </a:rPr>
              <a:t>English 7  ·  Let's start! 👋</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Today we will learn to…</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U3L7</a:t>
            </a:r>
          </a:p>
        </p:txBody>
      </p:sp>
      <p:sp>
        <p:nvSpPr>
          <p:cNvPr id="8" name="Rounded Rectangle 7"/>
          <p:cNvSpPr/>
          <p:nvPr/>
        </p:nvSpPr>
        <p:spPr>
          <a:xfrm>
            <a:off x="640080" y="1463040"/>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640080" y="1463040"/>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960120" y="1508760"/>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1</a:t>
            </a:r>
          </a:p>
        </p:txBody>
      </p:sp>
      <p:sp>
        <p:nvSpPr>
          <p:cNvPr id="11" name="TextBox 10"/>
          <p:cNvSpPr txBox="1"/>
          <p:nvPr/>
        </p:nvSpPr>
        <p:spPr>
          <a:xfrm>
            <a:off x="1737360" y="1508760"/>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recall the community vocabulary of Unit 3</a:t>
            </a:r>
          </a:p>
        </p:txBody>
      </p:sp>
      <p:sp>
        <p:nvSpPr>
          <p:cNvPr id="12" name="Rounded Rectangle 11"/>
          <p:cNvSpPr/>
          <p:nvPr/>
        </p:nvSpPr>
        <p:spPr>
          <a:xfrm>
            <a:off x="640080" y="2450592"/>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640080" y="2450592"/>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960120" y="2496312"/>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2</a:t>
            </a:r>
          </a:p>
        </p:txBody>
      </p:sp>
      <p:sp>
        <p:nvSpPr>
          <p:cNvPr id="15" name="TextBox 14"/>
          <p:cNvSpPr txBox="1"/>
          <p:nvPr/>
        </p:nvSpPr>
        <p:spPr>
          <a:xfrm>
            <a:off x="1737360" y="2496312"/>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use the past simple accurately in all three forms</a:t>
            </a:r>
          </a:p>
        </p:txBody>
      </p:sp>
      <p:sp>
        <p:nvSpPr>
          <p:cNvPr id="16" name="Rounded Rectangle 15"/>
          <p:cNvSpPr/>
          <p:nvPr/>
        </p:nvSpPr>
        <p:spPr>
          <a:xfrm>
            <a:off x="640080" y="3438144"/>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640080" y="3438144"/>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960120" y="3483864"/>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3</a:t>
            </a:r>
          </a:p>
        </p:txBody>
      </p:sp>
      <p:sp>
        <p:nvSpPr>
          <p:cNvPr id="19" name="TextBox 18"/>
          <p:cNvSpPr txBox="1"/>
          <p:nvPr/>
        </p:nvSpPr>
        <p:spPr>
          <a:xfrm>
            <a:off x="1737360" y="3483864"/>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correct the six typical mistakes of the unit</a:t>
            </a:r>
          </a:p>
        </p:txBody>
      </p:sp>
      <p:sp>
        <p:nvSpPr>
          <p:cNvPr id="20" name="Rounded Rectangle 19"/>
          <p:cNvSpPr/>
          <p:nvPr/>
        </p:nvSpPr>
        <p:spPr>
          <a:xfrm>
            <a:off x="640080" y="4425696"/>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640080" y="4425696"/>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960120" y="4471416"/>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4</a:t>
            </a:r>
          </a:p>
        </p:txBody>
      </p:sp>
      <p:sp>
        <p:nvSpPr>
          <p:cNvPr id="23" name="TextBox 22"/>
          <p:cNvSpPr txBox="1"/>
          <p:nvPr/>
        </p:nvSpPr>
        <p:spPr>
          <a:xfrm>
            <a:off x="1737360" y="4471416"/>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plan and present a real community service activity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Warm-up: Irregular verb bingo  (6')</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U3L7</a:t>
            </a:r>
          </a:p>
        </p:txBody>
      </p:sp>
      <p:sp>
        <p:nvSpPr>
          <p:cNvPr id="8" name="Rounded Rectangle 7"/>
          <p:cNvSpPr/>
          <p:nvPr/>
        </p:nvSpPr>
        <p:spPr>
          <a:xfrm>
            <a:off x="640080" y="1463040"/>
            <a:ext cx="10881360" cy="4206240"/>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05840" y="1737360"/>
            <a:ext cx="10149840" cy="82296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 Students write nine past forms in a 3×3 grid. Teacher says the base verb; students cross out the past form.</a:t>
            </a:r>
          </a:p>
        </p:txBody>
      </p:sp>
      <p:sp>
        <p:nvSpPr>
          <p:cNvPr id="10" name="TextBox 9"/>
          <p:cNvSpPr txBox="1"/>
          <p:nvPr/>
        </p:nvSpPr>
        <p:spPr>
          <a:xfrm>
            <a:off x="1005840" y="5852160"/>
            <a:ext cx="10149840" cy="640080"/>
          </a:xfrm>
          <a:prstGeom prst="rect">
            <a:avLst/>
          </a:prstGeom>
          <a:noFill/>
        </p:spPr>
        <p:txBody>
          <a:bodyPr wrap="square" anchor="t">
            <a:spAutoFit/>
          </a:bodyPr>
          <a:lstStyle/>
          <a:p>
            <a:pPr algn="l">
              <a:lnSpc>
                <a:spcPct val="100000"/>
              </a:lnSpc>
              <a:spcAft>
                <a:spcPts val="600"/>
              </a:spcAft>
            </a:pPr>
            <a:r>
              <a:rPr sz="1800" b="0" i="1">
                <a:solidFill>
                  <a:srgbClr val="6B7280"/>
                </a:solidFill>
                <a:latin typeface="Calibri"/>
              </a:rPr>
              <a:t>👉 You: Play bingo with irregular verbs.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New words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U3L7</a:t>
            </a:r>
          </a:p>
        </p:txBody>
      </p:sp>
      <p:sp>
        <p:nvSpPr>
          <p:cNvPr id="8" name="Rounded Rectangle 7"/>
          <p:cNvSpPr/>
          <p:nvPr/>
        </p:nvSpPr>
        <p:spPr>
          <a:xfrm>
            <a:off x="548640" y="14173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68680" y="15270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plan</a:t>
            </a:r>
          </a:p>
        </p:txBody>
      </p:sp>
      <p:sp>
        <p:nvSpPr>
          <p:cNvPr id="10" name="TextBox 9"/>
          <p:cNvSpPr txBox="1"/>
          <p:nvPr/>
        </p:nvSpPr>
        <p:spPr>
          <a:xfrm>
            <a:off x="868680" y="21671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/plæn/   (n/v)</a:t>
            </a:r>
          </a:p>
        </p:txBody>
      </p:sp>
      <p:sp>
        <p:nvSpPr>
          <p:cNvPr id="11" name="TextBox 10"/>
          <p:cNvSpPr txBox="1"/>
          <p:nvPr/>
        </p:nvSpPr>
        <p:spPr>
          <a:xfrm>
            <a:off x="5212080" y="15270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kế hoạch; lên kế hoạch</a:t>
            </a:r>
          </a:p>
        </p:txBody>
      </p:sp>
      <p:sp>
        <p:nvSpPr>
          <p:cNvPr id="12" name="TextBox 11"/>
          <p:cNvSpPr txBox="1"/>
          <p:nvPr/>
        </p:nvSpPr>
        <p:spPr>
          <a:xfrm>
            <a:off x="5212080" y="21945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Here is our plan for Saturday.</a:t>
            </a:r>
          </a:p>
        </p:txBody>
      </p:sp>
      <p:sp>
        <p:nvSpPr>
          <p:cNvPr id="13" name="Rounded Rectangle 12"/>
          <p:cNvSpPr/>
          <p:nvPr/>
        </p:nvSpPr>
        <p:spPr>
          <a:xfrm>
            <a:off x="548640" y="30175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68680" y="31272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responsible for</a:t>
            </a:r>
          </a:p>
        </p:txBody>
      </p:sp>
      <p:sp>
        <p:nvSpPr>
          <p:cNvPr id="15" name="TextBox 14"/>
          <p:cNvSpPr txBox="1"/>
          <p:nvPr/>
        </p:nvSpPr>
        <p:spPr>
          <a:xfrm>
            <a:off x="868680" y="37673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/rɪˈspɒnsəbl fɔː/   (adj phr)</a:t>
            </a:r>
          </a:p>
        </p:txBody>
      </p:sp>
      <p:sp>
        <p:nvSpPr>
          <p:cNvPr id="16" name="TextBox 15"/>
          <p:cNvSpPr txBox="1"/>
          <p:nvPr/>
        </p:nvSpPr>
        <p:spPr>
          <a:xfrm>
            <a:off x="5212080" y="31272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chịu trách nhiệm</a:t>
            </a:r>
          </a:p>
        </p:txBody>
      </p:sp>
      <p:sp>
        <p:nvSpPr>
          <p:cNvPr id="17" name="TextBox 16"/>
          <p:cNvSpPr txBox="1"/>
          <p:nvPr/>
        </p:nvSpPr>
        <p:spPr>
          <a:xfrm>
            <a:off x="5212080" y="37947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Nam is responsible for the posters.</a:t>
            </a:r>
          </a:p>
        </p:txBody>
      </p:sp>
      <p:sp>
        <p:nvSpPr>
          <p:cNvPr id="18" name="Rounded Rectangle 17"/>
          <p:cNvSpPr/>
          <p:nvPr/>
        </p:nvSpPr>
        <p:spPr>
          <a:xfrm>
            <a:off x="548640" y="46177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868680" y="47274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in charge of</a:t>
            </a:r>
          </a:p>
        </p:txBody>
      </p:sp>
      <p:sp>
        <p:nvSpPr>
          <p:cNvPr id="20" name="TextBox 19"/>
          <p:cNvSpPr txBox="1"/>
          <p:nvPr/>
        </p:nvSpPr>
        <p:spPr>
          <a:xfrm>
            <a:off x="868680" y="53675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/ɪn tʃɑːdʒ əv/   (phr)</a:t>
            </a:r>
          </a:p>
        </p:txBody>
      </p:sp>
      <p:sp>
        <p:nvSpPr>
          <p:cNvPr id="21" name="TextBox 20"/>
          <p:cNvSpPr txBox="1"/>
          <p:nvPr/>
        </p:nvSpPr>
        <p:spPr>
          <a:xfrm>
            <a:off x="5212080" y="47274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phụ trách</a:t>
            </a:r>
          </a:p>
        </p:txBody>
      </p:sp>
      <p:sp>
        <p:nvSpPr>
          <p:cNvPr id="22" name="TextBox 21"/>
          <p:cNvSpPr txBox="1"/>
          <p:nvPr/>
        </p:nvSpPr>
        <p:spPr>
          <a:xfrm>
            <a:off x="5212080" y="53949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Mai is in charge of the money.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Useful phrases — learn them as one block!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U3L7</a:t>
            </a:r>
          </a:p>
        </p:txBody>
      </p:sp>
      <p:sp>
        <p:nvSpPr>
          <p:cNvPr id="8" name="Rounded Rectangle 7"/>
          <p:cNvSpPr/>
          <p:nvPr/>
        </p:nvSpPr>
        <p:spPr>
          <a:xfrm>
            <a:off x="822960" y="1554480"/>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609344"/>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We are going to…</a:t>
            </a:r>
          </a:p>
        </p:txBody>
      </p:sp>
      <p:sp>
        <p:nvSpPr>
          <p:cNvPr id="10" name="Rounded Rectangle 9"/>
          <p:cNvSpPr/>
          <p:nvPr/>
        </p:nvSpPr>
        <p:spPr>
          <a:xfrm>
            <a:off x="822960" y="2267712"/>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97280" y="2322576"/>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X is responsible for…</a:t>
            </a:r>
          </a:p>
        </p:txBody>
      </p:sp>
      <p:sp>
        <p:nvSpPr>
          <p:cNvPr id="12" name="Rounded Rectangle 11"/>
          <p:cNvSpPr/>
          <p:nvPr/>
        </p:nvSpPr>
        <p:spPr>
          <a:xfrm>
            <a:off x="822960" y="2980944"/>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97280" y="3035808"/>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We will need…</a:t>
            </a:r>
          </a:p>
        </p:txBody>
      </p:sp>
      <p:sp>
        <p:nvSpPr>
          <p:cNvPr id="14" name="Rounded Rectangle 13"/>
          <p:cNvSpPr/>
          <p:nvPr/>
        </p:nvSpPr>
        <p:spPr>
          <a:xfrm>
            <a:off x="822960" y="3694176"/>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97280" y="3749040"/>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Our plan is to…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Grammar: Unit 3 grammar in one page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U3L7</a:t>
            </a:r>
          </a:p>
        </p:txBody>
      </p:sp>
      <p:sp>
        <p:nvSpPr>
          <p:cNvPr id="8" name="Rounded Rectangle 7"/>
          <p:cNvSpPr/>
          <p:nvPr/>
        </p:nvSpPr>
        <p:spPr>
          <a:xfrm>
            <a:off x="640080" y="1463040"/>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60120" y="1536192"/>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Past simple positive: regular + ed / irregular forms</a:t>
            </a:r>
          </a:p>
        </p:txBody>
      </p:sp>
      <p:sp>
        <p:nvSpPr>
          <p:cNvPr id="10" name="Rounded Rectangle 9"/>
          <p:cNvSpPr/>
          <p:nvPr/>
        </p:nvSpPr>
        <p:spPr>
          <a:xfrm>
            <a:off x="640080" y="2487168"/>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960120" y="2560320"/>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Negative: didn't + bare verb</a:t>
            </a:r>
          </a:p>
        </p:txBody>
      </p:sp>
      <p:sp>
        <p:nvSpPr>
          <p:cNvPr id="12" name="Rounded Rectangle 11"/>
          <p:cNvSpPr/>
          <p:nvPr/>
        </p:nvSpPr>
        <p:spPr>
          <a:xfrm>
            <a:off x="640080" y="3511296"/>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960120" y="3584448"/>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Question: Did + subject + bare verb?</a:t>
            </a:r>
          </a:p>
        </p:txBody>
      </p:sp>
      <p:sp>
        <p:nvSpPr>
          <p:cNvPr id="14" name="Rounded Rectangle 13"/>
          <p:cNvSpPr/>
          <p:nvPr/>
        </p:nvSpPr>
        <p:spPr>
          <a:xfrm>
            <a:off x="640080" y="4535424"/>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960120" y="4608576"/>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be: was / were, wasn't / weren't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The form</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U3L7</a:t>
            </a:r>
          </a:p>
        </p:txBody>
      </p:sp>
      <p:graphicFrame>
        <p:nvGraphicFramePr>
          <p:cNvPr id="8" name="Table 7"/>
          <p:cNvGraphicFramePr>
            <a:graphicFrameLocks noGrp="1"/>
          </p:cNvGraphicFramePr>
          <p:nvPr/>
        </p:nvGraphicFramePr>
        <p:xfrm>
          <a:off x="548640" y="1463040"/>
          <a:ext cx="11064240" cy="3401568"/>
        </p:xfrm>
        <a:graphic>
          <a:graphicData uri="http://schemas.openxmlformats.org/drawingml/2006/table">
            <a:tbl>
              <a:tblPr firstRow="1" bandRow="1">
                <a:tableStyleId>{5C22544A-7EE6-4342-B048-85BDC9FD1C3A}</a:tableStyleId>
              </a:tblPr>
              <a:tblGrid>
                <a:gridCol w="3688080"/>
                <a:gridCol w="3688080"/>
                <a:gridCol w="3688080"/>
              </a:tblGrid>
              <a:tr h="566928">
                <a:tc>
                  <a:txBody>
                    <a:bodyPr/>
                    <a:lstStyle/>
                    <a:p>
                      <a:r>
                        <a:rPr sz="1600" b="1">
                          <a:solidFill>
                            <a:srgbClr val="FFFFFF"/>
                          </a:solidFill>
                          <a:latin typeface="Calibri"/>
                        </a:rPr>
                        <a:t>Structure</a:t>
                      </a:r>
                    </a:p>
                  </a:txBody>
                  <a:tcPr>
                    <a:solidFill>
                      <a:srgbClr val="0E7C66"/>
                    </a:solidFill>
                  </a:tcPr>
                </a:tc>
                <a:tc>
                  <a:txBody>
                    <a:bodyPr/>
                    <a:lstStyle/>
                    <a:p>
                      <a:r>
                        <a:rPr sz="1600" b="1">
                          <a:solidFill>
                            <a:srgbClr val="FFFFFF"/>
                          </a:solidFill>
                          <a:latin typeface="Calibri"/>
                        </a:rPr>
                        <a:t>Example</a:t>
                      </a:r>
                    </a:p>
                  </a:txBody>
                  <a:tcPr>
                    <a:solidFill>
                      <a:srgbClr val="0E7C66"/>
                    </a:solidFill>
                  </a:tcPr>
                </a:tc>
                <a:tc>
                  <a:txBody>
                    <a:bodyPr/>
                    <a:lstStyle/>
                    <a:p>
                      <a:r>
                        <a:rPr sz="1600" b="1">
                          <a:solidFill>
                            <a:srgbClr val="FFFFFF"/>
                          </a:solidFill>
                          <a:latin typeface="Calibri"/>
                        </a:rPr>
                        <a:t>Common mistake</a:t>
                      </a:r>
                    </a:p>
                  </a:txBody>
                  <a:tcPr>
                    <a:solidFill>
                      <a:srgbClr val="0E7C66"/>
                    </a:solidFill>
                  </a:tcPr>
                </a:tc>
              </a:tr>
              <a:tr h="566928">
                <a:tc>
                  <a:txBody>
                    <a:bodyPr/>
                    <a:lstStyle/>
                    <a:p>
                      <a:r>
                        <a:rPr sz="1600" b="0">
                          <a:solidFill>
                            <a:srgbClr val="1B1B1B"/>
                          </a:solidFill>
                          <a:latin typeface="Calibri"/>
                        </a:rPr>
                        <a:t>regular past</a:t>
                      </a:r>
                    </a:p>
                  </a:txBody>
                  <a:tcPr>
                    <a:solidFill>
                      <a:srgbClr val="E3F3EE"/>
                    </a:solidFill>
                  </a:tcPr>
                </a:tc>
                <a:tc>
                  <a:txBody>
                    <a:bodyPr/>
                    <a:lstStyle/>
                    <a:p>
                      <a:r>
                        <a:rPr sz="1600" b="0">
                          <a:solidFill>
                            <a:srgbClr val="1B1B1B"/>
                          </a:solidFill>
                          <a:latin typeface="Calibri"/>
                        </a:rPr>
                        <a:t>We cleaned the park.</a:t>
                      </a:r>
                    </a:p>
                  </a:txBody>
                  <a:tcPr>
                    <a:solidFill>
                      <a:srgbClr val="E3F3EE"/>
                    </a:solidFill>
                  </a:tcPr>
                </a:tc>
                <a:tc>
                  <a:txBody>
                    <a:bodyPr/>
                    <a:lstStyle/>
                    <a:p>
                      <a:r>
                        <a:rPr sz="1600" b="0">
                          <a:solidFill>
                            <a:srgbClr val="1B1B1B"/>
                          </a:solidFill>
                          <a:latin typeface="Calibri"/>
                        </a:rPr>
                        <a:t>*We clean the park yesterday.</a:t>
                      </a:r>
                    </a:p>
                  </a:txBody>
                  <a:tcPr>
                    <a:solidFill>
                      <a:srgbClr val="E3F3EE"/>
                    </a:solidFill>
                  </a:tcPr>
                </a:tc>
              </a:tr>
              <a:tr h="566928">
                <a:tc>
                  <a:txBody>
                    <a:bodyPr/>
                    <a:lstStyle/>
                    <a:p>
                      <a:r>
                        <a:rPr sz="1600" b="0">
                          <a:solidFill>
                            <a:srgbClr val="1B1B1B"/>
                          </a:solidFill>
                          <a:latin typeface="Calibri"/>
                        </a:rPr>
                        <a:t>irregular past</a:t>
                      </a:r>
                    </a:p>
                  </a:txBody>
                  <a:tcPr>
                    <a:solidFill>
                      <a:srgbClr val="FFFFFF"/>
                    </a:solidFill>
                  </a:tcPr>
                </a:tc>
                <a:tc>
                  <a:txBody>
                    <a:bodyPr/>
                    <a:lstStyle/>
                    <a:p>
                      <a:r>
                        <a:rPr sz="1600" b="0">
                          <a:solidFill>
                            <a:srgbClr val="1B1B1B"/>
                          </a:solidFill>
                          <a:latin typeface="Calibri"/>
                        </a:rPr>
                        <a:t>They went to the village.</a:t>
                      </a:r>
                    </a:p>
                  </a:txBody>
                  <a:tcPr>
                    <a:solidFill>
                      <a:srgbClr val="FFFFFF"/>
                    </a:solidFill>
                  </a:tcPr>
                </a:tc>
                <a:tc>
                  <a:txBody>
                    <a:bodyPr/>
                    <a:lstStyle/>
                    <a:p>
                      <a:r>
                        <a:rPr sz="1600" b="0">
                          <a:solidFill>
                            <a:srgbClr val="1B1B1B"/>
                          </a:solidFill>
                          <a:latin typeface="Calibri"/>
                        </a:rPr>
                        <a:t>*They goed to the village.</a:t>
                      </a:r>
                    </a:p>
                  </a:txBody>
                  <a:tcPr>
                    <a:solidFill>
                      <a:srgbClr val="FFFFFF"/>
                    </a:solidFill>
                  </a:tcPr>
                </a:tc>
              </a:tr>
              <a:tr h="566928">
                <a:tc>
                  <a:txBody>
                    <a:bodyPr/>
                    <a:lstStyle/>
                    <a:p>
                      <a:r>
                        <a:rPr sz="1600" b="0">
                          <a:solidFill>
                            <a:srgbClr val="1B1B1B"/>
                          </a:solidFill>
                          <a:latin typeface="Calibri"/>
                        </a:rPr>
                        <a:t>didn't + bare verb</a:t>
                      </a:r>
                    </a:p>
                  </a:txBody>
                  <a:tcPr>
                    <a:solidFill>
                      <a:srgbClr val="E3F3EE"/>
                    </a:solidFill>
                  </a:tcPr>
                </a:tc>
                <a:tc>
                  <a:txBody>
                    <a:bodyPr/>
                    <a:lstStyle/>
                    <a:p>
                      <a:r>
                        <a:rPr sz="1600" b="0">
                          <a:solidFill>
                            <a:srgbClr val="1B1B1B"/>
                          </a:solidFill>
                          <a:latin typeface="Calibri"/>
                        </a:rPr>
                        <a:t>I didn't finish.</a:t>
                      </a:r>
                    </a:p>
                  </a:txBody>
                  <a:tcPr>
                    <a:solidFill>
                      <a:srgbClr val="E3F3EE"/>
                    </a:solidFill>
                  </a:tcPr>
                </a:tc>
                <a:tc>
                  <a:txBody>
                    <a:bodyPr/>
                    <a:lstStyle/>
                    <a:p>
                      <a:r>
                        <a:rPr sz="1600" b="0">
                          <a:solidFill>
                            <a:srgbClr val="1B1B1B"/>
                          </a:solidFill>
                          <a:latin typeface="Calibri"/>
                        </a:rPr>
                        <a:t>*I didn't finished.</a:t>
                      </a:r>
                    </a:p>
                  </a:txBody>
                  <a:tcPr>
                    <a:solidFill>
                      <a:srgbClr val="E3F3EE"/>
                    </a:solidFill>
                  </a:tcPr>
                </a:tc>
              </a:tr>
              <a:tr h="566928">
                <a:tc>
                  <a:txBody>
                    <a:bodyPr/>
                    <a:lstStyle/>
                    <a:p>
                      <a:r>
                        <a:rPr sz="1600" b="0">
                          <a:solidFill>
                            <a:srgbClr val="1B1B1B"/>
                          </a:solidFill>
                          <a:latin typeface="Calibri"/>
                        </a:rPr>
                        <a:t>Did + bare verb?</a:t>
                      </a:r>
                    </a:p>
                  </a:txBody>
                  <a:tcPr>
                    <a:solidFill>
                      <a:srgbClr val="FFFFFF"/>
                    </a:solidFill>
                  </a:tcPr>
                </a:tc>
                <a:tc>
                  <a:txBody>
                    <a:bodyPr/>
                    <a:lstStyle/>
                    <a:p>
                      <a:r>
                        <a:rPr sz="1600" b="0">
                          <a:solidFill>
                            <a:srgbClr val="1B1B1B"/>
                          </a:solidFill>
                          <a:latin typeface="Calibri"/>
                        </a:rPr>
                        <a:t>Did you help?</a:t>
                      </a:r>
                    </a:p>
                  </a:txBody>
                  <a:tcPr>
                    <a:solidFill>
                      <a:srgbClr val="FFFFFF"/>
                    </a:solidFill>
                  </a:tcPr>
                </a:tc>
                <a:tc>
                  <a:txBody>
                    <a:bodyPr/>
                    <a:lstStyle/>
                    <a:p>
                      <a:r>
                        <a:rPr sz="1600" b="0">
                          <a:solidFill>
                            <a:srgbClr val="1B1B1B"/>
                          </a:solidFill>
                          <a:latin typeface="Calibri"/>
                        </a:rPr>
                        <a:t>*Did you helped?</a:t>
                      </a:r>
                    </a:p>
                  </a:txBody>
                  <a:tcPr>
                    <a:solidFill>
                      <a:srgbClr val="FFFFFF"/>
                    </a:solidFill>
                  </a:tcPr>
                </a:tc>
              </a:tr>
              <a:tr h="566928">
                <a:tc>
                  <a:txBody>
                    <a:bodyPr/>
                    <a:lstStyle/>
                    <a:p>
                      <a:r>
                        <a:rPr sz="1600" b="0">
                          <a:solidFill>
                            <a:srgbClr val="1B1B1B"/>
                          </a:solidFill>
                          <a:latin typeface="Calibri"/>
                        </a:rPr>
                        <a:t>was / were</a:t>
                      </a:r>
                    </a:p>
                  </a:txBody>
                  <a:tcPr>
                    <a:solidFill>
                      <a:srgbClr val="E3F3EE"/>
                    </a:solidFill>
                  </a:tcPr>
                </a:tc>
                <a:tc>
                  <a:txBody>
                    <a:bodyPr/>
                    <a:lstStyle/>
                    <a:p>
                      <a:r>
                        <a:rPr sz="1600" b="0">
                          <a:solidFill>
                            <a:srgbClr val="1B1B1B"/>
                          </a:solidFill>
                          <a:latin typeface="Calibri"/>
                        </a:rPr>
                        <a:t>It was hot. They were tired.</a:t>
                      </a:r>
                    </a:p>
                  </a:txBody>
                  <a:tcPr>
                    <a:solidFill>
                      <a:srgbClr val="E3F3EE"/>
                    </a:solidFill>
                  </a:tcPr>
                </a:tc>
                <a:tc>
                  <a:txBody>
                    <a:bodyPr/>
                    <a:lstStyle/>
                    <a:p>
                      <a:r>
                        <a:rPr sz="1600" b="0">
                          <a:solidFill>
                            <a:srgbClr val="1B1B1B"/>
                          </a:solidFill>
                          <a:latin typeface="Calibri"/>
                        </a:rPr>
                        <a:t>*It did be hot.</a:t>
                      </a:r>
                    </a:p>
                  </a:txBody>
                  <a:tcPr>
                    <a:solidFill>
                      <a:srgbClr val="E3F3EE"/>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Look at the examples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U3L7</a:t>
            </a:r>
          </a:p>
        </p:txBody>
      </p:sp>
      <p:sp>
        <p:nvSpPr>
          <p:cNvPr id="8" name="Rounded Rectangle 7"/>
          <p:cNvSpPr/>
          <p:nvPr/>
        </p:nvSpPr>
        <p:spPr>
          <a:xfrm>
            <a:off x="731520" y="1554480"/>
            <a:ext cx="10698480" cy="777240"/>
          </a:xfrm>
          <a:prstGeom prst="roundRect">
            <a:avLst>
              <a:gd name="adj" fmla="val 6000"/>
            </a:avLst>
          </a:prstGeom>
          <a:solidFill>
            <a:srgbClr val="FFFFFF"/>
          </a:solidFill>
          <a:ln w="19050">
            <a:solidFill>
              <a:srgbClr val="0E7C6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51560" y="1627632"/>
            <a:ext cx="10241280" cy="64008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Last Sunday our class went to the beach. We collected 42 bags of litter. We didn't finish before twelve, but nobody com…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Be careful! A very common mistake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U3L7</a:t>
            </a:r>
          </a:p>
        </p:txBody>
      </p:sp>
      <p:sp>
        <p:nvSpPr>
          <p:cNvPr id="8" name="Rounded Rectangle 7"/>
          <p:cNvSpPr/>
          <p:nvPr/>
        </p:nvSpPr>
        <p:spPr>
          <a:xfrm>
            <a:off x="731520" y="1645920"/>
            <a:ext cx="10698480" cy="2377440"/>
          </a:xfrm>
          <a:prstGeom prst="roundRect">
            <a:avLst>
              <a:gd name="adj" fmla="val 6000"/>
            </a:avLst>
          </a:prstGeom>
          <a:solidFill>
            <a:srgbClr val="FCEA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828800"/>
            <a:ext cx="10058400" cy="2011680"/>
          </a:xfrm>
          <a:prstGeom prst="rect">
            <a:avLst/>
          </a:prstGeom>
          <a:noFill/>
        </p:spPr>
        <p:txBody>
          <a:bodyPr wrap="square" anchor="t">
            <a:spAutoFit/>
          </a:bodyPr>
          <a:lstStyle/>
          <a:p>
            <a:pPr algn="l">
              <a:lnSpc>
                <a:spcPct val="100000"/>
              </a:lnSpc>
              <a:spcAft>
                <a:spcPts val="600"/>
              </a:spcAft>
            </a:pPr>
            <a:r>
              <a:rPr sz="2100" b="0" i="0">
                <a:solidFill>
                  <a:srgbClr val="1B1B1B"/>
                </a:solidFill>
                <a:latin typeface="Calibri"/>
              </a:rPr>
              <a:t>Add the Unit 3 errors to the classroom wall list. The 'did + past verb' error will return for months — keep pointing at the box.</a:t>
            </a:r>
          </a:p>
        </p:txBody>
      </p:sp>
      <p:sp>
        <p:nvSpPr>
          <p:cNvPr id="10" name="TextBox 9"/>
          <p:cNvSpPr txBox="1"/>
          <p:nvPr/>
        </p:nvSpPr>
        <p:spPr>
          <a:xfrm>
            <a:off x="1097280" y="4389120"/>
            <a:ext cx="10058400" cy="1280160"/>
          </a:xfrm>
          <a:prstGeom prst="rect">
            <a:avLst/>
          </a:prstGeom>
          <a:noFill/>
        </p:spPr>
        <p:txBody>
          <a:bodyPr wrap="square" anchor="t">
            <a:spAutoFit/>
          </a:bodyPr>
          <a:lstStyle/>
          <a:p>
            <a:pPr algn="l">
              <a:lnSpc>
                <a:spcPct val="100000"/>
              </a:lnSpc>
              <a:spcAft>
                <a:spcPts val="600"/>
              </a:spcAft>
            </a:pPr>
            <a:r>
              <a:rPr sz="2200" b="1" i="0">
                <a:solidFill>
                  <a:srgbClr val="2E7D32"/>
                </a:solidFill>
                <a:latin typeface="Calibri"/>
              </a:rPr>
              <a:t>👍 Say it like this:  Last Sunday our class went to the beach. We collected 42 bags of litter. We didn't finish before twelve, but …</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300" b="1" i="0">
                <a:solidFill>
                  <a:srgbClr val="FFFFFF"/>
                </a:solidFill>
                <a:latin typeface="Calibri"/>
              </a:rPr>
              <a:t>Pronunciation: Unit 3 sounds review: -ed endings and linking</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U3L7</a:t>
            </a:r>
          </a:p>
        </p:txBody>
      </p:sp>
      <p:sp>
        <p:nvSpPr>
          <p:cNvPr id="8" name="Rounded Rectangle 7"/>
          <p:cNvSpPr/>
          <p:nvPr/>
        </p:nvSpPr>
        <p:spPr>
          <a:xfrm>
            <a:off x="640080" y="1417320"/>
            <a:ext cx="10881360" cy="1234440"/>
          </a:xfrm>
          <a:prstGeom prst="roundRect">
            <a:avLst>
              <a:gd name="adj" fmla="val 6000"/>
            </a:avLst>
          </a:prstGeom>
          <a:solidFill>
            <a:srgbClr val="F1EA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60120" y="1508760"/>
            <a:ext cx="10332720" cy="1097280"/>
          </a:xfrm>
          <a:prstGeom prst="rect">
            <a:avLst/>
          </a:prstGeom>
          <a:noFill/>
        </p:spPr>
        <p:txBody>
          <a:bodyPr wrap="square" anchor="ctr">
            <a:spAutoFit/>
          </a:bodyPr>
          <a:lstStyle/>
          <a:p>
            <a:pPr algn="l">
              <a:lnSpc>
                <a:spcPct val="100000"/>
              </a:lnSpc>
              <a:spcAft>
                <a:spcPts val="600"/>
              </a:spcAft>
            </a:pPr>
            <a:r>
              <a:rPr sz="1800" b="0" i="0">
                <a:solidFill>
                  <a:srgbClr val="1B1B1B"/>
                </a:solidFill>
                <a:latin typeface="Calibri"/>
              </a:rPr>
              <a:t>Three checks: is the -ed there? is it the right sound? do the words link?</a:t>
            </a:r>
          </a:p>
        </p:txBody>
      </p:sp>
      <p:sp>
        <p:nvSpPr>
          <p:cNvPr id="10" name="Rounded Rectangle 9"/>
          <p:cNvSpPr/>
          <p:nvPr/>
        </p:nvSpPr>
        <p:spPr>
          <a:xfrm>
            <a:off x="731520" y="2880360"/>
            <a:ext cx="10698480" cy="621792"/>
          </a:xfrm>
          <a:prstGeom prst="roundRect">
            <a:avLst>
              <a:gd name="adj" fmla="val 6000"/>
            </a:avLst>
          </a:prstGeom>
          <a:solidFill>
            <a:srgbClr val="FFFFFF"/>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05840" y="2926080"/>
            <a:ext cx="10241280" cy="5486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/t/ helped, worked, washed</a:t>
            </a:r>
          </a:p>
        </p:txBody>
      </p:sp>
      <p:sp>
        <p:nvSpPr>
          <p:cNvPr id="12" name="Rounded Rectangle 11"/>
          <p:cNvSpPr/>
          <p:nvPr/>
        </p:nvSpPr>
        <p:spPr>
          <a:xfrm>
            <a:off x="731520" y="3593592"/>
            <a:ext cx="10698480" cy="621792"/>
          </a:xfrm>
          <a:prstGeom prst="roundRect">
            <a:avLst>
              <a:gd name="adj" fmla="val 6000"/>
            </a:avLst>
          </a:prstGeom>
          <a:solidFill>
            <a:srgbClr val="FFFFFF"/>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05840" y="3639312"/>
            <a:ext cx="10241280" cy="5486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/d/ cleaned, played, carried</a:t>
            </a:r>
          </a:p>
        </p:txBody>
      </p:sp>
      <p:sp>
        <p:nvSpPr>
          <p:cNvPr id="14" name="Rounded Rectangle 13"/>
          <p:cNvSpPr/>
          <p:nvPr/>
        </p:nvSpPr>
        <p:spPr>
          <a:xfrm>
            <a:off x="731520" y="4306824"/>
            <a:ext cx="10698480" cy="621792"/>
          </a:xfrm>
          <a:prstGeom prst="roundRect">
            <a:avLst>
              <a:gd name="adj" fmla="val 6000"/>
            </a:avLst>
          </a:prstGeom>
          <a:solidFill>
            <a:srgbClr val="FFFFFF"/>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05840" y="4352544"/>
            <a:ext cx="10241280" cy="5486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/ɪd/ visited, painted, donated</a:t>
            </a:r>
          </a:p>
        </p:txBody>
      </p:sp>
      <p:sp>
        <p:nvSpPr>
          <p:cNvPr id="16" name="Rounded Rectangle 15"/>
          <p:cNvSpPr/>
          <p:nvPr/>
        </p:nvSpPr>
        <p:spPr>
          <a:xfrm>
            <a:off x="731520" y="5020056"/>
            <a:ext cx="10698480" cy="621792"/>
          </a:xfrm>
          <a:prstGeom prst="roundRect">
            <a:avLst>
              <a:gd name="adj" fmla="val 6000"/>
            </a:avLst>
          </a:prstGeom>
          <a:solidFill>
            <a:srgbClr val="FFFFFF"/>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1005840" y="5065776"/>
            <a:ext cx="10241280" cy="5486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picked_up, cleaned_it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Repeat after me — three times each!</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U3L7</a:t>
            </a:r>
          </a:p>
        </p:txBody>
      </p:sp>
      <p:sp>
        <p:nvSpPr>
          <p:cNvPr id="8" name="Rounded Rectangle 7"/>
          <p:cNvSpPr/>
          <p:nvPr/>
        </p:nvSpPr>
        <p:spPr>
          <a:xfrm>
            <a:off x="731520" y="1737360"/>
            <a:ext cx="10698480" cy="914400"/>
          </a:xfrm>
          <a:prstGeom prst="roundRect">
            <a:avLst>
              <a:gd name="adj" fmla="val 6000"/>
            </a:avLst>
          </a:prstGeom>
          <a:solidFill>
            <a:srgbClr val="F1EA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51560" y="1828800"/>
            <a:ext cx="10241280" cy="77724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 We helped, cleaned and painted, and we picked up a lot of litter.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Looking Back — listen again</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U3L7</a:t>
            </a:r>
          </a:p>
        </p:txBody>
      </p:sp>
      <p:sp>
        <p:nvSpPr>
          <p:cNvPr id="8" name="Rounded Rectangle 7"/>
          <p:cNvSpPr/>
          <p:nvPr/>
        </p:nvSpPr>
        <p:spPr>
          <a:xfrm>
            <a:off x="731520" y="1737360"/>
            <a:ext cx="10698480" cy="182880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920240"/>
            <a:ext cx="10058400" cy="155448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No new recording. You hear this unit’s own recordings again: The past simple: -ed verbs · The past simple: irregular verbs.</a:t>
            </a:r>
          </a:p>
        </p:txBody>
      </p:sp>
      <p:sp>
        <p:nvSpPr>
          <p:cNvPr id="10" name="TextBox 9"/>
          <p:cNvSpPr txBox="1"/>
          <p:nvPr/>
        </p:nvSpPr>
        <p:spPr>
          <a:xfrm>
            <a:off x="731520" y="3703320"/>
            <a:ext cx="10698480" cy="1435608"/>
          </a:xfrm>
          <a:prstGeom prst="rect">
            <a:avLst/>
          </a:prstGeom>
          <a:noFill/>
        </p:spPr>
        <p:txBody>
          <a:bodyPr wrap="square" anchor="t">
            <a:spAutoFit/>
          </a:bodyPr>
          <a:lstStyle/>
          <a:p>
            <a:pPr algn="l">
              <a:lnSpc>
                <a:spcPct val="100000"/>
              </a:lnSpc>
              <a:spcAft>
                <a:spcPts val="600"/>
              </a:spcAft>
            </a:pPr>
            <a:r>
              <a:rPr sz="2000" b="0" i="0">
                <a:solidFill>
                  <a:srgbClr val="142C4F"/>
                </a:solidFill>
                <a:latin typeface="Calibri"/>
              </a:rPr>
              <a:t>🎧  Listen 1: just listen — do not write.</a:t>
            </a:r>
          </a:p>
          <a:p>
            <a:pPr algn="l">
              <a:lnSpc>
                <a:spcPct val="100000"/>
              </a:lnSpc>
              <a:spcAft>
                <a:spcPts val="600"/>
              </a:spcAft>
            </a:pPr>
            <a:r>
              <a:rPr sz="2000" b="0" i="0">
                <a:solidFill>
                  <a:srgbClr val="142C4F"/>
                </a:solidFill>
                <a:latin typeface="Calibri"/>
              </a:rPr>
              <a:t>🎧  Listen 2: write your answers.</a:t>
            </a:r>
          </a:p>
          <a:p>
            <a:pPr algn="l">
              <a:lnSpc>
                <a:spcPct val="100000"/>
              </a:lnSpc>
              <a:spcAft>
                <a:spcPts val="600"/>
              </a:spcAft>
            </a:pPr>
            <a:r>
              <a:rPr sz="2000" b="0" i="0">
                <a:solidFill>
                  <a:srgbClr val="142C4F"/>
                </a:solidFill>
                <a:latin typeface="Calibri"/>
              </a:rPr>
              <a:t>🎧  Listen 3: check with your partner.</a:t>
            </a:r>
          </a:p>
        </p:txBody>
      </p:sp>
      <p:sp>
        <p:nvSpPr>
          <p:cNvPr id="11" name="Rounded Rectangle 10"/>
          <p:cNvSpPr/>
          <p:nvPr/>
        </p:nvSpPr>
        <p:spPr>
          <a:xfrm>
            <a:off x="731520" y="5248656"/>
            <a:ext cx="5294376" cy="512064"/>
          </a:xfrm>
          <a:prstGeom prst="roundRect">
            <a:avLst>
              <a:gd name="adj" fmla="val 6000"/>
            </a:avLst>
          </a:prstGeom>
          <a:solidFill>
            <a:srgbClr val="E7F1FA"/>
          </a:solidFill>
          <a:ln w="19050">
            <a:solidFill>
              <a:srgbClr val="1E6FB8"/>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1300" b="1">
                <a:solidFill>
                  <a:srgbClr val="142C4F"/>
                </a:solidFill>
                <a:hlinkClick r:id="rId2"/>
              </a:rPr>
              <a:t>▶ U3L2</a:t>
            </a:r>
          </a:p>
        </p:txBody>
      </p:sp>
      <p:sp>
        <p:nvSpPr>
          <p:cNvPr id="12" name="Rounded Rectangle 11"/>
          <p:cNvSpPr/>
          <p:nvPr/>
        </p:nvSpPr>
        <p:spPr>
          <a:xfrm>
            <a:off x="6135624" y="5248656"/>
            <a:ext cx="5294376" cy="512064"/>
          </a:xfrm>
          <a:prstGeom prst="roundRect">
            <a:avLst>
              <a:gd name="adj" fmla="val 6000"/>
            </a:avLst>
          </a:prstGeom>
          <a:solidFill>
            <a:srgbClr val="E7F1FA"/>
          </a:solidFill>
          <a:ln w="19050">
            <a:solidFill>
              <a:srgbClr val="1E6FB8"/>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1300" b="1">
                <a:solidFill>
                  <a:srgbClr val="142C4F"/>
                </a:solidFill>
                <a:hlinkClick r:id="rId3"/>
              </a:rPr>
              <a:t>▶ U3L3</a:t>
            </a:r>
          </a:p>
        </p:txBody>
      </p:sp>
      <p:sp>
        <p:nvSpPr>
          <p:cNvPr id="13" name="Rounded Rectangle 12"/>
          <p:cNvSpPr/>
          <p:nvPr/>
        </p:nvSpPr>
        <p:spPr>
          <a:xfrm>
            <a:off x="731520" y="5824728"/>
            <a:ext cx="5294376" cy="512064"/>
          </a:xfrm>
          <a:prstGeom prst="roundRect">
            <a:avLst>
              <a:gd name="adj" fmla="val 6000"/>
            </a:avLst>
          </a:prstGeom>
          <a:solidFill>
            <a:srgbClr val="E3F3EE"/>
          </a:solidFill>
          <a:ln w="19050">
            <a:solidFill>
              <a:srgbClr val="0E7C6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1200" b="1">
                <a:solidFill>
                  <a:srgbClr val="0E7C66"/>
                </a:solidFill>
                <a:hlinkClick r:id="rId4"/>
              </a:rPr>
              <a:t>🌐 U3L2</a:t>
            </a:r>
          </a:p>
        </p:txBody>
      </p:sp>
      <p:sp>
        <p:nvSpPr>
          <p:cNvPr id="14" name="Rounded Rectangle 13"/>
          <p:cNvSpPr/>
          <p:nvPr/>
        </p:nvSpPr>
        <p:spPr>
          <a:xfrm>
            <a:off x="6135624" y="5824728"/>
            <a:ext cx="5294376" cy="512064"/>
          </a:xfrm>
          <a:prstGeom prst="roundRect">
            <a:avLst>
              <a:gd name="adj" fmla="val 6000"/>
            </a:avLst>
          </a:prstGeom>
          <a:solidFill>
            <a:srgbClr val="E3F3EE"/>
          </a:solidFill>
          <a:ln w="19050">
            <a:solidFill>
              <a:srgbClr val="0E7C6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1200" b="1">
                <a:solidFill>
                  <a:srgbClr val="0E7C66"/>
                </a:solidFill>
                <a:hlinkClick r:id="rId5"/>
              </a:rPr>
              <a:t>🌐 U3L3</a:t>
            </a:r>
          </a:p>
        </p:txBody>
      </p:sp>
      <p:sp>
        <p:nvSpPr>
          <p:cNvPr id="15" name="TextBox 14"/>
          <p:cNvSpPr txBox="1"/>
          <p:nvPr/>
        </p:nvSpPr>
        <p:spPr>
          <a:xfrm>
            <a:off x="731520" y="6428232"/>
            <a:ext cx="10698480" cy="384048"/>
          </a:xfrm>
          <a:prstGeom prst="rect">
            <a:avLst/>
          </a:prstGeom>
          <a:noFill/>
        </p:spPr>
        <p:txBody>
          <a:bodyPr wrap="square" anchor="t">
            <a:spAutoFit/>
          </a:bodyPr>
          <a:lstStyle/>
          <a:p>
            <a:pPr algn="l">
              <a:lnSpc>
                <a:spcPct val="100000"/>
              </a:lnSpc>
              <a:spcAft>
                <a:spcPts val="600"/>
              </a:spcAft>
            </a:pPr>
            <a:r>
              <a:rPr sz="1000" b="0" i="0">
                <a:solidFill>
                  <a:srgbClr val="6B7280"/>
                </a:solidFill>
                <a:latin typeface="Calibri"/>
              </a:rPr>
              <a:t>Recycled — this unit’s own verified recordings · replayed extracts · As in the original recordings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task  (1/2)</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U3.7-L1</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Your teacher plays six lines from this unit’s recordings. Write each line.</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____________________</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____________________</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____________________</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____________________</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____________________</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task  (2/2)</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U3.7-L1</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Your teacher plays six lines from this unit’s recordings. Write each line.</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6. ____________________</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Reading: What happened after the project</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U3L7</a:t>
            </a:r>
          </a:p>
        </p:txBody>
      </p:sp>
      <p:sp>
        <p:nvSpPr>
          <p:cNvPr id="8" name="Rounded Rectangle 7"/>
          <p:cNvSpPr/>
          <p:nvPr/>
        </p:nvSpPr>
        <p:spPr>
          <a:xfrm>
            <a:off x="640080" y="1371600"/>
            <a:ext cx="10881360" cy="4846320"/>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60120" y="1554480"/>
            <a:ext cx="10332720" cy="4480560"/>
          </a:xfrm>
          <a:prstGeom prst="rect">
            <a:avLst/>
          </a:prstGeom>
          <a:noFill/>
        </p:spPr>
        <p:txBody>
          <a:bodyPr wrap="square" anchor="t">
            <a:spAutoFit/>
          </a:bodyPr>
          <a:lstStyle/>
          <a:p>
            <a:pPr algn="l">
              <a:lnSpc>
                <a:spcPct val="115000"/>
              </a:lnSpc>
              <a:spcAft>
                <a:spcPts val="600"/>
              </a:spcAft>
            </a:pPr>
            <a:r>
              <a:rPr sz="1500" b="0" i="0">
                <a:solidFill>
                  <a:srgbClr val="1B1B1B"/>
                </a:solidFill>
                <a:latin typeface="Calibri"/>
              </a:rPr>
              <a:t>Three months after class 7A collected 214 books for the Sunflower Children's Home, something unexpected happened. The children at the home wrote 214 thank-you letters — one for every book. They sent them to the school in a big box. The head teacher read three of them at the Monday assembly and the whole school was silent. After that, two other classes started their own projects. Class 7B collected warm clothes and class 8A repaired old bicycles. Altogether, in one term, the school helped four different places. 'We only wanted to give some books,' said Khang. 'We didn't know it would grow like this.'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Reading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U3.7-R1</a:t>
            </a:r>
          </a:p>
        </p:txBody>
      </p:sp>
      <p:sp>
        <p:nvSpPr>
          <p:cNvPr id="8" name="Rounded Rectangle 7"/>
          <p:cNvSpPr/>
          <p:nvPr/>
        </p:nvSpPr>
        <p:spPr>
          <a:xfrm>
            <a:off x="640080" y="1371600"/>
            <a:ext cx="10881360" cy="777240"/>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Answer the questions.</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How many letters did the children write? Why that number?</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What did the head teacher do?</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What did classes 7B and 8A do?</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What does Khang mean in the last sentence?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Guided practice  (1/2)</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U3.7-G1</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Write the word.</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a person who works without money: ______</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rubbish on the ground: ______</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to use something again: ______</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a home for children with no parents: ______</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to give money or things: ______</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Guided practice  (2/2)</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U3.7-G1</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Write the word.</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6. people who lost their homes in a flood: ______</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Guided practice  (1/2)</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U3.7-G2</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Correct one mistake in each sentence.</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Yesterday we clean the park.</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They goed to the orphanage.</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I didn't finished my work.</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Did you went to the meeting?</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It did be very hot.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Guided practice  (2/2)</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U3.7-G2</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Correct one mistake in each sentence.</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6. She visit her grandmother last week.</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Your turn — independent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U3.7-I1</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Complete the text with the past simple.</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Write the eight verbs.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Your turn — independent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U3.7-I2</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Make your plan poster and prepare the presentation.</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Your turn — independent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U3.7-I2</a:t>
            </a:r>
          </a:p>
        </p:txBody>
      </p:sp>
      <p:sp>
        <p:nvSpPr>
          <p:cNvPr id="8" name="Rounded Rectangle 7"/>
          <p:cNvSpPr/>
          <p:nvPr/>
        </p:nvSpPr>
        <p:spPr>
          <a:xfrm>
            <a:off x="731520" y="1828800"/>
            <a:ext cx="10698480" cy="219456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2011680"/>
            <a:ext cx="10058400" cy="1828800"/>
          </a:xfrm>
          <a:prstGeom prst="rect">
            <a:avLst/>
          </a:prstGeom>
          <a:noFill/>
        </p:spPr>
        <p:txBody>
          <a:bodyPr wrap="square" anchor="ctr">
            <a:spAutoFit/>
          </a:bodyPr>
          <a:lstStyle/>
          <a:p>
            <a:pPr algn="l">
              <a:lnSpc>
                <a:spcPct val="100000"/>
              </a:lnSpc>
              <a:spcAft>
                <a:spcPts val="600"/>
              </a:spcAft>
            </a:pPr>
            <a:r>
              <a:rPr sz="2200" b="0" i="0">
                <a:solidFill>
                  <a:srgbClr val="1B1B1B"/>
                </a:solidFill>
                <a:latin typeface="Calibri"/>
              </a:rPr>
              <a:t>Make your plan poster and prepare the presentation.</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Speaking</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U3.7-S1</a:t>
            </a:r>
          </a:p>
        </p:txBody>
      </p:sp>
      <p:sp>
        <p:nvSpPr>
          <p:cNvPr id="8" name="Rounded Rectangle 7"/>
          <p:cNvSpPr/>
          <p:nvPr/>
        </p:nvSpPr>
        <p:spPr>
          <a:xfrm>
            <a:off x="640080" y="1371600"/>
            <a:ext cx="10881360" cy="777240"/>
          </a:xfrm>
          <a:prstGeom prst="roundRect">
            <a:avLst>
              <a:gd name="adj" fmla="val 6000"/>
            </a:avLst>
          </a:prstGeom>
          <a:solidFill>
            <a:srgbClr val="FCEA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Present your community service plan for two minutes. Everyone in the group speaks.</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Frame: 'Our plan is to… The problem in our area is… First, we are going to… Nam is responsible for… We will need… Thank you for listening.'</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Real-life English: Presenting a plan</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U3L7</a:t>
            </a:r>
          </a:p>
        </p:txBody>
      </p:sp>
      <p:sp>
        <p:nvSpPr>
          <p:cNvPr id="8" name="Rounded Rectangle 7"/>
          <p:cNvSpPr/>
          <p:nvPr/>
        </p:nvSpPr>
        <p:spPr>
          <a:xfrm>
            <a:off x="822960" y="1463040"/>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508760"/>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Our plan is to…</a:t>
            </a:r>
          </a:p>
        </p:txBody>
      </p:sp>
      <p:sp>
        <p:nvSpPr>
          <p:cNvPr id="10" name="Rounded Rectangle 9"/>
          <p:cNvSpPr/>
          <p:nvPr/>
        </p:nvSpPr>
        <p:spPr>
          <a:xfrm>
            <a:off x="822960" y="2212848"/>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97280" y="2258568"/>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We are going to…</a:t>
            </a:r>
          </a:p>
        </p:txBody>
      </p:sp>
      <p:sp>
        <p:nvSpPr>
          <p:cNvPr id="12" name="Rounded Rectangle 11"/>
          <p:cNvSpPr/>
          <p:nvPr/>
        </p:nvSpPr>
        <p:spPr>
          <a:xfrm>
            <a:off x="822960" y="2962656"/>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97280" y="3008376"/>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X is responsible for…</a:t>
            </a:r>
          </a:p>
        </p:txBody>
      </p:sp>
      <p:sp>
        <p:nvSpPr>
          <p:cNvPr id="14" name="Rounded Rectangle 13"/>
          <p:cNvSpPr/>
          <p:nvPr/>
        </p:nvSpPr>
        <p:spPr>
          <a:xfrm>
            <a:off x="822960" y="3712464"/>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97280" y="3758184"/>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We will need…</a:t>
            </a:r>
          </a:p>
        </p:txBody>
      </p:sp>
      <p:sp>
        <p:nvSpPr>
          <p:cNvPr id="16" name="Rounded Rectangle 15"/>
          <p:cNvSpPr/>
          <p:nvPr/>
        </p:nvSpPr>
        <p:spPr>
          <a:xfrm>
            <a:off x="822960" y="4462272"/>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1097280" y="4507992"/>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Does anyone have a question?</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Role play — in pairs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U3L7</a:t>
            </a:r>
          </a:p>
        </p:txBody>
      </p:sp>
      <p:sp>
        <p:nvSpPr>
          <p:cNvPr id="8" name="Rounded Rectangle 7"/>
          <p:cNvSpPr/>
          <p:nvPr/>
        </p:nvSpPr>
        <p:spPr>
          <a:xfrm>
            <a:off x="731520" y="1737360"/>
            <a:ext cx="10698480" cy="2560320"/>
          </a:xfrm>
          <a:prstGeom prst="roundRect">
            <a:avLst>
              <a:gd name="adj" fmla="val 6000"/>
            </a:avLst>
          </a:prstGeom>
          <a:solidFill>
            <a:srgbClr val="FCEA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920240"/>
            <a:ext cx="10058400" cy="219456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Present the plan to the 'school committee' (the rest of the class), who ask two questions each.</a:t>
            </a:r>
          </a:p>
        </p:txBody>
      </p:sp>
      <p:sp>
        <p:nvSpPr>
          <p:cNvPr id="10" name="TextBox 9"/>
          <p:cNvSpPr txBox="1"/>
          <p:nvPr/>
        </p:nvSpPr>
        <p:spPr>
          <a:xfrm>
            <a:off x="822960" y="4663440"/>
            <a:ext cx="10515600" cy="1280160"/>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 2 minutes to prepare  ·  2 minutes to perform  ·  then swap roles</a:t>
            </a:r>
          </a:p>
          <a:p>
            <a:pPr algn="l">
              <a:lnSpc>
                <a:spcPct val="100000"/>
              </a:lnSpc>
              <a:spcAft>
                <a:spcPts val="600"/>
              </a:spcAft>
            </a:pPr>
            <a:r>
              <a:rPr sz="1900" b="1" i="0">
                <a:solidFill>
                  <a:srgbClr val="142C4F"/>
                </a:solidFill>
                <a:latin typeface="Calibri"/>
              </a:rPr>
              <a:t>Do not read! Look at your partner.</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Writing</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U3.7-W1</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Write your group's plan on the poster.</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What / Where / When / Who does what / What we need (5 sentences)</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Plus 2 sentences about a similar activity that someone did before (past simple).</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Let's remember today's English</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U3L7</a:t>
            </a:r>
          </a:p>
        </p:txBody>
      </p:sp>
      <p:sp>
        <p:nvSpPr>
          <p:cNvPr id="8" name="Rounded Rectangle 7"/>
          <p:cNvSpPr/>
          <p:nvPr/>
        </p:nvSpPr>
        <p:spPr>
          <a:xfrm>
            <a:off x="731520" y="1600200"/>
            <a:ext cx="10698480" cy="841248"/>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51560" y="1673352"/>
            <a:ext cx="10241280" cy="713232"/>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Community and volunteering vocabulary (22 items)</a:t>
            </a:r>
          </a:p>
        </p:txBody>
      </p:sp>
      <p:sp>
        <p:nvSpPr>
          <p:cNvPr id="10" name="Rounded Rectangle 9"/>
          <p:cNvSpPr/>
          <p:nvPr/>
        </p:nvSpPr>
        <p:spPr>
          <a:xfrm>
            <a:off x="731520" y="2560320"/>
            <a:ext cx="10698480" cy="841248"/>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51560" y="2633472"/>
            <a:ext cx="10241280" cy="713232"/>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Past simple: all three forms</a:t>
            </a:r>
          </a:p>
        </p:txBody>
      </p:sp>
      <p:sp>
        <p:nvSpPr>
          <p:cNvPr id="12" name="Rounded Rectangle 11"/>
          <p:cNvSpPr/>
          <p:nvPr/>
        </p:nvSpPr>
        <p:spPr>
          <a:xfrm>
            <a:off x="731520" y="3520440"/>
            <a:ext cx="10698480" cy="841248"/>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51560" y="3593592"/>
            <a:ext cx="10241280" cy="713232"/>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Irregular verbs (12)</a:t>
            </a:r>
          </a:p>
        </p:txBody>
      </p:sp>
      <p:sp>
        <p:nvSpPr>
          <p:cNvPr id="14" name="Rounded Rectangle 13"/>
          <p:cNvSpPr/>
          <p:nvPr/>
        </p:nvSpPr>
        <p:spPr>
          <a:xfrm>
            <a:off x="731520" y="4480560"/>
            <a:ext cx="10698480" cy="841248"/>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51560" y="4553712"/>
            <a:ext cx="10241280" cy="713232"/>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-ed sounds</a:t>
            </a:r>
          </a:p>
        </p:txBody>
      </p:sp>
      <p:sp>
        <p:nvSpPr>
          <p:cNvPr id="16" name="Rounded Rectangle 15"/>
          <p:cNvSpPr/>
          <p:nvPr/>
        </p:nvSpPr>
        <p:spPr>
          <a:xfrm>
            <a:off x="731520" y="5440680"/>
            <a:ext cx="10698480" cy="841248"/>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1051560" y="5513832"/>
            <a:ext cx="10241280" cy="713232"/>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Sequence words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Homework — write it in your notebook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U3L7</a:t>
            </a:r>
          </a:p>
        </p:txBody>
      </p:sp>
      <p:sp>
        <p:nvSpPr>
          <p:cNvPr id="8" name="Rounded Rectangle 7"/>
          <p:cNvSpPr/>
          <p:nvPr/>
        </p:nvSpPr>
        <p:spPr>
          <a:xfrm>
            <a:off x="731520" y="1554480"/>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05840" y="1609344"/>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U3.7-H1</a:t>
            </a:r>
          </a:p>
        </p:txBody>
      </p:sp>
      <p:sp>
        <p:nvSpPr>
          <p:cNvPr id="10" name="TextBox 9"/>
          <p:cNvSpPr txBox="1"/>
          <p:nvPr/>
        </p:nvSpPr>
        <p:spPr>
          <a:xfrm>
            <a:off x="2743200" y="1609344"/>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Vocabulary — Write 10 words from Unit 3 with their Vietnamese meanings.</a:t>
            </a:r>
          </a:p>
        </p:txBody>
      </p:sp>
      <p:sp>
        <p:nvSpPr>
          <p:cNvPr id="11" name="Rounded Rectangle 10"/>
          <p:cNvSpPr/>
          <p:nvPr/>
        </p:nvSpPr>
        <p:spPr>
          <a:xfrm>
            <a:off x="731520" y="2523744"/>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1005840" y="2578608"/>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U3.7-H2</a:t>
            </a:r>
          </a:p>
        </p:txBody>
      </p:sp>
      <p:sp>
        <p:nvSpPr>
          <p:cNvPr id="13" name="TextBox 12"/>
          <p:cNvSpPr txBox="1"/>
          <p:nvPr/>
        </p:nvSpPr>
        <p:spPr>
          <a:xfrm>
            <a:off x="2743200" y="2578608"/>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Grammar — Choose the correct answer.</a:t>
            </a:r>
          </a:p>
        </p:txBody>
      </p:sp>
      <p:sp>
        <p:nvSpPr>
          <p:cNvPr id="14" name="Rounded Rectangle 13"/>
          <p:cNvSpPr/>
          <p:nvPr/>
        </p:nvSpPr>
        <p:spPr>
          <a:xfrm>
            <a:off x="731520" y="3493008"/>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05840" y="3547872"/>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U3.7-H3</a:t>
            </a:r>
          </a:p>
        </p:txBody>
      </p:sp>
      <p:sp>
        <p:nvSpPr>
          <p:cNvPr id="16" name="TextBox 15"/>
          <p:cNvSpPr txBox="1"/>
          <p:nvPr/>
        </p:nvSpPr>
        <p:spPr>
          <a:xfrm>
            <a:off x="2743200" y="3547872"/>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Writing — Write a diary entry (90–100 words) about a day you helped someone.</a:t>
            </a:r>
          </a:p>
        </p:txBody>
      </p:sp>
      <p:sp>
        <p:nvSpPr>
          <p:cNvPr id="17" name="Rounded Rectangle 16"/>
          <p:cNvSpPr/>
          <p:nvPr/>
        </p:nvSpPr>
        <p:spPr>
          <a:xfrm>
            <a:off x="731520" y="4462272"/>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1005840" y="4517136"/>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U3.7-H4</a:t>
            </a:r>
          </a:p>
        </p:txBody>
      </p:sp>
      <p:sp>
        <p:nvSpPr>
          <p:cNvPr id="19" name="TextBox 18"/>
          <p:cNvSpPr txBox="1"/>
          <p:nvPr/>
        </p:nvSpPr>
        <p:spPr>
          <a:xfrm>
            <a:off x="2743200" y="4517136"/>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Prepare for Unit 4 — Write the names of five kinds of music or art in Vietnamese or English.</a:t>
            </a:r>
          </a:p>
        </p:txBody>
      </p:sp>
      <p:sp>
        <p:nvSpPr>
          <p:cNvPr id="20" name="TextBox 19"/>
          <p:cNvSpPr txBox="1"/>
          <p:nvPr/>
        </p:nvSpPr>
        <p:spPr>
          <a:xfrm>
            <a:off x="731520" y="5989320"/>
            <a:ext cx="10698480" cy="640080"/>
          </a:xfrm>
          <a:prstGeom prst="rect">
            <a:avLst/>
          </a:prstGeom>
          <a:noFill/>
        </p:spPr>
        <p:txBody>
          <a:bodyPr wrap="square" anchor="t">
            <a:spAutoFit/>
          </a:bodyPr>
          <a:lstStyle/>
          <a:p>
            <a:pPr algn="ctr">
              <a:lnSpc>
                <a:spcPct val="100000"/>
              </a:lnSpc>
              <a:spcAft>
                <a:spcPts val="600"/>
              </a:spcAft>
            </a:pPr>
            <a:r>
              <a:rPr sz="1800" b="0" i="0">
                <a:solidFill>
                  <a:srgbClr val="6B7280"/>
                </a:solidFill>
                <a:latin typeface="Calibri"/>
              </a:rPr>
              <a:t>Homework Book, section U3L7   ·   See you next lesson!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