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3  ·  LESSON 7  ·  PERIOD 21</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LOOKING BACK &amp; PROJECT</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Unit 3 review and Our Community Service Plan</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U3L7</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recall the community vocabulary of Unit 3</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use the past simple accurately in all three forms</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correct the six typical mistakes of the unit</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plan and present a real community service activity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Irregular verb bingo  (6')</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U3L7</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Students write nine past forms in a 3×3 grid. Teacher says the base verb; students cross out the past form.</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Play bingo with irregular verbs.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U3L7</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plan</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/plæn/   (n/v)</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kế hoạch; lên kế hoạch</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Here is our plan for Saturday.</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responsible for</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/rɪˈspɒnsəbl fɔː/   (adj phr)</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chịu trách nhiệm</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Nam is responsible for the posters.</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in charge of</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/ɪn tʃɑːdʒ əv/   (phr)</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phụ trách</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Mai is in charge of the money.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U3L7</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We are going to…</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X is responsible for…</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We will need…</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Our plan is to…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Grammar: Unit 3 grammar in one page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U3L7</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Past simple positive: regular + ed / irregular forms</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Negative: didn't + bare verb</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Question: Did + subject + bare verb?</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be: was / were, wasn't / weren't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U3L7</a:t>
            </a:r>
          </a:p>
        </p:txBody>
      </p:sp>
      <p:graphicFrame>
        <p:nvGraphicFramePr>
          <p:cNvPr id="8" name="Table 7"/>
          <p:cNvGraphicFramePr>
            <a:graphicFrameLocks noGrp="1"/>
          </p:cNvGraphicFramePr>
          <p:nvPr/>
        </p:nvGraphicFramePr>
        <p:xfrm>
          <a:off x="548640" y="1463040"/>
          <a:ext cx="11064240" cy="3401568"/>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600" b="1">
                          <a:solidFill>
                            <a:srgbClr val="FFFFFF"/>
                          </a:solidFill>
                          <a:latin typeface="Calibri"/>
                        </a:rPr>
                        <a:t>Structure</a:t>
                      </a:r>
                    </a:p>
                  </a:txBody>
                  <a:tcPr>
                    <a:solidFill>
                      <a:srgbClr val="0E7C66"/>
                    </a:solidFill>
                  </a:tcPr>
                </a:tc>
                <a:tc>
                  <a:txBody>
                    <a:bodyPr/>
                    <a:lstStyle/>
                    <a:p>
                      <a:r>
                        <a:rPr sz="1600" b="1">
                          <a:solidFill>
                            <a:srgbClr val="FFFFFF"/>
                          </a:solidFill>
                          <a:latin typeface="Calibri"/>
                        </a:rPr>
                        <a:t>Example</a:t>
                      </a:r>
                    </a:p>
                  </a:txBody>
                  <a:tcPr>
                    <a:solidFill>
                      <a:srgbClr val="0E7C66"/>
                    </a:solidFill>
                  </a:tcPr>
                </a:tc>
                <a:tc>
                  <a:txBody>
                    <a:bodyPr/>
                    <a:lstStyle/>
                    <a:p>
                      <a:r>
                        <a:rPr sz="1600" b="1">
                          <a:solidFill>
                            <a:srgbClr val="FFFFFF"/>
                          </a:solidFill>
                          <a:latin typeface="Calibri"/>
                        </a:rPr>
                        <a:t>Common mistake</a:t>
                      </a:r>
                    </a:p>
                  </a:txBody>
                  <a:tcPr>
                    <a:solidFill>
                      <a:srgbClr val="0E7C66"/>
                    </a:solidFill>
                  </a:tcPr>
                </a:tc>
              </a:tr>
              <a:tr h="566928">
                <a:tc>
                  <a:txBody>
                    <a:bodyPr/>
                    <a:lstStyle/>
                    <a:p>
                      <a:r>
                        <a:rPr sz="1600" b="0">
                          <a:solidFill>
                            <a:srgbClr val="1B1B1B"/>
                          </a:solidFill>
                          <a:latin typeface="Calibri"/>
                        </a:rPr>
                        <a:t>regular past</a:t>
                      </a:r>
                    </a:p>
                  </a:txBody>
                  <a:tcPr>
                    <a:solidFill>
                      <a:srgbClr val="E3F3EE"/>
                    </a:solidFill>
                  </a:tcPr>
                </a:tc>
                <a:tc>
                  <a:txBody>
                    <a:bodyPr/>
                    <a:lstStyle/>
                    <a:p>
                      <a:r>
                        <a:rPr sz="1600" b="0">
                          <a:solidFill>
                            <a:srgbClr val="1B1B1B"/>
                          </a:solidFill>
                          <a:latin typeface="Calibri"/>
                        </a:rPr>
                        <a:t>We cleaned the park.</a:t>
                      </a:r>
                    </a:p>
                  </a:txBody>
                  <a:tcPr>
                    <a:solidFill>
                      <a:srgbClr val="E3F3EE"/>
                    </a:solidFill>
                  </a:tcPr>
                </a:tc>
                <a:tc>
                  <a:txBody>
                    <a:bodyPr/>
                    <a:lstStyle/>
                    <a:p>
                      <a:r>
                        <a:rPr sz="1600" b="0">
                          <a:solidFill>
                            <a:srgbClr val="1B1B1B"/>
                          </a:solidFill>
                          <a:latin typeface="Calibri"/>
                        </a:rPr>
                        <a:t>*We clean the park yesterday.</a:t>
                      </a:r>
                    </a:p>
                  </a:txBody>
                  <a:tcPr>
                    <a:solidFill>
                      <a:srgbClr val="E3F3EE"/>
                    </a:solidFill>
                  </a:tcPr>
                </a:tc>
              </a:tr>
              <a:tr h="566928">
                <a:tc>
                  <a:txBody>
                    <a:bodyPr/>
                    <a:lstStyle/>
                    <a:p>
                      <a:r>
                        <a:rPr sz="1600" b="0">
                          <a:solidFill>
                            <a:srgbClr val="1B1B1B"/>
                          </a:solidFill>
                          <a:latin typeface="Calibri"/>
                        </a:rPr>
                        <a:t>irregular past</a:t>
                      </a:r>
                    </a:p>
                  </a:txBody>
                  <a:tcPr>
                    <a:solidFill>
                      <a:srgbClr val="FFFFFF"/>
                    </a:solidFill>
                  </a:tcPr>
                </a:tc>
                <a:tc>
                  <a:txBody>
                    <a:bodyPr/>
                    <a:lstStyle/>
                    <a:p>
                      <a:r>
                        <a:rPr sz="1600" b="0">
                          <a:solidFill>
                            <a:srgbClr val="1B1B1B"/>
                          </a:solidFill>
                          <a:latin typeface="Calibri"/>
                        </a:rPr>
                        <a:t>They went to the village.</a:t>
                      </a:r>
                    </a:p>
                  </a:txBody>
                  <a:tcPr>
                    <a:solidFill>
                      <a:srgbClr val="FFFFFF"/>
                    </a:solidFill>
                  </a:tcPr>
                </a:tc>
                <a:tc>
                  <a:txBody>
                    <a:bodyPr/>
                    <a:lstStyle/>
                    <a:p>
                      <a:r>
                        <a:rPr sz="1600" b="0">
                          <a:solidFill>
                            <a:srgbClr val="1B1B1B"/>
                          </a:solidFill>
                          <a:latin typeface="Calibri"/>
                        </a:rPr>
                        <a:t>*They goed to the village.</a:t>
                      </a:r>
                    </a:p>
                  </a:txBody>
                  <a:tcPr>
                    <a:solidFill>
                      <a:srgbClr val="FFFFFF"/>
                    </a:solidFill>
                  </a:tcPr>
                </a:tc>
              </a:tr>
              <a:tr h="566928">
                <a:tc>
                  <a:txBody>
                    <a:bodyPr/>
                    <a:lstStyle/>
                    <a:p>
                      <a:r>
                        <a:rPr sz="1600" b="0">
                          <a:solidFill>
                            <a:srgbClr val="1B1B1B"/>
                          </a:solidFill>
                          <a:latin typeface="Calibri"/>
                        </a:rPr>
                        <a:t>didn't + bare verb</a:t>
                      </a:r>
                    </a:p>
                  </a:txBody>
                  <a:tcPr>
                    <a:solidFill>
                      <a:srgbClr val="E3F3EE"/>
                    </a:solidFill>
                  </a:tcPr>
                </a:tc>
                <a:tc>
                  <a:txBody>
                    <a:bodyPr/>
                    <a:lstStyle/>
                    <a:p>
                      <a:r>
                        <a:rPr sz="1600" b="0">
                          <a:solidFill>
                            <a:srgbClr val="1B1B1B"/>
                          </a:solidFill>
                          <a:latin typeface="Calibri"/>
                        </a:rPr>
                        <a:t>I didn't finish.</a:t>
                      </a:r>
                    </a:p>
                  </a:txBody>
                  <a:tcPr>
                    <a:solidFill>
                      <a:srgbClr val="E3F3EE"/>
                    </a:solidFill>
                  </a:tcPr>
                </a:tc>
                <a:tc>
                  <a:txBody>
                    <a:bodyPr/>
                    <a:lstStyle/>
                    <a:p>
                      <a:r>
                        <a:rPr sz="1600" b="0">
                          <a:solidFill>
                            <a:srgbClr val="1B1B1B"/>
                          </a:solidFill>
                          <a:latin typeface="Calibri"/>
                        </a:rPr>
                        <a:t>*I didn't finished.</a:t>
                      </a:r>
                    </a:p>
                  </a:txBody>
                  <a:tcPr>
                    <a:solidFill>
                      <a:srgbClr val="E3F3EE"/>
                    </a:solidFill>
                  </a:tcPr>
                </a:tc>
              </a:tr>
              <a:tr h="566928">
                <a:tc>
                  <a:txBody>
                    <a:bodyPr/>
                    <a:lstStyle/>
                    <a:p>
                      <a:r>
                        <a:rPr sz="1600" b="0">
                          <a:solidFill>
                            <a:srgbClr val="1B1B1B"/>
                          </a:solidFill>
                          <a:latin typeface="Calibri"/>
                        </a:rPr>
                        <a:t>Did + bare verb?</a:t>
                      </a:r>
                    </a:p>
                  </a:txBody>
                  <a:tcPr>
                    <a:solidFill>
                      <a:srgbClr val="FFFFFF"/>
                    </a:solidFill>
                  </a:tcPr>
                </a:tc>
                <a:tc>
                  <a:txBody>
                    <a:bodyPr/>
                    <a:lstStyle/>
                    <a:p>
                      <a:r>
                        <a:rPr sz="1600" b="0">
                          <a:solidFill>
                            <a:srgbClr val="1B1B1B"/>
                          </a:solidFill>
                          <a:latin typeface="Calibri"/>
                        </a:rPr>
                        <a:t>Did you help?</a:t>
                      </a:r>
                    </a:p>
                  </a:txBody>
                  <a:tcPr>
                    <a:solidFill>
                      <a:srgbClr val="FFFFFF"/>
                    </a:solidFill>
                  </a:tcPr>
                </a:tc>
                <a:tc>
                  <a:txBody>
                    <a:bodyPr/>
                    <a:lstStyle/>
                    <a:p>
                      <a:r>
                        <a:rPr sz="1600" b="0">
                          <a:solidFill>
                            <a:srgbClr val="1B1B1B"/>
                          </a:solidFill>
                          <a:latin typeface="Calibri"/>
                        </a:rPr>
                        <a:t>*Did you helped?</a:t>
                      </a:r>
                    </a:p>
                  </a:txBody>
                  <a:tcPr>
                    <a:solidFill>
                      <a:srgbClr val="FFFFFF"/>
                    </a:solidFill>
                  </a:tcPr>
                </a:tc>
              </a:tr>
              <a:tr h="566928">
                <a:tc>
                  <a:txBody>
                    <a:bodyPr/>
                    <a:lstStyle/>
                    <a:p>
                      <a:r>
                        <a:rPr sz="1600" b="0">
                          <a:solidFill>
                            <a:srgbClr val="1B1B1B"/>
                          </a:solidFill>
                          <a:latin typeface="Calibri"/>
                        </a:rPr>
                        <a:t>was / were</a:t>
                      </a:r>
                    </a:p>
                  </a:txBody>
                  <a:tcPr>
                    <a:solidFill>
                      <a:srgbClr val="E3F3EE"/>
                    </a:solidFill>
                  </a:tcPr>
                </a:tc>
                <a:tc>
                  <a:txBody>
                    <a:bodyPr/>
                    <a:lstStyle/>
                    <a:p>
                      <a:r>
                        <a:rPr sz="1600" b="0">
                          <a:solidFill>
                            <a:srgbClr val="1B1B1B"/>
                          </a:solidFill>
                          <a:latin typeface="Calibri"/>
                        </a:rPr>
                        <a:t>It was hot. They were tired.</a:t>
                      </a:r>
                    </a:p>
                  </a:txBody>
                  <a:tcPr>
                    <a:solidFill>
                      <a:srgbClr val="E3F3EE"/>
                    </a:solidFill>
                  </a:tcPr>
                </a:tc>
                <a:tc>
                  <a:txBody>
                    <a:bodyPr/>
                    <a:lstStyle/>
                    <a:p>
                      <a:r>
                        <a:rPr sz="1600" b="0">
                          <a:solidFill>
                            <a:srgbClr val="1B1B1B"/>
                          </a:solidFill>
                          <a:latin typeface="Calibri"/>
                        </a:rPr>
                        <a:t>*It did be hot.</a:t>
                      </a:r>
                    </a:p>
                  </a:txBody>
                  <a:tcPr>
                    <a:solidFill>
                      <a:srgbClr val="E3F3EE"/>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U3L7</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Last Sunday our class went to the beach. We collected 42 bags of litter. We didn't finish before twelve, but nobody com…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U3L7</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Add the Unit 3 errors to the classroom wall list. The 'did + past verb' error will return for months — keep pointing at the box.</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Last Sunday our class went to the beach. We collected 42 bags of litter. We didn't finish before twelve, but …</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Unit 3 sounds review: -ed endings and linking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U3L7</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Three checks: is the -ed there? is it the right sound? do the words link?</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 helped, worked, washed</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/d/ cleaned, played, carried</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/ɪd/ visited, painted, donated</a:t>
            </a:r>
          </a:p>
        </p:txBody>
      </p:sp>
      <p:sp>
        <p:nvSpPr>
          <p:cNvPr id="16" name="Rounded Rectangle 15"/>
          <p:cNvSpPr/>
          <p:nvPr/>
        </p:nvSpPr>
        <p:spPr>
          <a:xfrm>
            <a:off x="731520" y="5020056"/>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5065776"/>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picked_up, cleaned_it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U3L7</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We helped, cleaned and painted, and we picked up a lot of litter.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Looking Back — listen again</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U3L7</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No new recording. You hear this unit’s own recordings again: The past simple: -ed verbs · The past simple: irregular verbs.</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TextBox 10"/>
          <p:cNvSpPr txBox="1"/>
          <p:nvPr/>
        </p:nvSpPr>
        <p:spPr>
          <a:xfrm>
            <a:off x="731520" y="5577840"/>
            <a:ext cx="10698480" cy="822960"/>
          </a:xfrm>
          <a:prstGeom prst="rect">
            <a:avLst/>
          </a:prstGeom>
          <a:noFill/>
        </p:spPr>
        <p:txBody>
          <a:bodyPr wrap="square" anchor="t">
            <a:spAutoFit/>
          </a:bodyPr>
          <a:lstStyle/>
          <a:p>
            <a:pPr algn="l">
              <a:lnSpc>
                <a:spcPct val="100000"/>
              </a:lnSpc>
              <a:spcAft>
                <a:spcPts val="600"/>
              </a:spcAft>
            </a:pPr>
            <a:r>
              <a:rPr sz="1200" b="0" i="0">
                <a:solidFill>
                  <a:srgbClr val="6B7280"/>
                </a:solidFill>
                <a:latin typeface="Calibri"/>
              </a:rPr>
              <a:t>Recycled — this unit’s own verified recordings · replayed extracts · As in the original recordings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U3.7-L1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Your teacher plays six lines from this unit’s recordings. Write each line.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____________________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____________________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____________________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____________________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____________________</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U3.7-L1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Your teacher plays six lines from this unit’s recordings. Write each line.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____________________</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What happened after the project</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U3L7</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Three months after class 7A collected 214 books for the Sunflower Children's Home, something unexpected happened. The children at the home wrote 214 thank-you letters — one for every book. They sent them to the school in a big box. The head teacher read three of them at the Monday assembly and the whole school was silent. After that, two other classes started their own projects. Class 7B collected warm clothes and class 8A repaired old bicycles. Altogether, in one term, the school helped four different places. 'We only wanted to give some books,' said Khang. 'We didn't know it would grow like this.'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U3.7-R1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How many letters did the children write? Why that number?</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What did the head teacher do?</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What did classes 7B and 8A do?</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What does Khang mean in the last sentence?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U3.7-G1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 person who works without money: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rubbish on the ground: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to use something again: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a home for children with no parents: 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to give money or things: ______</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U3.7-G1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people who lost their homes in a flood: ______</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U3.7-G2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Yesterday we clean the park.</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They goed to the orphanage.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 didn't finished my work.</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Did you went to the meeting?</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It did be very hot.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U3.7-G2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She visit her grandmother last week.</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U3.7-I1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text with the past simple.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Write the eight verbs.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U3.7-I2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Make your plan poster and prepare the presentation.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U3.7-I2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Make your plan poster and prepare the presentation.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U3.7-S1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Present your community service plan for two minutes. Everyone in the group speaks.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Frame: 'Our plan is to… The problem in our area is… First, we are going to… Nam is responsible for… We will need… Thank you for listening.'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Real-life English: Presenting a plan</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U3L7</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Our plan is to…</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We are going to…</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X is responsible for…</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We will need…</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Does anyone have a question?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U3L7</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Present the plan to the 'school committee' (the rest of the class), who ask two questions each.</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U3.7-W1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your group's plan on the poster.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What / Where / When / Who does what / What we need (5 sentences)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Plus 2 sentences about a similar activity that someone did before (past simple).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U3L7</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Community and volunteering vocabulary (22 items)</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Past simple: all three forms</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Irregular verbs (12)</a:t>
            </a:r>
          </a:p>
        </p:txBody>
      </p:sp>
      <p:sp>
        <p:nvSpPr>
          <p:cNvPr id="14" name="Rounded Rectangle 13"/>
          <p:cNvSpPr/>
          <p:nvPr/>
        </p:nvSpPr>
        <p:spPr>
          <a:xfrm>
            <a:off x="731520" y="448056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51560" y="455371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-ed sounds</a:t>
            </a:r>
          </a:p>
        </p:txBody>
      </p:sp>
      <p:sp>
        <p:nvSpPr>
          <p:cNvPr id="16" name="Rounded Rectangle 15"/>
          <p:cNvSpPr/>
          <p:nvPr/>
        </p:nvSpPr>
        <p:spPr>
          <a:xfrm>
            <a:off x="731520" y="544068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51560" y="551383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Sequence words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U3L7</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U3.7-H1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Write 10 words from Unit 3 with their Vietnamese meanings.</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U3.7-H2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Choose the correct answer.</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U3.7-H3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a diary entry (90–100 words) about a day you helped someone.</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U3.7-H4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Prepare for Unit 4 — Write the names of five kinds of music or art in Vietnamese or English.</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U3L7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