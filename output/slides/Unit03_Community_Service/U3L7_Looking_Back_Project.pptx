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3L2_1_A2-06-Past-Tense-ED.mp3" TargetMode="External"/><Relationship Id="rId3" Type="http://schemas.openxmlformats.org/officeDocument/2006/relationships/hyperlink" Target="../../../audio/FU3L3_1_A2-07-Past-Tense-Irregular.mp3"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3  ·  LESSON 7  ·  PERIOD 23</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3 review and Our Community Service Plan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community vocabulary of Unit 3</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the past simple accurately in all three forms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plan and present a real community service activity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Irregular verb bingo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write nine past forms in a 3×3 grid. Teacher says the base verb; students cross out the past form.</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bingo with irregular verbs.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plan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/plæn/   (n/v)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kế hoạch; lên kế hoạch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Here is our plan for Saturday.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responsible for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/rɪˈspɒnsəbl fɔː/   (adj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chịu trách nhiệm</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Nam is responsible for the posters.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 charge of</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 tʃɑːdʒ əv/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phụ trách</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Mai is in charge of the money.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are going to…</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X is responsible for…</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will need…</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plan is to…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3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Past simple positive: regular + ed / irregular forms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Negative: didn't + bare verb</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Question: Did + subject + bare verb?</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be: was / were, wasn't / weren't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regular past</a:t>
                      </a:r>
                    </a:p>
                  </a:txBody>
                  <a:tcPr>
                    <a:solidFill>
                      <a:srgbClr val="E3F3EE"/>
                    </a:solidFill>
                  </a:tcPr>
                </a:tc>
                <a:tc>
                  <a:txBody>
                    <a:bodyPr/>
                    <a:lstStyle/>
                    <a:p>
                      <a:r>
                        <a:rPr sz="1600" b="0">
                          <a:solidFill>
                            <a:srgbClr val="1B1B1B"/>
                          </a:solidFill>
                          <a:latin typeface="Calibri"/>
                        </a:rPr>
                        <a:t>We cleaned the park.</a:t>
                      </a:r>
                    </a:p>
                  </a:txBody>
                  <a:tcPr>
                    <a:solidFill>
                      <a:srgbClr val="E3F3EE"/>
                    </a:solidFill>
                  </a:tcPr>
                </a:tc>
                <a:tc>
                  <a:txBody>
                    <a:bodyPr/>
                    <a:lstStyle/>
                    <a:p>
                      <a:r>
                        <a:rPr sz="1600" b="0">
                          <a:solidFill>
                            <a:srgbClr val="1B1B1B"/>
                          </a:solidFill>
                          <a:latin typeface="Calibri"/>
                        </a:rPr>
                        <a:t>*We clean the park yesterday.</a:t>
                      </a:r>
                    </a:p>
                  </a:txBody>
                  <a:tcPr>
                    <a:solidFill>
                      <a:srgbClr val="E3F3EE"/>
                    </a:solidFill>
                  </a:tcPr>
                </a:tc>
              </a:tr>
              <a:tr h="566928">
                <a:tc>
                  <a:txBody>
                    <a:bodyPr/>
                    <a:lstStyle/>
                    <a:p>
                      <a:r>
                        <a:rPr sz="1600" b="0">
                          <a:solidFill>
                            <a:srgbClr val="1B1B1B"/>
                          </a:solidFill>
                          <a:latin typeface="Calibri"/>
                        </a:rPr>
                        <a:t>irregular past</a:t>
                      </a:r>
                    </a:p>
                  </a:txBody>
                  <a:tcPr>
                    <a:solidFill>
                      <a:srgbClr val="FFFFFF"/>
                    </a:solidFill>
                  </a:tcPr>
                </a:tc>
                <a:tc>
                  <a:txBody>
                    <a:bodyPr/>
                    <a:lstStyle/>
                    <a:p>
                      <a:r>
                        <a:rPr sz="1600" b="0">
                          <a:solidFill>
                            <a:srgbClr val="1B1B1B"/>
                          </a:solidFill>
                          <a:latin typeface="Calibri"/>
                        </a:rPr>
                        <a:t>They went to the village.</a:t>
                      </a:r>
                    </a:p>
                  </a:txBody>
                  <a:tcPr>
                    <a:solidFill>
                      <a:srgbClr val="FFFFFF"/>
                    </a:solidFill>
                  </a:tcPr>
                </a:tc>
                <a:tc>
                  <a:txBody>
                    <a:bodyPr/>
                    <a:lstStyle/>
                    <a:p>
                      <a:r>
                        <a:rPr sz="1600" b="0">
                          <a:solidFill>
                            <a:srgbClr val="1B1B1B"/>
                          </a:solidFill>
                          <a:latin typeface="Calibri"/>
                        </a:rPr>
                        <a:t>*They goed to the village.</a:t>
                      </a:r>
                    </a:p>
                  </a:txBody>
                  <a:tcPr>
                    <a:solidFill>
                      <a:srgbClr val="FFFFFF"/>
                    </a:solidFill>
                  </a:tcPr>
                </a:tc>
              </a:tr>
              <a:tr h="566928">
                <a:tc>
                  <a:txBody>
                    <a:bodyPr/>
                    <a:lstStyle/>
                    <a:p>
                      <a:r>
                        <a:rPr sz="1600" b="0">
                          <a:solidFill>
                            <a:srgbClr val="1B1B1B"/>
                          </a:solidFill>
                          <a:latin typeface="Calibri"/>
                        </a:rPr>
                        <a:t>didn't + bare verb</a:t>
                      </a:r>
                    </a:p>
                  </a:txBody>
                  <a:tcPr>
                    <a:solidFill>
                      <a:srgbClr val="E3F3EE"/>
                    </a:solidFill>
                  </a:tcPr>
                </a:tc>
                <a:tc>
                  <a:txBody>
                    <a:bodyPr/>
                    <a:lstStyle/>
                    <a:p>
                      <a:r>
                        <a:rPr sz="1600" b="0">
                          <a:solidFill>
                            <a:srgbClr val="1B1B1B"/>
                          </a:solidFill>
                          <a:latin typeface="Calibri"/>
                        </a:rPr>
                        <a:t>I didn't finish.</a:t>
                      </a:r>
                    </a:p>
                  </a:txBody>
                  <a:tcPr>
                    <a:solidFill>
                      <a:srgbClr val="E3F3EE"/>
                    </a:solidFill>
                  </a:tcPr>
                </a:tc>
                <a:tc>
                  <a:txBody>
                    <a:bodyPr/>
                    <a:lstStyle/>
                    <a:p>
                      <a:r>
                        <a:rPr sz="1600" b="0">
                          <a:solidFill>
                            <a:srgbClr val="1B1B1B"/>
                          </a:solidFill>
                          <a:latin typeface="Calibri"/>
                        </a:rPr>
                        <a:t>*I didn't finished.</a:t>
                      </a:r>
                    </a:p>
                  </a:txBody>
                  <a:tcPr>
                    <a:solidFill>
                      <a:srgbClr val="E3F3EE"/>
                    </a:solidFill>
                  </a:tcPr>
                </a:tc>
              </a:tr>
              <a:tr h="566928">
                <a:tc>
                  <a:txBody>
                    <a:bodyPr/>
                    <a:lstStyle/>
                    <a:p>
                      <a:r>
                        <a:rPr sz="1600" b="0">
                          <a:solidFill>
                            <a:srgbClr val="1B1B1B"/>
                          </a:solidFill>
                          <a:latin typeface="Calibri"/>
                        </a:rPr>
                        <a:t>Did + bare verb?</a:t>
                      </a:r>
                    </a:p>
                  </a:txBody>
                  <a:tcPr>
                    <a:solidFill>
                      <a:srgbClr val="FFFFFF"/>
                    </a:solidFill>
                  </a:tcPr>
                </a:tc>
                <a:tc>
                  <a:txBody>
                    <a:bodyPr/>
                    <a:lstStyle/>
                    <a:p>
                      <a:r>
                        <a:rPr sz="1600" b="0">
                          <a:solidFill>
                            <a:srgbClr val="1B1B1B"/>
                          </a:solidFill>
                          <a:latin typeface="Calibri"/>
                        </a:rPr>
                        <a:t>Did you help?</a:t>
                      </a:r>
                    </a:p>
                  </a:txBody>
                  <a:tcPr>
                    <a:solidFill>
                      <a:srgbClr val="FFFFFF"/>
                    </a:solidFill>
                  </a:tcPr>
                </a:tc>
                <a:tc>
                  <a:txBody>
                    <a:bodyPr/>
                    <a:lstStyle/>
                    <a:p>
                      <a:r>
                        <a:rPr sz="1600" b="0">
                          <a:solidFill>
                            <a:srgbClr val="1B1B1B"/>
                          </a:solidFill>
                          <a:latin typeface="Calibri"/>
                        </a:rPr>
                        <a:t>*Did you helped?</a:t>
                      </a:r>
                    </a:p>
                  </a:txBody>
                  <a:tcPr>
                    <a:solidFill>
                      <a:srgbClr val="FFFFFF"/>
                    </a:solidFill>
                  </a:tcPr>
                </a:tc>
              </a:tr>
              <a:tr h="566928">
                <a:tc>
                  <a:txBody>
                    <a:bodyPr/>
                    <a:lstStyle/>
                    <a:p>
                      <a:r>
                        <a:rPr sz="1600" b="0">
                          <a:solidFill>
                            <a:srgbClr val="1B1B1B"/>
                          </a:solidFill>
                          <a:latin typeface="Calibri"/>
                        </a:rPr>
                        <a:t>was / were</a:t>
                      </a:r>
                    </a:p>
                  </a:txBody>
                  <a:tcPr>
                    <a:solidFill>
                      <a:srgbClr val="E3F3EE"/>
                    </a:solidFill>
                  </a:tcPr>
                </a:tc>
                <a:tc>
                  <a:txBody>
                    <a:bodyPr/>
                    <a:lstStyle/>
                    <a:p>
                      <a:r>
                        <a:rPr sz="1600" b="0">
                          <a:solidFill>
                            <a:srgbClr val="1B1B1B"/>
                          </a:solidFill>
                          <a:latin typeface="Calibri"/>
                        </a:rPr>
                        <a:t>It was hot. They were tired.</a:t>
                      </a:r>
                    </a:p>
                  </a:txBody>
                  <a:tcPr>
                    <a:solidFill>
                      <a:srgbClr val="E3F3EE"/>
                    </a:solidFill>
                  </a:tcPr>
                </a:tc>
                <a:tc>
                  <a:txBody>
                    <a:bodyPr/>
                    <a:lstStyle/>
                    <a:p>
                      <a:r>
                        <a:rPr sz="1600" b="0">
                          <a:solidFill>
                            <a:srgbClr val="1B1B1B"/>
                          </a:solidFill>
                          <a:latin typeface="Calibri"/>
                        </a:rPr>
                        <a:t>*It did be hot.</a:t>
                      </a:r>
                    </a:p>
                  </a:txBody>
                  <a:tcPr>
                    <a:solidFill>
                      <a:srgbClr val="E3F3EE"/>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Last Sunday our class went to the beach. We collected 42 bags of litter. We didn't finish before twelve, but nobody 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 Unit 3 errors to the classroom wall list. The 'did + past verb' error will return for months — keep pointing at the box.</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Last Sunday our class went to the beach. We collected 42 bags of litter. We didn't finish before twelve, but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Unit 3 sounds review: -ed endings and linking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checks: is the -ed there? is it the right sound? do the words link?</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 helped, worked, washed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 cleaned, played, carried</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/ɪd/ visited, painted, donated</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picked_up, cleaned_it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We helped, cleaned and painted, and we picked up a lot of litter.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The past simple: -ed verbs · The past simple: irregular verbs.</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5294376"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U3L2</a:t>
            </a:r>
          </a:p>
        </p:txBody>
      </p:sp>
      <p:sp>
        <p:nvSpPr>
          <p:cNvPr id="12" name="Rounded Rectangle 11"/>
          <p:cNvSpPr/>
          <p:nvPr/>
        </p:nvSpPr>
        <p:spPr>
          <a:xfrm>
            <a:off x="6135624" y="5440680"/>
            <a:ext cx="5294376"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3"/>
              </a:rPr>
              <a:t>▶ U3L3</a:t>
            </a:r>
          </a:p>
        </p:txBody>
      </p:sp>
      <p:sp>
        <p:nvSpPr>
          <p:cNvPr id="13" name="TextBox 12"/>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What happened after the project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Three months after class 7A collected 214 books for the Sunflower Children's Home, something unexpected happened. The children at the home wrote 214 thank-you letters — one for every book. They sent them to the school in a big box. The head teacher read three of them at the Monday assembly and the whole school was silent. After that, two other classes started their own projects. Class 7B collected warm clothes and class 8A repaired old bicycles. Altogether, in one term, the school helped four different places. 'We only wanted to give some books,' said Khang. 'We didn't know it would grow like this.'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many letters did the children write? Why that number?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did the head teacher do?</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did classes 7B and 8A do?</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does Khang mean in the last sentence?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person who works without money: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rubbish on the ground: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to use something again: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home for children with no parents: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to give money or things: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people who lost their homes in a flood: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Yesterday we clean the park.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They goed to the orphanage.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didn't finished my work.</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Did you went to the meeting?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did be very hot.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She visit her grandmother last week.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 with the past simple.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eight verbs.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your plan poster and prepare the presentation.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Make your plan poster and prepare the presentation.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community service plan for two minutes. Everyone in the group speaks.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'Our plan is to… The problem in our area is… First, we are going to… Nam is responsible for… We will need… Thank you for listening.'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Presenting a plan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plan is to…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are going to…</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X is responsible for…</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will need…</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Does anyone have a question?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Present the plan to the 'school committee' (the rest of the class), who ask two questions each.</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group's plan on the poster.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 Where / When / Who does what / What we need (5 sentences)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Plus 2 sentences about a similar activity that someone did before (past simple).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Community and volunteering vocabulary (22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Past simple: all three forms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Irregular verbs (12)</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-ed sounds</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Sequence words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3 with their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diary entry (90–100 words) about a day you helped someone.</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4 — Write the names of five kinds of music or art in Vietnamese or English.</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U3L7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