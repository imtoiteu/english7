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3L2_1_A2-06-Past-Tense-ED.mp3" TargetMode="External"/><Relationship Id="rId3" Type="http://schemas.openxmlformats.org/officeDocument/2006/relationships/hyperlink" Target="https://elllo.org/book/A2/A2-06-Past-Tense-Ed.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3  ·  LESSON 2  ·  PERIOD 18</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Volunteering words and the -ed ending</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eight more volunteering words and collocations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pronounce -ed correctly as /t/, /d/ or /ɪd/ and explain the rule</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talk about a past activity using three past verbs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sort verbs into the three -ed sound groups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Past verb chain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 1: 'Yesterday I cleaned my room.' Student 2: 'Yesterday he cleaned his room and I helped my mother.' Continue along the row.</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Repeat and add a past sentence.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charity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/ˈtʃærəti/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tổ chức từ thiện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money goes to a children's charity.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raise money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/reɪz ˈmʌni/   (v phr)</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gây quỹ</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raised money by selling cakes.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homeless</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/ˈhəʊmləs/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vô gia cư</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centre helps homeless people.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support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/səˈpɔːt/   (v/n)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hỗ trợ</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Many parents supported our project.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take care of</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/teɪk keə əv/   (v phr)</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chăm sóc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take care of the school garden.</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recycle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/ˌriːˈsaɪkl/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tái chế</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recycle paper and plastic bottles.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environment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/ɪnˈvaɪrənmənt/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môi trường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Planting trees helps the environment.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kindness</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/ˈkaɪndnəs/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lòng tốt</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 small act of kindness costs nothing.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take care of…</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raise money for…</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give a hand</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act of kindness</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make our town cleaner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Regular past simple: spelling rules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Most verbs: + ed (help → helped).</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Verbs ending in -e: + d (donate → donated).</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Consonant + y: y → ied (carry → carried, study → studied).</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One short vowel + one consonant: double the consonant (stop → stopped, plan → planned).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Rule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 ed</a:t>
                      </a:r>
                    </a:p>
                  </a:txBody>
                  <a:tcPr>
                    <a:solidFill>
                      <a:srgbClr val="E3F3EE"/>
                    </a:solidFill>
                  </a:tcPr>
                </a:tc>
                <a:tc>
                  <a:txBody>
                    <a:bodyPr/>
                    <a:lstStyle/>
                    <a:p>
                      <a:r>
                        <a:rPr sz="1600" b="0">
                          <a:solidFill>
                            <a:srgbClr val="1B1B1B"/>
                          </a:solidFill>
                          <a:latin typeface="Calibri"/>
                        </a:rPr>
                        <a:t>clean → cleaned, work → worked</a:t>
                      </a:r>
                    </a:p>
                  </a:txBody>
                  <a:tcPr>
                    <a:solidFill>
                      <a:srgbClr val="E3F3EE"/>
                    </a:solidFill>
                  </a:tcPr>
                </a:tc>
              </a:tr>
              <a:tr h="566928">
                <a:tc>
                  <a:txBody>
                    <a:bodyPr/>
                    <a:lstStyle/>
                    <a:p>
                      <a:r>
                        <a:rPr sz="1600" b="0">
                          <a:solidFill>
                            <a:srgbClr val="1B1B1B"/>
                          </a:solidFill>
                          <a:latin typeface="Calibri"/>
                        </a:rPr>
                        <a:t>+ d (ends in e)</a:t>
                      </a:r>
                    </a:p>
                  </a:txBody>
                  <a:tcPr>
                    <a:solidFill>
                      <a:srgbClr val="FFFFFF"/>
                    </a:solidFill>
                  </a:tcPr>
                </a:tc>
                <a:tc>
                  <a:txBody>
                    <a:bodyPr/>
                    <a:lstStyle/>
                    <a:p>
                      <a:r>
                        <a:rPr sz="1600" b="0">
                          <a:solidFill>
                            <a:srgbClr val="1B1B1B"/>
                          </a:solidFill>
                          <a:latin typeface="Calibri"/>
                        </a:rPr>
                        <a:t>donate → donated, recycle → recycled</a:t>
                      </a:r>
                    </a:p>
                  </a:txBody>
                  <a:tcPr>
                    <a:solidFill>
                      <a:srgbClr val="FFFFFF"/>
                    </a:solidFill>
                  </a:tcPr>
                </a:tc>
              </a:tr>
              <a:tr h="566928">
                <a:tc>
                  <a:txBody>
                    <a:bodyPr/>
                    <a:lstStyle/>
                    <a:p>
                      <a:r>
                        <a:rPr sz="1600" b="0">
                          <a:solidFill>
                            <a:srgbClr val="1B1B1B"/>
                          </a:solidFill>
                          <a:latin typeface="Calibri"/>
                        </a:rPr>
                        <a:t>y → ied</a:t>
                      </a:r>
                    </a:p>
                  </a:txBody>
                  <a:tcPr>
                    <a:solidFill>
                      <a:srgbClr val="E3F3EE"/>
                    </a:solidFill>
                  </a:tcPr>
                </a:tc>
                <a:tc>
                  <a:txBody>
                    <a:bodyPr/>
                    <a:lstStyle/>
                    <a:p>
                      <a:r>
                        <a:rPr sz="1600" b="0">
                          <a:solidFill>
                            <a:srgbClr val="1B1B1B"/>
                          </a:solidFill>
                          <a:latin typeface="Calibri"/>
                        </a:rPr>
                        <a:t>carry → carried, tidy → tidied</a:t>
                      </a:r>
                    </a:p>
                  </a:txBody>
                  <a:tcPr>
                    <a:solidFill>
                      <a:srgbClr val="E3F3EE"/>
                    </a:solidFill>
                  </a:tcPr>
                </a:tc>
              </a:tr>
              <a:tr h="566928">
                <a:tc>
                  <a:txBody>
                    <a:bodyPr/>
                    <a:lstStyle/>
                    <a:p>
                      <a:r>
                        <a:rPr sz="1600" b="0">
                          <a:solidFill>
                            <a:srgbClr val="1B1B1B"/>
                          </a:solidFill>
                          <a:latin typeface="Calibri"/>
                        </a:rPr>
                        <a:t>double consonant</a:t>
                      </a:r>
                    </a:p>
                  </a:txBody>
                  <a:tcPr>
                    <a:solidFill>
                      <a:srgbClr val="FFFFFF"/>
                    </a:solidFill>
                  </a:tcPr>
                </a:tc>
                <a:tc>
                  <a:txBody>
                    <a:bodyPr/>
                    <a:lstStyle/>
                    <a:p>
                      <a:r>
                        <a:rPr sz="1600" b="0">
                          <a:solidFill>
                            <a:srgbClr val="1B1B1B"/>
                          </a:solidFill>
                          <a:latin typeface="Calibri"/>
                        </a:rPr>
                        <a:t>stop → stopped, plan → planned</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planned the day carefully and we tidied the whole yard.</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They recycled 200 bottles and carried them to the centre.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*planed*, *studyed*, *stoped* – the spelling rules are learned by writing, not by reading. Give a short spelling test every week.</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We planned the day carefully and we tidied the whole yard.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The -ed ending: /t/, /d/ and /ɪd/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Put your finger on your throat. If the sound before -ed has NO buzz (p, k, f, s, sh, ch), say /t/. If it BUZZES (b, g, v, z, m, n, l, r, vowels), say /d/. If the verb already ends in t or d, you must add a new syllable: /ɪd/.</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 helped, worked, washed, watched, stopped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 cleaned, played, opened, recycled, carried</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/ɪd/: planted, painted, visited, donated, needed, wanted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We worked, cleaned and painted.</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They helped, planted and recycled.</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She visited, donated and carried the books.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The past simple: -ed verbs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what people did yesterday. Two speakers, scripted dialogue, native English. It lasts 2:17.</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ELLLO — Sound Grammar · 2:17 · Two speakers, scripted dialogue, native English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when one person starts and finishes the day B. what people did yesterday C. being careful and staying safe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Oh, that’s so cool that you are still friends.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Really, are you a clean freak?</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missed class yesterday. What did you do in class?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So far so good. I already learned a few things I didn’t know.</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Oh cool. I just watched a documentary about them. It was fascinating.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I _____ the dishes, vacuumed, and mopped the floors.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Man: Not so much, but my place _____ a good cleaning.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Man: But I _____ the bathroom, picked up my dirty clothes, washed them and emptied the rubbish, so now it looks respectable.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I just _____ it though.</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Man: I just _____ a documentary about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Green Sunday Club</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Green Sunday Club started in 2022 with only six students from a school in Da Nang. Today it has more than ninety members. Every Sunday morning the members walk along one street and collect plastic bottles, cans and paper. They wash the bottles, take them to a recycling centre and use the money for small projects. Last year they bought school bags for twelve children and planted thirty trees near the market. 'People laughed at us in the first month,' says Duc, the club leader. 'Now the same people wait for us with their bottles ready. That is the real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When and where did the club start?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members are there now?</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do they do with the bottles?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Name two things they did last year.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did people react in the first month?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word with the meaning.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charity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homeless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recycle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environment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kindness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word with the meaning.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the natural world around us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having no home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an organisation that helps people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being good to other people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to use something again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sound of the -ed ending.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worked 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cleaned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visited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washed 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donated ___</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sound of the -ed ending.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played 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stopped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needed ___</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past simple of the verbs.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eight verbs.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Retell the story in U3.2-I1 to your partner without looking, using at least five past verbs.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Retell the story in U3.2-I1 to your partner without looking, using at least five past verbs.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Say the verb and put it in the right group: /t/, /d/ or /ɪd/.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helped, cleaned, visited, worked, played, painted, washed, donated, opened, wanted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three things you did last weekend. At least two verbs must have -ed.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Last Saturday I helped my mother and I cleaned my room. What about you?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Thanking and appreciating people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your help.</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Thanks a lot!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very kind of you.</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You're welcome.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No problem.</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couldn't do it without you.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helped B carry books to the library. B thanks A in three different ways; A responds each time.</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past simple.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stop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carry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recycle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plan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study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past simple.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play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tidy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support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8 volunteering words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-ed spelling rules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-ed sounds /t/, /d/, /ɪd/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U3.2-H1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charity, raise, homeless, recycle, environment.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U3.2-H2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Spelling — Write the past simple form.</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U3.2-H3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Put the verbs in the correct group: /t/, /d/, /ɪd/.</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U3.2-H4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5 sentences about what your class did last term. Use five different -ed verbs.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U3L2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