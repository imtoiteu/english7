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097280" y="4389120"/>
            <a:ext cx="6858000" cy="4114800"/>
          </a:xfrm>
          <a:prstGeom prst="ellipse">
            <a:avLst/>
          </a:prstGeom>
          <a:solidFill>
            <a:srgbClr val="1E6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778240" y="-1828800"/>
            <a:ext cx="5486400" cy="4572000"/>
          </a:xfrm>
          <a:prstGeom prst="ellipse">
            <a:avLst/>
          </a:prstGeom>
          <a:solidFill>
            <a:srgbClr val="0E7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37160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UNIT 3  ·  LESSON 4  ·  PERIOD 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011680"/>
            <a:ext cx="105156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 i="0">
                <a:solidFill>
                  <a:srgbClr val="E7F1FA"/>
                </a:solidFill>
                <a:latin typeface="Calibri"/>
              </a:rPr>
              <a:t>COMMUNICATION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926080"/>
            <a:ext cx="1051560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4400" b="1" i="0">
                <a:solidFill>
                  <a:srgbClr val="FFFFFF"/>
                </a:solidFill>
                <a:latin typeface="Calibri"/>
              </a:rPr>
              <a:t>Everyday English: offering help and thanking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30352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E7F1FA"/>
                </a:solidFill>
                <a:latin typeface="Calibri"/>
              </a:rPr>
              <a:t>English 7  ·  Let's start! 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6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Today we will learn to…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U3L4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463040"/>
            <a:ext cx="10881360" cy="868680"/>
          </a:xfrm>
          <a:prstGeom prst="roundRect">
            <a:avLst>
              <a:gd name="adj" fmla="val 6000"/>
            </a:avLst>
          </a:prstGeom>
          <a:solidFill>
            <a:srgbClr val="E7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463040"/>
            <a:ext cx="128016" cy="868680"/>
          </a:xfrm>
          <a:prstGeom prst="rect">
            <a:avLst/>
          </a:prstGeom>
          <a:solidFill>
            <a:srgbClr val="1E6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1508760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600" b="1" i="0">
                <a:solidFill>
                  <a:srgbClr val="1E6FB8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1508760"/>
            <a:ext cx="95097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offer help and accept or refuse an offer politely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2450592"/>
            <a:ext cx="10881360" cy="868680"/>
          </a:xfrm>
          <a:prstGeom prst="roundRect">
            <a:avLst>
              <a:gd name="adj" fmla="val 6000"/>
            </a:avLst>
          </a:prstGeom>
          <a:solidFill>
            <a:srgbClr val="E7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2450592"/>
            <a:ext cx="128016" cy="868680"/>
          </a:xfrm>
          <a:prstGeom prst="rect">
            <a:avLst/>
          </a:prstGeom>
          <a:solidFill>
            <a:srgbClr val="1E6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2496312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600" b="1" i="0">
                <a:solidFill>
                  <a:srgbClr val="1E6FB8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37360" y="2496312"/>
            <a:ext cx="95097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thank someone and respond to thanks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438144"/>
            <a:ext cx="10881360" cy="868680"/>
          </a:xfrm>
          <a:prstGeom prst="roundRect">
            <a:avLst>
              <a:gd name="adj" fmla="val 6000"/>
            </a:avLst>
          </a:prstGeom>
          <a:solidFill>
            <a:srgbClr val="E7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" y="3438144"/>
            <a:ext cx="128016" cy="868680"/>
          </a:xfrm>
          <a:prstGeom prst="rect">
            <a:avLst/>
          </a:prstGeom>
          <a:solidFill>
            <a:srgbClr val="1E6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348386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600" b="1" i="0">
                <a:solidFill>
                  <a:srgbClr val="1E6FB8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37360" y="3483864"/>
            <a:ext cx="95097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take part in a 6-turn role play about a community activity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4425696"/>
            <a:ext cx="10881360" cy="868680"/>
          </a:xfrm>
          <a:prstGeom prst="roundRect">
            <a:avLst>
              <a:gd name="adj" fmla="val 6000"/>
            </a:avLst>
          </a:prstGeom>
          <a:solidFill>
            <a:srgbClr val="E7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" y="4425696"/>
            <a:ext cx="128016" cy="868680"/>
          </a:xfrm>
          <a:prstGeom prst="rect">
            <a:avLst/>
          </a:prstGeom>
          <a:solidFill>
            <a:srgbClr val="1E6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" y="4471416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600" b="1" i="0">
                <a:solidFill>
                  <a:srgbClr val="1E6FB8"/>
                </a:solidFill>
                <a:latin typeface="Calibr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37360" y="4471416"/>
            <a:ext cx="95097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interview a classmate about a past experience and report it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E07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Warm-up: Past questions ping-pong  (5')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U3L4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463040"/>
            <a:ext cx="10881360" cy="4206240"/>
          </a:xfrm>
          <a:prstGeom prst="roundRect">
            <a:avLst>
              <a:gd name="adj" fmla="val 6000"/>
            </a:avLst>
          </a:prstGeom>
          <a:solidFill>
            <a:srgbClr val="FDF2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737360"/>
            <a:ext cx="101498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• Students ask each other one past question along the row: 'What did you do yesterday?' Recycles Lesson 3.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5852160"/>
            <a:ext cx="101498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0" i="1">
                <a:solidFill>
                  <a:srgbClr val="6B7280"/>
                </a:solidFill>
                <a:latin typeface="Calibri"/>
              </a:rPr>
              <a:t>👉 You: Ask and answer past questions.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E07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New words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U3L4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417320"/>
            <a:ext cx="11064240" cy="1481328"/>
          </a:xfrm>
          <a:prstGeom prst="roundRect">
            <a:avLst>
              <a:gd name="adj" fmla="val 6000"/>
            </a:avLst>
          </a:prstGeom>
          <a:solidFill>
            <a:srgbClr val="FDF2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527048"/>
            <a:ext cx="4206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 i="0">
                <a:solidFill>
                  <a:srgbClr val="E07A1F"/>
                </a:solidFill>
                <a:latin typeface="Calibri"/>
              </a:rPr>
              <a:t>offer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167128"/>
            <a:ext cx="4206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0" i="0">
                <a:solidFill>
                  <a:srgbClr val="6B7280"/>
                </a:solidFill>
                <a:latin typeface="Calibri"/>
              </a:rPr>
              <a:t>/ˈɒfə/   (v/n)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80" y="1527048"/>
            <a:ext cx="6126480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42C4F"/>
                </a:solidFill>
                <a:latin typeface="Calibri"/>
              </a:rPr>
              <a:t>đề nghị giúp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12080" y="2194560"/>
            <a:ext cx="6126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 i="1">
                <a:solidFill>
                  <a:srgbClr val="1B1B1B"/>
                </a:solidFill>
                <a:latin typeface="Calibri"/>
              </a:rPr>
              <a:t>e.g. She offered to carry my bag.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017520"/>
            <a:ext cx="11064240" cy="1481328"/>
          </a:xfrm>
          <a:prstGeom prst="roundRect">
            <a:avLst>
              <a:gd name="adj" fmla="val 6000"/>
            </a:avLst>
          </a:prstGeom>
          <a:solidFill>
            <a:srgbClr val="FDF2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127248"/>
            <a:ext cx="4206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 i="0">
                <a:solidFill>
                  <a:srgbClr val="E07A1F"/>
                </a:solidFill>
                <a:latin typeface="Calibri"/>
              </a:rPr>
              <a:t>give someone a hand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3767328"/>
            <a:ext cx="4206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0" i="0">
                <a:solidFill>
                  <a:srgbClr val="6B7280"/>
                </a:solidFill>
                <a:latin typeface="Calibri"/>
              </a:rPr>
              <a:t>/ɡɪv ˈsʌmwʌn ə hænd/   (v phr)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12080" y="3127248"/>
            <a:ext cx="6126480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42C4F"/>
                </a:solidFill>
                <a:latin typeface="Calibri"/>
              </a:rPr>
              <a:t>giúp một tay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12080" y="3794760"/>
            <a:ext cx="6126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 i="1">
                <a:solidFill>
                  <a:srgbClr val="1B1B1B"/>
                </a:solidFill>
                <a:latin typeface="Calibri"/>
              </a:rPr>
              <a:t>e.g. Can you give me a hand?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617720"/>
            <a:ext cx="11064240" cy="1481328"/>
          </a:xfrm>
          <a:prstGeom prst="roundRect">
            <a:avLst>
              <a:gd name="adj" fmla="val 6000"/>
            </a:avLst>
          </a:prstGeom>
          <a:solidFill>
            <a:srgbClr val="FDF2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4727448"/>
            <a:ext cx="4206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 i="0">
                <a:solidFill>
                  <a:srgbClr val="E07A1F"/>
                </a:solidFill>
                <a:latin typeface="Calibri"/>
              </a:rPr>
              <a:t>grateful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5367528"/>
            <a:ext cx="4206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0" i="0">
                <a:solidFill>
                  <a:srgbClr val="6B7280"/>
                </a:solidFill>
                <a:latin typeface="Calibri"/>
              </a:rPr>
              <a:t>/ˈɡreɪtfl/   (adj)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12080" y="4727448"/>
            <a:ext cx="6126480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42C4F"/>
                </a:solidFill>
                <a:latin typeface="Calibri"/>
              </a:rPr>
              <a:t>biết ơn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12080" y="5394960"/>
            <a:ext cx="6126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 i="1">
                <a:solidFill>
                  <a:srgbClr val="1B1B1B"/>
                </a:solidFill>
                <a:latin typeface="Calibri"/>
              </a:rPr>
              <a:t>e.g. We are very grateful for your help.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E07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New words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U3L4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417320"/>
            <a:ext cx="11064240" cy="1481328"/>
          </a:xfrm>
          <a:prstGeom prst="roundRect">
            <a:avLst>
              <a:gd name="adj" fmla="val 6000"/>
            </a:avLst>
          </a:prstGeom>
          <a:solidFill>
            <a:srgbClr val="FDF2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527048"/>
            <a:ext cx="4206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 i="0">
                <a:solidFill>
                  <a:srgbClr val="E07A1F"/>
                </a:solidFill>
                <a:latin typeface="Calibri"/>
              </a:rPr>
              <a:t>appreciate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167128"/>
            <a:ext cx="4206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0" i="0">
                <a:solidFill>
                  <a:srgbClr val="6B7280"/>
                </a:solidFill>
                <a:latin typeface="Calibri"/>
              </a:rPr>
              <a:t>/əˈpriːʃieɪt/   (v)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80" y="1527048"/>
            <a:ext cx="6126480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42C4F"/>
                </a:solidFill>
                <a:latin typeface="Calibri"/>
              </a:rPr>
              <a:t>trân trọng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12080" y="2194560"/>
            <a:ext cx="6126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 i="1">
                <a:solidFill>
                  <a:srgbClr val="1B1B1B"/>
                </a:solidFill>
                <a:latin typeface="Calibri"/>
              </a:rPr>
              <a:t>e.g. I really appreciate your time.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017520"/>
            <a:ext cx="11064240" cy="1481328"/>
          </a:xfrm>
          <a:prstGeom prst="roundRect">
            <a:avLst>
              <a:gd name="adj" fmla="val 6000"/>
            </a:avLst>
          </a:prstGeom>
          <a:solidFill>
            <a:srgbClr val="FDF2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127248"/>
            <a:ext cx="4206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 i="0">
                <a:solidFill>
                  <a:srgbClr val="E07A1F"/>
                </a:solidFill>
                <a:latin typeface="Calibri"/>
              </a:rPr>
              <a:t>carry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3767328"/>
            <a:ext cx="4206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0" i="0">
                <a:solidFill>
                  <a:srgbClr val="6B7280"/>
                </a:solidFill>
                <a:latin typeface="Calibri"/>
              </a:rPr>
              <a:t>/ˈkæri/   (v)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12080" y="3127248"/>
            <a:ext cx="6126480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42C4F"/>
                </a:solidFill>
                <a:latin typeface="Calibri"/>
              </a:rPr>
              <a:t>mang, vác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12080" y="3794760"/>
            <a:ext cx="6126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 i="1">
                <a:solidFill>
                  <a:srgbClr val="1B1B1B"/>
                </a:solidFill>
                <a:latin typeface="Calibri"/>
              </a:rPr>
              <a:t>e.g. They carried the boxes to the truck.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617720"/>
            <a:ext cx="11064240" cy="1481328"/>
          </a:xfrm>
          <a:prstGeom prst="roundRect">
            <a:avLst>
              <a:gd name="adj" fmla="val 6000"/>
            </a:avLst>
          </a:prstGeom>
          <a:solidFill>
            <a:srgbClr val="FDF2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4727448"/>
            <a:ext cx="4206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 i="0">
                <a:solidFill>
                  <a:srgbClr val="E07A1F"/>
                </a:solidFill>
                <a:latin typeface="Calibri"/>
              </a:rPr>
              <a:t>share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5367528"/>
            <a:ext cx="4206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0" i="0">
                <a:solidFill>
                  <a:srgbClr val="6B7280"/>
                </a:solidFill>
                <a:latin typeface="Calibri"/>
              </a:rPr>
              <a:t>/ʃeə/   (v)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12080" y="4727448"/>
            <a:ext cx="6126480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42C4F"/>
                </a:solidFill>
                <a:latin typeface="Calibri"/>
              </a:rPr>
              <a:t>chia sẻ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12080" y="5394960"/>
            <a:ext cx="6126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 i="1">
                <a:solidFill>
                  <a:srgbClr val="1B1B1B"/>
                </a:solidFill>
                <a:latin typeface="Calibri"/>
              </a:rPr>
              <a:t>e.g. We shared the work between six people.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E07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Useful phrases — learn them as one block!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U3L4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554480"/>
            <a:ext cx="10515600" cy="6217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E07A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609344"/>
            <a:ext cx="100584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B1B1B"/>
                </a:solidFill>
                <a:latin typeface="Calibri"/>
              </a:rPr>
              <a:t>🔹 Can I help you?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267712"/>
            <a:ext cx="10515600" cy="6217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E07A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2322576"/>
            <a:ext cx="100584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B1B1B"/>
                </a:solidFill>
                <a:latin typeface="Calibri"/>
              </a:rPr>
              <a:t>🔹 Do you need a hand?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2980944"/>
            <a:ext cx="10515600" cy="6217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E07A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3035808"/>
            <a:ext cx="100584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B1B1B"/>
                </a:solidFill>
                <a:latin typeface="Calibri"/>
              </a:rPr>
              <a:t>🔹 Let me help you with that.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694176"/>
            <a:ext cx="10515600" cy="6217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E07A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3749040"/>
            <a:ext cx="100584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B1B1B"/>
                </a:solidFill>
                <a:latin typeface="Calibri"/>
              </a:rPr>
              <a:t>🔹 Yes, please. That's very kind.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4407408"/>
            <a:ext cx="10515600" cy="6217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E07A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4462272"/>
            <a:ext cx="100584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B1B1B"/>
                </a:solidFill>
                <a:latin typeface="Calibri"/>
              </a:rPr>
              <a:t>🔹 No, thanks. I'm fine.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5120640"/>
            <a:ext cx="10515600" cy="6217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E07A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97280" y="5175504"/>
            <a:ext cx="100584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B1B1B"/>
                </a:solidFill>
                <a:latin typeface="Calibri"/>
              </a:rPr>
              <a:t>🔹 Thank you so much.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" y="5833872"/>
            <a:ext cx="10515600" cy="6217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E07A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97280" y="5888736"/>
            <a:ext cx="100584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B1B1B"/>
                </a:solidFill>
                <a:latin typeface="Calibri"/>
              </a:rPr>
              <a:t>🔹 You're welcome. / Don't mention it.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E7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300" b="1" i="0">
                <a:solidFill>
                  <a:srgbClr val="FFFFFF"/>
                </a:solidFill>
                <a:latin typeface="Calibri"/>
              </a:rPr>
              <a:t>Grammar: Offers with Can I…? / Shall I…? / Would you like…?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U3L4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463040"/>
            <a:ext cx="10881360" cy="914400"/>
          </a:xfrm>
          <a:prstGeom prst="roundRect">
            <a:avLst>
              <a:gd name="adj" fmla="val 6000"/>
            </a:avLst>
          </a:prstGeom>
          <a:solidFill>
            <a:srgbClr val="E3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536192"/>
            <a:ext cx="103327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▸ Can I help you? – the simplest and most common offer.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487168"/>
            <a:ext cx="10881360" cy="914400"/>
          </a:xfrm>
          <a:prstGeom prst="roundRect">
            <a:avLst>
              <a:gd name="adj" fmla="val 6000"/>
            </a:avLst>
          </a:prstGeom>
          <a:solidFill>
            <a:srgbClr val="E3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560320"/>
            <a:ext cx="103327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▸ Shall I carry that? – slightly more formal, common in Britain.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511296"/>
            <a:ext cx="10881360" cy="914400"/>
          </a:xfrm>
          <a:prstGeom prst="roundRect">
            <a:avLst>
              <a:gd name="adj" fmla="val 6000"/>
            </a:avLst>
          </a:prstGeom>
          <a:solidFill>
            <a:srgbClr val="E3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3584448"/>
            <a:ext cx="103327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▸ Would you like some help? – polite, used with strangers and adults.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535424"/>
            <a:ext cx="10881360" cy="914400"/>
          </a:xfrm>
          <a:prstGeom prst="roundRect">
            <a:avLst>
              <a:gd name="adj" fmla="val 6000"/>
            </a:avLst>
          </a:prstGeom>
          <a:solidFill>
            <a:srgbClr val="E3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4608576"/>
            <a:ext cx="103327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▸ Accepting: Yes, please. That's very kind of you. Refusing: No, thanks. I'm fine.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E7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The 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U3L4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463040"/>
          <a:ext cx="11064240" cy="22677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8080"/>
                <a:gridCol w="3688080"/>
                <a:gridCol w="3688080"/>
              </a:tblGrid>
              <a:tr h="566928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</a:rPr>
                        <a:t>Offer</a:t>
                      </a:r>
                    </a:p>
                  </a:txBody>
                  <a:tcPr>
                    <a:solidFill>
                      <a:srgbClr val="0E7C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</a:rPr>
                        <a:t>Accept</a:t>
                      </a:r>
                    </a:p>
                  </a:txBody>
                  <a:tcPr>
                    <a:solidFill>
                      <a:srgbClr val="0E7C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</a:rPr>
                        <a:t>Refuse</a:t>
                      </a:r>
                    </a:p>
                  </a:txBody>
                  <a:tcPr>
                    <a:solidFill>
                      <a:srgbClr val="0E7C66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B1B1B"/>
                          </a:solidFill>
                          <a:latin typeface="Calibri"/>
                        </a:rPr>
                        <a:t>Can I help you?</a:t>
                      </a:r>
                    </a:p>
                  </a:txBody>
                  <a:tcPr>
                    <a:solidFill>
                      <a:srgbClr val="E3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B1B1B"/>
                          </a:solidFill>
                          <a:latin typeface="Calibri"/>
                        </a:rPr>
                        <a:t>Yes, please.</a:t>
                      </a:r>
                    </a:p>
                  </a:txBody>
                  <a:tcPr>
                    <a:solidFill>
                      <a:srgbClr val="E3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B1B1B"/>
                          </a:solidFill>
                          <a:latin typeface="Calibri"/>
                        </a:rPr>
                        <a:t>No, thanks. I'm fine.</a:t>
                      </a:r>
                    </a:p>
                  </a:txBody>
                  <a:tcPr>
                    <a:solidFill>
                      <a:srgbClr val="E3F3EE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B1B1B"/>
                          </a:solidFill>
                          <a:latin typeface="Calibri"/>
                        </a:rPr>
                        <a:t>Shall I carry that?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B1B1B"/>
                          </a:solidFill>
                          <a:latin typeface="Calibri"/>
                        </a:rPr>
                        <a:t>That's very kind of you.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B1B1B"/>
                          </a:solidFill>
                          <a:latin typeface="Calibri"/>
                        </a:rPr>
                        <a:t>It's OK, thanks. I can do it.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B1B1B"/>
                          </a:solidFill>
                          <a:latin typeface="Calibri"/>
                        </a:rPr>
                        <a:t>Would you like some help?</a:t>
                      </a:r>
                    </a:p>
                  </a:txBody>
                  <a:tcPr>
                    <a:solidFill>
                      <a:srgbClr val="E3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B1B1B"/>
                          </a:solidFill>
                          <a:latin typeface="Calibri"/>
                        </a:rPr>
                        <a:t>Thank you, I'd love some.</a:t>
                      </a:r>
                    </a:p>
                  </a:txBody>
                  <a:tcPr>
                    <a:solidFill>
                      <a:srgbClr val="E3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B1B1B"/>
                          </a:solidFill>
                          <a:latin typeface="Calibri"/>
                        </a:rPr>
                        <a:t>Thanks, but I'm nearly finished.</a:t>
                      </a:r>
                    </a:p>
                  </a:txBody>
                  <a:tcPr>
                    <a:solidFill>
                      <a:srgbClr val="E3F3E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E7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Look at the examples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U3L4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554480"/>
            <a:ext cx="10698480" cy="777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0E7C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627632"/>
            <a:ext cx="102412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B1B1B"/>
                </a:solidFill>
                <a:latin typeface="Calibri"/>
              </a:rPr>
              <a:t>✅ Can I give you a hand with those books? – Yes, please. They're heavy!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450592"/>
            <a:ext cx="10698480" cy="777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0E7C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2523744"/>
            <a:ext cx="102412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B1B1B"/>
                </a:solidFill>
                <a:latin typeface="Calibri"/>
              </a:rPr>
              <a:t>✅ Shall I open the door for you? – That's very kind of you.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Be careful! A very common mistake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U3L4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10698480" cy="2377440"/>
          </a:xfrm>
          <a:prstGeom prst="roundRect">
            <a:avLst>
              <a:gd name="adj" fmla="val 6000"/>
            </a:avLst>
          </a:prstGeom>
          <a:solidFill>
            <a:srgbClr val="FC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828800"/>
            <a:ext cx="1005840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100" b="0" i="0">
                <a:solidFill>
                  <a:srgbClr val="1B1B1B"/>
                </a:solidFill>
                <a:latin typeface="Calibri"/>
              </a:rPr>
              <a:t>Students say *I help you?* or *You want help?* — direct translations that sound abrupt. Teach the three fixed offer forms as chunks.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43891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200" b="1" i="0">
                <a:solidFill>
                  <a:srgbClr val="2E7D32"/>
                </a:solidFill>
                <a:latin typeface="Calibri"/>
              </a:rPr>
              <a:t>👍 Say it like this:  Can I give you a hand with those books? – Yes, please. They're heavy!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300" b="1" i="0">
                <a:solidFill>
                  <a:srgbClr val="FFFFFF"/>
                </a:solidFill>
                <a:latin typeface="Calibri"/>
              </a:rPr>
              <a:t>Pronunciation: Polite rising intonation in offers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U3L4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417320"/>
            <a:ext cx="10881360" cy="1234440"/>
          </a:xfrm>
          <a:prstGeom prst="roundRect">
            <a:avLst>
              <a:gd name="adj" fmla="val 6000"/>
            </a:avLst>
          </a:prstGeom>
          <a:solidFill>
            <a:srgbClr val="F1E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508760"/>
            <a:ext cx="1033272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0" i="0">
                <a:solidFill>
                  <a:srgbClr val="1B1B1B"/>
                </a:solidFill>
                <a:latin typeface="Calibri"/>
              </a:rPr>
              <a:t>An offer goes UP at the end. A flat or falling offer sounds like an order. Compare: 'Can I help you? ↗' (kind) vs 'Can I help you. ↘' (cold).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880360"/>
            <a:ext cx="10698480" cy="6217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6B3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926080"/>
            <a:ext cx="102412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🔊 Can I help you? ↗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593592"/>
            <a:ext cx="10698480" cy="6217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6B3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3639312"/>
            <a:ext cx="102412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🔊 Shall I carry that? ↗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306824"/>
            <a:ext cx="10698480" cy="6217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6B3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4352544"/>
            <a:ext cx="102412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🔊 Would you like some help? ↗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5020056"/>
            <a:ext cx="10698480" cy="6217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6B3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5065776"/>
            <a:ext cx="102412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🔊 Yes, please. ↘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Repeat after me — three times each!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U3L4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737360"/>
            <a:ext cx="10698480" cy="914400"/>
          </a:xfrm>
          <a:prstGeom prst="roundRect">
            <a:avLst>
              <a:gd name="adj" fmla="val 6000"/>
            </a:avLst>
          </a:prstGeom>
          <a:solidFill>
            <a:srgbClr val="F1E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828800"/>
            <a:ext cx="102412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100" b="0" i="0">
                <a:solidFill>
                  <a:srgbClr val="1B1B1B"/>
                </a:solidFill>
                <a:latin typeface="Calibri"/>
              </a:rPr>
              <a:t>🗣 A: Can I help you? ↗ B: Yes, please. That's very kind.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788920"/>
            <a:ext cx="10698480" cy="914400"/>
          </a:xfrm>
          <a:prstGeom prst="roundRect">
            <a:avLst>
              <a:gd name="adj" fmla="val 6000"/>
            </a:avLst>
          </a:prstGeom>
          <a:solidFill>
            <a:srgbClr val="F1E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2880360"/>
            <a:ext cx="102412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100" b="0" i="0">
                <a:solidFill>
                  <a:srgbClr val="1B1B1B"/>
                </a:solidFill>
                <a:latin typeface="Calibri"/>
              </a:rPr>
              <a:t>🗣 A: Shall I carry that box? ↗ B: No, thanks. I'm fine.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6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300" b="1" i="0">
                <a:solidFill>
                  <a:srgbClr val="FFFFFF"/>
                </a:solidFill>
                <a:latin typeface="Calibri"/>
              </a:rPr>
              <a:t>Listening: Lesson 41: Teamwork Works Best With a Team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U3L4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737360"/>
            <a:ext cx="10698480" cy="1828800"/>
          </a:xfrm>
          <a:prstGeom prst="roundRect">
            <a:avLst>
              <a:gd name="adj" fmla="val 6000"/>
            </a:avLst>
          </a:prstGeom>
          <a:solidFill>
            <a:srgbClr val="E7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920240"/>
            <a:ext cx="10058400" cy="1554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100" b="0" i="0">
                <a:solidFill>
                  <a:srgbClr val="1B1B1B"/>
                </a:solidFill>
                <a:latin typeface="Calibri"/>
              </a:rPr>
              <a:t>You will hear a real recording: working together as a team. American English — VOA’s professional actors (Anna, Pete, Marsha, Ms. Weaver…), slowed learner delivery. It lasts 3:32.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02336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42C4F"/>
                </a:solidFill>
                <a:latin typeface="Calibri"/>
              </a:rPr>
              <a:t>🎧  Listen 1: just listen — do not write.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42C4F"/>
                </a:solidFill>
                <a:latin typeface="Calibri"/>
              </a:rPr>
              <a:t>🎧  Listen 2: write your answers.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42C4F"/>
                </a:solidFill>
                <a:latin typeface="Calibri"/>
              </a:rPr>
              <a:t>🎧  Listen 3: check with your partner.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577840"/>
            <a:ext cx="106984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6B7280"/>
                </a:solidFill>
                <a:latin typeface="Calibri"/>
              </a:rPr>
              <a:t>VOA Learning English — Let’s Learn English, Level 1 · 3:32 · American English — VOA’s professional actors (Anna, Pete, Marsha, Ms. Weaver…), slowed learner delivery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6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Listening task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U3.4-L1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371600"/>
            <a:ext cx="10881360" cy="777240"/>
          </a:xfrm>
          <a:prstGeom prst="roundRect">
            <a:avLst>
              <a:gd name="adj" fmla="val 6000"/>
            </a:avLst>
          </a:prstGeom>
          <a:solidFill>
            <a:srgbClr val="E7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444752"/>
            <a:ext cx="103327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B1B1B"/>
                </a:solidFill>
                <a:latin typeface="Calibri"/>
              </a:rPr>
              <a:t>Listen once. Choose the best answer.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377440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1. What is the recording mainly about?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035808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A. plans for a trip next summer B. how one person travels in the city C. working together as a team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6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Listening task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U3.4-L2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371600"/>
            <a:ext cx="10881360" cy="777240"/>
          </a:xfrm>
          <a:prstGeom prst="roundRect">
            <a:avLst>
              <a:gd name="adj" fmla="val 6000"/>
            </a:avLst>
          </a:prstGeom>
          <a:solidFill>
            <a:srgbClr val="E7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444752"/>
            <a:ext cx="103327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B1B1B"/>
                </a:solidFill>
                <a:latin typeface="Calibri"/>
              </a:rPr>
              <a:t>Listen again. Write T (true) or F (false).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377440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1. Let's Learn English - Level 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035808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2. Lesson 45: I Was Minding My Own Business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694176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3. Welcome to The Time Traveling Treehouse!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352544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4. Anna, this chart shows the audience of The Time Traveling Treehouse.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5010912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5. If you look at this chart, you will see something good.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6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Listening task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U3.4-L3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371600"/>
            <a:ext cx="10881360" cy="777240"/>
          </a:xfrm>
          <a:prstGeom prst="roundRect">
            <a:avLst>
              <a:gd name="adj" fmla="val 6000"/>
            </a:avLst>
          </a:prstGeom>
          <a:solidFill>
            <a:srgbClr val="E7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444752"/>
            <a:ext cx="103327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B1B1B"/>
                </a:solidFill>
                <a:latin typeface="Calibri"/>
              </a:rPr>
              <a:t>Listen once more and write the missing word.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377440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1. Anna: I am walking to _____.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035808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2. Anna: Today my boss will tell me what she thinks of my _____.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694176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3. Ms. Weaver: I have something -- _____ posters!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352544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4. Anna: “TEAMWORK works best with a _____.” A team of cats.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5010912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5. Quiz - Lesson 41: Teamwork Works Best With a _____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Reading: Thank-you notes on the school board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U3L4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371600"/>
            <a:ext cx="10881360" cy="4846320"/>
          </a:xfrm>
          <a:prstGeom prst="roundRect">
            <a:avLst>
              <a:gd name="adj" fmla="val 6000"/>
            </a:avLst>
          </a:prstGeom>
          <a:solidFill>
            <a:srgbClr val="EAF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554480"/>
            <a:ext cx="10332720" cy="4480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 i="0">
                <a:solidFill>
                  <a:srgbClr val="1B1B1B"/>
                </a:solidFill>
                <a:latin typeface="Calibri"/>
              </a:rPr>
              <a:t>'Thank you to class 7A for the 214 books. Our children read every evening now.' – Sunflower Children's Home 'A big thank you to the students who cleaned the road in front of my shop last Sunday. I did not ask, and they did not want money. That is real kindness.' – Mr Tam, the bookshop 'We are very grateful to the Green Sunday Club. In one year they collected 12,000 plastic bottles from our street.' – The Ward Committee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Reading task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U3.4-R1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371600"/>
            <a:ext cx="10881360" cy="777240"/>
          </a:xfrm>
          <a:prstGeom prst="roundRect">
            <a:avLst>
              <a:gd name="adj" fmla="val 6000"/>
            </a:avLst>
          </a:prstGeom>
          <a:solidFill>
            <a:srgbClr val="EAF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444752"/>
            <a:ext cx="103327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B1B1B"/>
                </a:solidFill>
                <a:latin typeface="Calibri"/>
              </a:rPr>
              <a:t>Answer the questions.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377440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1. Who wrote the first note and why?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035808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2. What did the students do for Mr Tam?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694176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3. Did Mr Tam ask them to do it?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352544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4. How many bottles did the club collect?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E7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Guided practice  (1/2)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U3.4-G1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371600"/>
            <a:ext cx="10881360" cy="777240"/>
          </a:xfrm>
          <a:prstGeom prst="roundRect">
            <a:avLst>
              <a:gd name="adj" fmla="val 6000"/>
            </a:avLst>
          </a:prstGeom>
          <a:solidFill>
            <a:srgbClr val="E3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444752"/>
            <a:ext cx="103327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B1B1B"/>
                </a:solidFill>
                <a:latin typeface="Calibri"/>
              </a:rPr>
              <a:t>Write O (offer), A (accept), R (refuse) or T (thanks).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377440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1. Can I give you a hand? ___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035808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2. Yes, please. ___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694176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3. No, thanks. I'm fine. ___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352544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4. I really appreciate it. ___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5010912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5. Shall I carry that? ___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E7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Guided practice  (2/2)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U3.4-G1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371600"/>
            <a:ext cx="10881360" cy="777240"/>
          </a:xfrm>
          <a:prstGeom prst="roundRect">
            <a:avLst>
              <a:gd name="adj" fmla="val 6000"/>
            </a:avLst>
          </a:prstGeom>
          <a:solidFill>
            <a:srgbClr val="E3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444752"/>
            <a:ext cx="103327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B1B1B"/>
                </a:solidFill>
                <a:latin typeface="Calibri"/>
              </a:rPr>
              <a:t>Write O (offer), A (accept), R (refuse) or T (thanks).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377440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6. That's very kind of you. ___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E7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Guided practice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U3.4-G2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371600"/>
            <a:ext cx="10881360" cy="777240"/>
          </a:xfrm>
          <a:prstGeom prst="roundRect">
            <a:avLst>
              <a:gd name="adj" fmla="val 6000"/>
            </a:avLst>
          </a:prstGeom>
          <a:solidFill>
            <a:srgbClr val="E3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444752"/>
            <a:ext cx="103327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B1B1B"/>
                </a:solidFill>
                <a:latin typeface="Calibri"/>
              </a:rPr>
              <a:t>Use the words in the box.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377440"/>
            <a:ext cx="10515600" cy="640080"/>
          </a:xfrm>
          <a:prstGeom prst="roundRect">
            <a:avLst>
              <a:gd name="adj" fmla="val 6000"/>
            </a:avLst>
          </a:prstGeom>
          <a:solidFill>
            <a:srgbClr val="FDF2E0"/>
          </a:solidFill>
          <a:ln w="19050">
            <a:solidFill>
              <a:srgbClr val="E07A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2423160"/>
            <a:ext cx="100584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1" i="0">
                <a:solidFill>
                  <a:srgbClr val="E07A1F"/>
                </a:solidFill>
                <a:latin typeface="Calibri"/>
              </a:rPr>
              <a:t>hand   please   kind   welcome   Shall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200400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A: Do you need a (1) ______ with those chairs?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3858768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B: Yes, (2) ______ . That's very (3) ______ of you.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4517136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A: (4) ______ I take the big ones?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5175504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B: Thank you so much!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5833872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A: You're (5) ______ 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E7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Your turn — independent practice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U3.4-I1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371600"/>
            <a:ext cx="10881360" cy="777240"/>
          </a:xfrm>
          <a:prstGeom prst="roundRect">
            <a:avLst>
              <a:gd name="adj" fmla="val 6000"/>
            </a:avLst>
          </a:prstGeom>
          <a:solidFill>
            <a:srgbClr val="E3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444752"/>
            <a:ext cx="103327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B1B1B"/>
                </a:solidFill>
                <a:latin typeface="Calibri"/>
              </a:rPr>
              <a:t>Ask a classmate: 'Did you ever help someone? What did you do? How did they thank you?' Report to the class.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E7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Your turn — independent practice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U3.4-I1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828800"/>
            <a:ext cx="10698480" cy="2194560"/>
          </a:xfrm>
          <a:prstGeom prst="roundRect">
            <a:avLst>
              <a:gd name="adj" fmla="val 6000"/>
            </a:avLst>
          </a:prstGeom>
          <a:solidFill>
            <a:srgbClr val="E3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011680"/>
            <a:ext cx="1005840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200" b="0" i="0">
                <a:solidFill>
                  <a:srgbClr val="1B1B1B"/>
                </a:solidFill>
                <a:latin typeface="Calibri"/>
              </a:rPr>
              <a:t>Ask a classmate: 'Did you ever help someone? What did you do? How did they thank you?' Report to the class.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E7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Your turn — independent practice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U3.4-I2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371600"/>
            <a:ext cx="10881360" cy="777240"/>
          </a:xfrm>
          <a:prstGeom prst="roundRect">
            <a:avLst>
              <a:gd name="adj" fmla="val 6000"/>
            </a:avLst>
          </a:prstGeom>
          <a:solidFill>
            <a:srgbClr val="E3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444752"/>
            <a:ext cx="103327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B1B1B"/>
                </a:solidFill>
                <a:latin typeface="Calibri"/>
              </a:rPr>
              <a:t>Perform U3.4-S2 for another pair with the checklist.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377440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Checklist: □ 6 turns □ one offer □ accept/refuse □ a question □ thanks □ polite intonation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Speaking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U3.4-S1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371600"/>
            <a:ext cx="10881360" cy="777240"/>
          </a:xfrm>
          <a:prstGeom prst="roundRect">
            <a:avLst>
              <a:gd name="adj" fmla="val 6000"/>
            </a:avLst>
          </a:prstGeom>
          <a:solidFill>
            <a:srgbClr val="FC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444752"/>
            <a:ext cx="103327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B1B1B"/>
                </a:solidFill>
                <a:latin typeface="Calibri"/>
              </a:rPr>
              <a:t>Look at the situations and make an offer. Your partner accepts or refuses.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377440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1. Your teacher is carrying twenty books.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035808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2. An old lady drops her bag.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694176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3. Your friend is cleaning the board alone.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352544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4. A tourist is looking at a map.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5010912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5. Your mother is cooking for ten guests.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Speaking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U3.4-S2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371600"/>
            <a:ext cx="10881360" cy="777240"/>
          </a:xfrm>
          <a:prstGeom prst="roundRect">
            <a:avLst>
              <a:gd name="adj" fmla="val 6000"/>
            </a:avLst>
          </a:prstGeom>
          <a:solidFill>
            <a:srgbClr val="FC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444752"/>
            <a:ext cx="103327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B1B1B"/>
                </a:solidFill>
                <a:latin typeface="Calibri"/>
              </a:rPr>
              <a:t>A is a volunteer organiser, B is a student who wants to help. Six turns.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377440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Organiser: welcome → say the jobs → answer a question → thank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035808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Student: offer help → choose a job → ask about the time → say goodbye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300" b="1" i="0">
                <a:solidFill>
                  <a:srgbClr val="FFFFFF"/>
                </a:solidFill>
                <a:latin typeface="Calibri"/>
              </a:rPr>
              <a:t>Real-life English: Offering help, accepting, refusing and thanking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U3L4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463040"/>
            <a:ext cx="10515600" cy="6583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508760"/>
            <a:ext cx="100584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B1B1B"/>
                </a:solidFill>
                <a:latin typeface="Calibri"/>
              </a:rPr>
              <a:t>💬 Can I help you?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212848"/>
            <a:ext cx="10515600" cy="6583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2258568"/>
            <a:ext cx="100584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B1B1B"/>
                </a:solidFill>
                <a:latin typeface="Calibri"/>
              </a:rPr>
              <a:t>💬 Do you need a hand?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2962656"/>
            <a:ext cx="10515600" cy="6583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3008376"/>
            <a:ext cx="100584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B1B1B"/>
                </a:solidFill>
                <a:latin typeface="Calibri"/>
              </a:rPr>
              <a:t>💬 Shall I…?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712464"/>
            <a:ext cx="10515600" cy="6583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3758184"/>
            <a:ext cx="100584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B1B1B"/>
                </a:solidFill>
                <a:latin typeface="Calibri"/>
              </a:rPr>
              <a:t>💬 Yes, please. That's very kind.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4462272"/>
            <a:ext cx="10515600" cy="6583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4507992"/>
            <a:ext cx="100584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B1B1B"/>
                </a:solidFill>
                <a:latin typeface="Calibri"/>
              </a:rPr>
              <a:t>💬 No, thanks. I'm fine.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5212080"/>
            <a:ext cx="10515600" cy="6583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97280" y="5257800"/>
            <a:ext cx="100584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B1B1B"/>
                </a:solidFill>
                <a:latin typeface="Calibri"/>
              </a:rPr>
              <a:t>💬 Thank you so much.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Role play — in pairs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U3L4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737360"/>
            <a:ext cx="10698480" cy="2560320"/>
          </a:xfrm>
          <a:prstGeom prst="roundRect">
            <a:avLst>
              <a:gd name="adj" fmla="val 6000"/>
            </a:avLst>
          </a:prstGeom>
          <a:solidFill>
            <a:srgbClr val="FC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920240"/>
            <a:ext cx="10058400" cy="2194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100" b="0" i="0">
                <a:solidFill>
                  <a:srgbClr val="1B1B1B"/>
                </a:solidFill>
                <a:latin typeface="Calibri"/>
              </a:rPr>
              <a:t>Chain role play in fours: A offers help to B, B thanks A; then B offers help to C, and so on round the group.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663440"/>
            <a:ext cx="105156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42C4F"/>
                </a:solidFill>
                <a:latin typeface="Calibri"/>
              </a:rPr>
              <a:t>⏱ 2 minutes to prepare  ·  2 minutes to perform  ·  then swap roles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42C4F"/>
                </a:solidFill>
                <a:latin typeface="Calibri"/>
              </a:rPr>
              <a:t>Do not read! Look at your partner.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✍️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Writing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U3.4-W1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371600"/>
            <a:ext cx="10881360" cy="777240"/>
          </a:xfrm>
          <a:prstGeom prst="roundRect">
            <a:avLst>
              <a:gd name="adj" fmla="val 6000"/>
            </a:avLst>
          </a:prstGeom>
          <a:solidFill>
            <a:srgbClr val="E7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444752"/>
            <a:ext cx="103327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B1B1B"/>
                </a:solidFill>
                <a:latin typeface="Calibri"/>
              </a:rPr>
              <a:t>Write a short thank-you note (3–4 sentences) to people who helped your class.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377440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Say what they did, how it helped, and thank them.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Let's remember today's English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U3L4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00200"/>
            <a:ext cx="10698480" cy="841248"/>
          </a:xfrm>
          <a:prstGeom prst="roundRect">
            <a:avLst>
              <a:gd name="adj" fmla="val 6000"/>
            </a:avLst>
          </a:prstGeom>
          <a:solidFill>
            <a:srgbClr val="EAF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673352"/>
            <a:ext cx="1024128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B1B1B"/>
                </a:solidFill>
                <a:latin typeface="Calibri"/>
              </a:rPr>
              <a:t>✓ Offers: Can I…? / Shall I…? / Do you need a hand?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560320"/>
            <a:ext cx="10698480" cy="841248"/>
          </a:xfrm>
          <a:prstGeom prst="roundRect">
            <a:avLst>
              <a:gd name="adj" fmla="val 6000"/>
            </a:avLst>
          </a:prstGeom>
          <a:solidFill>
            <a:srgbClr val="EAF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2633472"/>
            <a:ext cx="1024128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B1B1B"/>
                </a:solidFill>
                <a:latin typeface="Calibri"/>
              </a:rPr>
              <a:t>✓ Accepting and refusing politely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520440"/>
            <a:ext cx="10698480" cy="841248"/>
          </a:xfrm>
          <a:prstGeom prst="roundRect">
            <a:avLst>
              <a:gd name="adj" fmla="val 6000"/>
            </a:avLst>
          </a:prstGeom>
          <a:solidFill>
            <a:srgbClr val="EAF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3593592"/>
            <a:ext cx="1024128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B1B1B"/>
                </a:solidFill>
                <a:latin typeface="Calibri"/>
              </a:rPr>
              <a:t>✓ Thanking and responding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Homework — write it in your notebook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U3L4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554480"/>
            <a:ext cx="10698480" cy="868680"/>
          </a:xfrm>
          <a:prstGeom prst="roundRect">
            <a:avLst>
              <a:gd name="adj" fmla="val 6000"/>
            </a:avLst>
          </a:prstGeom>
          <a:solidFill>
            <a:srgbClr val="E7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609344"/>
            <a:ext cx="18288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42C4F"/>
                </a:solidFill>
                <a:latin typeface="Calibri"/>
              </a:rPr>
              <a:t>U3.4-H1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0" y="1609344"/>
            <a:ext cx="85039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0" i="0">
                <a:solidFill>
                  <a:srgbClr val="1B1B1B"/>
                </a:solidFill>
                <a:latin typeface="Calibri"/>
              </a:rPr>
              <a:t>Everyday English — Write what you say.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523744"/>
            <a:ext cx="10698480" cy="868680"/>
          </a:xfrm>
          <a:prstGeom prst="roundRect">
            <a:avLst>
              <a:gd name="adj" fmla="val 6000"/>
            </a:avLst>
          </a:prstGeom>
          <a:solidFill>
            <a:srgbClr val="E7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2578608"/>
            <a:ext cx="18288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42C4F"/>
                </a:solidFill>
                <a:latin typeface="Calibri"/>
              </a:rPr>
              <a:t>U3.4-H2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0" y="2578608"/>
            <a:ext cx="85039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0" i="0">
                <a:solidFill>
                  <a:srgbClr val="1B1B1B"/>
                </a:solidFill>
                <a:latin typeface="Calibri"/>
              </a:rPr>
              <a:t>Vocabulary — Complete with offer, grateful, appreciate, carry, share.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493008"/>
            <a:ext cx="10698480" cy="868680"/>
          </a:xfrm>
          <a:prstGeom prst="roundRect">
            <a:avLst>
              <a:gd name="adj" fmla="val 6000"/>
            </a:avLst>
          </a:prstGeom>
          <a:solidFill>
            <a:srgbClr val="E7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3547872"/>
            <a:ext cx="18288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42C4F"/>
                </a:solidFill>
                <a:latin typeface="Calibri"/>
              </a:rPr>
              <a:t>U3.4-H3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0" y="3547872"/>
            <a:ext cx="85039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0" i="0">
                <a:solidFill>
                  <a:srgbClr val="1B1B1B"/>
                </a:solidFill>
                <a:latin typeface="Calibri"/>
              </a:rPr>
              <a:t>Writing — Write your thank-you note from U3.4-W1 neatly.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462272"/>
            <a:ext cx="10698480" cy="868680"/>
          </a:xfrm>
          <a:prstGeom prst="roundRect">
            <a:avLst>
              <a:gd name="adj" fmla="val 6000"/>
            </a:avLst>
          </a:prstGeom>
          <a:solidFill>
            <a:srgbClr val="E7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4517136"/>
            <a:ext cx="18288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42C4F"/>
                </a:solidFill>
                <a:latin typeface="Calibri"/>
              </a:rPr>
              <a:t>U3.4-H4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0" y="4517136"/>
            <a:ext cx="85039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0" i="0">
                <a:solidFill>
                  <a:srgbClr val="1B1B1B"/>
                </a:solidFill>
                <a:latin typeface="Calibri"/>
              </a:rPr>
              <a:t>Speaking — Practise the three offers with rising intonation five times each.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989320"/>
            <a:ext cx="106984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800" b="0" i="0">
                <a:solidFill>
                  <a:srgbClr val="6B7280"/>
                </a:solidFill>
                <a:latin typeface="Calibri"/>
              </a:rPr>
              <a:t>Homework Book, section U3L4   ·   See you next lesson! 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