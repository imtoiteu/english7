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../audio/FU3L4_1_64e9d749-33ff-4b41-934d-9f44e81cfea0_hq.mp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097280" y="4389120"/>
            <a:ext cx="6858000" cy="4114800"/>
          </a:xfrm>
          <a:prstGeom prst="ellipse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78240" y="-1828800"/>
            <a:ext cx="5486400" cy="4572000"/>
          </a:xfrm>
          <a:prstGeom prst="ellipse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UNIT 3  ·  LESSON 4  ·  PERIOD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7F1FA"/>
                </a:solidFill>
                <a:latin typeface="Calibri"/>
              </a:rPr>
              <a:t>COMMUNICATION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Everyday English: offering help and thanking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035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E7F1FA"/>
                </a:solidFill>
                <a:latin typeface="Calibri"/>
              </a:rPr>
              <a:t>English 7  ·  Let's start! 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Today we will learn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463040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508760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508760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offer help and accept or refuse an offer politely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0592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50592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2496312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2496312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thank someone and respond to thanks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38144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3438144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8386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483864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take part in a 6-turn role play about a community activity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25696"/>
            <a:ext cx="1088136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4425696"/>
            <a:ext cx="128016" cy="86868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471416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1E6FB8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471416"/>
            <a:ext cx="95097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interview a classmate about a past experience and report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Warm-up: Past questions ping-pong  (5')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420624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37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• Students ask each other one past question along the row: 'What did you do yesterday?' Recycles Lesson 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85216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1">
                <a:solidFill>
                  <a:srgbClr val="6B7280"/>
                </a:solidFill>
                <a:latin typeface="Calibri"/>
              </a:rPr>
              <a:t>👉 You: Ask and answer past questions.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offer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/ˈɒfə/   (v/n)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đề nghị giúp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She offered to carry my bag.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give someone a hand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/ɡɪv ˈsʌmwʌn ə hænd/   (v phr)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giúp một tay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Can you give me a hand?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grateful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/ˈɡreɪtfl/   (adj)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biết ơn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are very grateful for your help.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New words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270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appreciate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1671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/əˈpriːʃieɪt/   (v)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5270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trân trọng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21945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I really appreciate your 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0175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1272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carry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7673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/ˈkæri/   (v)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31272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mang, vác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7947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They carried the boxes to the truck.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17720"/>
            <a:ext cx="11064240" cy="1481328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727448"/>
            <a:ext cx="4206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E07A1F"/>
                </a:solidFill>
                <a:latin typeface="Calibri"/>
              </a:rPr>
              <a:t>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367528"/>
            <a:ext cx="4206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6B7280"/>
                </a:solidFill>
                <a:latin typeface="Calibri"/>
              </a:rPr>
              <a:t>/ʃeə/   (v)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4727448"/>
            <a:ext cx="6126480" cy="60350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chia sẻ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394960"/>
            <a:ext cx="6126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0" i="1">
                <a:solidFill>
                  <a:srgbClr val="1B1B1B"/>
                </a:solidFill>
                <a:latin typeface="Calibri"/>
              </a:rPr>
              <a:t>e.g. We shared the work between six people.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07A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Useful phrases — learn them as one block!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55448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60934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Can I help you?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6771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32257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Do you need a hand?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80944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35808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Let me help you with that.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694176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4904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Yes, please. That's very kind.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07408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462272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No, thanks. I'm fine.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120640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175504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Thank you so much.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33872"/>
            <a:ext cx="1051560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5888736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🔹 You're welcome. / Don't mention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Grammar: Offers with Can I…? / Shall I…? / Would you like…?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630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36192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Can I help you? – the simplest and most common offer.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8716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560320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Shall I carry that? – slightly more formal, common in Britain.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1129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584448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Would you like some help? – polite, used with strangers and adults.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53542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608576"/>
            <a:ext cx="103327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▸ Accepting: Yes, please. That's very kind of you. Refusing: No, thanks. I'm fine.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The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63040"/>
          <a:ext cx="110642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6692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Offer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Accept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</a:rPr>
                        <a:t>Refuse</a:t>
                      </a:r>
                    </a:p>
                  </a:txBody>
                  <a:tcPr>
                    <a:solidFill>
                      <a:srgbClr val="0E7C6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Can I help you?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Yes, please.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No, thanks. I'm fine.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Shall I carry that?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That's very kind of you.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It's OK, thanks. I can do it.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Would you like some help?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Thank you, I'd love some.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1B1B"/>
                          </a:solidFill>
                          <a:latin typeface="Calibri"/>
                        </a:rPr>
                        <a:t>Thanks, but I'm nearly finished.</a:t>
                      </a:r>
                    </a:p>
                  </a:txBody>
                  <a:tcPr>
                    <a:solidFill>
                      <a:srgbClr val="E3F3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Look at the examples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27632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Can I give you a hand with those books? – Yes, please. They're heavy!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450592"/>
            <a:ext cx="10698480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E7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23744"/>
            <a:ext cx="102412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✅ Shall I open the door for you? – That's very kind of you.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Be careful! A very common mistake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23774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28800"/>
            <a:ext cx="100584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Students say *I help you?* or *You want help?* — direct translations that sound abrupt. Teach the three fixed offer forms as chunks.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 i="0">
                <a:solidFill>
                  <a:srgbClr val="2E7D32"/>
                </a:solidFill>
                <a:latin typeface="Calibri"/>
              </a:rPr>
              <a:t>👍 Say it like this:  Can I give you a hand with those books? – Yes, please. They're heavy!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Pronunciation: Polite rising intonation in offers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17320"/>
            <a:ext cx="10881360" cy="123444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1B1B1B"/>
                </a:solidFill>
                <a:latin typeface="Calibri"/>
              </a:rPr>
              <a:t>An offer goes UP at the end. A flat or falling offer sounds like an order. Compare: 'Can I help you? ↗' (kind) vs 'Can I help you. ↘' (cold).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88036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26080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Can I help you? 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9359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639312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Shall I carry that? ↗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30682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352544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Would you like some help? 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02005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6B3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065776"/>
            <a:ext cx="102412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🔊 Yes, please. 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3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Repeat after me — three times each!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Can I help you? ↗ B: Yes, please. That's very kind.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10698480" cy="914400"/>
          </a:xfrm>
          <a:prstGeom prst="roundRect">
            <a:avLst>
              <a:gd name="adj" fmla="val 6000"/>
            </a:avLst>
          </a:prstGeom>
          <a:solidFill>
            <a:srgbClr val="F1E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880360"/>
            <a:ext cx="1024128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🗣 A: Shall I carry that box? ↗ B: No, thanks. I'm fine.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Listening: Lesson 41: Teamwork Works Best With a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182880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You will hear a real recording: working together as a team. American English — VOA’s professional actors (Anna, Pete, Marsha, Ms. Weaver…), slowed learner delivery. It lasts 3:32.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2336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1: just listen — do not write.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2: write your answers.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42C4F"/>
                </a:solidFill>
                <a:latin typeface="Calibri"/>
              </a:rPr>
              <a:t>🎧  Listen 3: check with your partner.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440680"/>
            <a:ext cx="10698480" cy="530352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 w="19050">
            <a:solidFill>
              <a:srgbClr val="1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142C4F"/>
                </a:solidFill>
                <a:hlinkClick r:id="rId2"/>
              </a:rPr>
              <a:t>▶ Play audio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062472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VOA Learning English — Let’s Learn English, Level 1 · 3:32 · American English — VOA’s professional actors (Anna, Pete, Marsha, Ms. Weaver…), slowed learner delivery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U3.4-L1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once. Choose the best answer.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What is the recording mainly about?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A. plans for a trip next summer B. how one person travels in the city C. working together as a team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U3.4-L2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again. Write T (true) or F (false).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Let's Learn English - Level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Lesson 45: I Was Minding My Own Business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Welcome to The Time Traveling Treehouse!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Anna, this chart shows the audience of The Time Traveling Treehouse.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If you look at this chart, you will see something good.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Listening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U3.4-L3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Listen once more and write the missing word.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Anna: I am walking to _____.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Anna: Today my boss will tell me what she thinks of my _____.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Ms. Weaver: I have something -- _____ posters!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Anna: “TEAMWORK works best with a _____.” A team of cats.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Quiz - Lesson 41: Teamwork Works Best With a _____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Reading: Thank-you notes on the school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484632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54480"/>
            <a:ext cx="10332720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500" b="0" i="0">
                <a:solidFill>
                  <a:srgbClr val="1B1B1B"/>
                </a:solidFill>
                <a:latin typeface="Calibri"/>
              </a:rPr>
              <a:t>'Thank you to class 7A for the 214 books. Our children read every evening now.' – Sunflower Children's Home 'A big thank you to the students who cleaned the road in front of my shop last Sunday. I did not ask, and they did not want money. That is real kindness.' – Mr Tam, the bookshop 'We are very grateful to the Green Sunday Club. In one year they collected 12,000 plastic bottles from our street.' – The Ward Committee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Reading task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U3.4-R1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Answer the questions.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Who wrote the first note and why?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What did the students do for Mr Tam?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Did Mr Tam ask them to do it?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How many bottles did the club collect?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(1/2)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O (offer), A (accept), R (refuse) or T (thanks).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Can I give you a hand? ___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Yes, please. 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No, thanks. I'm fine. 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I really appreciate it. 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Shall I carry that? 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  (2/2)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U3.4-G1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O (offer), A (accept), R (refuse) or T (thanks).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6. That's very kind of you. 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Guided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U3.4-G2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Use the words in the box.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10515600" cy="640080"/>
          </a:xfrm>
          <a:prstGeom prst="roundRect">
            <a:avLst>
              <a:gd name="adj" fmla="val 6000"/>
            </a:avLst>
          </a:prstGeom>
          <a:solidFill>
            <a:srgbClr val="FDF2E0"/>
          </a:solidFill>
          <a:ln w="19050">
            <a:solidFill>
              <a:srgbClr val="E07A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423160"/>
            <a:ext cx="10058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E07A1F"/>
                </a:solidFill>
                <a:latin typeface="Calibri"/>
              </a:rPr>
              <a:t>hand   please   kind   welcome   Shall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Do you need a (1) ______ with those chairs?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Yes, (2) ______ . That's very (3) ______ of you.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171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(4) ______ I take the big ones?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17550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B: Thank you so much!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83387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A: You're (5) ______ 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Ask a classmate: 'Did you ever help someone? What did you do? How did they thank you?' Report to the class.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U3.4-I1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219456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011680"/>
            <a:ext cx="1005840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0" i="0">
                <a:solidFill>
                  <a:srgbClr val="1B1B1B"/>
                </a:solidFill>
                <a:latin typeface="Calibri"/>
              </a:rPr>
              <a:t>Ask a classmate: 'Did you ever help someone? What did you do? How did they thank you?' Report to the class.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7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Your turn — independent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U3.4-I2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3F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Perform U3.4-S2 for another pair with the checklist.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Checklist: □ 6 turns □ one offer □ accept/refuse □ a question □ thanks □ polite intonation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U3.4-S1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Look at the situations and make an offer. Your partner accepts or refuses.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1. Your teacher is carrying twenty books.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2. An old lady drops her bag.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417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3. Your friend is cleaning the board alone.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352544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4. A tourist is looking at a map.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1091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5. Your mother is cooking for ten guests.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Speaking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U3.4-S2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A is a volunteer organiser, B is a student who wants to help. Six turns.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Organiser: welcome → say the jobs → answer a question → thank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03580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Student: offer help → choose a job → ask about the time → say goodbye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Real-life English: Offering help, accepting, refusing and thanking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46304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0876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Can I help you?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212848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Do you need a hand?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962656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3008376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Shall I…?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712464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Yes, please. That's very kind.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62272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507992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No, thanks. I'm fine.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12080"/>
            <a:ext cx="10515600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257800"/>
            <a:ext cx="100584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💬 Thank you so much.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Role play — in pairs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10698480" cy="2560320"/>
          </a:xfrm>
          <a:prstGeom prst="roundRect">
            <a:avLst>
              <a:gd name="adj" fmla="val 6000"/>
            </a:avLst>
          </a:prstGeom>
          <a:solidFill>
            <a:srgbClr val="FC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100" b="0" i="0">
                <a:solidFill>
                  <a:srgbClr val="1B1B1B"/>
                </a:solidFill>
                <a:latin typeface="Calibri"/>
              </a:rPr>
              <a:t>Chain role play in fours: A offers help to B, B thanks A; then B offers help to C, and so on round the group.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6344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⏱ 2 minutes to prepare  ·  2 minutes to perform  ·  then swap roles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Do not read! Look at your partner.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✍️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Writing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U3.4-W1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71600"/>
            <a:ext cx="10881360" cy="77724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44752"/>
            <a:ext cx="1033272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B1B1B"/>
                </a:solidFill>
                <a:latin typeface="Calibri"/>
              </a:rPr>
              <a:t>Write a short thank-you note (3–4 sentences) to people who helped your class.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774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0" i="0">
                <a:solidFill>
                  <a:srgbClr val="1B1B1B"/>
                </a:solidFill>
                <a:latin typeface="Calibri"/>
              </a:rPr>
              <a:t>Say what they did, how it helped, and thank them.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Let's remember today's 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002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67335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Offers: Can I…? / Shall I…? / Do you need a hand?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56032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3347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Accepting and refusing politely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520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E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593592"/>
            <a:ext cx="1024128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000" b="0" i="0">
                <a:solidFill>
                  <a:srgbClr val="1B1B1B"/>
                </a:solidFill>
                <a:latin typeface="Calibri"/>
              </a:rPr>
              <a:t>✓ Thanking and responding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42C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914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400" b="0" i="0">
                <a:solidFill>
                  <a:srgbClr val="FFFFFF"/>
                </a:solidFill>
                <a:latin typeface="Calibri"/>
              </a:rPr>
              <a:t>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146304"/>
            <a:ext cx="8961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Homework — write it in your notebook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274320"/>
            <a:ext cx="146304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U3L4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09344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609344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Everyday English — Write what you say.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23744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578608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578608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Vocabulary — Complete with offer, grateful, appreciate, carry, share.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493008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547872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547872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Writing — Write your thank-you note from U3.4-W1 neatly.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462272"/>
            <a:ext cx="10698480" cy="868680"/>
          </a:xfrm>
          <a:prstGeom prst="roundRect">
            <a:avLst>
              <a:gd name="adj" fmla="val 6000"/>
            </a:avLst>
          </a:prstGeom>
          <a:solidFill>
            <a:srgbClr val="E7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17136"/>
            <a:ext cx="18288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900" b="1" i="0">
                <a:solidFill>
                  <a:srgbClr val="142C4F"/>
                </a:solidFill>
                <a:latin typeface="Calibri"/>
              </a:rPr>
              <a:t>U3.4-H4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517136"/>
            <a:ext cx="85039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700" b="0" i="0">
                <a:solidFill>
                  <a:srgbClr val="1B1B1B"/>
                </a:solidFill>
                <a:latin typeface="Calibri"/>
              </a:rPr>
              <a:t>Speaking — Practise the three offers with rising intonation five times each.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9893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0" i="0">
                <a:solidFill>
                  <a:srgbClr val="6B7280"/>
                </a:solidFill>
                <a:latin typeface="Calibri"/>
              </a:rPr>
              <a:t>Homework Book, section U3L4   ·   See you next lesson! 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