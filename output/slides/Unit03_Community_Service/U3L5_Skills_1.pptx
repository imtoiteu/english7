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3L5_1_e7c6ba11-8320-4bcc-8fc5-27fa4e385e23_hq.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5  ·  PERIOD 21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Young volunteers + Speaking: Report a past event</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220-word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the meaning of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report a past community event in 60–90 seconds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speaker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Past questions bingo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four past activities. Teacher asks 'Did you…?' questions; students cross out.</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Answer and cross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achievement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/əˈtʃiːvmənt/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tựu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Their biggest achievement was the new library.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local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/ˈləʊkl/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địa phương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local people helped us.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flood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/flʌd/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lũ lụt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flood damaged twenty houses.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victim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/ˈvɪktɪm/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nạn nhân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sent clothes to the flood victims.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proud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/praʊd əv/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hào về</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proud of our students.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difference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/ˈdɪfrəns/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khác biệt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Small actions make a big difference.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a difference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part in</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proud of</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to…</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first… in the 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Sequencing a past story: first, then, after that, finally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sequence words so the listener can follow your story.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 / At first, … (the beginning)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Then, … / After that, … (the middle)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Finally, … / In the end, … (the 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800" b="1">
                          <a:solidFill>
                            <a:srgbClr val="FFFFFF"/>
                          </a:solidFill>
                          <a:latin typeface="Calibri"/>
                        </a:rPr>
                        <a:t>Stage</a:t>
                      </a:r>
                    </a:p>
                  </a:txBody>
                  <a:tcPr>
                    <a:solidFill>
                      <a:srgbClr val="0E7C66"/>
                    </a:solidFill>
                  </a:tcPr>
                </a:tc>
                <a:tc>
                  <a:txBody>
                    <a:bodyPr/>
                    <a:lstStyle/>
                    <a:p>
                      <a:r>
                        <a:rPr sz="1800" b="1">
                          <a:solidFill>
                            <a:srgbClr val="FFFFFF"/>
                          </a:solidFill>
                          <a:latin typeface="Calibri"/>
                        </a:rPr>
                        <a:t>Words</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Beginning</a:t>
                      </a:r>
                    </a:p>
                  </a:txBody>
                  <a:tcPr>
                    <a:solidFill>
                      <a:srgbClr val="E3F3EE"/>
                    </a:solidFill>
                  </a:tcPr>
                </a:tc>
                <a:tc>
                  <a:txBody>
                    <a:bodyPr/>
                    <a:lstStyle/>
                    <a:p>
                      <a:r>
                        <a:rPr sz="1800" b="0">
                          <a:solidFill>
                            <a:srgbClr val="1B1B1B"/>
                          </a:solidFill>
                          <a:latin typeface="Calibri"/>
                        </a:rPr>
                        <a:t>First / At first</a:t>
                      </a:r>
                    </a:p>
                  </a:txBody>
                  <a:tcPr>
                    <a:solidFill>
                      <a:srgbClr val="E3F3EE"/>
                    </a:solidFill>
                  </a:tcPr>
                </a:tc>
                <a:tc>
                  <a:txBody>
                    <a:bodyPr/>
                    <a:lstStyle/>
                    <a:p>
                      <a:r>
                        <a:rPr sz="1800" b="0">
                          <a:solidFill>
                            <a:srgbClr val="1B1B1B"/>
                          </a:solidFill>
                          <a:latin typeface="Calibri"/>
                        </a:rPr>
                        <a:t>First, we met at the school gate at seven.</a:t>
                      </a:r>
                    </a:p>
                  </a:txBody>
                  <a:tcPr>
                    <a:solidFill>
                      <a:srgbClr val="E3F3EE"/>
                    </a:solidFill>
                  </a:tcPr>
                </a:tc>
              </a:tr>
              <a:tr h="566928">
                <a:tc>
                  <a:txBody>
                    <a:bodyPr/>
                    <a:lstStyle/>
                    <a:p>
                      <a:r>
                        <a:rPr sz="1800" b="0">
                          <a:solidFill>
                            <a:srgbClr val="1B1B1B"/>
                          </a:solidFill>
                          <a:latin typeface="Calibri"/>
                        </a:rPr>
                        <a:t>Middle</a:t>
                      </a:r>
                    </a:p>
                  </a:txBody>
                  <a:tcPr>
                    <a:solidFill>
                      <a:srgbClr val="FFFFFF"/>
                    </a:solidFill>
                  </a:tcPr>
                </a:tc>
                <a:tc>
                  <a:txBody>
                    <a:bodyPr/>
                    <a:lstStyle/>
                    <a:p>
                      <a:r>
                        <a:rPr sz="1800" b="0">
                          <a:solidFill>
                            <a:srgbClr val="1B1B1B"/>
                          </a:solidFill>
                          <a:latin typeface="Calibri"/>
                        </a:rPr>
                        <a:t>Then / After that / Next</a:t>
                      </a:r>
                    </a:p>
                  </a:txBody>
                  <a:tcPr>
                    <a:solidFill>
                      <a:srgbClr val="FFFFFF"/>
                    </a:solidFill>
                  </a:tcPr>
                </a:tc>
                <a:tc>
                  <a:txBody>
                    <a:bodyPr/>
                    <a:lstStyle/>
                    <a:p>
                      <a:r>
                        <a:rPr sz="1800" b="0">
                          <a:solidFill>
                            <a:srgbClr val="1B1B1B"/>
                          </a:solidFill>
                          <a:latin typeface="Calibri"/>
                        </a:rPr>
                        <a:t>Then we walked to the beach.</a:t>
                      </a:r>
                    </a:p>
                  </a:txBody>
                  <a:tcPr>
                    <a:solidFill>
                      <a:srgbClr val="FFFFFF"/>
                    </a:solidFill>
                  </a:tcPr>
                </a:tc>
              </a:tr>
              <a:tr h="566928">
                <a:tc>
                  <a:txBody>
                    <a:bodyPr/>
                    <a:lstStyle/>
                    <a:p>
                      <a:r>
                        <a:rPr sz="1800" b="0">
                          <a:solidFill>
                            <a:srgbClr val="1B1B1B"/>
                          </a:solidFill>
                          <a:latin typeface="Calibri"/>
                        </a:rPr>
                        <a:t>End</a:t>
                      </a:r>
                    </a:p>
                  </a:txBody>
                  <a:tcPr>
                    <a:solidFill>
                      <a:srgbClr val="E3F3EE"/>
                    </a:solidFill>
                  </a:tcPr>
                </a:tc>
                <a:tc>
                  <a:txBody>
                    <a:bodyPr/>
                    <a:lstStyle/>
                    <a:p>
                      <a:r>
                        <a:rPr sz="1800" b="0">
                          <a:solidFill>
                            <a:srgbClr val="1B1B1B"/>
                          </a:solidFill>
                          <a:latin typeface="Calibri"/>
                        </a:rPr>
                        <a:t>Finally / In the end</a:t>
                      </a:r>
                    </a:p>
                  </a:txBody>
                  <a:tcPr>
                    <a:solidFill>
                      <a:srgbClr val="E3F3EE"/>
                    </a:solidFill>
                  </a:tcPr>
                </a:tc>
                <a:tc>
                  <a:txBody>
                    <a:bodyPr/>
                    <a:lstStyle/>
                    <a:p>
                      <a:r>
                        <a:rPr sz="1800" b="0">
                          <a:solidFill>
                            <a:srgbClr val="1B1B1B"/>
                          </a:solidFill>
                          <a:latin typeface="Calibri"/>
                        </a:rPr>
                        <a:t>Finally, we took a photo together.</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we collected the bottles. Then we washed them. Finally, we sold them and gave the money to the charity.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'and… and… and…'. Sequence words are the easiest way to make writing and speaking sound organised.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First, we collected the bottles. Then we washed them. Finally, we sold them and gave the money to the charity.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Pausing after sequence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Say the sequence word, then PAUSE for half a second: 'First, / we met at the gate.' The pause gives the listener time and makes you sound confident.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Then, /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After that, /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Finally, /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 we collected the bottles. Then, / we washed them. Finally, / we sold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29: A Long Time Ago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visiting a historic house and the person who lived there. American English — VOA’s professional actors (Anna, Pete, Marsha, Ms. Weaver…), slowed learner delivery. It lasts 3:20.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3:20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visiting a historic house and the person who lived there B. what one person eats for breakfast C. a road trip across the United States and a famou…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I was a little girl … When I was a little girl … I was not like other children.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They played on the swings, the slide and the teeter-totter.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They also played ball But not 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 was a tall, serious child.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Um-hum, I can believe that.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This _____ a good idea.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Today _____ a busy day at 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Anna's voice: At the playground the other children _____ silly games.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Anna's voice: They _____ with dart guns.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In fact, I _____ to be … don’t laugh … President of the United States.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Young people who made a difference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Ask most adults about teenagers and they will talk about phones and computer games. But across Viet Nam, thousands of young people spend their free time helping others. Here are two of them. Le Thi Hong Nhung, 14, lives in a small town in Quang Nam. Three years ago, after a flood, she saw that many children in her street had lost their school books. She asked her classmates for old books and started a 'book bank' in her family's front room. At first she had 30 books. Today the book bank has more than 1,200 and eight students help her every week. 'The books are not mine,' she says. 'They belong to the street.' Tran Quoc Bao, 15, from Ha Nam, is interested in the environment. Two years ago he counted the plastic bags in his village market: 4,000 in one morning. He made 200 cloth bags with his grandmother and gave them free to the sellers. Now most sellers use cloth bags, and the village 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quickly and 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Two teenagers who solved a problem in their community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Why teenagers use too many phones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start a business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Age | Place | Problem | Action | Result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Nhung | ___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Bao | ___ | ___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of this area (paragraph 3)</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things people own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do the same as someone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water that covers the land (paragraph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Nhung say 'The books are not mine'?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did Bao count the plastic bags before he did anything?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message of the last paragraph?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story with First, Then, After that, Finally.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we made a plan.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we collected the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we packed them in boxes.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we took them to the village.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Nhung started with 30 books.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keeps the books in the school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Bao counted 4,000 plastic bags in one week.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Bao's grandmother helped him make the bags.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other markets copied his idea.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Nhung or Bao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name, age, place, problem, action, result.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U3.5-S2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U3.5-S2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about a real or imagined community event.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it and when?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First…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Finally…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did you feel?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60–90 seconds in a group of four. Listeners ask two questions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First, / Then, / After that, / Finally, / It was tiring but…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and asking follow-up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amazing!</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did it 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many people helped?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was the hardest part?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do it again?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report the group must ask at least four questions in total. A silent listener loses a point.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five notes into five full sentences with sequence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five notes into five full sentences with sequence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Sequence words for a past story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in connected speech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achievement, local, flood, victims, proud.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report (70–90 words) with sequence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report three times. Time it: 60–90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