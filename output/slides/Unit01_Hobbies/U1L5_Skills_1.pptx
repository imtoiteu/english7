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  ·  LESSON 5  ·  PERIOD 5</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Unusual hobbies + Speaking: My hobby talk</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180-word text about unusual hobbies for gist and for detail</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the meaning of four new words from the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give a 1-minute talk about a hobby using a four-point plan</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 classmate's talk and ask one question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Hot seat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student sits facing the class with a hobby word behind them on the board.</a:t>
            </a:r>
          </a:p>
        </p:txBody>
      </p:sp>
      <p:sp>
        <p:nvSpPr>
          <p:cNvPr id="10" name="TextBox 9"/>
          <p:cNvSpPr txBox="1"/>
          <p:nvPr/>
        </p:nvSpPr>
        <p:spPr>
          <a:xfrm>
            <a:off x="1005840" y="260604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The class describes it in English; the student guesses. Three rounds.</a:t>
            </a:r>
          </a:p>
        </p:txBody>
      </p:sp>
      <p:sp>
        <p:nvSpPr>
          <p:cNvPr id="11" name="TextBox 10"/>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Describe and guess; recycle Units 1 vocabulary.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unusual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/ʌnˈjuːʒuəl/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khác thường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Collecting bottle caps is unusual.</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collection</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/kəˈlekʃn/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bộ sưu tập</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His collection has 300 cards.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patient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/ˈpeɪʃnt/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kiên nhẫn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You must be patient to watch birds.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useful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/ˈjuːsfl/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hữu ích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Cooking is a useful hobby.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cheap</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/tʃiːp/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rẻ</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Reading is a cheap hobby.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expensive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/ɪkˈspensɪv/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đắt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Photography can be expensive.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interested in + V-ing</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spend time + V-ing</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takes (me) two hours to …</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good thing about … is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Giving reasons with 'because' and 'so' (review and use)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We use BECAUSE + reason: I love it because it is relaxing.</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We use SO + result: It is relaxing, so I love it.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In a talk, always give a reason – it makes your English sound much better.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graphicFrame>
        <p:nvGraphicFramePr>
          <p:cNvPr id="8" name="Table 7"/>
          <p:cNvGraphicFramePr>
            <a:graphicFrameLocks noGrp="1"/>
          </p:cNvGraphicFramePr>
          <p:nvPr/>
        </p:nvGraphicFramePr>
        <p:xfrm>
          <a:off x="548640" y="1463040"/>
          <a:ext cx="11064240" cy="1700784"/>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800" b="1">
                          <a:solidFill>
                            <a:srgbClr val="FFFFFF"/>
                          </a:solidFill>
                          <a:latin typeface="Calibri"/>
                        </a:rPr>
                        <a:t>Pattern</a:t>
                      </a:r>
                    </a:p>
                  </a:txBody>
                  <a:tcPr>
                    <a:solidFill>
                      <a:srgbClr val="0E7C66"/>
                    </a:solidFill>
                  </a:tcPr>
                </a:tc>
                <a:tc>
                  <a:txBody>
                    <a:bodyPr/>
                    <a:lstStyle/>
                    <a:p>
                      <a:r>
                        <a:rPr sz="1800" b="1">
                          <a:solidFill>
                            <a:srgbClr val="FFFFFF"/>
                          </a:solidFill>
                          <a:latin typeface="Calibri"/>
                        </a:rPr>
                        <a:t>Example</a:t>
                      </a:r>
                    </a:p>
                  </a:txBody>
                  <a:tcPr>
                    <a:solidFill>
                      <a:srgbClr val="0E7C66"/>
                    </a:solidFill>
                  </a:tcPr>
                </a:tc>
              </a:tr>
              <a:tr h="566928">
                <a:tc>
                  <a:txBody>
                    <a:bodyPr/>
                    <a:lstStyle/>
                    <a:p>
                      <a:r>
                        <a:rPr sz="1800" b="0">
                          <a:solidFill>
                            <a:srgbClr val="1B1B1B"/>
                          </a:solidFill>
                          <a:latin typeface="Calibri"/>
                        </a:rPr>
                        <a:t>result + because + reason</a:t>
                      </a:r>
                    </a:p>
                  </a:txBody>
                  <a:tcPr>
                    <a:solidFill>
                      <a:srgbClr val="E3F3EE"/>
                    </a:solidFill>
                  </a:tcPr>
                </a:tc>
                <a:tc>
                  <a:txBody>
                    <a:bodyPr/>
                    <a:lstStyle/>
                    <a:p>
                      <a:r>
                        <a:rPr sz="1800" b="0">
                          <a:solidFill>
                            <a:srgbClr val="1B1B1B"/>
                          </a:solidFill>
                          <a:latin typeface="Calibri"/>
                        </a:rPr>
                        <a:t>I like gardening because it is quiet.</a:t>
                      </a:r>
                    </a:p>
                  </a:txBody>
                  <a:tcPr>
                    <a:solidFill>
                      <a:srgbClr val="E3F3EE"/>
                    </a:solidFill>
                  </a:tcPr>
                </a:tc>
              </a:tr>
              <a:tr h="566928">
                <a:tc>
                  <a:txBody>
                    <a:bodyPr/>
                    <a:lstStyle/>
                    <a:p>
                      <a:r>
                        <a:rPr sz="1800" b="0">
                          <a:solidFill>
                            <a:srgbClr val="1B1B1B"/>
                          </a:solidFill>
                          <a:latin typeface="Calibri"/>
                        </a:rPr>
                        <a:t>reason + so + result</a:t>
                      </a:r>
                    </a:p>
                  </a:txBody>
                  <a:tcPr>
                    <a:solidFill>
                      <a:srgbClr val="FFFFFF"/>
                    </a:solidFill>
                  </a:tcPr>
                </a:tc>
                <a:tc>
                  <a:txBody>
                    <a:bodyPr/>
                    <a:lstStyle/>
                    <a:p>
                      <a:r>
                        <a:rPr sz="1800" b="0">
                          <a:solidFill>
                            <a:srgbClr val="1B1B1B"/>
                          </a:solidFill>
                          <a:latin typeface="Calibri"/>
                        </a:rPr>
                        <a:t>Gardening is quiet, so I like it.</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collect stamps because I want to learn about other countries.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Photography is expensive, so I don't do it every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Vietnamese uses 'vì… nên…' in ONE sentence, so students write *Because it is cheap so I like it.* In English you use because OR so, never both.</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 collect stamps because I want to learn about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Pausing and chunking in a talk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Do not read word by word. Break the sentence into small groups and pause (/) between them: My hobby is gardening. / I do it every evening / with my grandmother.</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My hobby is / collecting stamps.</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 started / two years ago.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 like it / because / it is cheap and interesting.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My hobby is bird-watching. / I do it at the weekend / with my father. / I love it / because it is relaxing.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17: Are You Free on Friday?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making plans with a friend for the weekend. American English — VOA’s professional actors (Anna, Pete, Marsha, Ms. Weaver…), slowed learner delivery. It lasts 2:32.</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2:32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making plans with a friend for the weekend B. how one person travels in the city C. how much and how many of things people have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Marsha, it looks like we’ll never have time to see a movie.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Lesson 19: Where Are You From?</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world does need more ukulele players.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Lesson 21: She Always Does That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 am busy on Monday night.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Marsha: Are you _____ this Thursday at 6pm?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Are you _____ on Friday night?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Quiz - Lesson 17: Are You _____ on Friday?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Lesson 17: Are You _____ on Friday?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Three unusual hobbies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Every hobby is interesting for the person who does it – but some hobbies are really unusual. Tran Van Hung, 14, from Hai Phong, collects bus tickets. He has more than 900 tickets from 38 cities. 'People throw them away, but for me every ticket is a small story,' he says. His hobby is cheap, but he needs to be very patient and very organised. In Da Nang, Le Minh Anh, 13, carves fruit. She learned from her mother, who is a cook. She can turn a carrot into a rose in fifteen minutes. Her hobby is useful, because her family always has beautiful food on the table at Tet. And in Hanoi, Nguyen Duc Nam, 15, builds cities. Not real ones – he builds them from small plastic bricks. One city takes him about six months and costs a lot of money, so he saves his pocket money all year. 'It's expensive,' he says, 'but when I finish, I feel really proud.'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quickly (60 seconds) and 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Hobbies are expensive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Three teenagers, three unusual hobbies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How to collect bus tickets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Name | Age | City | Hobby | One word about the hobby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Hung | ___ | ___ | ___ |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Minh Anh | ___ | ___ | ___ |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Duc Nam | ___ | ___ | ___ | 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in the text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able to wait without getting angry (paragraph 2)</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keeping things tidy and in order (paragraph 2)</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helpful (paragraph 3)</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happy about something you did well (paragraph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 using the text.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does Hung say every ticket is 'a small story'?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does Duc Nam save his pocket money all year?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of the three hobbies would you choose? Why?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because or so.</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love gardening ______ it is relaxing.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Photography is expensive, ______ I don't buy a new camera.</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He is very patient, ______ he is good at bird-watching.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She carves fruit ______ her mother taught her.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Bus tickets are free, ______ his hobby is cheap.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hobby with the best reason.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like reading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like cycling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like cooking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like drawing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because it keeps me fit.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hobby with the best reason.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because I can eat my own food.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because I learn new things.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because I can show my ideas without words.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about ONE of the three teenagers. Your partner checks the text.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name, age, city, hobby, one interesting fact.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Give your 1-minute talk (U1.5-S2) and answer one question.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Give your 1-minute talk (U1.5-S2) and answer one question.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(NOT full sentences) for the four parts.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my hobby?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When did I start / who showed me?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often / how do I do it?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Why do I like it? (2 reasons)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Speak for one minute in a group of four. The listeners must ask ONE question each at the end.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language: 'My hobby is…', 'I started…', 'I do it… times a week', 'I love it because…', 'Thank you for listening.'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Showing interest while someone is 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Really?</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interesting!</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Wow!</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does it take?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Where do you do it?</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you show 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After each talk, the listeners must react with one expression and ask one question. A silent listener loses a point for the group.</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four notes into four full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Note: 'bracelets / 1 year ago / 2–3 times a week / cheap + presents'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skills: read for gist first, then for detail</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because / so for reasons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four-part plan for a short talk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Read the text again and write T or F.</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Join the two sentences with because or so.</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1-minute talk as a paragraph (5–6 sentences).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talk three times at home. Mark the pauses (/) on your paper first.</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