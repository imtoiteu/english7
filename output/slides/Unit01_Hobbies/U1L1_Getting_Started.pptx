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097280" y="4389120"/>
            <a:ext cx="6858000" cy="4114800"/>
          </a:xfrm>
          <a:prstGeom prst="ellipse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778240" y="-1828800"/>
            <a:ext cx="5486400" cy="4572000"/>
          </a:xfrm>
          <a:prstGeom prst="ellipse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UNIT 1  ·  LESSON 1  ·  PERIOD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011680"/>
            <a:ext cx="105156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7F1FA"/>
                </a:solidFill>
                <a:latin typeface="Calibri"/>
              </a:rPr>
              <a:t>GETTING STARTED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926080"/>
            <a:ext cx="105156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4400" b="1" i="0">
                <a:solidFill>
                  <a:srgbClr val="FFFFFF"/>
                </a:solidFill>
                <a:latin typeface="Calibri"/>
              </a:rPr>
              <a:t>What's your hobby?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30352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E7F1FA"/>
                </a:solidFill>
                <a:latin typeface="Calibri"/>
              </a:rPr>
              <a:t>English 7  ·  Let's start! 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Today we will learn to…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63040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463040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1508760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37360" y="1508760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name 8 common hobbies in English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450592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2450592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2496312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37360" y="2496312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ask and answer the question 'What's your hobby?'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438144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3438144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348386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37360" y="3483864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listen to and read a short conversation for general and specific information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4425696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0080" y="4425696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4471416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37360" y="4471416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write two or three true sentences about their own free time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Warm-up: Word chain  (5')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63040"/>
            <a:ext cx="10881360" cy="4206240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737360"/>
            <a:ext cx="101498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• Write FREE TIME on the board. Ask: 'What do you do after school?'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06040"/>
            <a:ext cx="101498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• Students say one activity each around the class; no repeats. Write 6–8 on the board.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474720"/>
            <a:ext cx="101498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• Say: 'These are activities. When you do an activity again and again because you love it, it is a HOBBY.'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5852160"/>
            <a:ext cx="101498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1">
                <a:solidFill>
                  <a:srgbClr val="6B7280"/>
                </a:solidFill>
                <a:latin typeface="Calibri"/>
              </a:rPr>
              <a:t>👉 You: Say one free-time activity each; listen for the word 'hobby'.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New words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173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270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hobby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1671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/ˈhɒbi/   (n)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15270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sở thích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21945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My hobby is drawing cartoons.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0175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1272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free time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37673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/ˈfriː taɪm/   (n)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31272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thời gian rảnh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37947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I read comics in my free time.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177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7274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gardening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53675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/ˈɡɑːdnɪŋ/   (n)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47274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việc làm vườn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53949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My grandmother loves gardening.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New words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173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270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bird-watching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1671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/ˈbɜːd ˌwɒtʃɪŋ/   (n)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15270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ngắm chim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21945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Bird-watching is quiet and relaxing.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0175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1272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make models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37673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/meɪk ˈmɒdlz/   (v phr)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31272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làm mô hình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37947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He makes models of planes.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177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7274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board game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53675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/ˈbɔːd ɡeɪm/   (n)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47274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trò chơi trên bàn cờ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53949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We play board games on rainy days.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New words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173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270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collect stamps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1671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/kəˈlekt stæmps/   (v phr)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15270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sưu tầm tem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21945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My uncle collects stamps from Japan.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0175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1272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unusual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37673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/ʌnˈjuːʒuəl/   (adj)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31272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khác thường, lạ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37947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Carving eggshells is an unusual hobby.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Useful phrases — learn them as one block!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554480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609344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What's your hobby?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267712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322576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What do you do in your free time?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980944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3035808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I'm interested in + V-ing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694176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3749040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How about you?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407408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4462272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Me too. / Me neither.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5120640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0" y="5175504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That sounds interesting!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1" i="0">
                <a:solidFill>
                  <a:srgbClr val="FFFFFF"/>
                </a:solidFill>
                <a:latin typeface="Calibri"/>
              </a:rPr>
              <a:t>Grammar: Present simple – quick review (this unit's foundation)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63040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536192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We use the present simple for things we do again and again (habits and hobbies).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487168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560320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With he / she / it we must add -s or -es to the verb.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The 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U1L1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463040"/>
          <a:ext cx="11064240" cy="17007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566928">
                <a:tc>
                  <a:txBody>
                    <a:bodyPr/>
                    <a:lstStyle/>
                    <a:p/>
                  </a:txBody>
                  <a:tcPr>
                    <a:solidFill>
                      <a:srgbClr val="0E7C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Calibri"/>
                        </a:rPr>
                        <a:t>Positive</a:t>
                      </a:r>
                    </a:p>
                  </a:txBody>
                  <a:tcPr>
                    <a:solidFill>
                      <a:srgbClr val="0E7C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Calibri"/>
                        </a:rPr>
                        <a:t>Negative</a:t>
                      </a:r>
                    </a:p>
                  </a:txBody>
                  <a:tcPr>
                    <a:solidFill>
                      <a:srgbClr val="0E7C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Calibri"/>
                        </a:rPr>
                        <a:t>Question</a:t>
                      </a:r>
                    </a:p>
                  </a:txBody>
                  <a:tcPr>
                    <a:solidFill>
                      <a:srgbClr val="0E7C6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B1B"/>
                          </a:solidFill>
                          <a:latin typeface="Calibri"/>
                        </a:rPr>
                        <a:t>I / You / We / They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B1B"/>
                          </a:solidFill>
                          <a:latin typeface="Calibri"/>
                        </a:rPr>
                        <a:t>I play chess.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B1B"/>
                          </a:solidFill>
                          <a:latin typeface="Calibri"/>
                        </a:rPr>
                        <a:t>I don't play chess.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B1B"/>
                          </a:solidFill>
                          <a:latin typeface="Calibri"/>
                        </a:rPr>
                        <a:t>Do you play chess?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B1B"/>
                          </a:solidFill>
                          <a:latin typeface="Calibri"/>
                        </a:rPr>
                        <a:t>He / She / 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B1B"/>
                          </a:solidFill>
                          <a:latin typeface="Calibri"/>
                        </a:rPr>
                        <a:t>She plays chess.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B1B"/>
                          </a:solidFill>
                          <a:latin typeface="Calibri"/>
                        </a:rPr>
                        <a:t>She doesn't play chess.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B1B"/>
                          </a:solidFill>
                          <a:latin typeface="Calibri"/>
                        </a:rPr>
                        <a:t>Does she play chess?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Look at the examples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554480"/>
            <a:ext cx="1069848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E7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627632"/>
            <a:ext cx="10241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✅ I collect stamps.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450592"/>
            <a:ext cx="1069848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E7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523744"/>
            <a:ext cx="10241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✅ My brother collects coins.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346704"/>
            <a:ext cx="1069848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E7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419856"/>
            <a:ext cx="10241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✅ We don't watch birds in the city.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242816"/>
            <a:ext cx="1069848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E7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4315968"/>
            <a:ext cx="10241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✅ Does Mai like gardening? – Yes, she does.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Be careful! A very common mistake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45920"/>
            <a:ext cx="10698480" cy="237744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828800"/>
            <a:ext cx="100584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Vietnamese learners very often drop the -s: *He like football.* Vietnamese verbs never change, so the ear does not notice the missing sound.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3891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200" b="1" i="0">
                <a:solidFill>
                  <a:srgbClr val="2E7D32"/>
                </a:solidFill>
                <a:latin typeface="Calibri"/>
              </a:rPr>
              <a:t>👍 Say it like this:  I collect stamps.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6B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Pronunciation: Stress in compound hobby words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17320"/>
            <a:ext cx="10881360" cy="1234440"/>
          </a:xfrm>
          <a:prstGeom prst="roundRect">
            <a:avLst>
              <a:gd name="adj" fmla="val 6000"/>
            </a:avLst>
          </a:prstGeom>
          <a:solidFill>
            <a:srgbClr val="F1E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508760"/>
            <a:ext cx="103327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0">
                <a:solidFill>
                  <a:srgbClr val="1B1B1B"/>
                </a:solidFill>
                <a:latin typeface="Calibri"/>
              </a:rPr>
              <a:t>In a compound noun the FIRST part is stronger and longer: BIRD-watching, BOARD game, FOOT-ball. Clap on the strong part.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880360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926080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'bird-watching (Oo o)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593592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639312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'board game (Oo)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306824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4352544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'football (Oo)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5020056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5065776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'stamp collecting (Oo oo)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6B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Repeat after me — three times each!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10698480" cy="914400"/>
          </a:xfrm>
          <a:prstGeom prst="roundRect">
            <a:avLst>
              <a:gd name="adj" fmla="val 6000"/>
            </a:avLst>
          </a:prstGeom>
          <a:solidFill>
            <a:srgbClr val="F1E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828800"/>
            <a:ext cx="10241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🗣 My hobby is BIRD-watching.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788920"/>
            <a:ext cx="10698480" cy="914400"/>
          </a:xfrm>
          <a:prstGeom prst="roundRect">
            <a:avLst>
              <a:gd name="adj" fmla="val 6000"/>
            </a:avLst>
          </a:prstGeom>
          <a:solidFill>
            <a:srgbClr val="F1E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880360"/>
            <a:ext cx="10241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🗣 We play BOARD games at home.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840480"/>
            <a:ext cx="10698480" cy="914400"/>
          </a:xfrm>
          <a:prstGeom prst="roundRect">
            <a:avLst>
              <a:gd name="adj" fmla="val 6000"/>
            </a:avLst>
          </a:prstGeom>
          <a:solidFill>
            <a:srgbClr val="F1E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931920"/>
            <a:ext cx="10241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🗣 STAMP collecting is my father's hobby.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Listening: Lesson 15: I Love People-Watching!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10698480" cy="182880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20240"/>
            <a:ext cx="10058400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You will hear a real recording: watching people in a park as a free-time activity. American English — VOA’s professional actors (Anna, Pete, Marsha, Ms. Weaver…), slowed learner delivery. It lasts 2:51.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02336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42C4F"/>
                </a:solidFill>
                <a:latin typeface="Calibri"/>
              </a:rPr>
              <a:t>🎧  Listen 1: just listen — do not write.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42C4F"/>
                </a:solidFill>
                <a:latin typeface="Calibri"/>
              </a:rPr>
              <a:t>🎧  Listen 2: write your answers.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42C4F"/>
                </a:solidFill>
                <a:latin typeface="Calibri"/>
              </a:rPr>
              <a:t>🎧  Listen 3: check with your partner.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577840"/>
            <a:ext cx="10698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6B7280"/>
                </a:solidFill>
                <a:latin typeface="Calibri"/>
              </a:rPr>
              <a:t>VOA Learning English — Let’s Learn English, Level 1 · 2:51 · American English — VOA’s professional actors (Anna, Pete, Marsha, Ms. Weaver…), slowed learner delivery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U1.1-L1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Listen once. Choose the best answer.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What is the recording mainly about?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A. a road trip across the United States and a famous song B. watching people in a park as a free-time activity C. working together as a team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U1.1-L2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Listen again. Write T (true) or F (false).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Is she wearing a blue sweater today?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Let’s Learn English - Level 4 - Lesson 15: I Love People Watching!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Let's Learn English - Level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You five have light skin and I have dark skin.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You have very curly hair, Anna.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U1.1-L3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Listen once more and write the missing word.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Anna: _____ from all over the world come to Washington, D.C.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Anna: When I’m at work, I _____ eating lunch outside.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Anna: I _____ to watch people walking by.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Anna: Let’s people-_____ a little more.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Anna: But the weather is beautiful and _____-watching is fun!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Reading: Hobby Corner – our school magazine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4846320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554480"/>
            <a:ext cx="1033272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 i="0">
                <a:solidFill>
                  <a:srgbClr val="1B1B1B"/>
                </a:solidFill>
                <a:latin typeface="Calibri"/>
              </a:rPr>
              <a:t>Linh, 13: I love gardening. My family has a small garden behind the house. I water the vegetables every evening and I grow flowers for Tet. Gardening is not expensive and it makes me feel calm. Duy, 12: In my free time I make models. I make models of ships and planes from paper and glue. One model takes me about two weeks. My room is full of them! Trang, 13: My sister and I play board games. We don't watch TV very much. On Sunday evening the whole family plays together. My favourite game is chess because it makes me think.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Reading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U1.1-R1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Read and write the name (Linh, Duy or Trang).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This student's hobby is quiet and free.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This student needs paper and glue.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This student plays with the family.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This student's hobby takes a long time for one product.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This student says the hobby helps him/her think.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Reading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U1.1-R2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Find a word in the text that means: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to give water to plants (paragraph 1)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quiet and relaxed (paragraph 1)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a small copy of a real thing (paragraph 2)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Guided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U1.1-G1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Match the picture word with the hobby.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flowers, water, garden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birds, notebook, park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paper, glue, plane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board, dice, table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envelopes, letters, countries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Guided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U1.1-G2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Write the correct verb: play, collect, make, do, go.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______ stamps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______ board games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______ models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______ gardening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______ cycling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Your turn — independent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U1.1-I1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Put the verb in the correct form.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Nam (do) ______ bird-watching at the weekend.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I (collect) ______ stamps from many countries.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My sister (not like) ______ board games.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______ you (play) ______ chess?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Linh (water) ______ the vegetables every evening.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Your turn — independent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U1.1-I2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Use your answers in U1.1-W1 to tell your partner about your hobby. Speak for 30 seconds. Your partner asks one question.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Useful start: 'Hello. My hobby is … I do it … I like it because …'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Speaking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U1.1-S1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Work in pairs. Ask and answer. Change the hobby each time.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A: What's your hobby? B: My hobby is ______ . A: That sounds interesting!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(gardening / bird-watching / making models / playing board games / collecting stamps)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Speaking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U1.1-S2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Stand up and ask five classmates. Write the name of the first student who says YES.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…collects something.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…likes gardening.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…plays a board game every week.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…has an unusual hobby.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…does his/her hobby with the family.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1" i="0">
                <a:solidFill>
                  <a:srgbClr val="FFFFFF"/>
                </a:solidFill>
                <a:latin typeface="Calibri"/>
              </a:rPr>
              <a:t>Real-life English: Starting a conversation about free time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463040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508760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What's your hobby?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212848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258568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What do you do in your free time?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962656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3008376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I'm interested in photography.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712464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3758184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How about you?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462272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4507992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Me too! / Really? That's unusual.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5212080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0" y="5257800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That sounds interesting.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Role play — in pairs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10698480" cy="256032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20240"/>
            <a:ext cx="1005840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Student A is a new student in class 7B. Student B says hello and asks about A's free time. Use at least three phrases from the box. Then change roles.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66344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⏱ 2 minutes to prepare  ·  2 minutes to perform  ·  then swap roles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Do not read! Look at your partner.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✍️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Writing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U1.1-W1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Complete the sentences so that they are true for you.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My hobby is ______ 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I do it ______ (every day / at the weekend / twice a week).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I like it because ______ 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Let's remember today's English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00200"/>
            <a:ext cx="10698480" cy="841248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673352"/>
            <a:ext cx="102412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✓ 8 hobby words + the chunks collect stamps / make models / play board games / do gardening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560320"/>
            <a:ext cx="10698480" cy="841248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633472"/>
            <a:ext cx="102412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✓ Question: What's your hobby? – My hobby is …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520440"/>
            <a:ext cx="10698480" cy="841248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593592"/>
            <a:ext cx="102412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✓ Present simple -s with he / she / it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Homework — write it in your notebook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554480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609344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U1.1-H1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0" y="1609344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Vocabulary — Write the five hobbies under the pictures in your notebook and translate them into Vietnamese.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523744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2578608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U1.1-H2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578608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Grammar — Write the correct form of the verb.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493008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3547872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U1.1-H3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0" y="3547872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Writing — Write 3 sentences about the hobby of a person in your family.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462272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4517136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U1.1-H4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0" y="4517136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Speaking (record or practise aloud) — Say the three compound words 5 times with the correct stress: BIRD-watching, BOARD game, STAMP collecting.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989320"/>
            <a:ext cx="1069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800" b="0" i="0">
                <a:solidFill>
                  <a:srgbClr val="6B7280"/>
                </a:solidFill>
                <a:latin typeface="Calibri"/>
              </a:rPr>
              <a:t>Homework Book, section U1L1   ·   See you next lesson! 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