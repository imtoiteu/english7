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097280" y="4389120"/>
            <a:ext cx="6858000" cy="4114800"/>
          </a:xfrm>
          <a:prstGeom prst="ellipse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778240" y="-1828800"/>
            <a:ext cx="5486400" cy="4572000"/>
          </a:xfrm>
          <a:prstGeom prst="ellipse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UNIT 1  ·  LESSON 1  ·  PERIOD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7F1FA"/>
                </a:solidFill>
                <a:latin typeface="Calibri"/>
              </a:rPr>
              <a:t>GETTING STARTED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260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What's your hobby?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3035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E7F1FA"/>
                </a:solidFill>
                <a:latin typeface="Calibri"/>
              </a:rPr>
              <a:t>English 7  ·  Let's start! 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Today we will learn to…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08760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508760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name 8 common hobbies in English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450592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450592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496312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ask and answer the question 'What's your hobby?'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38144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438144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48386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3483864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listen to and read a short conversation for general and specific information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425696"/>
            <a:ext cx="1088136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425696"/>
            <a:ext cx="128016" cy="86868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471416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1E6FB8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4471416"/>
            <a:ext cx="95097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write two or three true sentences about their own free time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Warm-up: Word chain  (5')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4206240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Write FREE TIME on the board. Ask: 'What do you do after school?'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Students say one activity each around the class; no repeats. Write 6–8 on the board.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474720"/>
            <a:ext cx="10149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• Say: 'These are activities. When you do an activity again and again because you love it, it is a HOBBY.'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852160"/>
            <a:ext cx="101498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1">
                <a:solidFill>
                  <a:srgbClr val="6B7280"/>
                </a:solidFill>
                <a:latin typeface="Calibri"/>
              </a:rPr>
              <a:t>👉 You: Say one free-time activity each; listen for the word 'hobby'.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hobby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/ˈhɒbi/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sở thích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hobby is drawing cartoons.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free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/ˈfriː taɪm/   (n)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thời gian rảnh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I read comics in my free time.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gardening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/ˈɡɑːdnɪŋ/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việc làm vườn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grandmother loves gardening.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bird-watching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/ˈbɜːd ˌwɒtʃɪŋ/   (n)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ngắm chim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Bird-watching is quiet and relaxing.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make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/meɪk ˈmɒdlz/   (v phr)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làm mô hình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He makes models of planes.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6177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274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board 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3675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/ˈbɔːd ɡeɪm/   (n)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47274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trò chơi trên bàn cờ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3949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We play board games on rainy days.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New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270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collect 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671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/kəˈlekt stæmps/   (v phr)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15270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sưu tầm 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1945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My uncle collects stamps from Japan.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17520"/>
            <a:ext cx="11064240" cy="1481328"/>
          </a:xfrm>
          <a:prstGeom prst="roundRect">
            <a:avLst>
              <a:gd name="adj" fmla="val 6000"/>
            </a:avLst>
          </a:prstGeom>
          <a:solidFill>
            <a:srgbClr val="FDF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27248"/>
            <a:ext cx="4206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E07A1F"/>
                </a:solidFill>
                <a:latin typeface="Calibri"/>
              </a:rPr>
              <a:t>unusual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767328"/>
            <a:ext cx="4206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6B7280"/>
                </a:solidFill>
                <a:latin typeface="Calibri"/>
              </a:rPr>
              <a:t>/ʌnˈjuːʒuəl/   (adj)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127248"/>
            <a:ext cx="6126480" cy="6035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khác thường, lạ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794760"/>
            <a:ext cx="6126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0" i="1">
                <a:solidFill>
                  <a:srgbClr val="1B1B1B"/>
                </a:solidFill>
                <a:latin typeface="Calibri"/>
              </a:rPr>
              <a:t>e.g. Carving eggshells is an unusual hobby.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E07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Useful phrases — learn them as one block!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55448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60934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What's your hobby?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67712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22576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What do you do in your free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80944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35808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I'm interested in + V-ing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94176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40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How about you?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07408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462272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Me too. / Me neither.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1051560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E07A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175504"/>
            <a:ext cx="100584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🔹 That sounds interesting!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Grammar: Present simple – quick review (this unit's foundation)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36192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We use the present simple for things we do again and again (habits and hobbies).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487168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560320"/>
            <a:ext cx="103327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▸ With he / she / it we must add -s or -es to the verb.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463040"/>
          <a:ext cx="1106424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566928">
                <a:tc>
                  <a:txBody>
                    <a:bodyPr/>
                    <a:lstStyle/>
                    <a:p/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Positive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Negative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Calibri"/>
                        </a:rPr>
                        <a:t>Question</a:t>
                      </a:r>
                    </a:p>
                  </a:txBody>
                  <a:tcPr>
                    <a:solidFill>
                      <a:srgbClr val="0E7C6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/ You / We / They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play chess.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I don't play chess.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Do you play chess?</a:t>
                      </a:r>
                    </a:p>
                  </a:txBody>
                  <a:tcPr>
                    <a:solidFill>
                      <a:srgbClr val="E3F3E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He / She / 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She plays chess.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She doesn't play chess.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B1B1B"/>
                          </a:solidFill>
                          <a:latin typeface="Calibri"/>
                        </a:rPr>
                        <a:t>Does she play chess?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Look at the examples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27632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I collect stamps.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50592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My brother collects coins.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46704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419856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We don't watch birds in the city.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42816"/>
            <a:ext cx="1069848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0E7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315968"/>
            <a:ext cx="102412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✅ Does Mai like gardening? – Yes, she does.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Be careful! A very common mistake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698480" cy="23774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828800"/>
            <a:ext cx="100584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Vietnamese learners very often drop the -s: *He like football.* Vietnamese verbs never change, so the ear does not notice the missing sound.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891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2E7D32"/>
                </a:solidFill>
                <a:latin typeface="Calibri"/>
              </a:rPr>
              <a:t>👍 Say it like this:  I collect stamps.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Pronunciation: Stress in compound hobby 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3327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1B1B1B"/>
                </a:solidFill>
                <a:latin typeface="Calibri"/>
              </a:rPr>
              <a:t>In a compound noun the FIRST part is stronger and longer: BIRD-watching, BOARD game, FOOT-ball. Clap on the strong part.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880360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926080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'bird-watching (Oo 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93592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639312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'board game (Oo)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06824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352544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'football (Oo)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020056"/>
            <a:ext cx="1069848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6B3F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5065776"/>
            <a:ext cx="102412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🔊 'stamp collecting (Oo oo)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B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Repeat after me — three times each!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82880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My hobby is BIRD-watching.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8892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We play BOARD games at home.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1E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931920"/>
            <a:ext cx="102412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🗣 STAMP collecting is my father's hobby.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Listening: Lesson 15: I Love People-Watching!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You will hear a real recording: watching people in a park as a free-time activity. American English — VOA’s professional actors (Anna, Pete, Marsha, Ms. Weaver…), slowed learner delivery. It lasts 2:51.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1: just listen — do not write.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2: write your answers.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42C4F"/>
                </a:solidFill>
                <a:latin typeface="Calibri"/>
              </a:rPr>
              <a:t>🎧  Listen 3: check with your partner.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5778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6B7280"/>
                </a:solidFill>
                <a:latin typeface="Calibri"/>
              </a:rPr>
              <a:t>VOA Learning English — Let’s Learn English, Level 1 · 2:51 · American English — VOA’s professional actors (Anna, Pete, Marsha, Ms. Weaver…), slowed learner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once. Choose the best answer.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What is the recording mainly about?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A. a road trip across the United States and a famous song B. watching people in a park as a free-time activity C. working together as a team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U1.1-L2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again. Write T (true) or F (false).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Is she wearing a blue sweater today?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Let’s Learn English - Level 4 - Lesson 15: I Love People Watching!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Let's Learn English - Level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You five have light skin and I have dark skin.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You have very curly hair, Anna.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Listening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U1.1-L3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Listen once more and write the missing word.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Anna: _____ from all over the world come to Washington, D.C.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Anna: When I’m at work, I _____ eating lunch outside.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Anna: I _____ to watch people walking by.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Anna: Let’s people-_____ a little more.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Anna: But the weather is beautiful and _____-watching is fun!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Reading: Hobby Corner – our school magazine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484632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33272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 i="0">
                <a:solidFill>
                  <a:srgbClr val="1B1B1B"/>
                </a:solidFill>
                <a:latin typeface="Calibri"/>
              </a:rPr>
              <a:t>Linh, 13: I love gardening. My family has a small garden behind the house. I water the vegetables every evening and I grow flowers for Tet. Gardening is not expensive and it makes me feel calm. Duy, 12: In my free time I make models. I make models of ships and planes from paper and glue. One model takes me about two weeks. My room is full of them! Trang, 13: My sister and I play board games. We don't watch TV very much. On Sunday evening the whole family plays together. My favourite game is chess because it makes me think.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U1.1-R1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Read and write the name (Linh, Duy or Trang).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This student's hobby is quiet and free.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This student needs paper and glue.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This student plays with the family.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This student's hobby takes a long time for one product.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This student says the hobby helps him/her think.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Reading task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U1.1-R2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Find a word in the text that means: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to give water to plants (paragraph 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quiet and relaxed (paragraph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a small copy of a real thing (paragraph 2)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U1.1-G1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Match the picture word with the hobby.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flowers, water, garden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birds, notebook, park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paper, glue, plane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board, dice, 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envelopes, letters, countries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Guided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U1.1-G2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Write the correct verb: play, collect, make, do, go.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______ stamps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______ board games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______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 gardening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______ cycling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U1.1-I1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Put the verb in the correct form.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Nam (do) ______ bird-watching at the weekend.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(collect) ______ stamps from many countries.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My sister (not like) ______ board games.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______ you (play) ______ chess?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Linh (water) ______ the vegetables every evening.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E7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Your turn — independent practice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U1.1-I2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3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Use your answers in U1.1-W1 to tell your partner about your hobby. Speak for 30 seconds. Your partner asks one question.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Useful start: 'Hello. My hobby is … I do it … I like it because …'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U1.1-S1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Work in pairs. Ask and answer. Change the hobby each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A: What's your hobby? B: My hobby is ______ . A: That sounds interesting!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(gardening / bird-watching / making models / playing board games / collecting stamps)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Speaking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U1.1-S2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Stand up and ask five classmates. Write the name of the first student who says YES.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…collects something.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…likes gardening.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…plays a board game every week.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52544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4. …has an unusual hobby.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010912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5. …does his/her hobby with the family.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300" b="1" i="0">
                <a:solidFill>
                  <a:srgbClr val="FFFFFF"/>
                </a:solidFill>
                <a:latin typeface="Calibri"/>
              </a:rPr>
              <a:t>Real-life English: Starting a conversation about free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50876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What's your hobby?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12848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258568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What do you do in your free time?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962656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08376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I'm interested in photography.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12464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58184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How about you?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62272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507992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Me too! / Really? That's unusual.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212080"/>
            <a:ext cx="10515600" cy="6583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5780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💬 That sounds interesting.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Role play — in pairs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FC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100584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100" b="0" i="0">
                <a:solidFill>
                  <a:srgbClr val="1B1B1B"/>
                </a:solidFill>
                <a:latin typeface="Calibri"/>
              </a:rPr>
              <a:t>Student A is a new student in class 7B. Student B says hello and asks about A's free time. Use at least three phrases from the box. Then change roles.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⏱ 2 minutes to prepare  ·  2 minutes to perform  ·  then swap roles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Do not read! Look at your partner.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U1.1-W1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37160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327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B1B1B"/>
                </a:solidFill>
                <a:latin typeface="Calibri"/>
              </a:rPr>
              <a:t>Complete the sentences so that they are true for you.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377440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1. My hobby is ______ 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35808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2. I do it ______ (every day / at the weekend / twice a week).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102412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0" i="0">
                <a:solidFill>
                  <a:srgbClr val="1B1B1B"/>
                </a:solidFill>
                <a:latin typeface="Calibri"/>
              </a:rPr>
              <a:t>3. I like it because ______ 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Let's remember today's English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167335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8 hobby words + the chunks collect stamps / make models / play board games / do gardening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63347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Question: What's your hobby? – My hobby is 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20440"/>
            <a:ext cx="10698480" cy="841248"/>
          </a:xfrm>
          <a:prstGeom prst="roundRect">
            <a:avLst>
              <a:gd name="adj" fmla="val 6000"/>
            </a:avLst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593592"/>
            <a:ext cx="102412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 i="0">
                <a:solidFill>
                  <a:srgbClr val="1B1B1B"/>
                </a:solidFill>
                <a:latin typeface="Calibri"/>
              </a:rPr>
              <a:t>✓ Present simple -s with he / she /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B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142C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6304"/>
            <a:ext cx="914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FFFFF"/>
                </a:solidFill>
                <a:latin typeface="Calibri"/>
              </a:rPr>
              <a:t>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6304"/>
            <a:ext cx="8961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Homework — write it in your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274320"/>
            <a:ext cx="14630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U1L1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609344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U1.1-H1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609344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Vocabulary — Write the five hobbies under the pictures in your notebook and translate them into Vietnamese.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523744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578608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U1.1-H2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5786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Grammar — Write the correct form of the verb.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93008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547872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U1.1-H3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47872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Writing — Write 3 sentences about the hobby of a person in your family.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62272"/>
            <a:ext cx="10698480" cy="868680"/>
          </a:xfrm>
          <a:prstGeom prst="roundRect">
            <a:avLst>
              <a:gd name="adj" fmla="val 6000"/>
            </a:avLst>
          </a:prstGeom>
          <a:solidFill>
            <a:srgbClr val="E7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17136"/>
            <a:ext cx="18288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142C4F"/>
                </a:solidFill>
                <a:latin typeface="Calibri"/>
              </a:rPr>
              <a:t>U1.1-H4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517136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700" b="0" i="0">
                <a:solidFill>
                  <a:srgbClr val="1B1B1B"/>
                </a:solidFill>
                <a:latin typeface="Calibri"/>
              </a:rPr>
              <a:t>Speaking (record or practise aloud) — Say the three compound words 5 times with the correct stress: BIRD-watching, BOARD game, STAMP collecting.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6B7280"/>
                </a:solidFill>
                <a:latin typeface="Calibri"/>
              </a:rPr>
              <a:t>Homework Book, section U1L1   ·   See you next lesson! 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