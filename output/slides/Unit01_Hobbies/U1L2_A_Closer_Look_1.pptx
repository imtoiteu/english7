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1L2_1_A1-20-Adverbs-Frequency.mp3"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1  ·  LESSON 2  ·  PERIOD 4</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A CLOSER LOOK 1</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More hobbies, and the sounds /ə/ and /ɜː/</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U1L2</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8 more hobby words and the verbs that go with them (do / go / play / collect / make)</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pronounce the sounds /ə/ and /ɜː/ correctly in words and short sentences</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say how often they do a hobby using adverbs of frequency</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ask a partner about three hobbies and report one answer to the class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Slap the board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U1L2</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Write the 8 hobby words from Lesson 1 on the board in a circle.</a:t>
            </a:r>
          </a:p>
        </p:txBody>
      </p:sp>
      <p:sp>
        <p:nvSpPr>
          <p:cNvPr id="10" name="TextBox 9"/>
          <p:cNvSpPr txBox="1"/>
          <p:nvPr/>
        </p:nvSpPr>
        <p:spPr>
          <a:xfrm>
            <a:off x="1005840" y="260604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Two teams; one student from each team comes to the board. Say a word in Vietnamese; the first to slap the English word wins a point.</a:t>
            </a:r>
          </a:p>
        </p:txBody>
      </p:sp>
      <p:sp>
        <p:nvSpPr>
          <p:cNvPr id="11" name="TextBox 10"/>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Play in two teams; recall Lesson 1 vocabulary.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U1L2</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carve</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/kɑːv/   (v)</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chạm, khắc</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He carves animals from wood.</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eggshell</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/ˈeɡʃel/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vỏ trứng</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Carving eggshells needs a steady hand.</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pottery</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/ˈpɒtəri/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đồ gốm</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learn pottery on Saturday mornings.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U1L2</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photography</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/fəˈtɒɡrəfi/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nhiếp ảnh</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Photography is her new hobby.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mountain climbing</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/ˈmaʊntən ˌklaɪmɪŋ/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leo núi</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Mountain climbing is dangerous but exciting.</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arrange flowers</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/əˈreɪndʒ ˈflaʊəz/   (v phr)</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cắm hoa</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My mother arranges flowers for Tet.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U1L2</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skateboarding</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/ˈskeɪtbɔːdɪŋ/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trượt ván</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Skateboarding is popular with teenagers.</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relaxing</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/rɪˈlæksɪŋ/   (adj)</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thư giãn</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Fishing is a relaxing hobby.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U1L2</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do pottery / do gardening</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go cycling / go fishing / go skateboarding</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play chess / play board games</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be good at + V-ing</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once / twice / three times a week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Grammar: Adverbs of frequency with the present simple (review and ex…</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U1L2</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Adverbs of frequency say HOW OFTEN we do something.</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They go BEFORE the main verb, but AFTER the verb 'be'.</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Frequency phrases (once a week, every day) go at the END of the sentence.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U1L2</a:t>
            </a:r>
          </a:p>
        </p:txBody>
      </p:sp>
      <p:graphicFrame>
        <p:nvGraphicFramePr>
          <p:cNvPr id="8" name="Table 7"/>
          <p:cNvGraphicFramePr>
            <a:graphicFrameLocks noGrp="1"/>
          </p:cNvGraphicFramePr>
          <p:nvPr/>
        </p:nvGraphicFramePr>
        <p:xfrm>
          <a:off x="548640" y="1463040"/>
          <a:ext cx="11064240" cy="3401568"/>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Adverb</a:t>
                      </a:r>
                    </a:p>
                  </a:txBody>
                  <a:tcPr>
                    <a:solidFill>
                      <a:srgbClr val="0E7C66"/>
                    </a:solidFill>
                  </a:tcPr>
                </a:tc>
                <a:tc>
                  <a:txBody>
                    <a:bodyPr/>
                    <a:lstStyle/>
                    <a:p>
                      <a:r>
                        <a:rPr sz="1600" b="1">
                          <a:solidFill>
                            <a:srgbClr val="FFFFFF"/>
                          </a:solidFill>
                          <a:latin typeface="Calibri"/>
                        </a:rPr>
                        <a:t>%</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always</a:t>
                      </a:r>
                    </a:p>
                  </a:txBody>
                  <a:tcPr>
                    <a:solidFill>
                      <a:srgbClr val="E3F3EE"/>
                    </a:solidFill>
                  </a:tcPr>
                </a:tc>
                <a:tc>
                  <a:txBody>
                    <a:bodyPr/>
                    <a:lstStyle/>
                    <a:p>
                      <a:r>
                        <a:rPr sz="1600" b="0">
                          <a:solidFill>
                            <a:srgbClr val="1B1B1B"/>
                          </a:solidFill>
                          <a:latin typeface="Calibri"/>
                        </a:rPr>
                        <a:t>100%</a:t>
                      </a:r>
                    </a:p>
                  </a:txBody>
                  <a:tcPr>
                    <a:solidFill>
                      <a:srgbClr val="E3F3EE"/>
                    </a:solidFill>
                  </a:tcPr>
                </a:tc>
                <a:tc>
                  <a:txBody>
                    <a:bodyPr/>
                    <a:lstStyle/>
                    <a:p>
                      <a:r>
                        <a:rPr sz="1600" b="0">
                          <a:solidFill>
                            <a:srgbClr val="1B1B1B"/>
                          </a:solidFill>
                          <a:latin typeface="Calibri"/>
                        </a:rPr>
                        <a:t>I always do my homework.</a:t>
                      </a:r>
                    </a:p>
                  </a:txBody>
                  <a:tcPr>
                    <a:solidFill>
                      <a:srgbClr val="E3F3EE"/>
                    </a:solidFill>
                  </a:tcPr>
                </a:tc>
              </a:tr>
              <a:tr h="566928">
                <a:tc>
                  <a:txBody>
                    <a:bodyPr/>
                    <a:lstStyle/>
                    <a:p>
                      <a:r>
                        <a:rPr sz="1600" b="0">
                          <a:solidFill>
                            <a:srgbClr val="1B1B1B"/>
                          </a:solidFill>
                          <a:latin typeface="Calibri"/>
                        </a:rPr>
                        <a:t>usually</a:t>
                      </a:r>
                    </a:p>
                  </a:txBody>
                  <a:tcPr>
                    <a:solidFill>
                      <a:srgbClr val="FFFFFF"/>
                    </a:solidFill>
                  </a:tcPr>
                </a:tc>
                <a:tc>
                  <a:txBody>
                    <a:bodyPr/>
                    <a:lstStyle/>
                    <a:p>
                      <a:r>
                        <a:rPr sz="1600" b="0">
                          <a:solidFill>
                            <a:srgbClr val="1B1B1B"/>
                          </a:solidFill>
                          <a:latin typeface="Calibri"/>
                        </a:rPr>
                        <a:t>80%</a:t>
                      </a:r>
                    </a:p>
                  </a:txBody>
                  <a:tcPr>
                    <a:solidFill>
                      <a:srgbClr val="FFFFFF"/>
                    </a:solidFill>
                  </a:tcPr>
                </a:tc>
                <a:tc>
                  <a:txBody>
                    <a:bodyPr/>
                    <a:lstStyle/>
                    <a:p>
                      <a:r>
                        <a:rPr sz="1600" b="0">
                          <a:solidFill>
                            <a:srgbClr val="1B1B1B"/>
                          </a:solidFill>
                          <a:latin typeface="Calibri"/>
                        </a:rPr>
                        <a:t>She usually goes cycling on Sunday.</a:t>
                      </a:r>
                    </a:p>
                  </a:txBody>
                  <a:tcPr>
                    <a:solidFill>
                      <a:srgbClr val="FFFFFF"/>
                    </a:solidFill>
                  </a:tcPr>
                </a:tc>
              </a:tr>
              <a:tr h="566928">
                <a:tc>
                  <a:txBody>
                    <a:bodyPr/>
                    <a:lstStyle/>
                    <a:p>
                      <a:r>
                        <a:rPr sz="1600" b="0">
                          <a:solidFill>
                            <a:srgbClr val="1B1B1B"/>
                          </a:solidFill>
                          <a:latin typeface="Calibri"/>
                        </a:rPr>
                        <a:t>often</a:t>
                      </a:r>
                    </a:p>
                  </a:txBody>
                  <a:tcPr>
                    <a:solidFill>
                      <a:srgbClr val="E3F3EE"/>
                    </a:solidFill>
                  </a:tcPr>
                </a:tc>
                <a:tc>
                  <a:txBody>
                    <a:bodyPr/>
                    <a:lstStyle/>
                    <a:p>
                      <a:r>
                        <a:rPr sz="1600" b="0">
                          <a:solidFill>
                            <a:srgbClr val="1B1B1B"/>
                          </a:solidFill>
                          <a:latin typeface="Calibri"/>
                        </a:rPr>
                        <a:t>60%</a:t>
                      </a:r>
                    </a:p>
                  </a:txBody>
                  <a:tcPr>
                    <a:solidFill>
                      <a:srgbClr val="E3F3EE"/>
                    </a:solidFill>
                  </a:tcPr>
                </a:tc>
                <a:tc>
                  <a:txBody>
                    <a:bodyPr/>
                    <a:lstStyle/>
                    <a:p>
                      <a:r>
                        <a:rPr sz="1600" b="0">
                          <a:solidFill>
                            <a:srgbClr val="1B1B1B"/>
                          </a:solidFill>
                          <a:latin typeface="Calibri"/>
                        </a:rPr>
                        <a:t>We often play board games.</a:t>
                      </a:r>
                    </a:p>
                  </a:txBody>
                  <a:tcPr>
                    <a:solidFill>
                      <a:srgbClr val="E3F3EE"/>
                    </a:solidFill>
                  </a:tcPr>
                </a:tc>
              </a:tr>
              <a:tr h="566928">
                <a:tc>
                  <a:txBody>
                    <a:bodyPr/>
                    <a:lstStyle/>
                    <a:p>
                      <a:r>
                        <a:rPr sz="1600" b="0">
                          <a:solidFill>
                            <a:srgbClr val="1B1B1B"/>
                          </a:solidFill>
                          <a:latin typeface="Calibri"/>
                        </a:rPr>
                        <a:t>sometimes</a:t>
                      </a:r>
                    </a:p>
                  </a:txBody>
                  <a:tcPr>
                    <a:solidFill>
                      <a:srgbClr val="FFFFFF"/>
                    </a:solidFill>
                  </a:tcPr>
                </a:tc>
                <a:tc>
                  <a:txBody>
                    <a:bodyPr/>
                    <a:lstStyle/>
                    <a:p>
                      <a:r>
                        <a:rPr sz="1600" b="0">
                          <a:solidFill>
                            <a:srgbClr val="1B1B1B"/>
                          </a:solidFill>
                          <a:latin typeface="Calibri"/>
                        </a:rPr>
                        <a:t>40%</a:t>
                      </a:r>
                    </a:p>
                  </a:txBody>
                  <a:tcPr>
                    <a:solidFill>
                      <a:srgbClr val="FFFFFF"/>
                    </a:solidFill>
                  </a:tcPr>
                </a:tc>
                <a:tc>
                  <a:txBody>
                    <a:bodyPr/>
                    <a:lstStyle/>
                    <a:p>
                      <a:r>
                        <a:rPr sz="1600" b="0">
                          <a:solidFill>
                            <a:srgbClr val="1B1B1B"/>
                          </a:solidFill>
                          <a:latin typeface="Calibri"/>
                        </a:rPr>
                        <a:t>He sometimes goes fishing.</a:t>
                      </a:r>
                    </a:p>
                  </a:txBody>
                  <a:tcPr>
                    <a:solidFill>
                      <a:srgbClr val="FFFFFF"/>
                    </a:solidFill>
                  </a:tcPr>
                </a:tc>
              </a:tr>
              <a:tr h="566928">
                <a:tc>
                  <a:txBody>
                    <a:bodyPr/>
                    <a:lstStyle/>
                    <a:p>
                      <a:r>
                        <a:rPr sz="1600" b="0">
                          <a:solidFill>
                            <a:srgbClr val="1B1B1B"/>
                          </a:solidFill>
                          <a:latin typeface="Calibri"/>
                        </a:rPr>
                        <a:t>never</a:t>
                      </a:r>
                    </a:p>
                  </a:txBody>
                  <a:tcPr>
                    <a:solidFill>
                      <a:srgbClr val="E3F3EE"/>
                    </a:solidFill>
                  </a:tcPr>
                </a:tc>
                <a:tc>
                  <a:txBody>
                    <a:bodyPr/>
                    <a:lstStyle/>
                    <a:p>
                      <a:r>
                        <a:rPr sz="1600" b="0">
                          <a:solidFill>
                            <a:srgbClr val="1B1B1B"/>
                          </a:solidFill>
                          <a:latin typeface="Calibri"/>
                        </a:rPr>
                        <a:t>0%</a:t>
                      </a:r>
                    </a:p>
                  </a:txBody>
                  <a:tcPr>
                    <a:solidFill>
                      <a:srgbClr val="E3F3EE"/>
                    </a:solidFill>
                  </a:tcPr>
                </a:tc>
                <a:tc>
                  <a:txBody>
                    <a:bodyPr/>
                    <a:lstStyle/>
                    <a:p>
                      <a:r>
                        <a:rPr sz="1600" b="0">
                          <a:solidFill>
                            <a:srgbClr val="1B1B1B"/>
                          </a:solidFill>
                          <a:latin typeface="Calibri"/>
                        </a:rPr>
                        <a:t>They never watch birds.</a:t>
                      </a:r>
                    </a:p>
                  </a:txBody>
                  <a:tcPr>
                    <a:solidFill>
                      <a:srgbClr val="E3F3EE"/>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U1L2</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Mai always collects stamps at the weekend.</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He is never late for the pottery class.</a:t>
            </a:r>
          </a:p>
        </p:txBody>
      </p:sp>
      <p:sp>
        <p:nvSpPr>
          <p:cNvPr id="12" name="Rounded Rectangle 11"/>
          <p:cNvSpPr/>
          <p:nvPr/>
        </p:nvSpPr>
        <p:spPr>
          <a:xfrm>
            <a:off x="731520" y="3346704"/>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419856"/>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go skateboarding twice a week.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U1L2</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Vietnamese word order puts the frequency word at the end (tôi thường xuyên chơi cờ → *I play chess often*). Show the two orders side by side on the board.</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Mai always collects stamps at the weekend.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The sounds /ə/ (short and weak) and /ɜː/ (long)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U1L2</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/ə/ is the laziest sound in English – mouth relaxed, very short: tead-CHer, BAN-a-na. /ɜː/ is the same mouth shape but LONG and stressed: bird, girl, learn.</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/ə/: teacher, banana, camera, together, photographer</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/ɜː/: bird, girl, work, learn, thirteen, birthday</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Minimal pairs: /ə/ father – /ɜː/ further | /ə/ forward – /ɜː/ word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U1L2</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My teacher works with a camera.</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 girl learns about birds on her birthday.</a:t>
            </a:r>
          </a:p>
        </p:txBody>
      </p:sp>
      <p:sp>
        <p:nvSpPr>
          <p:cNvPr id="12" name="Rounded Rectangle 11"/>
          <p:cNvSpPr/>
          <p:nvPr/>
        </p:nvSpPr>
        <p:spPr>
          <a:xfrm>
            <a:off x="731520" y="384048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93192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Together we learn thirty-three words.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Adverbs of frequency</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U1L2</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how often people do things in their free time. Two speakers, scripted dialogue, native English. It lasts 1:35.</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440680"/>
            <a:ext cx="10698480" cy="530352"/>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42C4F"/>
                </a:solidFill>
                <a:hlinkClick r:id="rId2"/>
              </a:rPr>
              <a:t>▶ Play audio</a:t>
            </a:r>
          </a:p>
        </p:txBody>
      </p:sp>
      <p:sp>
        <p:nvSpPr>
          <p:cNvPr id="12" name="TextBox 11"/>
          <p:cNvSpPr txBox="1"/>
          <p:nvPr/>
        </p:nvSpPr>
        <p:spPr>
          <a:xfrm>
            <a:off x="731520" y="6062472"/>
            <a:ext cx="10698480" cy="502920"/>
          </a:xfrm>
          <a:prstGeom prst="rect">
            <a:avLst/>
          </a:prstGeom>
          <a:noFill/>
        </p:spPr>
        <p:txBody>
          <a:bodyPr wrap="square" anchor="t">
            <a:spAutoFit/>
          </a:bodyPr>
          <a:lstStyle/>
          <a:p>
            <a:pPr algn="l">
              <a:lnSpc>
                <a:spcPct val="100000"/>
              </a:lnSpc>
              <a:spcAft>
                <a:spcPts val="600"/>
              </a:spcAft>
            </a:pPr>
            <a:r>
              <a:rPr sz="1100" b="0" i="0">
                <a:solidFill>
                  <a:srgbClr val="6B7280"/>
                </a:solidFill>
                <a:latin typeface="Calibri"/>
              </a:rPr>
              <a:t>ELLLO — Sound Grammar · 1:35 · Two speakers, scripted dialogue, native English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how often people do things in their free time B. the best, the fastest and the most popular things C. what people did yesterday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the number of the conversation (1-4) you hear each line in.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rarely do. It is too expensive. Do you?</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Stir-fry! That”s not very healthy.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No, I never take the bus. I always drive.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 often go there, too. Do you ever go to the lake?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 do you do on the weekend?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Woman: I _____ stay home, but sometimes I go 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Woman: _____ I go to the beach.</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Woman: _____, I go to the park.</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Man: I _____ go there, too.</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Man: What do you _____ have for dinner?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Hobbies around Viet Nam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U1L2</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In Hue, many students learn to arrange flowers. They say it is relaxing and it makes their home beautiful. Some of them arrange flowers for the family altar at Tet. In Da Lat, photography is a popular hobby because the city has flowers, lakes and hills. Young photographers often go out at five o'clock in the morning to catch the light. In Sa Pa, mountain climbing is not only a sport for tourists. Local students sometimes climb small hills at the weekend with their friends. They always go in a group and they never go alone.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 with a full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Where do many students learn to arrange flowers?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Why is photography popular in Da Lat?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When do young photographers go out?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Do students in Sa Pa climb alone?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correct verb.</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 pottery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______ skateboarding</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______ chess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 photographs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______ mountain climbing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correct verb.</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______ old coins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Put the words in the correct column: /ə/ or /ɜː/.</a:t>
            </a:r>
          </a:p>
        </p:txBody>
      </p:sp>
      <p:sp>
        <p:nvSpPr>
          <p:cNvPr id="10" name="Rounded Rectangle 9"/>
          <p:cNvSpPr/>
          <p:nvPr/>
        </p:nvSpPr>
        <p:spPr>
          <a:xfrm>
            <a:off x="822960" y="2377440"/>
            <a:ext cx="10515600" cy="640080"/>
          </a:xfrm>
          <a:prstGeom prst="roundRect">
            <a:avLst>
              <a:gd name="adj" fmla="val 6000"/>
            </a:avLst>
          </a:prstGeom>
          <a:solidFill>
            <a:srgbClr val="FDF2E0"/>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423160"/>
            <a:ext cx="10058400" cy="548640"/>
          </a:xfrm>
          <a:prstGeom prst="rect">
            <a:avLst/>
          </a:prstGeom>
          <a:noFill/>
        </p:spPr>
        <p:txBody>
          <a:bodyPr wrap="square" anchor="ctr">
            <a:spAutoFit/>
          </a:bodyPr>
          <a:lstStyle/>
          <a:p>
            <a:pPr algn="l">
              <a:lnSpc>
                <a:spcPct val="100000"/>
              </a:lnSpc>
              <a:spcAft>
                <a:spcPts val="600"/>
              </a:spcAft>
            </a:pPr>
            <a:r>
              <a:rPr sz="1800" b="1" i="0">
                <a:solidFill>
                  <a:srgbClr val="E07A1F"/>
                </a:solidFill>
                <a:latin typeface="Calibri"/>
              </a:rPr>
              <a:t>teacher   bird   camera   learn   banana   girl   together   birthday</a:t>
            </a:r>
          </a:p>
        </p:txBody>
      </p:sp>
      <p:sp>
        <p:nvSpPr>
          <p:cNvPr id="12" name="TextBox 11"/>
          <p:cNvSpPr txBox="1"/>
          <p:nvPr/>
        </p:nvSpPr>
        <p:spPr>
          <a:xfrm>
            <a:off x="1005840" y="320040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/ə/ (weak, short): ______</a:t>
            </a:r>
          </a:p>
        </p:txBody>
      </p:sp>
      <p:sp>
        <p:nvSpPr>
          <p:cNvPr id="13" name="TextBox 12"/>
          <p:cNvSpPr txBox="1"/>
          <p:nvPr/>
        </p:nvSpPr>
        <p:spPr>
          <a:xfrm>
            <a:off x="1005840" y="385876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/ɜː/ (long, strong): ______</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Rewrite the sentence with the word in brackets.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do gardening with my father. (often)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She is at the pottery club on Friday. (always)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We go fishing in winter. (never)</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Minh takes photographs of birds. (sometimes)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They are late. (usually)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Ask four classmates 'How often do you …?' about four different hobbies. Complete the table, then write two sentences about the class.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Name | Hobby | How often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Sentence 1: Two students in my class ______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Sentence 2: Nobody in my group ______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Say the sentence, then change the underlined part.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I usually go cycling at the weekend. (often / sometimes / never)</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She always does pottery on Saturday. (my brother / we / Nam)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Interview your partner about three hobbies. Write the answers, then report one to the class.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How often do you go cycling? B: I go cycling twice a week.</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Report: 'Nam goes cycling twice a week.'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Saying how often you do something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U1L2</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often do you …?</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Once / twice / three times a week.</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Every day.</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Not very often.</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Almost never.</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Really? Me too!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U1L2</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A is a reporter for the school magazine. B is a student with an unusual hobby. A asks: What's your hobby? How often …? Why do you like it? A then reads the notes to the class.</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sentences with the words. Be careful with word order.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 always / play / chess / after school</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my sister / never / go / fishing</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we / usually / do / pottery / on Saturday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he / is / often / late / for the club</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they / go / mountain climbing / twice a month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U1L2</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five hobby verbs: do / go / play / collect / take (photographs)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Adverbs of frequency: before the main verb, after BE</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/ə/ weak and short vs /ɜː/ long and strong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U1L2</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U1.2-H1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Write the hobby word for each definition.</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U1.2-H2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Pronunciation — Underline the word with the LONG sound /ɜː/.</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U1.2-H3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Rewrite the sentences with the adverb in brackets.</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U1.2-H4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4 sentences about how often you do 4 different free-time activities.</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U1L2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