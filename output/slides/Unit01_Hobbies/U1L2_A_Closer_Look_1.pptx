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L2_1_A1-20-Adverbs-Frequency.mp3" TargetMode="External"/><Relationship Id="rId3" Type="http://schemas.openxmlformats.org/officeDocument/2006/relationships/hyperlink" Target="https://elllo.org/book/A1/A1-20-Adverbs-Frequency.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2  ·  PERIOD 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More hobbies, and the sounds /ə/ and /ɜː/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8 more hobby words and the verbs that go with them (do / go / play / collect / make)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sounds /ə/ and /ɜː/ correctly in words and short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how often they do a hobby using adverbs of frequency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partner about three hobbies and report one answer to the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the 8 hobby words from Lesson 1 on the board in a circle.</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teams; one student from each team comes to the board. Say a word in Vietnamese; the first to slap the English word wins a point.</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two teams; recall Lesson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chạm, khắc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carves animals from wood.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eggshell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/ˈeɡʃel/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vỏ trứng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Carving eggshells needs a steady hand.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/ˈpɒtəri/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 gốm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learn pottery on Saturday mornings.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her new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mountain climbing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/ˈmaʊntən ˌklaɪmɪŋ/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leo núi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Mountain climbing is dangerous but exciting.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 flowers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 ˈflaʊəz/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cắm hoa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arranges flowers for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skateboarding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/ˈskeɪtbɔːdɪŋ/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trượt ván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Skateboarding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relaxing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/rɪˈlæksɪŋ/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giãn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Fishing is a relaxing hobby.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pottery / do gardening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cycling / go fishing / go skateboarding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chess / play board games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Adverbs of frequency with the present simple (review and ex…</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Adverbs of frequency say HOW OFTEN we do something.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 go BEFORE the main verb, but AFTER the verb 'be'.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Frequency phrases (once a week, every day) go at the END of the sentence.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Adverb</a:t>
                      </a:r>
                    </a:p>
                  </a:txBody>
                  <a:tcPr>
                    <a:solidFill>
                      <a:srgbClr val="0E7C66"/>
                    </a:solidFill>
                  </a:tcPr>
                </a:tc>
                <a:tc>
                  <a:txBody>
                    <a:bodyPr/>
                    <a:lstStyle/>
                    <a:p>
                      <a:r>
                        <a:rPr sz="1600" b="1">
                          <a:solidFill>
                            <a:srgbClr val="FFFFFF"/>
                          </a:solidFill>
                          <a:latin typeface="Calibri"/>
                        </a:rPr>
                        <a: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always</a:t>
                      </a:r>
                    </a:p>
                  </a:txBody>
                  <a:tcPr>
                    <a:solidFill>
                      <a:srgbClr val="E3F3EE"/>
                    </a:solidFill>
                  </a:tcPr>
                </a:tc>
                <a:tc>
                  <a:txBody>
                    <a:bodyPr/>
                    <a:lstStyle/>
                    <a:p>
                      <a:r>
                        <a:rPr sz="1600" b="0">
                          <a:solidFill>
                            <a:srgbClr val="1B1B1B"/>
                          </a:solidFill>
                          <a:latin typeface="Calibri"/>
                        </a:rPr>
                        <a:t>100%</a:t>
                      </a:r>
                    </a:p>
                  </a:txBody>
                  <a:tcPr>
                    <a:solidFill>
                      <a:srgbClr val="E3F3EE"/>
                    </a:solidFill>
                  </a:tcPr>
                </a:tc>
                <a:tc>
                  <a:txBody>
                    <a:bodyPr/>
                    <a:lstStyle/>
                    <a:p>
                      <a:r>
                        <a:rPr sz="1600" b="0">
                          <a:solidFill>
                            <a:srgbClr val="1B1B1B"/>
                          </a:solidFill>
                          <a:latin typeface="Calibri"/>
                        </a:rPr>
                        <a:t>I always do my homework.</a:t>
                      </a:r>
                    </a:p>
                  </a:txBody>
                  <a:tcPr>
                    <a:solidFill>
                      <a:srgbClr val="E3F3EE"/>
                    </a:solidFill>
                  </a:tcPr>
                </a:tc>
              </a:tr>
              <a:tr h="566928">
                <a:tc>
                  <a:txBody>
                    <a:bodyPr/>
                    <a:lstStyle/>
                    <a:p>
                      <a:r>
                        <a:rPr sz="1600" b="0">
                          <a:solidFill>
                            <a:srgbClr val="1B1B1B"/>
                          </a:solidFill>
                          <a:latin typeface="Calibri"/>
                        </a:rPr>
                        <a:t>usually</a:t>
                      </a:r>
                    </a:p>
                  </a:txBody>
                  <a:tcPr>
                    <a:solidFill>
                      <a:srgbClr val="FFFFFF"/>
                    </a:solidFill>
                  </a:tcPr>
                </a:tc>
                <a:tc>
                  <a:txBody>
                    <a:bodyPr/>
                    <a:lstStyle/>
                    <a:p>
                      <a:r>
                        <a:rPr sz="1600" b="0">
                          <a:solidFill>
                            <a:srgbClr val="1B1B1B"/>
                          </a:solidFill>
                          <a:latin typeface="Calibri"/>
                        </a:rPr>
                        <a:t>80%</a:t>
                      </a:r>
                    </a:p>
                  </a:txBody>
                  <a:tcPr>
                    <a:solidFill>
                      <a:srgbClr val="FFFFFF"/>
                    </a:solidFill>
                  </a:tcPr>
                </a:tc>
                <a:tc>
                  <a:txBody>
                    <a:bodyPr/>
                    <a:lstStyle/>
                    <a:p>
                      <a:r>
                        <a:rPr sz="1600" b="0">
                          <a:solidFill>
                            <a:srgbClr val="1B1B1B"/>
                          </a:solidFill>
                          <a:latin typeface="Calibri"/>
                        </a:rPr>
                        <a:t>She usually goes cycling on Sunday.</a:t>
                      </a:r>
                    </a:p>
                  </a:txBody>
                  <a:tcPr>
                    <a:solidFill>
                      <a:srgbClr val="FFFFFF"/>
                    </a:solidFill>
                  </a:tcPr>
                </a:tc>
              </a:tr>
              <a:tr h="566928">
                <a:tc>
                  <a:txBody>
                    <a:bodyPr/>
                    <a:lstStyle/>
                    <a:p>
                      <a:r>
                        <a:rPr sz="1600" b="0">
                          <a:solidFill>
                            <a:srgbClr val="1B1B1B"/>
                          </a:solidFill>
                          <a:latin typeface="Calibri"/>
                        </a:rPr>
                        <a:t>often</a:t>
                      </a:r>
                    </a:p>
                  </a:txBody>
                  <a:tcPr>
                    <a:solidFill>
                      <a:srgbClr val="E3F3EE"/>
                    </a:solidFill>
                  </a:tcPr>
                </a:tc>
                <a:tc>
                  <a:txBody>
                    <a:bodyPr/>
                    <a:lstStyle/>
                    <a:p>
                      <a:r>
                        <a:rPr sz="1600" b="0">
                          <a:solidFill>
                            <a:srgbClr val="1B1B1B"/>
                          </a:solidFill>
                          <a:latin typeface="Calibri"/>
                        </a:rPr>
                        <a:t>60%</a:t>
                      </a:r>
                    </a:p>
                  </a:txBody>
                  <a:tcPr>
                    <a:solidFill>
                      <a:srgbClr val="E3F3EE"/>
                    </a:solidFill>
                  </a:tcPr>
                </a:tc>
                <a:tc>
                  <a:txBody>
                    <a:bodyPr/>
                    <a:lstStyle/>
                    <a:p>
                      <a:r>
                        <a:rPr sz="1600" b="0">
                          <a:solidFill>
                            <a:srgbClr val="1B1B1B"/>
                          </a:solidFill>
                          <a:latin typeface="Calibri"/>
                        </a:rPr>
                        <a:t>We often play board games.</a:t>
                      </a:r>
                    </a:p>
                  </a:txBody>
                  <a:tcPr>
                    <a:solidFill>
                      <a:srgbClr val="E3F3EE"/>
                    </a:solidFill>
                  </a:tcPr>
                </a:tc>
              </a:tr>
              <a:tr h="566928">
                <a:tc>
                  <a:txBody>
                    <a:bodyPr/>
                    <a:lstStyle/>
                    <a:p>
                      <a:r>
                        <a:rPr sz="1600" b="0">
                          <a:solidFill>
                            <a:srgbClr val="1B1B1B"/>
                          </a:solidFill>
                          <a:latin typeface="Calibri"/>
                        </a:rPr>
                        <a:t>sometimes</a:t>
                      </a:r>
                    </a:p>
                  </a:txBody>
                  <a:tcPr>
                    <a:solidFill>
                      <a:srgbClr val="FFFFFF"/>
                    </a:solidFill>
                  </a:tcPr>
                </a:tc>
                <a:tc>
                  <a:txBody>
                    <a:bodyPr/>
                    <a:lstStyle/>
                    <a:p>
                      <a:r>
                        <a:rPr sz="1600" b="0">
                          <a:solidFill>
                            <a:srgbClr val="1B1B1B"/>
                          </a:solidFill>
                          <a:latin typeface="Calibri"/>
                        </a:rPr>
                        <a:t>40%</a:t>
                      </a:r>
                    </a:p>
                  </a:txBody>
                  <a:tcPr>
                    <a:solidFill>
                      <a:srgbClr val="FFFFFF"/>
                    </a:solidFill>
                  </a:tcPr>
                </a:tc>
                <a:tc>
                  <a:txBody>
                    <a:bodyPr/>
                    <a:lstStyle/>
                    <a:p>
                      <a:r>
                        <a:rPr sz="1600" b="0">
                          <a:solidFill>
                            <a:srgbClr val="1B1B1B"/>
                          </a:solidFill>
                          <a:latin typeface="Calibri"/>
                        </a:rPr>
                        <a:t>He sometimes goes fishing.</a:t>
                      </a:r>
                    </a:p>
                  </a:txBody>
                  <a:tcPr>
                    <a:solidFill>
                      <a:srgbClr val="FFFFFF"/>
                    </a:solidFill>
                  </a:tcPr>
                </a:tc>
              </a:tr>
              <a:tr h="566928">
                <a:tc>
                  <a:txBody>
                    <a:bodyPr/>
                    <a:lstStyle/>
                    <a:p>
                      <a:r>
                        <a:rPr sz="1600" b="0">
                          <a:solidFill>
                            <a:srgbClr val="1B1B1B"/>
                          </a:solidFill>
                          <a:latin typeface="Calibri"/>
                        </a:rPr>
                        <a:t>never</a:t>
                      </a:r>
                    </a:p>
                  </a:txBody>
                  <a:tcPr>
                    <a:solidFill>
                      <a:srgbClr val="E3F3EE"/>
                    </a:solidFill>
                  </a:tcPr>
                </a:tc>
                <a:tc>
                  <a:txBody>
                    <a:bodyPr/>
                    <a:lstStyle/>
                    <a:p>
                      <a:r>
                        <a:rPr sz="1600" b="0">
                          <a:solidFill>
                            <a:srgbClr val="1B1B1B"/>
                          </a:solidFill>
                          <a:latin typeface="Calibri"/>
                        </a:rPr>
                        <a:t>0%</a:t>
                      </a:r>
                    </a:p>
                  </a:txBody>
                  <a:tcPr>
                    <a:solidFill>
                      <a:srgbClr val="E3F3EE"/>
                    </a:solidFill>
                  </a:tcPr>
                </a:tc>
                <a:tc>
                  <a:txBody>
                    <a:bodyPr/>
                    <a:lstStyle/>
                    <a:p>
                      <a:r>
                        <a:rPr sz="1600" b="0">
                          <a:solidFill>
                            <a:srgbClr val="1B1B1B"/>
                          </a:solidFill>
                          <a:latin typeface="Calibri"/>
                        </a:rPr>
                        <a:t>They never watch birds.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Mai always collects stamps at the weekend.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 is never late for the pottery class.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go skateboarding twice a week.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word order puts the frequency word at the end (tôi thường xuyên chơi cờ → *I play chess often*). Show the two orders side by side on the board.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Mai always collects stamps at the weekend.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/ə/ (short and weak) and /ɜː/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/ə/ is the laziest sound in English – mouth relaxed, very short: tead-CHer, BAN-a-na. /ɜː/ is the same mouth shape but LONG and stressed: bird, girl, learn.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banana, camera, together, photographer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/ɜː/: bird, girl, work, learn, thirteen, birthday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/ə/ father – /ɜː/ further | /ə/ forward – /ɜː/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works with a camera.</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girl learns about birds on her birthday.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Together we learn thirty-three words.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Adverbs of frequency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often people do things in their free time. Two speakers, scripted dialogue, native English. It lasts 1:35.</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1:35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the best, the fastest and the most popular things C. what people did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rarely do. It is too expensive. Do you?</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Stir-fry! That”s not very healthy.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I never take the bus. I always drive.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often go there, too. Do you ever go to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do on the weekend?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stay home, but sometimes I go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_____ I go to the beach.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_____, I go to the park.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 _____ go there, too.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What do you _____ have for dinner?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Hobbies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Hue, many students learn to arrange flowers. They say it is relaxing and it makes their home beautiful. Some of them arrange flowers for the family altar at Tet. In Da Lat, photography is a popular hobby because the city has flowers, lakes and hills. Young photographers often go out at five o'clock in the morning to catch the light. In Sa Pa, mountain climbing is not only a sport for tourists. Local students sometimes climb small hills at the weekend with their friends. They always go in a group and they never go alone.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with a full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 many students learn to arrange flowers?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photography popular in Da Lat?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young photographers go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students in Sa Pa climb alone?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pottery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skateboarding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photographs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mountain climbing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old coins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column: /ə/ or /ɜː/.</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teacher   bird   camera   learn   banana   girl   together   birthday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/ə/ (weak,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/ɜː/ (long, strong):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 with the word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do gardening with my father.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at the pottery club on Friday. (always)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go fishing in winter. (never)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Minh takes photographs of birds. (sometimes)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late. (usually)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'How often do you …?' about four different hobbies. Complete the table, then write two sentences about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Hobby | How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Two students in my class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Nobody in my group ______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sentence, then change the underlined part.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cycling at the weekend. (often / sometimes /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She always does pottery on Saturday. (my brother / we / Nam)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Interview your partner about three hobbies. Write the answers, then report one to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do you go cycling? B: I go cycling twice a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Report: 'Nam goes cycling twice a week.'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Saying how often you do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often do you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very often.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Almost never.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Me too!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reporter for the school magazine. B is a student with an unusual hobby. A asks: What's your hobby? How often …? Why do you like it? A then reads the notes to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sentences with the words. Be careful with word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 always / play / chess / after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 never / go / fishing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usually / do / pottery / on Saturday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 is / often / late / for the club</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 go / mountain climbing / twice a month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hobby verbs: do / go / play / collect / take (photographs)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Adverbs of frequency: before the main verb, after BE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/ə/ weak and short vs /ɜː/ long and strong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hobby word for each definition.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Underline the word with the LONG sound /ɜː/.</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the sentences with the adverb in brackets.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often you do 4 different free-time activities.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