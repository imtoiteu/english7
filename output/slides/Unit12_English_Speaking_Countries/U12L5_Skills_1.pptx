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5  ·  PERIOD 90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English around the world + Speaking: Present a country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country for 90 seconds using a fact-file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two questions about their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(countries)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'Have you ever…?' questions about foreign things.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native speaker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/ˈneɪtɪv ˈspiːkə/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 bản ngữ</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Most English speakers are not native speakers.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/ˈæksent/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giọng, khẩu âm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Everybody has an accent.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communicate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/kəˈmjuːnɪkeɪt/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giao tiếp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aim is to communicate, not to be perfect.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global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/ˈɡləʊbl/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toàn cầu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has become a global language.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useful for many jobs.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confident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/ˈkɒnfɪdənt/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Be confident, even when you make mistakes.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global language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native speaker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yourself understood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doesn't matter if…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aim is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Presenting a country: fact file language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Facts with numbers: The population is about… / It covers … square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(Unit 4 and 12L2): It is the … in the world.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perfect for your own experience: I have never been there, but I have read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at the end: What interests me most is… / I would like to visit it because…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basic facts</a:t>
                      </a:r>
                    </a:p>
                  </a:txBody>
                  <a:tcPr>
                    <a:solidFill>
                      <a:srgbClr val="E3F3EE"/>
                    </a:solidFill>
                  </a:tcPr>
                </a:tc>
                <a:tc>
                  <a:txBody>
                    <a:bodyPr/>
                    <a:lstStyle/>
                    <a:p>
                      <a:r>
                        <a:rPr sz="1600" b="0">
                          <a:solidFill>
                            <a:srgbClr val="1B1B1B"/>
                          </a:solidFill>
                          <a:latin typeface="Calibri"/>
                        </a:rPr>
                        <a:t>The capital is… The population is…</a:t>
                      </a:r>
                    </a:p>
                  </a:txBody>
                  <a:tcPr>
                    <a:solidFill>
                      <a:srgbClr val="E3F3EE"/>
                    </a:solidFill>
                  </a:tcPr>
                </a:tc>
                <a:tc>
                  <a:txBody>
                    <a:bodyPr/>
                    <a:lstStyle/>
                    <a:p>
                      <a:r>
                        <a:rPr sz="1600" b="0">
                          <a:solidFill>
                            <a:srgbClr val="1B1B1B"/>
                          </a:solidFill>
                          <a:latin typeface="Calibri"/>
                        </a:rPr>
                        <a:t>The capital is Ottawa.</a:t>
                      </a:r>
                    </a:p>
                  </a:txBody>
                  <a:tcPr>
                    <a:solidFill>
                      <a:srgbClr val="E3F3EE"/>
                    </a:solidFill>
                  </a:tcPr>
                </a:tc>
              </a:tr>
              <a:tr h="566928">
                <a:tc>
                  <a:txBody>
                    <a:bodyPr/>
                    <a:lstStyle/>
                    <a:p>
                      <a:r>
                        <a:rPr sz="1600" b="0">
                          <a:solidFill>
                            <a:srgbClr val="1B1B1B"/>
                          </a:solidFill>
                          <a:latin typeface="Calibri"/>
                        </a:rPr>
                        <a:t>superlative</a:t>
                      </a:r>
                    </a:p>
                  </a:txBody>
                  <a:tcPr>
                    <a:solidFill>
                      <a:srgbClr val="FFFFFF"/>
                    </a:solidFill>
                  </a:tcPr>
                </a:tc>
                <a:tc>
                  <a:txBody>
                    <a:bodyPr/>
                    <a:lstStyle/>
                    <a:p>
                      <a:r>
                        <a:rPr sz="1600" b="0">
                          <a:solidFill>
                            <a:srgbClr val="1B1B1B"/>
                          </a:solidFill>
                          <a:latin typeface="Calibri"/>
                        </a:rPr>
                        <a:t>It is the …-est / most … in the world</a:t>
                      </a:r>
                    </a:p>
                  </a:txBody>
                  <a:tcPr>
                    <a:solidFill>
                      <a:srgbClr val="FFFFFF"/>
                    </a:solidFill>
                  </a:tcPr>
                </a:tc>
                <a:tc>
                  <a:txBody>
                    <a:bodyPr/>
                    <a:lstStyle/>
                    <a:p>
                      <a:r>
                        <a:rPr sz="1600" b="0">
                          <a:solidFill>
                            <a:srgbClr val="1B1B1B"/>
                          </a:solidFill>
                          <a:latin typeface="Calibri"/>
                        </a:rPr>
                        <a:t>It is the second largest country in the world.</a:t>
                      </a:r>
                    </a:p>
                  </a:txBody>
                  <a:tcPr>
                    <a:solidFill>
                      <a:srgbClr val="FFFFFF"/>
                    </a:solidFill>
                  </a:tcPr>
                </a:tc>
              </a:tr>
              <a:tr h="566928">
                <a:tc>
                  <a:txBody>
                    <a:bodyPr/>
                    <a:lstStyle/>
                    <a:p>
                      <a:r>
                        <a:rPr sz="1600" b="0">
                          <a:solidFill>
                            <a:srgbClr val="1B1B1B"/>
                          </a:solidFill>
                          <a:latin typeface="Calibri"/>
                        </a:rPr>
                        <a:t>experience</a:t>
                      </a:r>
                    </a:p>
                  </a:txBody>
                  <a:tcPr>
                    <a:solidFill>
                      <a:srgbClr val="E3F3EE"/>
                    </a:solidFill>
                  </a:tcPr>
                </a:tc>
                <a:tc>
                  <a:txBody>
                    <a:bodyPr/>
                    <a:lstStyle/>
                    <a:p>
                      <a:r>
                        <a:rPr sz="1600" b="0">
                          <a:solidFill>
                            <a:srgbClr val="1B1B1B"/>
                          </a:solidFill>
                          <a:latin typeface="Calibri"/>
                        </a:rPr>
                        <a:t>I have never been… but I have…</a:t>
                      </a:r>
                    </a:p>
                  </a:txBody>
                  <a:tcPr>
                    <a:solidFill>
                      <a:srgbClr val="E3F3EE"/>
                    </a:solidFill>
                  </a:tcPr>
                </a:tc>
                <a:tc>
                  <a:txBody>
                    <a:bodyPr/>
                    <a:lstStyle/>
                    <a:p>
                      <a:r>
                        <a:rPr sz="1600" b="0">
                          <a:solidFill>
                            <a:srgbClr val="1B1B1B"/>
                          </a:solidFill>
                          <a:latin typeface="Calibri"/>
                        </a:rPr>
                        <a:t>I have never been there, but I have watched many videos.</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What interests me most is…</a:t>
                      </a:r>
                    </a:p>
                  </a:txBody>
                  <a:tcPr>
                    <a:solidFill>
                      <a:srgbClr val="FFFFFF"/>
                    </a:solidFill>
                  </a:tcPr>
                </a:tc>
                <a:tc>
                  <a:txBody>
                    <a:bodyPr/>
                    <a:lstStyle/>
                    <a:p>
                      <a:r>
                        <a:rPr sz="1600" b="0">
                          <a:solidFill>
                            <a:srgbClr val="1B1B1B"/>
                          </a:solidFill>
                          <a:latin typeface="Calibri"/>
                        </a:rPr>
                        <a:t>What interests me most is that it has two official languages.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New Zealand has about five million people — fewer than Hanoi.</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abroad, but I have read that the south island is the most beautiful 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list of facts with no opinion is boring. Every presentation needs one sentence beginning 'What interests me most is…'.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New Zealand has about five million people — fewer than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Confident presenting: volume, pace and clusters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rules for the end of the year: speak louder than feels natural, slower than feels natural, and finish every word. Watch the clusters: fir-st, mo-st, la-st, world.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most, last,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'accent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co'mmunicate (oOoo)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'confident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most important thing is to communicate, not to be perfect.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the facts. Second, the reason. Last, my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is your country's geography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geography of one person's country. Single speaker — Elise / The Netherlands.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1:03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geography of one person's country C. what people do every day and at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the Netherlands, there are no mountains, but there are _____ low hills in the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There's a long coastline, and there are also _____ islands off the north coast and off the south coast in the west.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several forests and there are _____ some provinces with lakes.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are no volcanoes and there aren't _____ rainforests, either.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Are there _____ distinct geographical features in your region?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Whose language is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About one and a half billion people speak English. Only about four hundred million of them learned it as their first language. In other words, for every native speaker there are roughly three people who learned English at school — like you. This changes something important. When a Vietnamese engineer talks to a Japanese engineer, or a Brazilian doctor talks to a German nurse, they use English — and there is no native speaker in the room at all. Their English does not have to sound British or American. It has to WORK. Researchers who study these conversations have found something surprising: conversations between two non-native speakers often break down LESS often than conversations that include a native speaker. Learners speak more slowly, repeat more, check more and use simpler words. Native speakers use idioms and jokes that nobody else understands. None of this means that accuracy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speak like a native speaker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English belongs to everybody who uses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the English language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people speak English, and how many are native speakers?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Give two examples from the text of English being used with no native speaker present.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surprising thing have researchers found?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learner-to-learner conversations work well? (four reasons)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writer say accuracy is unimportant? Explain.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a language as a baby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stops working / fails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expressions whose meaning you cannot guess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to understand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mention 'I can' and 'I can't'?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Does this article make you feel more or less confident?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English 'belongs to everybody who uses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English speakers learned it as their first language.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Learner-to-learner conversations break down more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Native speakers sometimes use idioms nobody understands.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writer says grammar does not matter.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clear final consonant can change the meaning.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______ of Canada is Ottawa.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the second ______ country in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______ been there, but I have watched a documentary.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______ me most is the two languages.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Thank you ______ listening.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main idea of the article in four sentences.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main idea of the article in four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Basic facts (capital, population, languages)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famous place with a number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food or custom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own experience (present perfect)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interests me most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'The capital is…', 'It is the …-est in the world', 'I have never been there, but I have…', 'What interests me most 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Speaking with confidence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start with…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most surprising thing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I said,…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 finish,…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there any 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two listeners ask a question; the presenter must answer without notes.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presentation in five parts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your own experience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native speaker, accent, communicate, global, confident.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country presentation as a paragraph (110–120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presentation three times. Louder and slower than feels natural.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