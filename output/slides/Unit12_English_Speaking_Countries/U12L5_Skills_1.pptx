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12L5_1_A2-033-ELISE-NETHERLANDS.mp3"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12  ·  LESSON 5  ·  PERIOD 90</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Reading: English around the world + Speaking: Present a country</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read a 240-word article and answer gist, detail and inference questions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guess new words from context</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present a country for 90 seconds using a fact-file plan</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answer two questions about their country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Have you ever… (countries)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Students ask each other 'Have you ever…?' questions about foreign things. Recycles Lesson 3.</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Ask and answer.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native speaker</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/ˈneɪtɪv ˈspiːkə/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người bản ngữ</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Most English speakers are not native speakers.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accent</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/ˈæksent/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giọng, khẩu âm</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Everybody has an accent.</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communicate</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/kəˈmjuːnɪkeɪt/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giao tiếp</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aim is to communicate, not to be perfect.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global</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/ˈɡləʊbl/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toàn cầu</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English has become a global language.</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useful</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/ˈjuːsfl/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hữu ích</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English is useful for many jobs.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confident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/ˈkɒnfɪdənt/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tự tin</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Be confident, even when you make mistakes.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 global language</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 native speaker</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make yourself understood</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doesn't matter if…</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aim is 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Presenting a country: fact file language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Facts with numbers: The population is about… / It covers … square kilometres.</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Superlatives (Unit 4 and 12L2): It is the … in the world.</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Present perfect for your own experience: I have never been there, but I have read that…</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Opinion at the end: What interests me most is… / I would like to visit it because…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Part</a:t>
                      </a:r>
                    </a:p>
                  </a:txBody>
                  <a:tcPr>
                    <a:solidFill>
                      <a:srgbClr val="0E7C66"/>
                    </a:solidFill>
                  </a:tcPr>
                </a:tc>
                <a:tc>
                  <a:txBody>
                    <a:bodyPr/>
                    <a:lstStyle/>
                    <a:p>
                      <a:r>
                        <a:rPr sz="1600" b="1">
                          <a:solidFill>
                            <a:srgbClr val="FFFFFF"/>
                          </a:solidFill>
                          <a:latin typeface="Calibri"/>
                        </a:rPr>
                        <a:t>Language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basic facts</a:t>
                      </a:r>
                    </a:p>
                  </a:txBody>
                  <a:tcPr>
                    <a:solidFill>
                      <a:srgbClr val="E3F3EE"/>
                    </a:solidFill>
                  </a:tcPr>
                </a:tc>
                <a:tc>
                  <a:txBody>
                    <a:bodyPr/>
                    <a:lstStyle/>
                    <a:p>
                      <a:r>
                        <a:rPr sz="1600" b="0">
                          <a:solidFill>
                            <a:srgbClr val="1B1B1B"/>
                          </a:solidFill>
                          <a:latin typeface="Calibri"/>
                        </a:rPr>
                        <a:t>The capital is… The population is…</a:t>
                      </a:r>
                    </a:p>
                  </a:txBody>
                  <a:tcPr>
                    <a:solidFill>
                      <a:srgbClr val="E3F3EE"/>
                    </a:solidFill>
                  </a:tcPr>
                </a:tc>
                <a:tc>
                  <a:txBody>
                    <a:bodyPr/>
                    <a:lstStyle/>
                    <a:p>
                      <a:r>
                        <a:rPr sz="1600" b="0">
                          <a:solidFill>
                            <a:srgbClr val="1B1B1B"/>
                          </a:solidFill>
                          <a:latin typeface="Calibri"/>
                        </a:rPr>
                        <a:t>The capital is Ottawa.</a:t>
                      </a:r>
                    </a:p>
                  </a:txBody>
                  <a:tcPr>
                    <a:solidFill>
                      <a:srgbClr val="E3F3EE"/>
                    </a:solidFill>
                  </a:tcPr>
                </a:tc>
              </a:tr>
              <a:tr h="566928">
                <a:tc>
                  <a:txBody>
                    <a:bodyPr/>
                    <a:lstStyle/>
                    <a:p>
                      <a:r>
                        <a:rPr sz="1600" b="0">
                          <a:solidFill>
                            <a:srgbClr val="1B1B1B"/>
                          </a:solidFill>
                          <a:latin typeface="Calibri"/>
                        </a:rPr>
                        <a:t>superlative</a:t>
                      </a:r>
                    </a:p>
                  </a:txBody>
                  <a:tcPr>
                    <a:solidFill>
                      <a:srgbClr val="FFFFFF"/>
                    </a:solidFill>
                  </a:tcPr>
                </a:tc>
                <a:tc>
                  <a:txBody>
                    <a:bodyPr/>
                    <a:lstStyle/>
                    <a:p>
                      <a:r>
                        <a:rPr sz="1600" b="0">
                          <a:solidFill>
                            <a:srgbClr val="1B1B1B"/>
                          </a:solidFill>
                          <a:latin typeface="Calibri"/>
                        </a:rPr>
                        <a:t>It is the …-est / most … in the world</a:t>
                      </a:r>
                    </a:p>
                  </a:txBody>
                  <a:tcPr>
                    <a:solidFill>
                      <a:srgbClr val="FFFFFF"/>
                    </a:solidFill>
                  </a:tcPr>
                </a:tc>
                <a:tc>
                  <a:txBody>
                    <a:bodyPr/>
                    <a:lstStyle/>
                    <a:p>
                      <a:r>
                        <a:rPr sz="1600" b="0">
                          <a:solidFill>
                            <a:srgbClr val="1B1B1B"/>
                          </a:solidFill>
                          <a:latin typeface="Calibri"/>
                        </a:rPr>
                        <a:t>It is the second largest country in the world.</a:t>
                      </a:r>
                    </a:p>
                  </a:txBody>
                  <a:tcPr>
                    <a:solidFill>
                      <a:srgbClr val="FFFFFF"/>
                    </a:solidFill>
                  </a:tcPr>
                </a:tc>
              </a:tr>
              <a:tr h="566928">
                <a:tc>
                  <a:txBody>
                    <a:bodyPr/>
                    <a:lstStyle/>
                    <a:p>
                      <a:r>
                        <a:rPr sz="1600" b="0">
                          <a:solidFill>
                            <a:srgbClr val="1B1B1B"/>
                          </a:solidFill>
                          <a:latin typeface="Calibri"/>
                        </a:rPr>
                        <a:t>experience</a:t>
                      </a:r>
                    </a:p>
                  </a:txBody>
                  <a:tcPr>
                    <a:solidFill>
                      <a:srgbClr val="E3F3EE"/>
                    </a:solidFill>
                  </a:tcPr>
                </a:tc>
                <a:tc>
                  <a:txBody>
                    <a:bodyPr/>
                    <a:lstStyle/>
                    <a:p>
                      <a:r>
                        <a:rPr sz="1600" b="0">
                          <a:solidFill>
                            <a:srgbClr val="1B1B1B"/>
                          </a:solidFill>
                          <a:latin typeface="Calibri"/>
                        </a:rPr>
                        <a:t>I have never been… but I have…</a:t>
                      </a:r>
                    </a:p>
                  </a:txBody>
                  <a:tcPr>
                    <a:solidFill>
                      <a:srgbClr val="E3F3EE"/>
                    </a:solidFill>
                  </a:tcPr>
                </a:tc>
                <a:tc>
                  <a:txBody>
                    <a:bodyPr/>
                    <a:lstStyle/>
                    <a:p>
                      <a:r>
                        <a:rPr sz="1600" b="0">
                          <a:solidFill>
                            <a:srgbClr val="1B1B1B"/>
                          </a:solidFill>
                          <a:latin typeface="Calibri"/>
                        </a:rPr>
                        <a:t>I have never been there, but I have watched many videos.</a:t>
                      </a:r>
                    </a:p>
                  </a:txBody>
                  <a:tcPr>
                    <a:solidFill>
                      <a:srgbClr val="E3F3EE"/>
                    </a:solidFill>
                  </a:tcPr>
                </a:tc>
              </a:tr>
              <a:tr h="566928">
                <a:tc>
                  <a:txBody>
                    <a:bodyPr/>
                    <a:lstStyle/>
                    <a:p>
                      <a:r>
                        <a:rPr sz="1600" b="0">
                          <a:solidFill>
                            <a:srgbClr val="1B1B1B"/>
                          </a:solidFill>
                          <a:latin typeface="Calibri"/>
                        </a:rPr>
                        <a:t>opinion</a:t>
                      </a:r>
                    </a:p>
                  </a:txBody>
                  <a:tcPr>
                    <a:solidFill>
                      <a:srgbClr val="FFFFFF"/>
                    </a:solidFill>
                  </a:tcPr>
                </a:tc>
                <a:tc>
                  <a:txBody>
                    <a:bodyPr/>
                    <a:lstStyle/>
                    <a:p>
                      <a:r>
                        <a:rPr sz="1600" b="0">
                          <a:solidFill>
                            <a:srgbClr val="1B1B1B"/>
                          </a:solidFill>
                          <a:latin typeface="Calibri"/>
                        </a:rPr>
                        <a:t>What interests me most is…</a:t>
                      </a:r>
                    </a:p>
                  </a:txBody>
                  <a:tcPr>
                    <a:solidFill>
                      <a:srgbClr val="FFFFFF"/>
                    </a:solidFill>
                  </a:tcPr>
                </a:tc>
                <a:tc>
                  <a:txBody>
                    <a:bodyPr/>
                    <a:lstStyle/>
                    <a:p>
                      <a:r>
                        <a:rPr sz="1600" b="0">
                          <a:solidFill>
                            <a:srgbClr val="1B1B1B"/>
                          </a:solidFill>
                          <a:latin typeface="Calibri"/>
                        </a:rPr>
                        <a:t>What interests me most is that it has two official languages.</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New Zealand has about five million people — fewer than Hanoi.</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have never been abroad, but I have read that the south island is the most beautiful part.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A list of facts with no opinion is boring. Every presentation needs one sentence beginning 'What interests me most is…'.</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New Zealand has about five million people — fewer than Hanoi.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Confident presenting: volume, pace and clusters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Three rules for the end of the year: speak louder than feels natural, slower than feels natural, and finish every word. Watch the clusters: fir-st, mo-st, la-st, world.</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first, most, last, world</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'accent (Oo)</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co'mmunicate (oOoo)</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'confident (Ooo)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most important thing is to communicate, not to be perfect.</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First, the facts. Second, the reason. Last, my opinion.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Listening: What is your country's geography like?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the geography of one person's country. Single speaker — Elise / The Netherlands. It lasts 1:03.</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440680"/>
            <a:ext cx="10698480" cy="530352"/>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142C4F"/>
                </a:solidFill>
                <a:hlinkClick r:id="rId2"/>
              </a:rPr>
              <a:t>▶ Play audio</a:t>
            </a:r>
          </a:p>
        </p:txBody>
      </p:sp>
      <p:sp>
        <p:nvSpPr>
          <p:cNvPr id="12" name="TextBox 11"/>
          <p:cNvSpPr txBox="1"/>
          <p:nvPr/>
        </p:nvSpPr>
        <p:spPr>
          <a:xfrm>
            <a:off x="731520" y="6062472"/>
            <a:ext cx="10698480" cy="502920"/>
          </a:xfrm>
          <a:prstGeom prst="rect">
            <a:avLst/>
          </a:prstGeom>
          <a:noFill/>
        </p:spPr>
        <p:txBody>
          <a:bodyPr wrap="square" anchor="t">
            <a:spAutoFit/>
          </a:bodyPr>
          <a:lstStyle/>
          <a:p>
            <a:pPr algn="l">
              <a:lnSpc>
                <a:spcPct val="100000"/>
              </a:lnSpc>
              <a:spcAft>
                <a:spcPts val="600"/>
              </a:spcAft>
            </a:pPr>
            <a:r>
              <a:rPr sz="1100" b="0" i="0">
                <a:solidFill>
                  <a:srgbClr val="6B7280"/>
                </a:solidFill>
                <a:latin typeface="Calibri"/>
              </a:rPr>
              <a:t>ELLLO — One Minute English · 1:03 · Single speaker — Elise / The Netherlands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training for a marathon as a fitness goal B. the geography of one person's country C. what people do every day and at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In the Netherlands, there are no mountains, but there are _____ low hills in the south.</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There's a long coastline, and there are also _____ islands off the north coast and off the south coast in the west.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There are several forests and there are _____ some provinces with lakes.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There are no volcanoes and there aren't _____ rainforests, either.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Are there _____ distinct geographical features in your region?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Whose language is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About one and a half billion people speak English. Only about four hundred million of them learned it as their first language. In other words, for every native speaker there are roughly three people who learned English at school — like you. This changes something important. When a Vietnamese engineer talks to a Japanese engineer, or a Brazilian doctor talks to a German nurse, they use English — and there is no native speaker in the room at all. Their English does not have to sound British or American. It has to WORK. Researchers who study these conversations have found something surprising: conversations between two non-native speakers often break down LESS often than conversations that include a native speaker. Learners speak more slowly, repeat more, check more and use simpler words. Native speakers use idioms and jokes that nobody else understands. None of this means that accuracy do…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best title.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How to speak like a native speaker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English belongs to everybody who uses it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The history of the English language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many people speak English, and how many are native speakers?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Give two examples from the text of English being used with no native speaker present.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surprising thing have researchers found?</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Why do learner-to-learner conversations work well? (four reasons)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Does the writer say accuracy is unimportant? Explain.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U12.5-R3</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a word or phrase that means: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somebody who learned a language as a baby (paragraph 1)</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stops working / fails (paragraph 3)</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expressions whose meaning you cannot guess (paragraph 3)</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easy to understand (paragraph 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U12.5-R4</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with your own ideas.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Why does the writer mention 'I can' and 'I can't'?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Does this article make you feel more or less confident? Why?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Do you agree that English 'belongs to everybody who uses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the text again and write T or F.</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Most English speakers learned it as their first language.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Learner-to-learner conversations break down more often.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Native speakers sometimes use idioms nobody understands.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writer says grammar does not matter.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 clear final consonant can change the meaning.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______ of Canada is Ottawa.</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It is the second ______ country in the world.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have ______ been there, but I have watched a documentary.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______ me most is the two languages.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Thank you ______ listening.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Close the book. Tell your partner the main idea of the article in four sentences.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Close the book. Tell your partner the main idea of the article in four sentences.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U12.5-S2 in your group.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U12.5-S2 in your group.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Make notes for a 90-second presentation of an English-speaking country.</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Basic facts (capital, population, languages)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One famous place with a number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One food or custom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My own experience (present perfect)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interests me most and why ______</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Speak for 90 seconds in a group of four. Listeners ask two questions each.</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Useful language: 'The capital is…', 'It is the …-est in the world', 'I have never been there, but I have…', 'What interests me most is…'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Speaking with confidence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 me start with…</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most surprising thing is…</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As I said,…</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To finish,…</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Are there any questions?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After each presentation, two listeners ask a question; the presenter must answer without notes.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Turn your five notes into six sentences.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U12.5-W1</a:t>
            </a:r>
          </a:p>
        </p:txBody>
      </p:sp>
      <p:sp>
        <p:nvSpPr>
          <p:cNvPr id="8" name="Rounded Rectangle 7"/>
          <p:cNvSpPr/>
          <p:nvPr/>
        </p:nvSpPr>
        <p:spPr>
          <a:xfrm>
            <a:off x="731520" y="1828800"/>
            <a:ext cx="10698480" cy="219456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Turn your five notes into six sentences.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Reading: gist → detail → inference</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Country presentation in five parts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Present perfect for your own experience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U12L5</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U12.5-H1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Reading — Answer in full sentences.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U12.5-H2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native speaker, accent, communicate, global, confident.</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U12.5-H3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country presentation as a paragraph (110–120 words).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U12.5-H4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your 90-second presentation three times. Louder and slower than feels natural.</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U12L5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