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2L2_1_A1-18-Nationalities.mp3" TargetMode="External"/><Relationship Id="rId3" Type="http://schemas.openxmlformats.org/officeDocument/2006/relationships/hyperlink" Target="../../../audio/FU12L3_1_B1-07-1-Present-Perfect-Experience-Asia.mp3" TargetMode="External"/><Relationship Id="rId4" Type="http://schemas.openxmlformats.org/officeDocument/2006/relationships/hyperlink" Target="../../../audio/FU12L3_2_B1-07-2-Present-Perfect-Experience-Food.mp3" TargetMode="External"/><Relationship Id="rId5" Type="http://schemas.openxmlformats.org/officeDocument/2006/relationships/hyperlink" Target="../../../audio/FU12L3_3_B1-07-3-Present-Perfect-Experience-Movie.mp3" TargetMode="External"/><Relationship Id="rId6" Type="http://schemas.openxmlformats.org/officeDocument/2006/relationships/hyperlink" Target="../../../audio/FU12L3_4_B1-07-4-Present-Perfect-Experience-Cafe.mp3"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7  ·  PERIOD 92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LOOKING BACK &amp; PROJECT</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Unit 12 review and the Country Corner showcase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recall the vocabulary of Unit 12</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the present perfect and superlatives accurately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six typical mistakes of the unit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host a country corner and answer visitors'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The year in ten words  (6')</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Ask: 'Give me ten English words you did not know in September.' Write them on the board and leave them there.</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Recall words learned this 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showcase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/ˈʃəʊkeɪs/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buổi trưng bày</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end-of-year showcase is on Friday.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host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/həʊst/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làm chủ nhà, tiếp đón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Each group hosts a corner.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achievement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/əˈtʃiːvmənt/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thành tựu</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Look at what you have achieved this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corner.</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you ever…?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 to try our quiz?</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visiting.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Unit 12 grammar in one page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have/has + past participle for experiences (ever, never, been to)</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With a past time word → past simple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Superlatives: the -est / the most … IN the world</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one of the most … + plural noun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c>
                  <a:txBody>
                    <a:bodyPr/>
                    <a:lstStyle/>
                    <a:p>
                      <a:r>
                        <a:rPr sz="1600" b="1">
                          <a:solidFill>
                            <a:srgbClr val="FFFFFF"/>
                          </a:solidFill>
                          <a:latin typeface="Calibri"/>
                        </a:rPr>
                        <a:t>Common mistake</a:t>
                      </a:r>
                    </a:p>
                  </a:txBody>
                  <a:tcPr>
                    <a:solidFill>
                      <a:srgbClr val="0E7C66"/>
                    </a:solidFill>
                  </a:tcPr>
                </a:tc>
              </a:tr>
              <a:tr h="566928">
                <a:tc>
                  <a:txBody>
                    <a:bodyPr/>
                    <a:lstStyle/>
                    <a:p>
                      <a:r>
                        <a:rPr sz="1600" b="0">
                          <a:solidFill>
                            <a:srgbClr val="1B1B1B"/>
                          </a:solidFill>
                          <a:latin typeface="Calibri"/>
                        </a:rPr>
                        <a:t>present perfect</a:t>
                      </a:r>
                    </a:p>
                  </a:txBody>
                  <a:tcPr>
                    <a:solidFill>
                      <a:srgbClr val="E3F3EE"/>
                    </a:solidFill>
                  </a:tcPr>
                </a:tc>
                <a:tc>
                  <a:txBody>
                    <a:bodyPr/>
                    <a:lstStyle/>
                    <a:p>
                      <a:r>
                        <a:rPr sz="1600" b="0">
                          <a:solidFill>
                            <a:srgbClr val="1B1B1B"/>
                          </a:solidFill>
                          <a:latin typeface="Calibri"/>
                        </a:rPr>
                        <a:t>I have never been abroad.</a:t>
                      </a:r>
                    </a:p>
                  </a:txBody>
                  <a:tcPr>
                    <a:solidFill>
                      <a:srgbClr val="E3F3EE"/>
                    </a:solidFill>
                  </a:tcPr>
                </a:tc>
                <a:tc>
                  <a:txBody>
                    <a:bodyPr/>
                    <a:lstStyle/>
                    <a:p>
                      <a:r>
                        <a:rPr sz="1600" b="0">
                          <a:solidFill>
                            <a:srgbClr val="1B1B1B"/>
                          </a:solidFill>
                          <a:latin typeface="Calibri"/>
                        </a:rPr>
                        <a:t>*I have never not been.</a:t>
                      </a:r>
                    </a:p>
                  </a:txBody>
                  <a:tcPr>
                    <a:solidFill>
                      <a:srgbClr val="E3F3EE"/>
                    </a:solidFill>
                  </a:tcPr>
                </a:tc>
              </a:tr>
              <a:tr h="566928">
                <a:tc>
                  <a:txBody>
                    <a:bodyPr/>
                    <a:lstStyle/>
                    <a:p>
                      <a:r>
                        <a:rPr sz="1600" b="0">
                          <a:solidFill>
                            <a:srgbClr val="1B1B1B"/>
                          </a:solidFill>
                          <a:latin typeface="Calibri"/>
                        </a:rPr>
                        <a:t>with a time word</a:t>
                      </a:r>
                    </a:p>
                  </a:txBody>
                  <a:tcPr>
                    <a:solidFill>
                      <a:srgbClr val="FFFFFF"/>
                    </a:solidFill>
                  </a:tcPr>
                </a:tc>
                <a:tc>
                  <a:txBody>
                    <a:bodyPr/>
                    <a:lstStyle/>
                    <a:p>
                      <a:r>
                        <a:rPr sz="1600" b="0">
                          <a:solidFill>
                            <a:srgbClr val="1B1B1B"/>
                          </a:solidFill>
                          <a:latin typeface="Calibri"/>
                        </a:rPr>
                        <a:t>I went to Hue last year.</a:t>
                      </a:r>
                    </a:p>
                  </a:txBody>
                  <a:tcPr>
                    <a:solidFill>
                      <a:srgbClr val="FFFFFF"/>
                    </a:solidFill>
                  </a:tcPr>
                </a:tc>
                <a:tc>
                  <a:txBody>
                    <a:bodyPr/>
                    <a:lstStyle/>
                    <a:p>
                      <a:r>
                        <a:rPr sz="1600" b="0">
                          <a:solidFill>
                            <a:srgbClr val="1B1B1B"/>
                          </a:solidFill>
                          <a:latin typeface="Calibri"/>
                        </a:rPr>
                        <a:t>*I have been to Hue last year.</a:t>
                      </a:r>
                    </a:p>
                  </a:txBody>
                  <a:tcPr>
                    <a:solidFill>
                      <a:srgbClr val="FFFFFF"/>
                    </a:solidFill>
                  </a:tcPr>
                </a:tc>
              </a:tr>
              <a:tr h="566928">
                <a:tc>
                  <a:txBody>
                    <a:bodyPr/>
                    <a:lstStyle/>
                    <a:p>
                      <a:r>
                        <a:rPr sz="1600" b="0">
                          <a:solidFill>
                            <a:srgbClr val="1B1B1B"/>
                          </a:solidFill>
                          <a:latin typeface="Calibri"/>
                        </a:rPr>
                        <a:t>ever in questions</a:t>
                      </a:r>
                    </a:p>
                  </a:txBody>
                  <a:tcPr>
                    <a:solidFill>
                      <a:srgbClr val="E3F3EE"/>
                    </a:solidFill>
                  </a:tcPr>
                </a:tc>
                <a:tc>
                  <a:txBody>
                    <a:bodyPr/>
                    <a:lstStyle/>
                    <a:p>
                      <a:r>
                        <a:rPr sz="1600" b="0">
                          <a:solidFill>
                            <a:srgbClr val="1B1B1B"/>
                          </a:solidFill>
                          <a:latin typeface="Calibri"/>
                        </a:rPr>
                        <a:t>Have you ever eaten sushi?</a:t>
                      </a:r>
                    </a:p>
                  </a:txBody>
                  <a:tcPr>
                    <a:solidFill>
                      <a:srgbClr val="E3F3EE"/>
                    </a:solidFill>
                  </a:tcPr>
                </a:tc>
                <a:tc>
                  <a:txBody>
                    <a:bodyPr/>
                    <a:lstStyle/>
                    <a:p>
                      <a:r>
                        <a:rPr sz="1600" b="0">
                          <a:solidFill>
                            <a:srgbClr val="1B1B1B"/>
                          </a:solidFill>
                          <a:latin typeface="Calibri"/>
                        </a:rPr>
                        <a:t>*Did you ever eaten sushi?</a:t>
                      </a:r>
                    </a:p>
                  </a:txBody>
                  <a:tcPr>
                    <a:solidFill>
                      <a:srgbClr val="E3F3EE"/>
                    </a:solidFill>
                  </a:tcPr>
                </a:tc>
              </a:tr>
              <a:tr h="566928">
                <a:tc>
                  <a:txBody>
                    <a:bodyPr/>
                    <a:lstStyle/>
                    <a:p>
                      <a:r>
                        <a:rPr sz="1600" b="0">
                          <a:solidFill>
                            <a:srgbClr val="1B1B1B"/>
                          </a:solidFill>
                          <a:latin typeface="Calibri"/>
                        </a:rPr>
                        <a:t>superlative + in</a:t>
                      </a:r>
                    </a:p>
                  </a:txBody>
                  <a:tcPr>
                    <a:solidFill>
                      <a:srgbClr val="FFFFFF"/>
                    </a:solidFill>
                  </a:tcPr>
                </a:tc>
                <a:tc>
                  <a:txBody>
                    <a:bodyPr/>
                    <a:lstStyle/>
                    <a:p>
                      <a:r>
                        <a:rPr sz="1600" b="0">
                          <a:solidFill>
                            <a:srgbClr val="1B1B1B"/>
                          </a:solidFill>
                          <a:latin typeface="Calibri"/>
                        </a:rPr>
                        <a:t>the largest country in the world</a:t>
                      </a:r>
                    </a:p>
                  </a:txBody>
                  <a:tcPr>
                    <a:solidFill>
                      <a:srgbClr val="FFFFFF"/>
                    </a:solidFill>
                  </a:tcPr>
                </a:tc>
                <a:tc>
                  <a:txBody>
                    <a:bodyPr/>
                    <a:lstStyle/>
                    <a:p>
                      <a:r>
                        <a:rPr sz="1600" b="0">
                          <a:solidFill>
                            <a:srgbClr val="1B1B1B"/>
                          </a:solidFill>
                          <a:latin typeface="Calibri"/>
                        </a:rPr>
                        <a:t>*the largest of the world</a:t>
                      </a:r>
                    </a:p>
                  </a:txBody>
                  <a:tcPr>
                    <a:solidFill>
                      <a:srgbClr val="FFFFFF"/>
                    </a:solidFill>
                  </a:tcPr>
                </a:tc>
              </a:tr>
              <a:tr h="566928">
                <a:tc>
                  <a:txBody>
                    <a:bodyPr/>
                    <a:lstStyle/>
                    <a:p>
                      <a:r>
                        <a:rPr sz="1600" b="0">
                          <a:solidFill>
                            <a:srgbClr val="1B1B1B"/>
                          </a:solidFill>
                          <a:latin typeface="Calibri"/>
                        </a:rPr>
                        <a:t>one of the… + plural</a:t>
                      </a:r>
                    </a:p>
                  </a:txBody>
                  <a:tcPr>
                    <a:solidFill>
                      <a:srgbClr val="E3F3EE"/>
                    </a:solidFill>
                  </a:tcPr>
                </a:tc>
                <a:tc>
                  <a:txBody>
                    <a:bodyPr/>
                    <a:lstStyle/>
                    <a:p>
                      <a:r>
                        <a:rPr sz="1600" b="0">
                          <a:solidFill>
                            <a:srgbClr val="1B1B1B"/>
                          </a:solidFill>
                          <a:latin typeface="Calibri"/>
                        </a:rPr>
                        <a:t>one of the most famous places</a:t>
                      </a:r>
                    </a:p>
                  </a:txBody>
                  <a:tcPr>
                    <a:solidFill>
                      <a:srgbClr val="E3F3EE"/>
                    </a:solidFill>
                  </a:tcPr>
                </a:tc>
                <a:tc>
                  <a:txBody>
                    <a:bodyPr/>
                    <a:lstStyle/>
                    <a:p>
                      <a:r>
                        <a:rPr sz="1600" b="0">
                          <a:solidFill>
                            <a:srgbClr val="1B1B1B"/>
                          </a:solidFill>
                          <a:latin typeface="Calibri"/>
                        </a:rPr>
                        <a:t>*one of the most famous place</a:t>
                      </a:r>
                    </a:p>
                  </a:txBody>
                  <a:tcPr>
                    <a:solidFill>
                      <a:srgbClr val="E3F3EE"/>
                    </a:solidFill>
                  </a:tcPr>
                </a:tc>
              </a:tr>
              <a:tr h="566928">
                <a:tc>
                  <a:txBody>
                    <a:bodyPr/>
                    <a:lstStyle/>
                    <a:p>
                      <a:r>
                        <a:rPr sz="1600" b="0">
                          <a:solidFill>
                            <a:srgbClr val="1B1B1B"/>
                          </a:solidFill>
                          <a:latin typeface="Calibri"/>
                        </a:rPr>
                        <a:t>nationality capital</a:t>
                      </a:r>
                    </a:p>
                  </a:txBody>
                  <a:tcPr>
                    <a:solidFill>
                      <a:srgbClr val="FFFFFF"/>
                    </a:solidFill>
                  </a:tcPr>
                </a:tc>
                <a:tc>
                  <a:txBody>
                    <a:bodyPr/>
                    <a:lstStyle/>
                    <a:p>
                      <a:r>
                        <a:rPr sz="1600" b="0">
                          <a:solidFill>
                            <a:srgbClr val="1B1B1B"/>
                          </a:solidFill>
                          <a:latin typeface="Calibri"/>
                        </a:rPr>
                        <a:t>She is Vietnamese.</a:t>
                      </a:r>
                    </a:p>
                  </a:txBody>
                  <a:tcPr>
                    <a:solidFill>
                      <a:srgbClr val="FFFFFF"/>
                    </a:solidFill>
                  </a:tcPr>
                </a:tc>
                <a:tc>
                  <a:txBody>
                    <a:bodyPr/>
                    <a:lstStyle/>
                    <a:p>
                      <a:r>
                        <a:rPr sz="1600" b="0">
                          <a:solidFill>
                            <a:srgbClr val="1B1B1B"/>
                          </a:solidFill>
                          <a:latin typeface="Calibri"/>
                        </a:rPr>
                        <a:t>*She is vietnamese.</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have never been to Australia, but I went to Laos in 2023. Ha Long Bay is one of the most beautiful places in the worl…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Add these six to the classroom wall list — the last six of the year.</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 have never been to Australia, but I went to Laos in 2023. Ha Long Bay is one of the most beautiful places 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End-of-year pronunciation review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The five things we have worked on all year: final consonants, -s endings, -ed endings, word stress, sentence stress. Check all five in your presentation today.</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final: first, most, island, world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 likes, plays, watches</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-ed: helped, cleaned, visited</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stress: edu'CA-tion, 'COM-for-table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I've visited three provinces, watched hundreds of videos and helped two tourists, but I've never been abroad.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Looking Back — listen again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No new recording. You hear this unit’s own recordings again: Languages and nationalities · The present perfect: ever and never.</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029200"/>
            <a:ext cx="3493008" cy="502920"/>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42C4F"/>
                </a:solidFill>
                <a:hlinkClick r:id="rId2"/>
              </a:rPr>
              <a:t>▶ U12L2</a:t>
            </a:r>
          </a:p>
        </p:txBody>
      </p:sp>
      <p:sp>
        <p:nvSpPr>
          <p:cNvPr id="12" name="Rounded Rectangle 11"/>
          <p:cNvSpPr/>
          <p:nvPr/>
        </p:nvSpPr>
        <p:spPr>
          <a:xfrm>
            <a:off x="4334256" y="5029200"/>
            <a:ext cx="3493008" cy="502920"/>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42C4F"/>
                </a:solidFill>
                <a:hlinkClick r:id="rId3"/>
              </a:rPr>
              <a:t>▶ U12L3 part 1</a:t>
            </a:r>
          </a:p>
        </p:txBody>
      </p:sp>
      <p:sp>
        <p:nvSpPr>
          <p:cNvPr id="13" name="Rounded Rectangle 12"/>
          <p:cNvSpPr/>
          <p:nvPr/>
        </p:nvSpPr>
        <p:spPr>
          <a:xfrm>
            <a:off x="7936992" y="5029200"/>
            <a:ext cx="3493008" cy="502920"/>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42C4F"/>
                </a:solidFill>
                <a:hlinkClick r:id="rId4"/>
              </a:rPr>
              <a:t>▶ U12L3 part 2</a:t>
            </a:r>
          </a:p>
        </p:txBody>
      </p:sp>
      <p:sp>
        <p:nvSpPr>
          <p:cNvPr id="14" name="Rounded Rectangle 13"/>
          <p:cNvSpPr/>
          <p:nvPr/>
        </p:nvSpPr>
        <p:spPr>
          <a:xfrm>
            <a:off x="731520" y="5586984"/>
            <a:ext cx="3493008" cy="502920"/>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42C4F"/>
                </a:solidFill>
                <a:hlinkClick r:id="rId5"/>
              </a:rPr>
              <a:t>▶ U12L3 part 3</a:t>
            </a:r>
          </a:p>
        </p:txBody>
      </p:sp>
      <p:sp>
        <p:nvSpPr>
          <p:cNvPr id="15" name="Rounded Rectangle 14"/>
          <p:cNvSpPr/>
          <p:nvPr/>
        </p:nvSpPr>
        <p:spPr>
          <a:xfrm>
            <a:off x="4334256" y="5586984"/>
            <a:ext cx="3493008" cy="502920"/>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42C4F"/>
                </a:solidFill>
                <a:hlinkClick r:id="rId6"/>
              </a:rPr>
              <a:t>▶ U12L3 part 4</a:t>
            </a:r>
          </a:p>
        </p:txBody>
      </p:sp>
      <p:sp>
        <p:nvSpPr>
          <p:cNvPr id="16" name="TextBox 15"/>
          <p:cNvSpPr txBox="1"/>
          <p:nvPr/>
        </p:nvSpPr>
        <p:spPr>
          <a:xfrm>
            <a:off x="731520" y="6181344"/>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Recycled — this unit’s own verified recordings · replayed extracts · As in the original recordings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____________________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____________________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____________________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____________________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____________________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Your teacher plays six lines from this unit’s recordings. Write each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____________________</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What one year of English looks like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At the start of Grade 7, a teacher in Hai Duong asked her class to write for ten minutes about their summer. The average length was 41 words, and eleven students wrote nothing at all. In May, she gave exactly the same task. The average was 118 words. Nobody wrote nothing. She kept both pieces of paper for every student and gave them back on the last day, stapled together. 'Some of them didn't believe it was their own writing,' she said. 'One boy read his September paper and laughed. Then he read it again and went quiet.' The class had not become fluent. Many still made the same mistakes with -ed endings and articles. But the difference between 41 words and 118 words is not a small thing: it is the difference between a student who cannot start and a student who can. 'I tell them every year,' the teacher said. 'You will not remember the grammar tests. You will remember the first time some…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was the task, and what was the average in September?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was the average in May?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did the teacher do with the two pieces of paper?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Did the class become fluent? What does the writer say instead?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does the teacher say students will remember?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somebody who learned English as a baby: a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number of people in a country: the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famous place people recognise: a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family you stay with abroad: a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missing your home: 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sure of yourself: 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have never not been abroad.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have been to Hanoi last year.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Have you ever went to Hue?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is the largest country of the world.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is one of the most famous place in Asia.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She is vietnamese.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text.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Write the seven answers.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Finish your country corner and prepare to host.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Finish your country corner and prepare to host.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Host your corner for five minutes, then visit two others.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Frame: 'Welcome to our corner. This is… The capital is… It is the …-est… Have you ever…? Would you like to try our quiz? Thank you for visiting.'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Hosting and celebrating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Welcome to our corner!</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 to try our quiz?</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Well done — four out of five!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Thank you for visiting.</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a great summer!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Country Corner showcase: groups host and visit; visitors take the quizzes; the class votes for the best corner.</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U12.7-W1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your eight fact-file sentences and five quiz questions with answers.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Include two superlatives and one present perfect sentence.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Quiz questions must have clear, checkable answers.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Country and culture vocabulary (26 items)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perfect with ever/never/been to</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Past simple with a time word</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Superlatives and 'one of the most…'</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Conversation and email skills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U12L7</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U12.7-H1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10 words from Unit 12 with Vietnamese meanings.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U12.7-H2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Choose the correct answer.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U12.7-H3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(final task of the year) — Write a letter (130–150 words) to yourself at the beginning of Grade 8.</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U12.7-H4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Summer challenge — Over the summer, do THREE of these five things and write one line about each in your notebook.</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U12L7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