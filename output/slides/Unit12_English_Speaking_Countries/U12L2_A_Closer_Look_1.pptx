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../../../audio/FU12L2_1_A1-18-Nationalities.mp3" TargetMode="External"/><Relationship Id="rId3" Type="http://schemas.openxmlformats.org/officeDocument/2006/relationships/hyperlink" Target="https://elllo.org/book/A1/A1-18-Nationalities.html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097280" y="4389120"/>
            <a:ext cx="6858000" cy="4114800"/>
          </a:xfrm>
          <a:prstGeom prst="ellipse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778240" y="-1828800"/>
            <a:ext cx="5486400" cy="4572000"/>
          </a:xfrm>
          <a:prstGeom prst="ellipse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37160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UNIT 12  ·  LESSON 2  ·  PERIOD 87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011680"/>
            <a:ext cx="105156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7F1FA"/>
                </a:solidFill>
                <a:latin typeface="Calibri"/>
              </a:rPr>
              <a:t>A CLOSER LOOK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926080"/>
            <a:ext cx="105156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4400" b="1" i="0">
                <a:solidFill>
                  <a:srgbClr val="FFFFFF"/>
                </a:solidFill>
                <a:latin typeface="Calibri"/>
              </a:rPr>
              <a:t>Landmarks and cultural facts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30352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E7F1FA"/>
                </a:solidFill>
                <a:latin typeface="Calibri"/>
              </a:rPr>
              <a:t>English 7  ·  Let's start! 👋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Today we will learn to…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U12L2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63040"/>
            <a:ext cx="1088136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463040"/>
            <a:ext cx="128016" cy="86868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1508760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1E6FB8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37360" y="1508760"/>
            <a:ext cx="9509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name eight landmarks and say where they are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450592"/>
            <a:ext cx="1088136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2450592"/>
            <a:ext cx="128016" cy="86868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2496312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1E6FB8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37360" y="2496312"/>
            <a:ext cx="9509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use superlatives to compare countries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438144"/>
            <a:ext cx="1088136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3438144"/>
            <a:ext cx="128016" cy="86868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348386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1E6FB8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37360" y="3483864"/>
            <a:ext cx="9509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pronounce final consonant clusters correctly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4425696"/>
            <a:ext cx="1088136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40080" y="4425696"/>
            <a:ext cx="128016" cy="86868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" y="4471416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1E6FB8"/>
                </a:solidFill>
                <a:latin typeface="Calibr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737360" y="4471416"/>
            <a:ext cx="9509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give three facts about a country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Warm-up: Nationality quick-fire  (5')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U12L2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63040"/>
            <a:ext cx="10881360" cy="4206240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737360"/>
            <a:ext cx="101498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• Teacher says a country; students say the nationality. Recycles Lesson 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5852160"/>
            <a:ext cx="101498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0" i="1">
                <a:solidFill>
                  <a:srgbClr val="6B7280"/>
                </a:solidFill>
                <a:latin typeface="Calibri"/>
              </a:rPr>
              <a:t>👉 You: Give nationalities.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New words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U12L2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4173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5270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landmark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1671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/ˈlændmɑːk/   (n)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80" y="15270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địa danh nổi tiếng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80" y="21945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The Opera House is a famous landmark.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0175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1272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population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37673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/ˌpɒpjuˈleɪʃn/   (n)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0" y="31272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dân số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0" y="37947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The population is about 26 million.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177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7274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continent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53675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/ˈkɒntɪnənt/   (n)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80" y="47274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lục địa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53949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Australia is a country and a continent.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New words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U12L2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4173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5270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desert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1671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/ˈdezət/   (n)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80" y="15270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sa mạc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80" y="21945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Most of central Australia is desert.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0175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1272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island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37673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/ˈaɪlənd/   (n)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0" y="31272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hòn đảo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0" y="37947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New Zealand has two main islands.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177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7274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waterfall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53675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/ˈwɔːtəfɔːl/   (n)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80" y="47274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thác nước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53949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Niagara Falls is on the border.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New words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U12L2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4173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5270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bridge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1671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/brɪdʒ/   (n)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80" y="15270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cây cầu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80" y="21945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The Golden Gate Bridge is in San Francisco.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0175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1272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skyscraper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37673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/ˈskaɪskreɪpə/   (n)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0" y="31272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tòa nhà chọc trời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0" y="37947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New York is full of skyscrapers.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Useful phrases — learn them as one block!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U12L2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554480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609344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It is located in…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267712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2322576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It was built in…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2980944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3035808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It is the biggest … in the world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3694176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3749040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It attracts … visitors a year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300" b="1" i="0">
                <a:solidFill>
                  <a:srgbClr val="FFFFFF"/>
                </a:solidFill>
                <a:latin typeface="Calibri"/>
              </a:rPr>
              <a:t>Grammar: Superlatives for facts (recycled from Unit 4)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U12L2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63040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536192"/>
            <a:ext cx="10332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▸ the + -est / the most + adjective, for the number one in a group.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487168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560320"/>
            <a:ext cx="10332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▸ Add the group: the largest country IN THE WORLD, the tallest building IN AUSTRALIA.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511296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584448"/>
            <a:ext cx="10332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▸ Common irregulars: good → the best; bad → the worst; far → the furthest.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535424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608576"/>
            <a:ext cx="10332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▸ 'one of the + superlative + plural noun': one of the most visited places in the world.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The form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U12L2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463040"/>
          <a:ext cx="11064240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566928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Structure</a:t>
                      </a:r>
                    </a:p>
                  </a:txBody>
                  <a:tcPr>
                    <a:solidFill>
                      <a:srgbClr val="0E7C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Example</a:t>
                      </a:r>
                    </a:p>
                  </a:txBody>
                  <a:tcPr>
                    <a:solidFill>
                      <a:srgbClr val="0E7C66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the + -est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Russia is the largest country in the world.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the most + adj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It is the most visited landmark in Australia.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irregular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It is the best-known bridge in America.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one of the…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Niagara is one of the most famous waterfalls in the world.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Look at the examples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U12L2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554480"/>
            <a:ext cx="10698480" cy="777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E7C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627632"/>
            <a:ext cx="102412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✅ Sydney Opera House is one of the most photographed buildings in the world.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450592"/>
            <a:ext cx="10698480" cy="777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E7C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523744"/>
            <a:ext cx="102412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✅ Canada is the second largest country in the world.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Be careful! A very common mistake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U12L2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45920"/>
            <a:ext cx="10698480" cy="2377440"/>
          </a:xfrm>
          <a:prstGeom prst="roundRect">
            <a:avLst>
              <a:gd name="adj" fmla="val 6000"/>
            </a:avLst>
          </a:prstGeom>
          <a:solidFill>
            <a:srgbClr val="FC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828800"/>
            <a:ext cx="100584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*the most biggest* (never both), *the largest of the world* (→ IN the world), *one of the most famous waterfall* (→ waterfallS).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389120"/>
            <a:ext cx="10058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200" b="1" i="0">
                <a:solidFill>
                  <a:srgbClr val="2E7D32"/>
                </a:solidFill>
                <a:latin typeface="Calibri"/>
              </a:rPr>
              <a:t>👍 Say it like this:  Sydney Opera House is one of the most photographed buildings in the world.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6B3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300" b="1" i="0">
                <a:solidFill>
                  <a:srgbClr val="FFFFFF"/>
                </a:solidFill>
                <a:latin typeface="Calibri"/>
              </a:rPr>
              <a:t>Pronunciation: More final clusters: /sk/, /st/, /ks/, /dʒ/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U12L2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17320"/>
            <a:ext cx="10881360" cy="1234440"/>
          </a:xfrm>
          <a:prstGeom prst="roundRect">
            <a:avLst>
              <a:gd name="adj" fmla="val 6000"/>
            </a:avLst>
          </a:prstGeom>
          <a:solidFill>
            <a:srgbClr val="F1E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508760"/>
            <a:ext cx="1033272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0" i="0">
                <a:solidFill>
                  <a:srgbClr val="1B1B1B"/>
                </a:solidFill>
                <a:latin typeface="Calibri"/>
              </a:rPr>
              <a:t>skyscraper begins with /sk/ and 'ask', 'desk' end with it. 'Bridge' ends with /dʒ/. Watch 'landmark' (/nd/ + /m/) and 'island' (silent s!).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880360"/>
            <a:ext cx="106984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926080"/>
            <a:ext cx="102412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🔊 /sk/: skyscraper, ask, desk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593592"/>
            <a:ext cx="106984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3639312"/>
            <a:ext cx="102412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🔊 /st/: tourist, most, west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306824"/>
            <a:ext cx="106984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4352544"/>
            <a:ext cx="102412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🔊 /dʒ/: bridge, village, large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5020056"/>
            <a:ext cx="106984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5065776"/>
            <a:ext cx="102412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🔊 island /ˈaɪlənd/ — the S is SILENT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6B3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Repeat after me — three times each!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U12L2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737360"/>
            <a:ext cx="10698480" cy="914400"/>
          </a:xfrm>
          <a:prstGeom prst="roundRect">
            <a:avLst>
              <a:gd name="adj" fmla="val 6000"/>
            </a:avLst>
          </a:prstGeom>
          <a:solidFill>
            <a:srgbClr val="F1E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828800"/>
            <a:ext cx="10241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🗣 The tourist asked about the largest bridge.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788920"/>
            <a:ext cx="10698480" cy="914400"/>
          </a:xfrm>
          <a:prstGeom prst="roundRect">
            <a:avLst>
              <a:gd name="adj" fmla="val 6000"/>
            </a:avLst>
          </a:prstGeom>
          <a:solidFill>
            <a:srgbClr val="F1E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880360"/>
            <a:ext cx="10241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🗣 Most skyscrapers in the west are on the island.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Listening: Languages and nationalities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U12L2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737360"/>
            <a:ext cx="10698480" cy="182880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920240"/>
            <a:ext cx="10058400" cy="1554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You will hear a real recording: countries, nationalities and languages. Two speakers, scripted dialogue, native English. It lasts 1:36.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703320"/>
            <a:ext cx="10698480" cy="1435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42C4F"/>
                </a:solidFill>
                <a:latin typeface="Calibri"/>
              </a:rPr>
              <a:t>🎧  Listen 1: just listen — do not write.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42C4F"/>
                </a:solidFill>
                <a:latin typeface="Calibri"/>
              </a:rPr>
              <a:t>🎧  Listen 2: write your answers.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42C4F"/>
                </a:solidFill>
                <a:latin typeface="Calibri"/>
              </a:rPr>
              <a:t>🎧  Listen 3: check with your partner.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5248656"/>
            <a:ext cx="10698480" cy="512064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 w="19050">
            <a:solidFill>
              <a:srgbClr val="1E6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1500" b="1">
                <a:solidFill>
                  <a:srgbClr val="142C4F"/>
                </a:solidFill>
                <a:hlinkClick r:id="rId2"/>
              </a:rPr>
              <a:t>▶ Play audio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5824728"/>
            <a:ext cx="10698480" cy="512064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 w="19050">
            <a:solidFill>
              <a:srgbClr val="0E7C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1400" b="1">
                <a:solidFill>
                  <a:srgbClr val="0E7C66"/>
                </a:solidFill>
                <a:hlinkClick r:id="rId3"/>
              </a:rPr>
              <a:t>🌐 Listen online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6428232"/>
            <a:ext cx="106984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ELLLO — Sound Grammar · 1:36 · Two speakers, scripted dialogue, native English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Listening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U12.2-L1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Listen once. Choose the best answer.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What is the recording mainly about?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A. joining ideas with but, so and because B. countries, nationalities and languages C. ordering and choosing food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Listening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U12.2-L2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Listen again. Write the number of the conversation (1-4) you hear each line in.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Me too. I also love Chinese food.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Oh! My favorite team in AC Milan. They play in Italy.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That's cool. Do you have friends from Spain?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Some. I have Japanese friends. I practice with them.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Do you like Japanese food?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Listening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U12.2-L3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Listen once more and write the missing word.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Man: What languages do you _____?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Woman: I speak _____ and I study Spanish.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Man: I love movies in _____.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Man: Oh, do you _____ Japanese?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Woman: Yes, they speak _____ very well.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Reading: Australia in numbers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U12L2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4846320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554480"/>
            <a:ext cx="1033272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 i="0">
                <a:solidFill>
                  <a:srgbClr val="1B1B1B"/>
                </a:solidFill>
                <a:latin typeface="Calibri"/>
              </a:rPr>
              <a:t>AREA: 7.7 million square kilometres — about twenty-three times the size of Viet Nam, and the sixth largest country in the world. POPULATION: about 26 million — a quarter of Viet Nam's, in twenty-three times the space. Most Australians live within fifty kilometres of the coast, because the centre is desert. CAPITAL: Canberra. Sydney and Melbourne are both much bigger, and they argued about which should be the capital, so a new city was built between them in 1913. LANGUAGES: English, plus more than a hundred and fifty Aboriginal languages still spoken today, out of about 250 before 1788. ANIMALS: about 80% of Australia's animals are found nowhere else in the world. ONE SURPRISE: Australia is the driest inhabited continent on Earth, but it is also one of the world's largest food exporters.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Reading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U12.2-R1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Write the information.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Area: ______ km² (______ times Viet Nam)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Population: about ______ million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Capital: ______ ; why: ______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Languages: ______ plus ______ Aboriginal languages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Animals: ______ % found nowhere else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Reading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U12.2-R2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Write three superlative sentences from the text.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(size in the world) ______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(driest) ______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(food exporters) ______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Guided practice  (1/2)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U12.2-G1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Write the letter.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Sydney Opera House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Niagara Falls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Big Ben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Golden Gate Bridge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Milford Sound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Guided practice  (2/2)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U12.2-G1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Write the letter.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a. the UK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b. New Zealand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c. Australia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d. the USA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e. Canada / the USA border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Guided practice  (1/2)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U12.2-G2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Write the superlative.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large 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dry 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famous 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good 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big →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Guided practice  (2/2)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U12.2-G2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Write the superlative.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6. beautiful →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Your turn — independent practice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U12.2-I1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Correct one mistake in each sentence.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Russia is the most biggest country.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It is the largest country of the world.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It is one of the most famous waterfall in the world.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Australia is more bigger than Viet Nam.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It is the goodest place to visit.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Your turn — independent practice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U12.2-I2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Do the three-facts game (one false) with a partner.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Your turn — independent practice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U12.2-I2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828800"/>
            <a:ext cx="10698480" cy="219456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2011680"/>
            <a:ext cx="1005840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200" b="0" i="0">
                <a:solidFill>
                  <a:srgbClr val="1B1B1B"/>
                </a:solidFill>
                <a:latin typeface="Calibri"/>
              </a:rPr>
              <a:t>Do the three-facts game (one false) with a partner.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Speaking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U12.2-S1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FC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Describe a landmark without saying its name. Your partner guesses.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Say: which country, what kind of place, one number, why it is famous.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Speaking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U12.2-S2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FC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Compare Viet Nam with an English-speaking country using three superlatives or comparatives.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Ideas: size, population, weather, food, famous places.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Real-life English: Sharing surprising facts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U12L2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463040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508760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Did you know that…?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212848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2258568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I didn't know that!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2962656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3008376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Are you serious?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3712464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3758184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That can't be true!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462272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4507992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It is, actually.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Role play — in pairs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U12L2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737360"/>
            <a:ext cx="10698480" cy="2560320"/>
          </a:xfrm>
          <a:prstGeom prst="roundRect">
            <a:avLst>
              <a:gd name="adj" fmla="val 6000"/>
            </a:avLst>
          </a:prstGeom>
          <a:solidFill>
            <a:srgbClr val="FC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920240"/>
            <a:ext cx="1005840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Fact exchange: tell your partner three facts, one of which is false. Your partner must find the false one.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66344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⏱ 2 minutes to prepare  ·  2 minutes to perform  ·  then swap roles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Do not read! Look at your partner.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✍️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Writing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U12.2-W1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Write five superlative sentences.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(Russia / large country / world) ______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(Australia / dry inhabited continent) ______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(Canada / second large country) ______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(Ha Long Bay / famous place / Viet Nam) ______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(one of / photographed buildings / world / Sydney Opera House) ______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Let's remember today's English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U12L2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00200"/>
            <a:ext cx="10698480" cy="841248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673352"/>
            <a:ext cx="102412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✓ 8 landmark and geography words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560320"/>
            <a:ext cx="10698480" cy="841248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633472"/>
            <a:ext cx="102412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✓ Superlatives with 'in the world'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520440"/>
            <a:ext cx="10698480" cy="841248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593592"/>
            <a:ext cx="102412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✓ one of the most + plural noun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480560"/>
            <a:ext cx="10698480" cy="841248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4553712"/>
            <a:ext cx="102412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✓ final clusters and silent s in 'island'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Homework — write it in your notebook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U12L2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554480"/>
            <a:ext cx="1069848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609344"/>
            <a:ext cx="1828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U12.2-H1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0" y="1609344"/>
            <a:ext cx="85039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1B1B1B"/>
                </a:solidFill>
                <a:latin typeface="Calibri"/>
              </a:rPr>
              <a:t>Vocabulary — Complete with landmark, population, continent, desert, island, waterfall.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523744"/>
            <a:ext cx="1069848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2578608"/>
            <a:ext cx="1828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U12.2-H2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578608"/>
            <a:ext cx="85039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1B1B1B"/>
                </a:solidFill>
                <a:latin typeface="Calibri"/>
              </a:rPr>
              <a:t>Grammar — Complete with the superlative.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493008"/>
            <a:ext cx="1069848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3547872"/>
            <a:ext cx="1828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U12.2-H3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0" y="3547872"/>
            <a:ext cx="85039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1B1B1B"/>
                </a:solidFill>
                <a:latin typeface="Calibri"/>
              </a:rPr>
              <a:t>Writing — Write 5 facts about an English-speaking country, including two superlatives.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462272"/>
            <a:ext cx="1069848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4517136"/>
            <a:ext cx="1828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U12.2-H4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0" y="4517136"/>
            <a:ext cx="85039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1B1B1B"/>
                </a:solidFill>
                <a:latin typeface="Calibri"/>
              </a:rPr>
              <a:t>Pronunciation — Say these words five times: island (silent s!), skyscraper, tourist, bridge, asked, landmark.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989320"/>
            <a:ext cx="10698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800" b="0" i="0">
                <a:solidFill>
                  <a:srgbClr val="6B7280"/>
                </a:solidFill>
                <a:latin typeface="Calibri"/>
              </a:rPr>
              <a:t>Homework Book, section U12L2   ·   See you next lesson! 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