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udio/FU12L4_1_869a701e-1242-4c34-a679-7a9454a770f1_hq.mp3" TargetMode="External"/><Relationship Id="rId3" Type="http://schemas.openxmlformats.org/officeDocument/2006/relationships/hyperlink" Target="https://learningenglish.voanews.com/a/lets-learn-english-lesson-16-where-are-you-from/3355849.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12  ·  LESSON 4  ·  PERIOD 89</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COMMUNICATION</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Everyday English: meeting people from other countries</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U12L4</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start and keep a conversation with somebody from another country</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ask and answer 'getting to know you' questions</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take part in a 10-turn conversation</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write a short introduction message about themselves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Have you ever… chain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U12L4</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Each student asks the next one a 'Have you ever…?' question. Recycles Lesson 3.</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Ask and answer.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U12L4</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introduce</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/ˌɪntrəˈdjuːs/   (v)</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giới thiệu</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Let me introduce myself.</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pen friend</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/ˈpen frend/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bạn qua thư</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I have a pen friend in Ireland.</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in common</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/ɪn ˈkɒmən/   (phr)</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điểm chung</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We have a lot in common.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U12L4</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keep in touch</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/kiːp ɪn tʌtʃ/   (v phr)</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giữ liên lạc</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Let's keep in touch!</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time zone</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/ˈtaɪm zəʊn/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múi giờ</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There is a five-hour time zone difference.</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misunderstand</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/ˌmɪsʌndəˈstænd/   (v)</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hiểu lầm</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Don't worry if you misunderstand.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U12L4</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Let me introduce myself.</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Where are you from?</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How long have you been here?</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We have a lot in common.</a:t>
            </a:r>
          </a:p>
        </p:txBody>
      </p:sp>
      <p:sp>
        <p:nvSpPr>
          <p:cNvPr id="16" name="Rounded Rectangle 15"/>
          <p:cNvSpPr/>
          <p:nvPr/>
        </p:nvSpPr>
        <p:spPr>
          <a:xfrm>
            <a:off x="822960" y="4407408"/>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462272"/>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Could you say that again, please?</a:t>
            </a:r>
          </a:p>
        </p:txBody>
      </p:sp>
      <p:sp>
        <p:nvSpPr>
          <p:cNvPr id="18" name="Rounded Rectangle 17"/>
          <p:cNvSpPr/>
          <p:nvPr/>
        </p:nvSpPr>
        <p:spPr>
          <a:xfrm>
            <a:off x="822960" y="512064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97280" y="517550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Let's keep in touch!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Grammar: Conversation skills: opening, developing and closing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U12L4</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OPEN: Hello. Let me introduce myself. I'm… / Nice to meet you.</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DEVELOP: ask a question, listen, react, ask a follow-up. Never answer with one word.</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REPAIR: Sorry, could you say that again, please? / What does … mean? / How do you spell that?</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CLOSE: It was nice talking to you. Let's keep in touch.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U12L4</a:t>
            </a:r>
          </a:p>
        </p:txBody>
      </p:sp>
      <p:graphicFrame>
        <p:nvGraphicFramePr>
          <p:cNvPr id="8" name="Table 7"/>
          <p:cNvGraphicFramePr>
            <a:graphicFrameLocks noGrp="1"/>
          </p:cNvGraphicFramePr>
          <p:nvPr/>
        </p:nvGraphicFramePr>
        <p:xfrm>
          <a:off x="548640" y="1463040"/>
          <a:ext cx="11064240" cy="3968496"/>
        </p:xfrm>
        <a:graphic>
          <a:graphicData uri="http://schemas.openxmlformats.org/drawingml/2006/table">
            <a:tbl>
              <a:tblPr firstRow="1" bandRow="1">
                <a:tableStyleId>{5C22544A-7EE6-4342-B048-85BDC9FD1C3A}</a:tableStyleId>
              </a:tblPr>
              <a:tblGrid>
                <a:gridCol w="5532120"/>
                <a:gridCol w="5532120"/>
              </a:tblGrid>
              <a:tr h="566928">
                <a:tc>
                  <a:txBody>
                    <a:bodyPr/>
                    <a:lstStyle/>
                    <a:p>
                      <a:r>
                        <a:rPr sz="1600" b="1">
                          <a:solidFill>
                            <a:srgbClr val="FFFFFF"/>
                          </a:solidFill>
                          <a:latin typeface="Calibri"/>
                        </a:rPr>
                        <a:t>Stage</a:t>
                      </a:r>
                    </a:p>
                  </a:txBody>
                  <a:tcPr>
                    <a:solidFill>
                      <a:srgbClr val="0E7C66"/>
                    </a:solidFill>
                  </a:tcPr>
                </a:tc>
                <a:tc>
                  <a:txBody>
                    <a:bodyPr/>
                    <a:lstStyle/>
                    <a:p>
                      <a:r>
                        <a:rPr sz="1600" b="1">
                          <a:solidFill>
                            <a:srgbClr val="FFFFFF"/>
                          </a:solidFill>
                          <a:latin typeface="Calibri"/>
                        </a:rPr>
                        <a:t>Language</a:t>
                      </a:r>
                    </a:p>
                  </a:txBody>
                  <a:tcPr>
                    <a:solidFill>
                      <a:srgbClr val="0E7C66"/>
                    </a:solidFill>
                  </a:tcPr>
                </a:tc>
              </a:tr>
              <a:tr h="566928">
                <a:tc>
                  <a:txBody>
                    <a:bodyPr/>
                    <a:lstStyle/>
                    <a:p>
                      <a:r>
                        <a:rPr sz="1600" b="0">
                          <a:solidFill>
                            <a:srgbClr val="1B1B1B"/>
                          </a:solidFill>
                          <a:latin typeface="Calibri"/>
                        </a:rPr>
                        <a:t>open</a:t>
                      </a:r>
                    </a:p>
                  </a:txBody>
                  <a:tcPr>
                    <a:solidFill>
                      <a:srgbClr val="E3F3EE"/>
                    </a:solidFill>
                  </a:tcPr>
                </a:tc>
                <a:tc>
                  <a:txBody>
                    <a:bodyPr/>
                    <a:lstStyle/>
                    <a:p>
                      <a:r>
                        <a:rPr sz="1600" b="0">
                          <a:solidFill>
                            <a:srgbClr val="1B1B1B"/>
                          </a:solidFill>
                          <a:latin typeface="Calibri"/>
                        </a:rPr>
                        <a:t>Hi, I'm Mai. Nice to meet you.</a:t>
                      </a:r>
                    </a:p>
                  </a:txBody>
                  <a:tcPr>
                    <a:solidFill>
                      <a:srgbClr val="E3F3EE"/>
                    </a:solidFill>
                  </a:tcPr>
                </a:tc>
              </a:tr>
              <a:tr h="566928">
                <a:tc>
                  <a:txBody>
                    <a:bodyPr/>
                    <a:lstStyle/>
                    <a:p>
                      <a:r>
                        <a:rPr sz="1600" b="0">
                          <a:solidFill>
                            <a:srgbClr val="1B1B1B"/>
                          </a:solidFill>
                          <a:latin typeface="Calibri"/>
                        </a:rPr>
                        <a:t>ask</a:t>
                      </a:r>
                    </a:p>
                  </a:txBody>
                  <a:tcPr>
                    <a:solidFill>
                      <a:srgbClr val="FFFFFF"/>
                    </a:solidFill>
                  </a:tcPr>
                </a:tc>
                <a:tc>
                  <a:txBody>
                    <a:bodyPr/>
                    <a:lstStyle/>
                    <a:p>
                      <a:r>
                        <a:rPr sz="1600" b="0">
                          <a:solidFill>
                            <a:srgbClr val="1B1B1B"/>
                          </a:solidFill>
                          <a:latin typeface="Calibri"/>
                        </a:rPr>
                        <a:t>Where are you from? / How long have you been in Viet Nam?</a:t>
                      </a:r>
                    </a:p>
                  </a:txBody>
                  <a:tcPr>
                    <a:solidFill>
                      <a:srgbClr val="FFFFFF"/>
                    </a:solidFill>
                  </a:tcPr>
                </a:tc>
              </a:tr>
              <a:tr h="566928">
                <a:tc>
                  <a:txBody>
                    <a:bodyPr/>
                    <a:lstStyle/>
                    <a:p>
                      <a:r>
                        <a:rPr sz="1600" b="0">
                          <a:solidFill>
                            <a:srgbClr val="1B1B1B"/>
                          </a:solidFill>
                          <a:latin typeface="Calibri"/>
                        </a:rPr>
                        <a:t>react</a:t>
                      </a:r>
                    </a:p>
                  </a:txBody>
                  <a:tcPr>
                    <a:solidFill>
                      <a:srgbClr val="E3F3EE"/>
                    </a:solidFill>
                  </a:tcPr>
                </a:tc>
                <a:tc>
                  <a:txBody>
                    <a:bodyPr/>
                    <a:lstStyle/>
                    <a:p>
                      <a:r>
                        <a:rPr sz="1600" b="0">
                          <a:solidFill>
                            <a:srgbClr val="1B1B1B"/>
                          </a:solidFill>
                          <a:latin typeface="Calibri"/>
                        </a:rPr>
                        <a:t>Really? That's interesting!</a:t>
                      </a:r>
                    </a:p>
                  </a:txBody>
                  <a:tcPr>
                    <a:solidFill>
                      <a:srgbClr val="E3F3EE"/>
                    </a:solidFill>
                  </a:tcPr>
                </a:tc>
              </a:tr>
              <a:tr h="566928">
                <a:tc>
                  <a:txBody>
                    <a:bodyPr/>
                    <a:lstStyle/>
                    <a:p>
                      <a:r>
                        <a:rPr sz="1600" b="0">
                          <a:solidFill>
                            <a:srgbClr val="1B1B1B"/>
                          </a:solidFill>
                          <a:latin typeface="Calibri"/>
                        </a:rPr>
                        <a:t>follow up</a:t>
                      </a:r>
                    </a:p>
                  </a:txBody>
                  <a:tcPr>
                    <a:solidFill>
                      <a:srgbClr val="FFFFFF"/>
                    </a:solidFill>
                  </a:tcPr>
                </a:tc>
                <a:tc>
                  <a:txBody>
                    <a:bodyPr/>
                    <a:lstStyle/>
                    <a:p>
                      <a:r>
                        <a:rPr sz="1600" b="0">
                          <a:solidFill>
                            <a:srgbClr val="1B1B1B"/>
                          </a:solidFill>
                          <a:latin typeface="Calibri"/>
                        </a:rPr>
                        <a:t>And what do you think of the food?</a:t>
                      </a:r>
                    </a:p>
                  </a:txBody>
                  <a:tcPr>
                    <a:solidFill>
                      <a:srgbClr val="FFFFFF"/>
                    </a:solidFill>
                  </a:tcPr>
                </a:tc>
              </a:tr>
              <a:tr h="566928">
                <a:tc>
                  <a:txBody>
                    <a:bodyPr/>
                    <a:lstStyle/>
                    <a:p>
                      <a:r>
                        <a:rPr sz="1600" b="0">
                          <a:solidFill>
                            <a:srgbClr val="1B1B1B"/>
                          </a:solidFill>
                          <a:latin typeface="Calibri"/>
                        </a:rPr>
                        <a:t>repair</a:t>
                      </a:r>
                    </a:p>
                  </a:txBody>
                  <a:tcPr>
                    <a:solidFill>
                      <a:srgbClr val="E3F3EE"/>
                    </a:solidFill>
                  </a:tcPr>
                </a:tc>
                <a:tc>
                  <a:txBody>
                    <a:bodyPr/>
                    <a:lstStyle/>
                    <a:p>
                      <a:r>
                        <a:rPr sz="1600" b="0">
                          <a:solidFill>
                            <a:srgbClr val="1B1B1B"/>
                          </a:solidFill>
                          <a:latin typeface="Calibri"/>
                        </a:rPr>
                        <a:t>Sorry, could you say that again, please?</a:t>
                      </a:r>
                    </a:p>
                  </a:txBody>
                  <a:tcPr>
                    <a:solidFill>
                      <a:srgbClr val="E3F3EE"/>
                    </a:solidFill>
                  </a:tcPr>
                </a:tc>
              </a:tr>
              <a:tr h="566928">
                <a:tc>
                  <a:txBody>
                    <a:bodyPr/>
                    <a:lstStyle/>
                    <a:p>
                      <a:r>
                        <a:rPr sz="1600" b="0">
                          <a:solidFill>
                            <a:srgbClr val="1B1B1B"/>
                          </a:solidFill>
                          <a:latin typeface="Calibri"/>
                        </a:rPr>
                        <a:t>close</a:t>
                      </a:r>
                    </a:p>
                  </a:txBody>
                  <a:tcPr>
                    <a:solidFill>
                      <a:srgbClr val="FFFFFF"/>
                    </a:solidFill>
                  </a:tcPr>
                </a:tc>
                <a:tc>
                  <a:txBody>
                    <a:bodyPr/>
                    <a:lstStyle/>
                    <a:p>
                      <a:r>
                        <a:rPr sz="1600" b="0">
                          <a:solidFill>
                            <a:srgbClr val="1B1B1B"/>
                          </a:solidFill>
                          <a:latin typeface="Calibri"/>
                        </a:rPr>
                        <a:t>It was nice talking to you. Let's keep in touch!</a:t>
                      </a:r>
                    </a:p>
                  </a:txBody>
                  <a:tcP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U12L4</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 How long have you been in Viet Nam? B: Three weeks. A: Really? Where have you been so far?</a:t>
            </a:r>
          </a:p>
        </p:txBody>
      </p:sp>
      <p:sp>
        <p:nvSpPr>
          <p:cNvPr id="10" name="Rounded Rectangle 9"/>
          <p:cNvSpPr/>
          <p:nvPr/>
        </p:nvSpPr>
        <p:spPr>
          <a:xfrm>
            <a:off x="731520" y="2450592"/>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523744"/>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Sorry, I didn't catch that. Could you repeat it more slowly, please?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U12L4</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One-word answers kill a conversation. Teach the rule: ANSWER + ADD. 'Yes, I have. I went last summer with my family.'</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A: How long have you been in Viet Nam? B: Three weeks. A: Really? Where have you been so far?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Pronunciation: Friendly intonation and clear repair phrases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U12L4</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Openings rise and sound warm. Repair phrases must be clear and slow — that is the whole point of them.</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Nice to meet you. ↘ (warm)</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Where are you from? ↘</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Sorry, could you say that again, please? ↗</a:t>
            </a:r>
          </a:p>
        </p:txBody>
      </p:sp>
      <p:sp>
        <p:nvSpPr>
          <p:cNvPr id="16" name="Rounded Rectangle 15"/>
          <p:cNvSpPr/>
          <p:nvPr/>
        </p:nvSpPr>
        <p:spPr>
          <a:xfrm>
            <a:off x="731520" y="5020056"/>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05840" y="5065776"/>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Let's keep in touch!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U12L4</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Hi, I'm Mai. Nice to meet you.</a:t>
            </a:r>
          </a:p>
        </p:txBody>
      </p:sp>
      <p:sp>
        <p:nvSpPr>
          <p:cNvPr id="10" name="Rounded Rectangle 9"/>
          <p:cNvSpPr/>
          <p:nvPr/>
        </p:nvSpPr>
        <p:spPr>
          <a:xfrm>
            <a:off x="731520" y="278892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88036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Sorry, could you say that again, please?</a:t>
            </a:r>
          </a:p>
        </p:txBody>
      </p:sp>
      <p:sp>
        <p:nvSpPr>
          <p:cNvPr id="12" name="Rounded Rectangle 11"/>
          <p:cNvSpPr/>
          <p:nvPr/>
        </p:nvSpPr>
        <p:spPr>
          <a:xfrm>
            <a:off x="731520" y="384048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93192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It was nice talking to you. Let's keep in touch!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Lesson 16: Where Are You From?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U12L4</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where different people come from. American English — VOA’s professional actors (Anna, Pete, Marsha, Ms. Weaver…), slowed learner delivery. It lasts 3:26.</a:t>
            </a:r>
          </a:p>
        </p:txBody>
      </p:sp>
      <p:sp>
        <p:nvSpPr>
          <p:cNvPr id="10" name="TextBox 9"/>
          <p:cNvSpPr txBox="1"/>
          <p:nvPr/>
        </p:nvSpPr>
        <p:spPr>
          <a:xfrm>
            <a:off x="731520" y="3703320"/>
            <a:ext cx="10698480" cy="1435608"/>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Rounded Rectangle 10"/>
          <p:cNvSpPr/>
          <p:nvPr/>
        </p:nvSpPr>
        <p:spPr>
          <a:xfrm>
            <a:off x="731520" y="5248656"/>
            <a:ext cx="10698480" cy="512064"/>
          </a:xfrm>
          <a:prstGeom prst="roundRect">
            <a:avLst>
              <a:gd name="adj" fmla="val 6000"/>
            </a:avLst>
          </a:prstGeom>
          <a:solidFill>
            <a:srgbClr val="E7F1FA"/>
          </a:solidFill>
          <a:ln w="19050">
            <a:solidFill>
              <a:srgbClr val="1E6FB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500" b="1">
                <a:solidFill>
                  <a:srgbClr val="142C4F"/>
                </a:solidFill>
                <a:hlinkClick r:id="rId2"/>
              </a:rPr>
              <a:t>▶ Play audio</a:t>
            </a:r>
          </a:p>
        </p:txBody>
      </p:sp>
      <p:sp>
        <p:nvSpPr>
          <p:cNvPr id="12" name="Rounded Rectangle 11"/>
          <p:cNvSpPr/>
          <p:nvPr/>
        </p:nvSpPr>
        <p:spPr>
          <a:xfrm>
            <a:off x="731520" y="5824728"/>
            <a:ext cx="10698480" cy="512064"/>
          </a:xfrm>
          <a:prstGeom prst="roundRect">
            <a:avLst>
              <a:gd name="adj" fmla="val 6000"/>
            </a:avLst>
          </a:prstGeom>
          <a:solidFill>
            <a:srgbClr val="E3F3EE"/>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400" b="1">
                <a:solidFill>
                  <a:srgbClr val="0E7C66"/>
                </a:solidFill>
                <a:hlinkClick r:id="rId3"/>
              </a:rPr>
              <a:t>🌐 Listen online</a:t>
            </a:r>
          </a:p>
        </p:txBody>
      </p:sp>
      <p:sp>
        <p:nvSpPr>
          <p:cNvPr id="13" name="TextBox 12"/>
          <p:cNvSpPr txBox="1"/>
          <p:nvPr/>
        </p:nvSpPr>
        <p:spPr>
          <a:xfrm>
            <a:off x="731520" y="6428232"/>
            <a:ext cx="10698480" cy="384048"/>
          </a:xfrm>
          <a:prstGeom prst="rect">
            <a:avLst/>
          </a:prstGeom>
          <a:noFill/>
        </p:spPr>
        <p:txBody>
          <a:bodyPr wrap="square" anchor="t">
            <a:spAutoFit/>
          </a:bodyPr>
          <a:lstStyle/>
          <a:p>
            <a:pPr algn="l">
              <a:lnSpc>
                <a:spcPct val="100000"/>
              </a:lnSpc>
              <a:spcAft>
                <a:spcPts val="600"/>
              </a:spcAft>
            </a:pPr>
            <a:r>
              <a:rPr sz="1000" b="0" i="0">
                <a:solidFill>
                  <a:srgbClr val="6B7280"/>
                </a:solidFill>
                <a:latin typeface="Calibri"/>
              </a:rPr>
              <a:t>VOA Learning English — Let’s Learn English, Level 1 · 3:26 · American English — VOA’s professional actors (Anna, Pete, Marsha, Ms. Weaver…), slowed learner delivery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U12.4-L1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where different people come from B. describing things with adjectives C. asking for and offering things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U12.4-L2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Write T (true) or F (false).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Let’s Learn English - Level 4 - Lesson 16: Where Are You From?</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Well, I like learning about government and politics.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The Washington Monument is behind us!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This is Anna Matteo reporting for The News.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Lesson 17: Are You Free on Tuesday?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U12.4-L3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Anna: People _____ different countries come here.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Anna: I’m Anna Matteo _____ The News.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Anna: What _____ are you from?</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Sabrina: The _____ is very beautiful!</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Anna: They all like doing and seeing different things in the _____.</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An email to a new pen friend</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U12L4</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Hi Emma, My teacher gave me your address — I'm your new pen friend! Let me introduce myself. My name is Tran Thi Mai and I'm thirteen. I live in Nam Dinh, a small city about ninety kilometres south of Hanoi. There are four people in my family: my parents, my little brother and me. My father is a mechanic and my mother works in a school canteen. I've been learning English for four years, but I have never spoken to somebody from another country before you. I'm a bit nervous about my grammar, so please tell me if I write something strange. In my free time I play badminton and I make paper flowers. I have never been abroad, but I've been to Ha Long Bay twice and it is the most beautiful place I have seen. Now some questions for you. What is your school like? Have you ever tried Vietnamese food? And what is the weather like in October where you live? Here it is still twenty-eight degrees! Wr…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U12.4-R1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Where does Mai live, and how far is it from Hanoi?</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Who is in her family, and what do her parents do?</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How long has she been learning English?</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What is she nervous about?</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Write the three questions she asks.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U12.4-G1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Improve these one-word answers.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'Have you ever been to Hanoi?' – 'Yes.' →</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'Do you like English?' – 'Yes.' →</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'Where are you from?' – 'Nam Dinh.' →</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'Have you ever tried foreign food?' – 'No.'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U12.4-G2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Match the problem with the phrase.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You didn't hear.</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You don't know a word.</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They spoke too fast.</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You want the spelling.</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Could you speak more slowly, please?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U12.4-G2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Match the problem with the phrase.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How do you spell that?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 Sorry, could you say that again, please?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d. What does … mean?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U12.4-I1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missing lines.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Hi, I'm Nam. ______ (greeting)</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Nice to meet you too. Where ______ ?</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I'm from Nam Dinh. How long ______ in Viet Nam?</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Three weeks.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______ ever been to Asia before?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U12.4-I1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missing lines.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No, never.</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Sorry, ______ that again, please?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I said no, never. This is my first time.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I see! Well, it ______ talking to you. Let's ______ .</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U12.4-I2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U12.4-S2 with three different partners.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U12.4-I2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Do U12.4-S2 with three different partners.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U12.4-S1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Introduce yourself to three classmates as if you had never met. Use the opening and closing phrases.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Hi, I'm… Nice to meet you. Where are you from? … It was nice talking to you.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U12.4-S2</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 is a visitor from an English-speaking country, B is a Vietnamese student. Ten turns.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Checklist: □ introduction □ 3 questions each □ one follow-up question □ one repair phrase □ one 'Have you ever…?' □ a polite ending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000" b="1" i="0">
                <a:solidFill>
                  <a:srgbClr val="FFFFFF"/>
                </a:solidFill>
                <a:latin typeface="Calibri"/>
              </a:rPr>
              <a:t>Real-life English: Meeting somebody new and keeping the conversation going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U12L4</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Let me introduce myself.</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Nice to meet you.</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Where are you from?</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How long have you been…?</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Have you ever…?</a:t>
            </a:r>
          </a:p>
        </p:txBody>
      </p:sp>
      <p:sp>
        <p:nvSpPr>
          <p:cNvPr id="18" name="Rounded Rectangle 17"/>
          <p:cNvSpPr/>
          <p:nvPr/>
        </p:nvSpPr>
        <p:spPr>
          <a:xfrm>
            <a:off x="822960" y="521208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97280" y="525780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Sorry, could you say that again, please?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U12L4</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Speed-meeting: three-minute conversations with three different 'visitors'.</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U12.4-W1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an introduction message (80–100 words) to a new pen friend.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Name, age, where you live, family, how long you have learned English, free time, one experience with 'I have never / I've been to', and two questions.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U12L4</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Opening, developing, repairing and closing a conversation</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ANSWER + ADD instead of one-word answers</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Repair phrases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U12L4</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U12.4-H1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Everyday English — Write what you say.</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U12.4-H2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Complete with introduce, pen friend, in common, keep in touch, time zone, misunderstand.</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U12.4-H3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your introduction message (80–100 words) neatly.</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U12.4-H4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Speaking — Practise the four repair phrases five times each, SLOWLY and CLEARLY.</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U12L4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