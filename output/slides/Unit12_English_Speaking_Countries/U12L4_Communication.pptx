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2L4_1_869a701e-1242-4c34-a679-7a9454a770f1_hq.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4  ·  PERIOD 89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meeting people from other countries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start and keep a conversation with somebody from another country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'getting to know you' questions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10-turn conversation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short introduction message about themselves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Have you ever…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student asks the next one a 'Have you ever…?' question.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introduce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/ˌɪntrəˈdjuːs/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giới thiệu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Let me introduce myself.</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pen friend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/ˈpen frend/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bạn qua thư</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have a pen friend in Ireland.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 common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 ˈkɒmən/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điểm chung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have a lot in common.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keep in touch</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/kiːp ɪn tʌtʃ/   (v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giữ liên lạc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Let's keep in touch!</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time zone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/ˈtaɪm zəʊn/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múi giờ</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five-hour time zone difference.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misunderstand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/ˌmɪsʌndəˈstænd/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hiểu lầm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worry if you misunderstand.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introduce myself.</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are you from?</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have you been here?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have a lot in common.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say that again, please?</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keep in touch!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Conversation skills: opening, developing and closing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OPEN: Hello. Let me introduce myself. I'm… / Nice to meet you.</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DEVELOP: ask a question, listen, react, ask a follow-up. Never answer with one word.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REPAIR: Sorry, could you say that again, please? / What does … mean? / How do you spell that?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CLOSE: It was nice talking to you. Let's keep in touch.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Stage</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open</a:t>
                      </a:r>
                    </a:p>
                  </a:txBody>
                  <a:tcPr>
                    <a:solidFill>
                      <a:srgbClr val="E3F3EE"/>
                    </a:solidFill>
                  </a:tcPr>
                </a:tc>
                <a:tc>
                  <a:txBody>
                    <a:bodyPr/>
                    <a:lstStyle/>
                    <a:p>
                      <a:r>
                        <a:rPr sz="1600" b="0">
                          <a:solidFill>
                            <a:srgbClr val="1B1B1B"/>
                          </a:solidFill>
                          <a:latin typeface="Calibri"/>
                        </a:rPr>
                        <a:t>Hi, I'm Mai. Nice to meet you.</a:t>
                      </a:r>
                    </a:p>
                  </a:txBody>
                  <a:tcPr>
                    <a:solidFill>
                      <a:srgbClr val="E3F3EE"/>
                    </a:solidFill>
                  </a:tcPr>
                </a:tc>
              </a:tr>
              <a:tr h="566928">
                <a:tc>
                  <a:txBody>
                    <a:bodyPr/>
                    <a:lstStyle/>
                    <a:p>
                      <a:r>
                        <a:rPr sz="1600" b="0">
                          <a:solidFill>
                            <a:srgbClr val="1B1B1B"/>
                          </a:solidFill>
                          <a:latin typeface="Calibri"/>
                        </a:rPr>
                        <a:t>ask</a:t>
                      </a:r>
                    </a:p>
                  </a:txBody>
                  <a:tcPr>
                    <a:solidFill>
                      <a:srgbClr val="FFFFFF"/>
                    </a:solidFill>
                  </a:tcPr>
                </a:tc>
                <a:tc>
                  <a:txBody>
                    <a:bodyPr/>
                    <a:lstStyle/>
                    <a:p>
                      <a:r>
                        <a:rPr sz="1600" b="0">
                          <a:solidFill>
                            <a:srgbClr val="1B1B1B"/>
                          </a:solidFill>
                          <a:latin typeface="Calibri"/>
                        </a:rPr>
                        <a:t>Where are you from? / How long have you been in Viet Nam?</a:t>
                      </a:r>
                    </a:p>
                  </a:txBody>
                  <a:tcPr>
                    <a:solidFill>
                      <a:srgbClr val="FFFFFF"/>
                    </a:solidFill>
                  </a:tcPr>
                </a:tc>
              </a:tr>
              <a:tr h="566928">
                <a:tc>
                  <a:txBody>
                    <a:bodyPr/>
                    <a:lstStyle/>
                    <a:p>
                      <a:r>
                        <a:rPr sz="1600" b="0">
                          <a:solidFill>
                            <a:srgbClr val="1B1B1B"/>
                          </a:solidFill>
                          <a:latin typeface="Calibri"/>
                        </a:rPr>
                        <a:t>react</a:t>
                      </a:r>
                    </a:p>
                  </a:txBody>
                  <a:tcPr>
                    <a:solidFill>
                      <a:srgbClr val="E3F3EE"/>
                    </a:solidFill>
                  </a:tcPr>
                </a:tc>
                <a:tc>
                  <a:txBody>
                    <a:bodyPr/>
                    <a:lstStyle/>
                    <a:p>
                      <a:r>
                        <a:rPr sz="1600" b="0">
                          <a:solidFill>
                            <a:srgbClr val="1B1B1B"/>
                          </a:solidFill>
                          <a:latin typeface="Calibri"/>
                        </a:rPr>
                        <a:t>Really? That's interesting!</a:t>
                      </a:r>
                    </a:p>
                  </a:txBody>
                  <a:tcPr>
                    <a:solidFill>
                      <a:srgbClr val="E3F3EE"/>
                    </a:solidFill>
                  </a:tcPr>
                </a:tc>
              </a:tr>
              <a:tr h="566928">
                <a:tc>
                  <a:txBody>
                    <a:bodyPr/>
                    <a:lstStyle/>
                    <a:p>
                      <a:r>
                        <a:rPr sz="1600" b="0">
                          <a:solidFill>
                            <a:srgbClr val="1B1B1B"/>
                          </a:solidFill>
                          <a:latin typeface="Calibri"/>
                        </a:rPr>
                        <a:t>follow up</a:t>
                      </a:r>
                    </a:p>
                  </a:txBody>
                  <a:tcPr>
                    <a:solidFill>
                      <a:srgbClr val="FFFFFF"/>
                    </a:solidFill>
                  </a:tcPr>
                </a:tc>
                <a:tc>
                  <a:txBody>
                    <a:bodyPr/>
                    <a:lstStyle/>
                    <a:p>
                      <a:r>
                        <a:rPr sz="1600" b="0">
                          <a:solidFill>
                            <a:srgbClr val="1B1B1B"/>
                          </a:solidFill>
                          <a:latin typeface="Calibri"/>
                        </a:rPr>
                        <a:t>And what do you think of the food?</a:t>
                      </a:r>
                    </a:p>
                  </a:txBody>
                  <a:tcPr>
                    <a:solidFill>
                      <a:srgbClr val="FFFFFF"/>
                    </a:solidFill>
                  </a:tcPr>
                </a:tc>
              </a:tr>
              <a:tr h="566928">
                <a:tc>
                  <a:txBody>
                    <a:bodyPr/>
                    <a:lstStyle/>
                    <a:p>
                      <a:r>
                        <a:rPr sz="1600" b="0">
                          <a:solidFill>
                            <a:srgbClr val="1B1B1B"/>
                          </a:solidFill>
                          <a:latin typeface="Calibri"/>
                        </a:rPr>
                        <a:t>repair</a:t>
                      </a:r>
                    </a:p>
                  </a:txBody>
                  <a:tcPr>
                    <a:solidFill>
                      <a:srgbClr val="E3F3EE"/>
                    </a:solidFill>
                  </a:tcPr>
                </a:tc>
                <a:tc>
                  <a:txBody>
                    <a:bodyPr/>
                    <a:lstStyle/>
                    <a:p>
                      <a:r>
                        <a:rPr sz="1600" b="0">
                          <a:solidFill>
                            <a:srgbClr val="1B1B1B"/>
                          </a:solidFill>
                          <a:latin typeface="Calibri"/>
                        </a:rPr>
                        <a:t>Sorry, could you say that again, please?</a:t>
                      </a:r>
                    </a:p>
                  </a:txBody>
                  <a:tcPr>
                    <a:solidFill>
                      <a:srgbClr val="E3F3EE"/>
                    </a:solidFill>
                  </a:tcPr>
                </a:tc>
              </a:tr>
              <a:tr h="566928">
                <a:tc>
                  <a:txBody>
                    <a:bodyPr/>
                    <a:lstStyle/>
                    <a:p>
                      <a:r>
                        <a:rPr sz="1600" b="0">
                          <a:solidFill>
                            <a:srgbClr val="1B1B1B"/>
                          </a:solidFill>
                          <a:latin typeface="Calibri"/>
                        </a:rPr>
                        <a:t>close</a:t>
                      </a:r>
                    </a:p>
                  </a:txBody>
                  <a:tcPr>
                    <a:solidFill>
                      <a:srgbClr val="FFFFFF"/>
                    </a:solidFill>
                  </a:tcPr>
                </a:tc>
                <a:tc>
                  <a:txBody>
                    <a:bodyPr/>
                    <a:lstStyle/>
                    <a:p>
                      <a:r>
                        <a:rPr sz="1600" b="0">
                          <a:solidFill>
                            <a:srgbClr val="1B1B1B"/>
                          </a:solidFill>
                          <a:latin typeface="Calibri"/>
                        </a:rPr>
                        <a:t>It was nice talking to you. Let's keep in touch!</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How long have you been in Viet Nam? B: Three weeks. A: Really? Where have you been so far?</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I didn't catch that. Could you repeat it more slowly, please?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One-word answers kill a conversation. Teach the rule: ANSWER + ADD. 'Yes, I have. I went last summer with my family.'</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 How long have you been in Viet Nam? B: Three weeks. A: Really? Where have you been so far?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Friendly intonation and clear repair phrases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Openings rise and sound warm. Repair phrases must be clear and slow — that is the whole point of them.</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Nice to meet you. ↘ (warm)</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Where are you from?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Sorry, could you say that again, please?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Let's keep in touch!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Hi, I'm Mai. Nice to meet you.</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Sorry, could you say that again, please?</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was nice talking to you. Let's keep in touch!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16: Where Are You From?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where different people come from. American English — VOA’s professional actors (Anna, Pete, Marsha, Ms. Weaver…), slowed learner delivery. It lasts 3:26.</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3:26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where different people come from B. describing things with adjectives C. asking for and offering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Let’s Learn English - Level 4 - Lesson 16: Where Are You From?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Well, I like learning about government and politics.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Washington Monument is behind 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This is Anna Matteo reporting for The News.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Lesson 17: Are You Free on Tuesday?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People _____ different countries come here.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I’m Anna Matteo _____ The News.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What _____ are you from?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Sabrina: The _____ is very beautiful!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They all like doing and seeing different things in the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An email to a new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Emma, My teacher gave me your address — I'm your new pen friend! Let me introduce myself. My name is Tran Thi Mai and I'm thirteen. I live in Nam Dinh, a small city about ninety kilometres south of Hanoi. There are four people in my family: my parents, my little brother and me. My father is a mechanic and my mother works in a school canteen. I've been learning English for four years, but I have never spoken to somebody from another country before you. I'm a bit nervous about my grammar, so please tell me if I write something strange. In my free time I play badminton and I make paper flowers. I have never been abroad, but I've been to Ha Long Bay twice and it is the most beautiful place I have seen. Now some questions for you. What is your school like? Have you ever tried Vietnamese food? And what is the weather like in October where you live? Here it is still twenty-eight degrees! Wr…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does Mai live, and how far is it from Hanoi?</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Who is in her family, and what do her parents do?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has she been learning English?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she nervous about?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Write the three questions she asks.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Improve these one-word answers.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'Have you ever been to Hanoi?' – 'Yes.'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you like English?' – 'Yes.'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are you from?' – 'Nam Dinh.'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'Have you ever tried foreign food?' – 'No.'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problem with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didn't hear.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don't know a word.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They spoke too fast.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You want the spelling.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Could you speak more slowly, please?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problem with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How do you spell that?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Sorry, could you say that again, please?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What does … mean?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Hi, I'm Nam. ______ (greeting)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Nice to meet you too. Where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I'm from Nam Dinh. How long ______ in Viet Nam?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Three weeks.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ever been to Asia before?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No, never.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Sorry, ______ that again, please?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 said no, never. This is my first time.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see! Well, it ______ talking to you. Let's ______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U12.4-S2 with three different partners.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U12.4-S2 with three different partners.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Introduce yourself to three classmates as if you had never met. Use the opening and closing phrases.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Hi, I'm… Nice to meet you. Where are you from? … It was nice talking to you.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visitor from an English-speaking country, B is a Vietnamese student. Ten turns.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introduction □ 3 questions each □ one follow-up question □ one repair phrase □ one 'Have you ever…?' □ a polite ending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Meeting somebody new and keeping the conversation going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introduce myself.</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Nice to meet you.</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are you from?</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have you been…?</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you ever…?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say that again, please?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Speed-meeting: three-minute conversations with three different 'visitors'.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an introduction message (80–100 words) to a new pen friend.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age, where you live, family, how long you have learned English, free time, one experience with 'I have never / I've been to', and two questions.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Opening, developing, repairing and closing a conversation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ANSWER + ADD instead of one-word answers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Repair phrases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Everyday English — Write what you say.</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introduce, pen friend, in common, keep in touch, time zone, misunderstand.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introduction message (80–100 words) neatly.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the four repair phrases five times each, SLOWLY and CLEARLY.</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