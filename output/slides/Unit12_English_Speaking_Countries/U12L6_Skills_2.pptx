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U12L6_1_A2-044-NERISSA-WHERE-FAMILY-LIVE.mp3"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12  ·  LESSON 6  ·  PERIOD 91</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SKILLS 2</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Listening: A student abroad + Writing: An email to a pen friend</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U12L6</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listen to an interview and complete notes</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organise an informal email in four paragraphs</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write an email of 120–140 words to a pen friend</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check a partner's work with a checklist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Have you ever… (final round)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U12L6</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Quick mingle: three 'Have you ever…?' questions about this school year.</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Ask and answer.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U12L6</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host family</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/həʊst ˈfæməli/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gia đình bản xứ đón tiếp</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She stayed with a host family.</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homesick</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/ˈhəʊmsɪk/   (adj)</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nhớ nhà</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 was homesick for the first week.</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get used to</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/ɡet ˈjuːst tuː/   (v phr)</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quen với</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It took a month to get used to the food.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U12L6</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similar</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/ˈsɪmələ/   (adj)</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giống nhau</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Teenagers are similar everywhere.</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polite</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/pəˈlaɪt/   (adj)</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lịch sự</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People are very polite, but quite formal.</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miss</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/mɪs/   (v)</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nhớ</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 miss my grandmother's cooking.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U12L6</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stay with a host family</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get used to…</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at first… but now…</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What I miss most is…</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biggest difference 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Grammar: Informal email: four paragraphs (final writing lesson)</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U12L6</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1. OPENING: thanks + a question back. Hi…! Thanks for your email. How are you?</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2. NEWS: what you have done recently (present perfect + past simple).</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3. THE MAIN TOPIC: answer their question in detail.</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4. CLOSING: two questions + a friendly ending.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U12L6</a:t>
            </a:r>
          </a:p>
        </p:txBody>
      </p:sp>
      <p:graphicFrame>
        <p:nvGraphicFramePr>
          <p:cNvPr id="8" name="Table 7"/>
          <p:cNvGraphicFramePr>
            <a:graphicFrameLocks noGrp="1"/>
          </p:cNvGraphicFramePr>
          <p:nvPr/>
        </p:nvGraphicFramePr>
        <p:xfrm>
          <a:off x="548640" y="1463040"/>
          <a:ext cx="11064240" cy="2834640"/>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Part</a:t>
                      </a:r>
                    </a:p>
                  </a:txBody>
                  <a:tcPr>
                    <a:solidFill>
                      <a:srgbClr val="0E7C66"/>
                    </a:solidFill>
                  </a:tcPr>
                </a:tc>
                <a:tc>
                  <a:txBody>
                    <a:bodyPr/>
                    <a:lstStyle/>
                    <a:p>
                      <a:r>
                        <a:rPr sz="1600" b="1">
                          <a:solidFill>
                            <a:srgbClr val="FFFFFF"/>
                          </a:solidFill>
                          <a:latin typeface="Calibri"/>
                        </a:rPr>
                        <a:t>Language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opening</a:t>
                      </a:r>
                    </a:p>
                  </a:txBody>
                  <a:tcPr>
                    <a:solidFill>
                      <a:srgbClr val="E3F3EE"/>
                    </a:solidFill>
                  </a:tcPr>
                </a:tc>
                <a:tc>
                  <a:txBody>
                    <a:bodyPr/>
                    <a:lstStyle/>
                    <a:p>
                      <a:r>
                        <a:rPr sz="1600" b="0">
                          <a:solidFill>
                            <a:srgbClr val="1B1B1B"/>
                          </a:solidFill>
                          <a:latin typeface="Calibri"/>
                        </a:rPr>
                        <a:t>Thanks for your email…</a:t>
                      </a:r>
                    </a:p>
                  </a:txBody>
                  <a:tcPr>
                    <a:solidFill>
                      <a:srgbClr val="E3F3EE"/>
                    </a:solidFill>
                  </a:tcPr>
                </a:tc>
                <a:tc>
                  <a:txBody>
                    <a:bodyPr/>
                    <a:lstStyle/>
                    <a:p>
                      <a:r>
                        <a:rPr sz="1600" b="0">
                          <a:solidFill>
                            <a:srgbClr val="1B1B1B"/>
                          </a:solidFill>
                          <a:latin typeface="Calibri"/>
                        </a:rPr>
                        <a:t>Hi Emma! Thanks for your last email.</a:t>
                      </a:r>
                    </a:p>
                  </a:txBody>
                  <a:tcPr>
                    <a:solidFill>
                      <a:srgbClr val="E3F3EE"/>
                    </a:solidFill>
                  </a:tcPr>
                </a:tc>
              </a:tr>
              <a:tr h="566928">
                <a:tc>
                  <a:txBody>
                    <a:bodyPr/>
                    <a:lstStyle/>
                    <a:p>
                      <a:r>
                        <a:rPr sz="1600" b="0">
                          <a:solidFill>
                            <a:srgbClr val="1B1B1B"/>
                          </a:solidFill>
                          <a:latin typeface="Calibri"/>
                        </a:rPr>
                        <a:t>news</a:t>
                      </a:r>
                    </a:p>
                  </a:txBody>
                  <a:tcPr>
                    <a:solidFill>
                      <a:srgbClr val="FFFFFF"/>
                    </a:solidFill>
                  </a:tcPr>
                </a:tc>
                <a:tc>
                  <a:txBody>
                    <a:bodyPr/>
                    <a:lstStyle/>
                    <a:p>
                      <a:r>
                        <a:rPr sz="1600" b="0">
                          <a:solidFill>
                            <a:srgbClr val="1B1B1B"/>
                          </a:solidFill>
                          <a:latin typeface="Calibri"/>
                        </a:rPr>
                        <a:t>present perfect + past simple</a:t>
                      </a:r>
                    </a:p>
                  </a:txBody>
                  <a:tcPr>
                    <a:solidFill>
                      <a:srgbClr val="FFFFFF"/>
                    </a:solidFill>
                  </a:tcPr>
                </a:tc>
                <a:tc>
                  <a:txBody>
                    <a:bodyPr/>
                    <a:lstStyle/>
                    <a:p>
                      <a:r>
                        <a:rPr sz="1600" b="0">
                          <a:solidFill>
                            <a:srgbClr val="1B1B1B"/>
                          </a:solidFill>
                          <a:latin typeface="Calibri"/>
                        </a:rPr>
                        <a:t>I've finished my exams. We had the English one on Monday.</a:t>
                      </a:r>
                    </a:p>
                  </a:txBody>
                  <a:tcPr>
                    <a:solidFill>
                      <a:srgbClr val="FFFFFF"/>
                    </a:solidFill>
                  </a:tcPr>
                </a:tc>
              </a:tr>
              <a:tr h="566928">
                <a:tc>
                  <a:txBody>
                    <a:bodyPr/>
                    <a:lstStyle/>
                    <a:p>
                      <a:r>
                        <a:rPr sz="1600" b="0">
                          <a:solidFill>
                            <a:srgbClr val="1B1B1B"/>
                          </a:solidFill>
                          <a:latin typeface="Calibri"/>
                        </a:rPr>
                        <a:t>main topic</a:t>
                      </a:r>
                    </a:p>
                  </a:txBody>
                  <a:tcPr>
                    <a:solidFill>
                      <a:srgbClr val="E3F3EE"/>
                    </a:solidFill>
                  </a:tcPr>
                </a:tc>
                <a:tc>
                  <a:txBody>
                    <a:bodyPr/>
                    <a:lstStyle/>
                    <a:p>
                      <a:r>
                        <a:rPr sz="1600" b="0">
                          <a:solidFill>
                            <a:srgbClr val="1B1B1B"/>
                          </a:solidFill>
                          <a:latin typeface="Calibri"/>
                        </a:rPr>
                        <a:t>detail + examples</a:t>
                      </a:r>
                    </a:p>
                  </a:txBody>
                  <a:tcPr>
                    <a:solidFill>
                      <a:srgbClr val="E3F3EE"/>
                    </a:solidFill>
                  </a:tcPr>
                </a:tc>
                <a:tc>
                  <a:txBody>
                    <a:bodyPr/>
                    <a:lstStyle/>
                    <a:p>
                      <a:r>
                        <a:rPr sz="1600" b="0">
                          <a:solidFill>
                            <a:srgbClr val="1B1B1B"/>
                          </a:solidFill>
                          <a:latin typeface="Calibri"/>
                        </a:rPr>
                        <a:t>You asked about Tet, so here it is.</a:t>
                      </a:r>
                    </a:p>
                  </a:txBody>
                  <a:tcPr>
                    <a:solidFill>
                      <a:srgbClr val="E3F3EE"/>
                    </a:solidFill>
                  </a:tcPr>
                </a:tc>
              </a:tr>
              <a:tr h="566928">
                <a:tc>
                  <a:txBody>
                    <a:bodyPr/>
                    <a:lstStyle/>
                    <a:p>
                      <a:r>
                        <a:rPr sz="1600" b="0">
                          <a:solidFill>
                            <a:srgbClr val="1B1B1B"/>
                          </a:solidFill>
                          <a:latin typeface="Calibri"/>
                        </a:rPr>
                        <a:t>closing</a:t>
                      </a:r>
                    </a:p>
                  </a:txBody>
                  <a:tcPr>
                    <a:solidFill>
                      <a:srgbClr val="FFFFFF"/>
                    </a:solidFill>
                  </a:tcPr>
                </a:tc>
                <a:tc>
                  <a:txBody>
                    <a:bodyPr/>
                    <a:lstStyle/>
                    <a:p>
                      <a:r>
                        <a:rPr sz="1600" b="0">
                          <a:solidFill>
                            <a:srgbClr val="1B1B1B"/>
                          </a:solidFill>
                          <a:latin typeface="Calibri"/>
                        </a:rPr>
                        <a:t>two questions + ending</a:t>
                      </a:r>
                    </a:p>
                  </a:txBody>
                  <a:tcPr>
                    <a:solidFill>
                      <a:srgbClr val="FFFFFF"/>
                    </a:solidFill>
                  </a:tcPr>
                </a:tc>
                <a:tc>
                  <a:txBody>
                    <a:bodyPr/>
                    <a:lstStyle/>
                    <a:p>
                      <a:r>
                        <a:rPr sz="1600" b="0">
                          <a:solidFill>
                            <a:srgbClr val="1B1B1B"/>
                          </a:solidFill>
                          <a:latin typeface="Calibri"/>
                        </a:rPr>
                        <a:t>What about you? Write soon! Mai</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U12L6</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I've been studying English for four years, and this year I finally spoke to a foreigner.</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What I miss most when I stay at my aunt's house is my own bed.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U12L6</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Students write four paragraphs of facts and forget to ask anything. An email without a question is a report.</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I've been studying English for four years, and this year I finally spoke to a foreigner.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Pronunciation: End-of-year pronunciation check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U12L6</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Read your email aloud and check the five things we have worked on all year: final consonants, -s endings, -ed endings, word stress, and sentence stress.</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final: first, most, island, world</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 likes, plays, watches</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-ed: helped, cleaned, visited</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stress: edu'CA-tion, 'COM-for-table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U12L6</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I've visited three provinces and I've watched hundreds of English videos, but I've never been abroad.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Where does your family live?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U12L6</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where one person's family lives. Single speaker — Nerissa / The Philippines. It lasts 1:03.</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440680"/>
            <a:ext cx="10698480" cy="530352"/>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42C4F"/>
                </a:solidFill>
                <a:hlinkClick r:id="rId2"/>
              </a:rPr>
              <a:t>▶ Play audio</a:t>
            </a:r>
          </a:p>
        </p:txBody>
      </p:sp>
      <p:sp>
        <p:nvSpPr>
          <p:cNvPr id="12" name="TextBox 11"/>
          <p:cNvSpPr txBox="1"/>
          <p:nvPr/>
        </p:nvSpPr>
        <p:spPr>
          <a:xfrm>
            <a:off x="731520" y="6062472"/>
            <a:ext cx="10698480" cy="502920"/>
          </a:xfrm>
          <a:prstGeom prst="rect">
            <a:avLst/>
          </a:prstGeom>
          <a:noFill/>
        </p:spPr>
        <p:txBody>
          <a:bodyPr wrap="square" anchor="t">
            <a:spAutoFit/>
          </a:bodyPr>
          <a:lstStyle/>
          <a:p>
            <a:pPr algn="l">
              <a:lnSpc>
                <a:spcPct val="100000"/>
              </a:lnSpc>
              <a:spcAft>
                <a:spcPts val="600"/>
              </a:spcAft>
            </a:pPr>
            <a:r>
              <a:rPr sz="1100" b="0" i="0">
                <a:solidFill>
                  <a:srgbClr val="6B7280"/>
                </a:solidFill>
                <a:latin typeface="Calibri"/>
              </a:rPr>
              <a:t>ELLLO — One Minute English · 1:03 · Single speaker — Nerissa / The Philippines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U12.6-L1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celebrating a famous writer's birthday B. where one person's family lives C. what people did last night and last weekend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U12.6-L2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Number the lines 1-5 in the order you hear them.</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Now there are buildings and malls.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Before there were many fields and farms.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Hi, my name's Nerissa, and I'm from the Philippines.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d. Cavite is a small province.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e. It is an hour away from Manila.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U12.6-L3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My question is, where does your _____ live?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My _____ lives in Cavite.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The capital _____ of the Philippines.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More people _____ and visit here.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Where does your family _____?</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Model email</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U12L6</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Hi Emma, Thanks for your last email — sorry I've been slow. We've just finished our end-of-year exams and my brain is empty! Some news first. I've finished Grade 7, and my English mark was the best of the year. In March our class did a project about English-speaking countries and my group presented Canada. I've also started a small pen-friend club at school: nine students have joined so far. You asked what Tet is like. It's difficult to explain in a short email. For three days the streets of my city are almost empty, because everybody goes home to their family. We clean the whole house before, we cook banh chung, and on the first morning children get lucky money in red envelopes. What I love most is the silence: for one week Viet Nam is quiet, and it happens only once a year. Now your turn. What is Christmas like in your family? And have you ever tried Vietnamese food? If you come here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U12.6-R1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in each of the four paragraphs?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Find two present perfect sentences and one past simple sentence.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Which sentence gives Mai's personal feeling about Tet?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How many questions does she ask at the end?</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Why is the last line before 'Write soon' effective?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U12.6-G1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1, 2, 3 or 4.</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Thanks for your last email. 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I've finished Grade 7. 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What I love most is the silence. 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Have you ever tried Vietnamese food? 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In March our class did a project. ___</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U12.6-G2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email extract.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 ______ (finish) Grade 7 last week.</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 ______ (never / be) abroad.</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In March our class ______ (do) a project about Canada.</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Nine students ______ (join) the club so far.</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We ______ (have) our English exam on Monday.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U12.6-I1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U12.6-W1 and W2.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U12.6-I1</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U12.6-W1 and W2.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U12.6-I2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Read your email aloud to your partner and check the five pronunciation points of the year.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Final consonants · -s · -ed · word stress · sentence stress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U12.6-S1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Tell your partner the four paragraphs of your email before you write.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Opening → news → main topic → questions.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Explaining your culture warmly</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U12L6</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It's difficult to explain, but…</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What I love most is…</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You'd have to see it.</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If you come here one day,…</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I'm warning you now!</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U12L6</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Explain one Vietnamese custom to a partner playing a foreign friend, in one minute, including one personal feeling.</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U12.6-W1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plan.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Opening (thanks + how are you):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News: two things you have done this year (present perfect) + one detail (past simple):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Main topic: a Vietnamese festival, food or custom, with a personal feeling: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Two questions + closing: ______</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U12.6-W2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120–140 words to a pen friend in an English-speaking country.</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Four paragraphs; at least two present perfect sentences; one personal feeling; two questions.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U12.6-W3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Swap and tick the checklist.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greeting and closing</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four paragraphs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at least two present perfect sentences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one past simple sentence with a time word</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one personal feeling ('What I love most is…')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U12.6-W3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Swap and tick the checklist.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two questions at the end</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120–140 words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U12L6</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Interview listening with attitudes</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Four-paragraph informal email</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Present perfect for news, past simple for details</a:t>
            </a:r>
          </a:p>
        </p:txBody>
      </p:sp>
      <p:sp>
        <p:nvSpPr>
          <p:cNvPr id="14" name="Rounded Rectangle 13"/>
          <p:cNvSpPr/>
          <p:nvPr/>
        </p:nvSpPr>
        <p:spPr>
          <a:xfrm>
            <a:off x="731520" y="448056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51560" y="455371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five pronunciation points of the year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U12L6</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U12.6-H1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Listening / vocabulary — Complete from the interview.</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U12.6-H2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Complete with host family, homesick, get used to, similar, polite, miss.</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U12.6-H3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Rewrite your email neatly after correction. This is your final piece of writing for the year — make it your best.</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U12.6-H4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Speaking — Read your email aloud twice and check the five pronunciation points.</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U12L6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