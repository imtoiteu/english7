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2L1_1_d11896f1-be6c-47bf-acbc-968ebda02e96_hq.mp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12  ·  LESSON 1  ·  PERIOD 86</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GETTING STARTED</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Where is English spoken?</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six English-speaking countries and their nationalities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a conversation about a country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give one fact about each country</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three sentences about a country they would like to visit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World map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Show a world map. Students name countries where English is spoken; mark them on the map.</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Name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the United Kingdom (the UK)</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/ðə juːˌnaɪtɪd ˈkɪŋdəm/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Vương quốc Anh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UK has four parts.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the United States (the USA)</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/ðə juːˌnaɪtɪd ˈsteɪts/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Hoa Kỳ</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USA has fifty states.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Australia</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/ɒˈstreɪliə/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Úc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Australia is a country and a continent.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Canada</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/ˈkænədə/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Ca-na-đa</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Canada has two official languages.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New Zealand</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/ˌnjuː ˈziːlənd/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Niu Di-lân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New Zealand has more sheep than people.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Singapore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/ˌsɪŋəˈpɔː/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Xin-ga-po</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Singapore has four official languages.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nationality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/ˌnæʃəˈnæləti/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quốc tịch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What nationality is she?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official language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/əˈfɪʃl ˈlæŋɡwɪdʒ/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ngôn ngữ chính thức</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English is an official language there.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English is spoken in…</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capital of…</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nationality…?</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famous for…</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love to visit…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Countries, nationalities and 'be famous for' (recycled)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Country → nationality: England → English; Australia → Australian; Canada → Canadian; Viet Nam → Vietnamese; Singapore → Singaporean.</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Nationalities always begin with a CAPITAL letter.</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is used with some countries: the UK, the USA, the Philippines. Most others take no article: Australia, Canada, Viet Nam.</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be famous for + noun / V-ing: Australia is famous for its beaches.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Country</a:t>
                      </a:r>
                    </a:p>
                  </a:txBody>
                  <a:tcPr>
                    <a:solidFill>
                      <a:srgbClr val="0E7C66"/>
                    </a:solidFill>
                  </a:tcPr>
                </a:tc>
                <a:tc>
                  <a:txBody>
                    <a:bodyPr/>
                    <a:lstStyle/>
                    <a:p>
                      <a:r>
                        <a:rPr sz="1600" b="1">
                          <a:solidFill>
                            <a:srgbClr val="FFFFFF"/>
                          </a:solidFill>
                          <a:latin typeface="Calibri"/>
                        </a:rPr>
                        <a:t>Nationality</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the UK</a:t>
                      </a:r>
                    </a:p>
                  </a:txBody>
                  <a:tcPr>
                    <a:solidFill>
                      <a:srgbClr val="E3F3EE"/>
                    </a:solidFill>
                  </a:tcPr>
                </a:tc>
                <a:tc>
                  <a:txBody>
                    <a:bodyPr/>
                    <a:lstStyle/>
                    <a:p>
                      <a:r>
                        <a:rPr sz="1600" b="0">
                          <a:solidFill>
                            <a:srgbClr val="1B1B1B"/>
                          </a:solidFill>
                          <a:latin typeface="Calibri"/>
                        </a:rPr>
                        <a:t>British</a:t>
                      </a:r>
                    </a:p>
                  </a:txBody>
                  <a:tcPr>
                    <a:solidFill>
                      <a:srgbClr val="E3F3EE"/>
                    </a:solidFill>
                  </a:tcPr>
                </a:tc>
                <a:tc>
                  <a:txBody>
                    <a:bodyPr/>
                    <a:lstStyle/>
                    <a:p>
                      <a:r>
                        <a:rPr sz="1600" b="0">
                          <a:solidFill>
                            <a:srgbClr val="1B1B1B"/>
                          </a:solidFill>
                          <a:latin typeface="Calibri"/>
                        </a:rPr>
                        <a:t>She is British.</a:t>
                      </a:r>
                    </a:p>
                  </a:txBody>
                  <a:tcPr>
                    <a:solidFill>
                      <a:srgbClr val="E3F3EE"/>
                    </a:solidFill>
                  </a:tcPr>
                </a:tc>
              </a:tr>
              <a:tr h="566928">
                <a:tc>
                  <a:txBody>
                    <a:bodyPr/>
                    <a:lstStyle/>
                    <a:p>
                      <a:r>
                        <a:rPr sz="1600" b="0">
                          <a:solidFill>
                            <a:srgbClr val="1B1B1B"/>
                          </a:solidFill>
                          <a:latin typeface="Calibri"/>
                        </a:rPr>
                        <a:t>the USA</a:t>
                      </a:r>
                    </a:p>
                  </a:txBody>
                  <a:tcPr>
                    <a:solidFill>
                      <a:srgbClr val="FFFFFF"/>
                    </a:solidFill>
                  </a:tcPr>
                </a:tc>
                <a:tc>
                  <a:txBody>
                    <a:bodyPr/>
                    <a:lstStyle/>
                    <a:p>
                      <a:r>
                        <a:rPr sz="1600" b="0">
                          <a:solidFill>
                            <a:srgbClr val="1B1B1B"/>
                          </a:solidFill>
                          <a:latin typeface="Calibri"/>
                        </a:rPr>
                        <a:t>American</a:t>
                      </a:r>
                    </a:p>
                  </a:txBody>
                  <a:tcPr>
                    <a:solidFill>
                      <a:srgbClr val="FFFFFF"/>
                    </a:solidFill>
                  </a:tcPr>
                </a:tc>
                <a:tc>
                  <a:txBody>
                    <a:bodyPr/>
                    <a:lstStyle/>
                    <a:p>
                      <a:r>
                        <a:rPr sz="1600" b="0">
                          <a:solidFill>
                            <a:srgbClr val="1B1B1B"/>
                          </a:solidFill>
                          <a:latin typeface="Calibri"/>
                        </a:rPr>
                        <a:t>He is American.</a:t>
                      </a:r>
                    </a:p>
                  </a:txBody>
                  <a:tcPr>
                    <a:solidFill>
                      <a:srgbClr val="FFFFFF"/>
                    </a:solidFill>
                  </a:tcPr>
                </a:tc>
              </a:tr>
              <a:tr h="566928">
                <a:tc>
                  <a:txBody>
                    <a:bodyPr/>
                    <a:lstStyle/>
                    <a:p>
                      <a:r>
                        <a:rPr sz="1600" b="0">
                          <a:solidFill>
                            <a:srgbClr val="1B1B1B"/>
                          </a:solidFill>
                          <a:latin typeface="Calibri"/>
                        </a:rPr>
                        <a:t>Australia</a:t>
                      </a:r>
                    </a:p>
                  </a:txBody>
                  <a:tcPr>
                    <a:solidFill>
                      <a:srgbClr val="E3F3EE"/>
                    </a:solidFill>
                  </a:tcPr>
                </a:tc>
                <a:tc>
                  <a:txBody>
                    <a:bodyPr/>
                    <a:lstStyle/>
                    <a:p>
                      <a:r>
                        <a:rPr sz="1600" b="0">
                          <a:solidFill>
                            <a:srgbClr val="1B1B1B"/>
                          </a:solidFill>
                          <a:latin typeface="Calibri"/>
                        </a:rPr>
                        <a:t>Australian</a:t>
                      </a:r>
                    </a:p>
                  </a:txBody>
                  <a:tcPr>
                    <a:solidFill>
                      <a:srgbClr val="E3F3EE"/>
                    </a:solidFill>
                  </a:tcPr>
                </a:tc>
                <a:tc>
                  <a:txBody>
                    <a:bodyPr/>
                    <a:lstStyle/>
                    <a:p>
                      <a:r>
                        <a:rPr sz="1600" b="0">
                          <a:solidFill>
                            <a:srgbClr val="1B1B1B"/>
                          </a:solidFill>
                          <a:latin typeface="Calibri"/>
                        </a:rPr>
                        <a:t>They are Australian.</a:t>
                      </a:r>
                    </a:p>
                  </a:txBody>
                  <a:tcPr>
                    <a:solidFill>
                      <a:srgbClr val="E3F3EE"/>
                    </a:solidFill>
                  </a:tcPr>
                </a:tc>
              </a:tr>
              <a:tr h="566928">
                <a:tc>
                  <a:txBody>
                    <a:bodyPr/>
                    <a:lstStyle/>
                    <a:p>
                      <a:r>
                        <a:rPr sz="1600" b="0">
                          <a:solidFill>
                            <a:srgbClr val="1B1B1B"/>
                          </a:solidFill>
                          <a:latin typeface="Calibri"/>
                        </a:rPr>
                        <a:t>Canada</a:t>
                      </a:r>
                    </a:p>
                  </a:txBody>
                  <a:tcPr>
                    <a:solidFill>
                      <a:srgbClr val="FFFFFF"/>
                    </a:solidFill>
                  </a:tcPr>
                </a:tc>
                <a:tc>
                  <a:txBody>
                    <a:bodyPr/>
                    <a:lstStyle/>
                    <a:p>
                      <a:r>
                        <a:rPr sz="1600" b="0">
                          <a:solidFill>
                            <a:srgbClr val="1B1B1B"/>
                          </a:solidFill>
                          <a:latin typeface="Calibri"/>
                        </a:rPr>
                        <a:t>Canadian</a:t>
                      </a:r>
                    </a:p>
                  </a:txBody>
                  <a:tcPr>
                    <a:solidFill>
                      <a:srgbClr val="FFFFFF"/>
                    </a:solidFill>
                  </a:tcPr>
                </a:tc>
                <a:tc>
                  <a:txBody>
                    <a:bodyPr/>
                    <a:lstStyle/>
                    <a:p>
                      <a:r>
                        <a:rPr sz="1600" b="0">
                          <a:solidFill>
                            <a:srgbClr val="1B1B1B"/>
                          </a:solidFill>
                          <a:latin typeface="Calibri"/>
                        </a:rPr>
                        <a:t>My teacher is Canadian.</a:t>
                      </a:r>
                    </a:p>
                  </a:txBody>
                  <a:tcPr>
                    <a:solidFill>
                      <a:srgbClr val="FFFFFF"/>
                    </a:solidFill>
                  </a:tcPr>
                </a:tc>
              </a:tr>
              <a:tr h="566928">
                <a:tc>
                  <a:txBody>
                    <a:bodyPr/>
                    <a:lstStyle/>
                    <a:p>
                      <a:r>
                        <a:rPr sz="1600" b="0">
                          <a:solidFill>
                            <a:srgbClr val="1B1B1B"/>
                          </a:solidFill>
                          <a:latin typeface="Calibri"/>
                        </a:rPr>
                        <a:t>New Zealand</a:t>
                      </a:r>
                    </a:p>
                  </a:txBody>
                  <a:tcPr>
                    <a:solidFill>
                      <a:srgbClr val="E3F3EE"/>
                    </a:solidFill>
                  </a:tcPr>
                </a:tc>
                <a:tc>
                  <a:txBody>
                    <a:bodyPr/>
                    <a:lstStyle/>
                    <a:p>
                      <a:r>
                        <a:rPr sz="1600" b="0">
                          <a:solidFill>
                            <a:srgbClr val="1B1B1B"/>
                          </a:solidFill>
                          <a:latin typeface="Calibri"/>
                        </a:rPr>
                        <a:t>a New Zealander</a:t>
                      </a:r>
                    </a:p>
                  </a:txBody>
                  <a:tcPr>
                    <a:solidFill>
                      <a:srgbClr val="E3F3EE"/>
                    </a:solidFill>
                  </a:tcPr>
                </a:tc>
                <a:tc>
                  <a:txBody>
                    <a:bodyPr/>
                    <a:lstStyle/>
                    <a:p>
                      <a:r>
                        <a:rPr sz="1600" b="0">
                          <a:solidFill>
                            <a:srgbClr val="1B1B1B"/>
                          </a:solidFill>
                          <a:latin typeface="Calibri"/>
                        </a:rPr>
                        <a:t>He's a New Zealander.</a:t>
                      </a:r>
                    </a:p>
                  </a:txBody>
                  <a:tcPr>
                    <a:solidFill>
                      <a:srgbClr val="E3F3EE"/>
                    </a:solidFill>
                  </a:tcPr>
                </a:tc>
              </a:tr>
              <a:tr h="566928">
                <a:tc>
                  <a:txBody>
                    <a:bodyPr/>
                    <a:lstStyle/>
                    <a:p>
                      <a:r>
                        <a:rPr sz="1600" b="0">
                          <a:solidFill>
                            <a:srgbClr val="1B1B1B"/>
                          </a:solidFill>
                          <a:latin typeface="Calibri"/>
                        </a:rPr>
                        <a:t>Viet Nam</a:t>
                      </a:r>
                    </a:p>
                  </a:txBody>
                  <a:tcPr>
                    <a:solidFill>
                      <a:srgbClr val="FFFFFF"/>
                    </a:solidFill>
                  </a:tcPr>
                </a:tc>
                <a:tc>
                  <a:txBody>
                    <a:bodyPr/>
                    <a:lstStyle/>
                    <a:p>
                      <a:r>
                        <a:rPr sz="1600" b="0">
                          <a:solidFill>
                            <a:srgbClr val="1B1B1B"/>
                          </a:solidFill>
                          <a:latin typeface="Calibri"/>
                        </a:rPr>
                        <a:t>Vietnamese</a:t>
                      </a:r>
                    </a:p>
                  </a:txBody>
                  <a:tcPr>
                    <a:solidFill>
                      <a:srgbClr val="FFFFFF"/>
                    </a:solidFill>
                  </a:tcPr>
                </a:tc>
                <a:tc>
                  <a:txBody>
                    <a:bodyPr/>
                    <a:lstStyle/>
                    <a:p>
                      <a:r>
                        <a:rPr sz="1600" b="0">
                          <a:solidFill>
                            <a:srgbClr val="1B1B1B"/>
                          </a:solidFill>
                          <a:latin typeface="Calibri"/>
                        </a:rPr>
                        <a:t>We are Vietnamese.</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English is spoken in more than sixty countries.</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Canada is famous for its lakes and its ice hockey.</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capital of Australia is Canberra, not Sydney.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 am vietnamese* (no capital letter), *She is from the Canada* (no 'the' with Canada), *He is a British* (British is an adjective here: 'He is British').</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English is spoken in more than sixty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Final consonant clusters /st/, /sk/, /sp/, /nd/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English often ends words with two or three consonants together: fir-ST, a-SK, cri-SP, la-ND, world. Do not add a vowel and do not drop the last sound.</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/st/: first, most, last, west, tourist</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/sk/: ask, desk, task</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/sp/: crisp, wasp</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/nd/: land, island, England, second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first tourist asked about the island.</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England is the second-largest country in the UK.</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Most of the west coast is desert.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48: Have You Ever ...?</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experiences people have had in their lives. American English — VOA’s professional actors (Anna, Pete, Marsha, Ms. Weaver…), slowed learner delivery. It lasts 3:37.</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VOA Learning English — Let’s Learn English, Level 1 · 3:37 · American English — VOA’s professional actors (Anna, Pete, Marsha, Ms. Weaver…), slowed learner delivery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experiences people have had in their lives B. which foods are not healthy C. the places in a neighbourhood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want to see an interesting museum but I don’t know which three.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Have fun at the museums, Jean!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I've known farm animals my whole life.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think I’ve seen all the museums.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Let's Learn English - Level 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 _____ lived in Washington, D.C.</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And I _____ done a lot.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I really feel like we’ve met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Have you _____ seen sculptures in a garden?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Jean: I have _____ seen a garden of sculptures!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Six countries, six surprises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UK is not one country but four: England, Scotland, Wales and Northern Ireland. They play football as four separate teams. THE USA has no official language at national level. English is used everywhere, but no law makes it official. CANADA has two official languages, English and French. In Quebec, most people speak French first. AUSTRALIA is about twenty-three times larger than Viet Nam, but it has only about a quarter of the population. NEW ZEALAND has three official languages: English, Maori and New Zealand Sign Language — the only country in the world with an official sign language. SINGAPORE is smaller than Phu Quoc island, and it has four official languages. Most students there learn two languages at school from the age of six.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Which country?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It is really four countries.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has no official language.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has an official sign language.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It is much bigger than Viet Nam but has fewer people.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is smaller than Phu Quoc. ______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Name the four parts of the UK.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are Canada's two official languages?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much larger is Australia than Viet Nam?</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From what age do Singaporean students learn two languages?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nationality.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UK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USA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Australia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Canada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Viet Nam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nationality.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Singapore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UK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Australia</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USA</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Canada</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 Philippines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 New Zealand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words in the box.</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capital   official   nationality   population   famous</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Canberra is the ______ of Australia.</a:t>
            </a:r>
          </a:p>
        </p:txBody>
      </p:sp>
      <p:sp>
        <p:nvSpPr>
          <p:cNvPr id="13" name="TextBox 12"/>
          <p:cNvSpPr txBox="1"/>
          <p:nvPr/>
        </p:nvSpPr>
        <p:spPr>
          <a:xfrm>
            <a:off x="1005840" y="385876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English is an ______ language in more than sixty countries.</a:t>
            </a:r>
          </a:p>
        </p:txBody>
      </p:sp>
      <p:sp>
        <p:nvSpPr>
          <p:cNvPr id="14" name="TextBox 13"/>
          <p:cNvSpPr txBox="1"/>
          <p:nvPr/>
        </p:nvSpPr>
        <p:spPr>
          <a:xfrm>
            <a:off x="1005840" y="451713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______ is she? — She's Canadian.</a:t>
            </a:r>
          </a:p>
        </p:txBody>
      </p:sp>
      <p:sp>
        <p:nvSpPr>
          <p:cNvPr id="15" name="TextBox 14"/>
          <p:cNvSpPr txBox="1"/>
          <p:nvPr/>
        </p:nvSpPr>
        <p:spPr>
          <a:xfrm>
            <a:off x="1005840" y="517550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Australia has a small ______ for such a large country.</a:t>
            </a:r>
          </a:p>
        </p:txBody>
      </p:sp>
      <p:sp>
        <p:nvSpPr>
          <p:cNvPr id="16" name="TextBox 15"/>
          <p:cNvSpPr txBox="1"/>
          <p:nvPr/>
        </p:nvSpPr>
        <p:spPr>
          <a:xfrm>
            <a:off x="1005840" y="583387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New Zealand is ______ for its mountains.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U12.1-S1 with another pair.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U12.1-S1 with another pair.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 pairs, make five quiz questions about the six countries and test another pair.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Which country…? What is the capital of…? How many…?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Correcting politely and giving information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Actually, it's…</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a common mistake.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thought so too, but…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Are you sure?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check.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gives three 'facts' about a country; two are wrong. B corrects them politely.</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three sentences about a country you would like to visit.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I'd love to visit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is famous for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want to go there because ______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6 English-speaking countries and nationalities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UK / the USA (with 'the')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final clusters /st/, /sk/, /nd/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country.</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the nationality and add 'the' where necessary.</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about an English-speaking country: capital, language(s), one famous place, one fact that surprised you.</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words five times, keeping both final consonants: first, most, ask, desk, island, England.</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U12L1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