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1  ·  PERIOD 86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Where is English spoken?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six English-speaking countries and their nationalities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country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one fact about each country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a country they would like to visit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World map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a world map. Students name countries where English is spoken; mark them on the map.</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countries.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the United Kingdom (the UK)</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/ðə juːˌnaɪtɪd ˈkɪŋdəm/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Vương quốc Anh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UK has four parts.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the United States (the USA)</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/ðə juːˌnaɪtɪd ˈsteɪts/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Hoa Kỳ</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USA has fifty states.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Australia</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/ɒˈstreɪliə/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Australia is a country and a continent.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Canada</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/ˈkænədə/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Ca-na-đa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Canada has two official languages.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New Zealand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/ˌnjuː ˈziːlənd/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Niu Di-lân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New Zealand has more sheep than people.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Singapore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/ˌsɪŋəˈpɔː/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Xin-ga-po</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Singapore has four official languages.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nationality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/ˌnæʃəˈnæləti/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quốc tịch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What nationality is she?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official language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/əˈfɪʃl ˈlæŋɡwɪdʒ/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ngôn ngữ chính thức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an official language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English is spoken 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capital of…</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nationality…?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famous for…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love to visit…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Countries, nationalities and 'be famous for' (recycled)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Country → nationality: England → English; Australia → Australian; Canada → Canadian; Viet Nam → Vietnamese; Singapore → Singaporean.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Nationalities always begin with a CAPITAL letter.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is used with some countries: the UK, the USA, the Philippines. Most others take no article: Australia, Canada, Viet Nam.</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 famous for + noun / V-ing: Australia is famous for its beaches.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Country</a:t>
                      </a:r>
                    </a:p>
                  </a:txBody>
                  <a:tcPr>
                    <a:solidFill>
                      <a:srgbClr val="0E7C66"/>
                    </a:solidFill>
                  </a:tcPr>
                </a:tc>
                <a:tc>
                  <a:txBody>
                    <a:bodyPr/>
                    <a:lstStyle/>
                    <a:p>
                      <a:r>
                        <a:rPr sz="1600" b="1">
                          <a:solidFill>
                            <a:srgbClr val="FFFFFF"/>
                          </a:solidFill>
                          <a:latin typeface="Calibri"/>
                        </a:rPr>
                        <a:t>Nationality</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the UK</a:t>
                      </a:r>
                    </a:p>
                  </a:txBody>
                  <a:tcPr>
                    <a:solidFill>
                      <a:srgbClr val="E3F3EE"/>
                    </a:solidFill>
                  </a:tcPr>
                </a:tc>
                <a:tc>
                  <a:txBody>
                    <a:bodyPr/>
                    <a:lstStyle/>
                    <a:p>
                      <a:r>
                        <a:rPr sz="1600" b="0">
                          <a:solidFill>
                            <a:srgbClr val="1B1B1B"/>
                          </a:solidFill>
                          <a:latin typeface="Calibri"/>
                        </a:rPr>
                        <a:t>British</a:t>
                      </a:r>
                    </a:p>
                  </a:txBody>
                  <a:tcPr>
                    <a:solidFill>
                      <a:srgbClr val="E3F3EE"/>
                    </a:solidFill>
                  </a:tcPr>
                </a:tc>
                <a:tc>
                  <a:txBody>
                    <a:bodyPr/>
                    <a:lstStyle/>
                    <a:p>
                      <a:r>
                        <a:rPr sz="1600" b="0">
                          <a:solidFill>
                            <a:srgbClr val="1B1B1B"/>
                          </a:solidFill>
                          <a:latin typeface="Calibri"/>
                        </a:rPr>
                        <a:t>She is British.</a:t>
                      </a:r>
                    </a:p>
                  </a:txBody>
                  <a:tcPr>
                    <a:solidFill>
                      <a:srgbClr val="E3F3EE"/>
                    </a:solidFill>
                  </a:tcPr>
                </a:tc>
              </a:tr>
              <a:tr h="566928">
                <a:tc>
                  <a:txBody>
                    <a:bodyPr/>
                    <a:lstStyle/>
                    <a:p>
                      <a:r>
                        <a:rPr sz="1600" b="0">
                          <a:solidFill>
                            <a:srgbClr val="1B1B1B"/>
                          </a:solidFill>
                          <a:latin typeface="Calibri"/>
                        </a:rPr>
                        <a:t>the USA</a:t>
                      </a:r>
                    </a:p>
                  </a:txBody>
                  <a:tcPr>
                    <a:solidFill>
                      <a:srgbClr val="FFFFFF"/>
                    </a:solidFill>
                  </a:tcPr>
                </a:tc>
                <a:tc>
                  <a:txBody>
                    <a:bodyPr/>
                    <a:lstStyle/>
                    <a:p>
                      <a:r>
                        <a:rPr sz="1600" b="0">
                          <a:solidFill>
                            <a:srgbClr val="1B1B1B"/>
                          </a:solidFill>
                          <a:latin typeface="Calibri"/>
                        </a:rPr>
                        <a:t>American</a:t>
                      </a:r>
                    </a:p>
                  </a:txBody>
                  <a:tcPr>
                    <a:solidFill>
                      <a:srgbClr val="FFFFFF"/>
                    </a:solidFill>
                  </a:tcPr>
                </a:tc>
                <a:tc>
                  <a:txBody>
                    <a:bodyPr/>
                    <a:lstStyle/>
                    <a:p>
                      <a:r>
                        <a:rPr sz="1600" b="0">
                          <a:solidFill>
                            <a:srgbClr val="1B1B1B"/>
                          </a:solidFill>
                          <a:latin typeface="Calibri"/>
                        </a:rPr>
                        <a:t>He is American.</a:t>
                      </a:r>
                    </a:p>
                  </a:txBody>
                  <a:tcPr>
                    <a:solidFill>
                      <a:srgbClr val="FFFFFF"/>
                    </a:solidFill>
                  </a:tcPr>
                </a:tc>
              </a:tr>
              <a:tr h="566928">
                <a:tc>
                  <a:txBody>
                    <a:bodyPr/>
                    <a:lstStyle/>
                    <a:p>
                      <a:r>
                        <a:rPr sz="1600" b="0">
                          <a:solidFill>
                            <a:srgbClr val="1B1B1B"/>
                          </a:solidFill>
                          <a:latin typeface="Calibri"/>
                        </a:rPr>
                        <a:t>Australia</a:t>
                      </a:r>
                    </a:p>
                  </a:txBody>
                  <a:tcPr>
                    <a:solidFill>
                      <a:srgbClr val="E3F3EE"/>
                    </a:solidFill>
                  </a:tcPr>
                </a:tc>
                <a:tc>
                  <a:txBody>
                    <a:bodyPr/>
                    <a:lstStyle/>
                    <a:p>
                      <a:r>
                        <a:rPr sz="1600" b="0">
                          <a:solidFill>
                            <a:srgbClr val="1B1B1B"/>
                          </a:solidFill>
                          <a:latin typeface="Calibri"/>
                        </a:rPr>
                        <a:t>Australian</a:t>
                      </a:r>
                    </a:p>
                  </a:txBody>
                  <a:tcPr>
                    <a:solidFill>
                      <a:srgbClr val="E3F3EE"/>
                    </a:solidFill>
                  </a:tcPr>
                </a:tc>
                <a:tc>
                  <a:txBody>
                    <a:bodyPr/>
                    <a:lstStyle/>
                    <a:p>
                      <a:r>
                        <a:rPr sz="1600" b="0">
                          <a:solidFill>
                            <a:srgbClr val="1B1B1B"/>
                          </a:solidFill>
                          <a:latin typeface="Calibri"/>
                        </a:rPr>
                        <a:t>They are Australian.</a:t>
                      </a:r>
                    </a:p>
                  </a:txBody>
                  <a:tcPr>
                    <a:solidFill>
                      <a:srgbClr val="E3F3EE"/>
                    </a:solidFill>
                  </a:tcPr>
                </a:tc>
              </a:tr>
              <a:tr h="566928">
                <a:tc>
                  <a:txBody>
                    <a:bodyPr/>
                    <a:lstStyle/>
                    <a:p>
                      <a:r>
                        <a:rPr sz="1600" b="0">
                          <a:solidFill>
                            <a:srgbClr val="1B1B1B"/>
                          </a:solidFill>
                          <a:latin typeface="Calibri"/>
                        </a:rPr>
                        <a:t>Canada</a:t>
                      </a:r>
                    </a:p>
                  </a:txBody>
                  <a:tcPr>
                    <a:solidFill>
                      <a:srgbClr val="FFFFFF"/>
                    </a:solidFill>
                  </a:tcPr>
                </a:tc>
                <a:tc>
                  <a:txBody>
                    <a:bodyPr/>
                    <a:lstStyle/>
                    <a:p>
                      <a:r>
                        <a:rPr sz="1600" b="0">
                          <a:solidFill>
                            <a:srgbClr val="1B1B1B"/>
                          </a:solidFill>
                          <a:latin typeface="Calibri"/>
                        </a:rPr>
                        <a:t>Canadian</a:t>
                      </a:r>
                    </a:p>
                  </a:txBody>
                  <a:tcPr>
                    <a:solidFill>
                      <a:srgbClr val="FFFFFF"/>
                    </a:solidFill>
                  </a:tcPr>
                </a:tc>
                <a:tc>
                  <a:txBody>
                    <a:bodyPr/>
                    <a:lstStyle/>
                    <a:p>
                      <a:r>
                        <a:rPr sz="1600" b="0">
                          <a:solidFill>
                            <a:srgbClr val="1B1B1B"/>
                          </a:solidFill>
                          <a:latin typeface="Calibri"/>
                        </a:rPr>
                        <a:t>My teacher is Canadian.</a:t>
                      </a:r>
                    </a:p>
                  </a:txBody>
                  <a:tcPr>
                    <a:solidFill>
                      <a:srgbClr val="FFFFFF"/>
                    </a:solidFill>
                  </a:tcPr>
                </a:tc>
              </a:tr>
              <a:tr h="566928">
                <a:tc>
                  <a:txBody>
                    <a:bodyPr/>
                    <a:lstStyle/>
                    <a:p>
                      <a:r>
                        <a:rPr sz="1600" b="0">
                          <a:solidFill>
                            <a:srgbClr val="1B1B1B"/>
                          </a:solidFill>
                          <a:latin typeface="Calibri"/>
                        </a:rPr>
                        <a:t>New Zealand</a:t>
                      </a:r>
                    </a:p>
                  </a:txBody>
                  <a:tcPr>
                    <a:solidFill>
                      <a:srgbClr val="E3F3EE"/>
                    </a:solidFill>
                  </a:tcPr>
                </a:tc>
                <a:tc>
                  <a:txBody>
                    <a:bodyPr/>
                    <a:lstStyle/>
                    <a:p>
                      <a:r>
                        <a:rPr sz="1600" b="0">
                          <a:solidFill>
                            <a:srgbClr val="1B1B1B"/>
                          </a:solidFill>
                          <a:latin typeface="Calibri"/>
                        </a:rPr>
                        <a:t>a New Zealander</a:t>
                      </a:r>
                    </a:p>
                  </a:txBody>
                  <a:tcPr>
                    <a:solidFill>
                      <a:srgbClr val="E3F3EE"/>
                    </a:solidFill>
                  </a:tcPr>
                </a:tc>
                <a:tc>
                  <a:txBody>
                    <a:bodyPr/>
                    <a:lstStyle/>
                    <a:p>
                      <a:r>
                        <a:rPr sz="1600" b="0">
                          <a:solidFill>
                            <a:srgbClr val="1B1B1B"/>
                          </a:solidFill>
                          <a:latin typeface="Calibri"/>
                        </a:rPr>
                        <a:t>He's a New Zealander.</a:t>
                      </a:r>
                    </a:p>
                  </a:txBody>
                  <a:tcPr>
                    <a:solidFill>
                      <a:srgbClr val="E3F3EE"/>
                    </a:solidFill>
                  </a:tcPr>
                </a:tc>
              </a:tr>
              <a:tr h="566928">
                <a:tc>
                  <a:txBody>
                    <a:bodyPr/>
                    <a:lstStyle/>
                    <a:p>
                      <a:r>
                        <a:rPr sz="1600" b="0">
                          <a:solidFill>
                            <a:srgbClr val="1B1B1B"/>
                          </a:solidFill>
                          <a:latin typeface="Calibri"/>
                        </a:rPr>
                        <a:t>Viet Nam</a:t>
                      </a:r>
                    </a:p>
                  </a:txBody>
                  <a:tcPr>
                    <a:solidFill>
                      <a:srgbClr val="FFFFFF"/>
                    </a:solidFill>
                  </a:tcPr>
                </a:tc>
                <a:tc>
                  <a:txBody>
                    <a:bodyPr/>
                    <a:lstStyle/>
                    <a:p>
                      <a:r>
                        <a:rPr sz="1600" b="0">
                          <a:solidFill>
                            <a:srgbClr val="1B1B1B"/>
                          </a:solidFill>
                          <a:latin typeface="Calibri"/>
                        </a:rPr>
                        <a:t>Vietnamese</a:t>
                      </a:r>
                    </a:p>
                  </a:txBody>
                  <a:tcPr>
                    <a:solidFill>
                      <a:srgbClr val="FFFFFF"/>
                    </a:solidFill>
                  </a:tcPr>
                </a:tc>
                <a:tc>
                  <a:txBody>
                    <a:bodyPr/>
                    <a:lstStyle/>
                    <a:p>
                      <a:r>
                        <a:rPr sz="1600" b="0">
                          <a:solidFill>
                            <a:srgbClr val="1B1B1B"/>
                          </a:solidFill>
                          <a:latin typeface="Calibri"/>
                        </a:rPr>
                        <a:t>We are Vietnamese.</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English is spoken in more than sixty countries.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Canada is famous for its lakes and its ice hockey.</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capital of Australia is Canberra, not Sydney.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am vietnamese* (no capital letter), *She is from the Canada* (no 'the' with Canada), *He is a British* (British is an adjective here: 'He is British').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English is spoken in more than sixty countries.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Final consonant clusters /st/, /sk/, /sp/, /nd/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English often ends words with two or three consonants together: fir-ST, a-SK, cri-SP, la-ND, world. Do not add a vowel and do not drop the last sound.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 first, most, last, west, tourist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/sk/: ask, desk, task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/sp/: crisp, wasp</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/nd/: land, island, England, second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first tourist asked about the island.</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England is the second-largest country in the UK.</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Most of the west coast is desert.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48: Have You Ever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experiences people have had in their lives. American English — VOA’s professional actors (Anna, Pete, Marsha, Ms. Weaver…), slowed learner delivery. It lasts 3:37.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3:37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experiences people have had in their lives B. which foods are not healthy C. the places in a neighbourhood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want to see an interesting museum but I don’t know which three.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Have fun at the museums, Jean!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I've known farm animals my whole life.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I’ve seen all the museums.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_____ lived in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And I _____ done a lot.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really feel like we’ve met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Have you _____ seen sculptures in a garden?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Jean: I have _____ seen a garden of sculptures!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Six countries, six surprises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UK is not one country but four: England, Scotland, Wales and Northern Ireland. They play football as four separate teams. THE USA has no official language at national level. English is used everywhere, but no law makes it official. CANADA has two official languages, English and French. In Quebec, most people speak French first. AUSTRALIA is about twenty-three times larger than Viet Nam, but it has only about a quarter of the population. NEW ZEALAND has three official languages: English, Maori and New Zealand Sign Language — the only country in the world with an official sign language. SINGAPORE is smaller than Phu Quoc island, and it has four official languages. Most students there learn two languages at school from the age of six.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is really four countries.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has no official language.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has an official sign language.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much bigger than Viet Nam but has fewer people.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smaller than Phu Quoc.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Name the four parts of the UK.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are Canada's two official languages?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larger is Australia than Viet Nam?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From what age do Singaporean students learn two languages?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nationality.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UK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USA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Australia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Canada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Viet Nam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nationality.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Singapore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UK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Australia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USA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Canada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Philippines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New Zealand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capital   official   nationality   population   famous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Canberra is the ______ of Australia.</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English is an ______ language in more than sixty countries.</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______ is she? — She's Canadian.</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Australia has a small ______ for such a large country.</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New Zealand is ______ for its mountains.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U12.1-S1 with another pair.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U12.1-S1 with another pair.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make five quiz questions about the six countries and test another pair.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Which country…? What is the capital of…? How many…?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Correcting politely and giving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Actually, it's…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common mistake.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thought so too,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sure?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check.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gives three 'facts' about a country; two are wrong. B corrects them politely.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a country you would like to visit.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I'd love to visit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famous for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want to go there because ______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6 English-speaking countries and nationalities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UK / the USA (with 'the')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 clusters /st/, /sk/, /nd/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country.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nationality and add 'the' where necessary.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an English-speaking country: capital, language(s), one famous place, one fact that surprised you.</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keeping both final consonants: first, most, ask, desk, island, England.</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