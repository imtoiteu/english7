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audio/FREV3L2_1_a8dbb32b-ada5-4441-a2d1-340924241a4b_hq.mp3"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685800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Oval 3"/>
          <p:cNvSpPr/>
          <p:nvPr/>
        </p:nvSpPr>
        <p:spPr>
          <a:xfrm>
            <a:off x="-1097280" y="4389120"/>
            <a:ext cx="6858000" cy="4114800"/>
          </a:xfrm>
          <a:prstGeom prst="ellipse">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Oval 4"/>
          <p:cNvSpPr/>
          <p:nvPr/>
        </p:nvSpPr>
        <p:spPr>
          <a:xfrm>
            <a:off x="8778240" y="-1828800"/>
            <a:ext cx="5486400" cy="4572000"/>
          </a:xfrm>
          <a:prstGeom prst="ellipse">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822960" y="1371600"/>
            <a:ext cx="10515600" cy="548640"/>
          </a:xfrm>
          <a:prstGeom prst="rect">
            <a:avLst/>
          </a:prstGeom>
          <a:noFill/>
        </p:spPr>
        <p:txBody>
          <a:bodyPr wrap="square" anchor="t">
            <a:spAutoFit/>
          </a:bodyPr>
          <a:lstStyle/>
          <a:p>
            <a:pPr algn="l">
              <a:lnSpc>
                <a:spcPct val="100000"/>
              </a:lnSpc>
              <a:spcAft>
                <a:spcPts val="600"/>
              </a:spcAft>
            </a:pPr>
            <a:r>
              <a:rPr sz="2000" b="1" i="0">
                <a:solidFill>
                  <a:srgbClr val="FFFFFF"/>
                </a:solidFill>
                <a:latin typeface="Calibri"/>
              </a:rPr>
              <a:t>UNIT 9  ·  LESSON 2  ·  PERIOD 71</a:t>
            </a:r>
          </a:p>
        </p:txBody>
      </p:sp>
      <p:sp>
        <p:nvSpPr>
          <p:cNvPr id="7" name="TextBox 6"/>
          <p:cNvSpPr txBox="1"/>
          <p:nvPr/>
        </p:nvSpPr>
        <p:spPr>
          <a:xfrm>
            <a:off x="822960" y="2011680"/>
            <a:ext cx="10515600" cy="1463040"/>
          </a:xfrm>
          <a:prstGeom prst="rect">
            <a:avLst/>
          </a:prstGeom>
          <a:noFill/>
        </p:spPr>
        <p:txBody>
          <a:bodyPr wrap="square" anchor="t">
            <a:spAutoFit/>
          </a:bodyPr>
          <a:lstStyle/>
          <a:p>
            <a:pPr algn="l">
              <a:lnSpc>
                <a:spcPct val="100000"/>
              </a:lnSpc>
              <a:spcAft>
                <a:spcPts val="600"/>
              </a:spcAft>
            </a:pPr>
            <a:r>
              <a:rPr sz="3000" b="1" i="0">
                <a:solidFill>
                  <a:srgbClr val="E7F1FA"/>
                </a:solidFill>
                <a:latin typeface="Calibri"/>
              </a:rPr>
              <a:t>PROGRESS TEST 3</a:t>
            </a:r>
          </a:p>
        </p:txBody>
      </p:sp>
      <p:sp>
        <p:nvSpPr>
          <p:cNvPr id="8" name="TextBox 7"/>
          <p:cNvSpPr txBox="1"/>
          <p:nvPr/>
        </p:nvSpPr>
        <p:spPr>
          <a:xfrm>
            <a:off x="822960" y="2926080"/>
            <a:ext cx="10515600" cy="2011680"/>
          </a:xfrm>
          <a:prstGeom prst="rect">
            <a:avLst/>
          </a:prstGeom>
          <a:noFill/>
        </p:spPr>
        <p:txBody>
          <a:bodyPr wrap="square" anchor="t">
            <a:spAutoFit/>
          </a:bodyPr>
          <a:lstStyle/>
          <a:p>
            <a:pPr algn="l">
              <a:lnSpc>
                <a:spcPct val="100000"/>
              </a:lnSpc>
              <a:spcAft>
                <a:spcPts val="600"/>
              </a:spcAft>
            </a:pPr>
            <a:r>
              <a:rPr sz="4400" b="1" i="0">
                <a:solidFill>
                  <a:srgbClr val="FFFFFF"/>
                </a:solidFill>
                <a:latin typeface="Calibri"/>
              </a:rPr>
              <a:t>Progress Test 3 (Units 7–9) — 45 minutes</a:t>
            </a:r>
          </a:p>
        </p:txBody>
      </p:sp>
      <p:sp>
        <p:nvSpPr>
          <p:cNvPr id="9" name="TextBox 8"/>
          <p:cNvSpPr txBox="1"/>
          <p:nvPr/>
        </p:nvSpPr>
        <p:spPr>
          <a:xfrm>
            <a:off x="822960" y="5303520"/>
            <a:ext cx="10515600" cy="731520"/>
          </a:xfrm>
          <a:prstGeom prst="rect">
            <a:avLst/>
          </a:prstGeom>
          <a:noFill/>
        </p:spPr>
        <p:txBody>
          <a:bodyPr wrap="square" anchor="t">
            <a:spAutoFit/>
          </a:bodyPr>
          <a:lstStyle/>
          <a:p>
            <a:pPr algn="l">
              <a:lnSpc>
                <a:spcPct val="100000"/>
              </a:lnSpc>
              <a:spcAft>
                <a:spcPts val="600"/>
              </a:spcAft>
            </a:pPr>
            <a:r>
              <a:rPr sz="2000" b="0" i="0">
                <a:solidFill>
                  <a:srgbClr val="E7F1FA"/>
                </a:solidFill>
                <a:latin typeface="Calibri"/>
              </a:rPr>
              <a:t>English 7  ·  Let's start! 👋</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Today we will learn to…</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REV3L2</a:t>
            </a:r>
          </a:p>
        </p:txBody>
      </p:sp>
      <p:sp>
        <p:nvSpPr>
          <p:cNvPr id="8" name="Rounded Rectangle 7"/>
          <p:cNvSpPr/>
          <p:nvPr/>
        </p:nvSpPr>
        <p:spPr>
          <a:xfrm>
            <a:off x="640080" y="1463040"/>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640080" y="1463040"/>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960120" y="1508760"/>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1</a:t>
            </a:r>
          </a:p>
        </p:txBody>
      </p:sp>
      <p:sp>
        <p:nvSpPr>
          <p:cNvPr id="11" name="TextBox 10"/>
          <p:cNvSpPr txBox="1"/>
          <p:nvPr/>
        </p:nvSpPr>
        <p:spPr>
          <a:xfrm>
            <a:off x="1737360" y="1508760"/>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show what they can do in listening, language, reading and writing</a:t>
            </a:r>
          </a:p>
        </p:txBody>
      </p:sp>
      <p:sp>
        <p:nvSpPr>
          <p:cNvPr id="12" name="Rounded Rectangle 11"/>
          <p:cNvSpPr/>
          <p:nvPr/>
        </p:nvSpPr>
        <p:spPr>
          <a:xfrm>
            <a:off x="640080" y="2450592"/>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ectangle 12"/>
          <p:cNvSpPr/>
          <p:nvPr/>
        </p:nvSpPr>
        <p:spPr>
          <a:xfrm>
            <a:off x="640080" y="2450592"/>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960120" y="2496312"/>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2</a:t>
            </a:r>
          </a:p>
        </p:txBody>
      </p:sp>
      <p:sp>
        <p:nvSpPr>
          <p:cNvPr id="15" name="TextBox 14"/>
          <p:cNvSpPr txBox="1"/>
          <p:nvPr/>
        </p:nvSpPr>
        <p:spPr>
          <a:xfrm>
            <a:off x="1737360" y="2496312"/>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complete a 45-minute test under exam conditions</a:t>
            </a:r>
          </a:p>
        </p:txBody>
      </p:sp>
      <p:sp>
        <p:nvSpPr>
          <p:cNvPr id="16" name="Rounded Rectangle 15"/>
          <p:cNvSpPr/>
          <p:nvPr/>
        </p:nvSpPr>
        <p:spPr>
          <a:xfrm>
            <a:off x="640080" y="3438144"/>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ectangle 16"/>
          <p:cNvSpPr/>
          <p:nvPr/>
        </p:nvSpPr>
        <p:spPr>
          <a:xfrm>
            <a:off x="640080" y="3438144"/>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960120" y="3483864"/>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3</a:t>
            </a:r>
          </a:p>
        </p:txBody>
      </p:sp>
      <p:sp>
        <p:nvSpPr>
          <p:cNvPr id="19" name="TextBox 18"/>
          <p:cNvSpPr txBox="1"/>
          <p:nvPr/>
        </p:nvSpPr>
        <p:spPr>
          <a:xfrm>
            <a:off x="1737360" y="3483864"/>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take part in a 3-minute paired speaking assessment</a:t>
            </a:r>
          </a:p>
        </p:txBody>
      </p:sp>
      <p:sp>
        <p:nvSpPr>
          <p:cNvPr id="20" name="Rounded Rectangle 19"/>
          <p:cNvSpPr/>
          <p:nvPr/>
        </p:nvSpPr>
        <p:spPr>
          <a:xfrm>
            <a:off x="640080" y="4425696"/>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ectangle 20"/>
          <p:cNvSpPr/>
          <p:nvPr/>
        </p:nvSpPr>
        <p:spPr>
          <a:xfrm>
            <a:off x="640080" y="4425696"/>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960120" y="4471416"/>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4</a:t>
            </a:r>
          </a:p>
        </p:txBody>
      </p:sp>
      <p:sp>
        <p:nvSpPr>
          <p:cNvPr id="23" name="TextBox 22"/>
          <p:cNvSpPr txBox="1"/>
          <p:nvPr/>
        </p:nvSpPr>
        <p:spPr>
          <a:xfrm>
            <a:off x="1737360" y="4471416"/>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set one goal for Units 10–12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Warm-up: Setting up  (3')</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REV3L2</a:t>
            </a:r>
          </a:p>
        </p:txBody>
      </p:sp>
      <p:sp>
        <p:nvSpPr>
          <p:cNvPr id="8" name="Rounded Rectangle 7"/>
          <p:cNvSpPr/>
          <p:nvPr/>
        </p:nvSpPr>
        <p:spPr>
          <a:xfrm>
            <a:off x="640080" y="1463040"/>
            <a:ext cx="10881360" cy="4206240"/>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05840" y="1737360"/>
            <a:ext cx="10149840" cy="82296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Desks apart; write the four parts and timings on the board.</a:t>
            </a:r>
          </a:p>
        </p:txBody>
      </p:sp>
      <p:sp>
        <p:nvSpPr>
          <p:cNvPr id="10" name="TextBox 9"/>
          <p:cNvSpPr txBox="1"/>
          <p:nvPr/>
        </p:nvSpPr>
        <p:spPr>
          <a:xfrm>
            <a:off x="1005840" y="5852160"/>
            <a:ext cx="10149840" cy="640080"/>
          </a:xfrm>
          <a:prstGeom prst="rect">
            <a:avLst/>
          </a:prstGeom>
          <a:noFill/>
        </p:spPr>
        <p:txBody>
          <a:bodyPr wrap="square" anchor="t">
            <a:spAutoFit/>
          </a:bodyPr>
          <a:lstStyle/>
          <a:p>
            <a:pPr algn="l">
              <a:lnSpc>
                <a:spcPct val="100000"/>
              </a:lnSpc>
              <a:spcAft>
                <a:spcPts val="600"/>
              </a:spcAft>
            </a:pPr>
            <a:r>
              <a:rPr sz="1800" b="0" i="1">
                <a:solidFill>
                  <a:srgbClr val="6B7280"/>
                </a:solidFill>
                <a:latin typeface="Calibri"/>
              </a:rPr>
              <a:t>👉 You: Prepare.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Grammar: Test format (as before)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REV3L2</a:t>
            </a:r>
          </a:p>
        </p:txBody>
      </p:sp>
      <p:sp>
        <p:nvSpPr>
          <p:cNvPr id="8" name="Rounded Rectangle 7"/>
          <p:cNvSpPr/>
          <p:nvPr/>
        </p:nvSpPr>
        <p:spPr>
          <a:xfrm>
            <a:off x="640080" y="1463040"/>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36192"/>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Part 1 Listening (2) · Part 2 Language focus (3) · Part 3 Reading (2.5) · Part 4 Writing (2.5). Speaking 10 marks separately.</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The form</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REV3L2</a:t>
            </a:r>
          </a:p>
        </p:txBody>
      </p:sp>
      <p:graphicFrame>
        <p:nvGraphicFramePr>
          <p:cNvPr id="8" name="Table 7"/>
          <p:cNvGraphicFramePr>
            <a:graphicFrameLocks noGrp="1"/>
          </p:cNvGraphicFramePr>
          <p:nvPr/>
        </p:nvGraphicFramePr>
        <p:xfrm>
          <a:off x="548640" y="1463040"/>
          <a:ext cx="11064240" cy="2834640"/>
        </p:xfrm>
        <a:graphic>
          <a:graphicData uri="http://schemas.openxmlformats.org/drawingml/2006/table">
            <a:tbl>
              <a:tblPr firstRow="1" bandRow="1">
                <a:tableStyleId>{5C22544A-7EE6-4342-B048-85BDC9FD1C3A}</a:tableStyleId>
              </a:tblPr>
              <a:tblGrid>
                <a:gridCol w="3688080"/>
                <a:gridCol w="3688080"/>
                <a:gridCol w="3688080"/>
              </a:tblGrid>
              <a:tr h="566928">
                <a:tc>
                  <a:txBody>
                    <a:bodyPr/>
                    <a:lstStyle/>
                    <a:p>
                      <a:r>
                        <a:rPr sz="1600" b="1">
                          <a:solidFill>
                            <a:srgbClr val="FFFFFF"/>
                          </a:solidFill>
                          <a:latin typeface="Calibri"/>
                        </a:rPr>
                        <a:t>Part</a:t>
                      </a:r>
                    </a:p>
                  </a:txBody>
                  <a:tcPr>
                    <a:solidFill>
                      <a:srgbClr val="0E7C66"/>
                    </a:solidFill>
                  </a:tcPr>
                </a:tc>
                <a:tc>
                  <a:txBody>
                    <a:bodyPr/>
                    <a:lstStyle/>
                    <a:p>
                      <a:r>
                        <a:rPr sz="1600" b="1">
                          <a:solidFill>
                            <a:srgbClr val="FFFFFF"/>
                          </a:solidFill>
                          <a:latin typeface="Calibri"/>
                        </a:rPr>
                        <a:t>Marks</a:t>
                      </a:r>
                    </a:p>
                  </a:txBody>
                  <a:tcPr>
                    <a:solidFill>
                      <a:srgbClr val="0E7C66"/>
                    </a:solidFill>
                  </a:tcPr>
                </a:tc>
                <a:tc>
                  <a:txBody>
                    <a:bodyPr/>
                    <a:lstStyle/>
                    <a:p>
                      <a:r>
                        <a:rPr sz="1600" b="1">
                          <a:solidFill>
                            <a:srgbClr val="FFFFFF"/>
                          </a:solidFill>
                          <a:latin typeface="Calibri"/>
                        </a:rPr>
                        <a:t>Time</a:t>
                      </a:r>
                    </a:p>
                  </a:txBody>
                  <a:tcPr>
                    <a:solidFill>
                      <a:srgbClr val="0E7C66"/>
                    </a:solidFill>
                  </a:tcPr>
                </a:tc>
              </a:tr>
              <a:tr h="566928">
                <a:tc>
                  <a:txBody>
                    <a:bodyPr/>
                    <a:lstStyle/>
                    <a:p>
                      <a:r>
                        <a:rPr sz="1600" b="0">
                          <a:solidFill>
                            <a:srgbClr val="1B1B1B"/>
                          </a:solidFill>
                          <a:latin typeface="Calibri"/>
                        </a:rPr>
                        <a:t>Listening</a:t>
                      </a:r>
                    </a:p>
                  </a:txBody>
                  <a:tcPr>
                    <a:solidFill>
                      <a:srgbClr val="E3F3EE"/>
                    </a:solidFill>
                  </a:tcPr>
                </a:tc>
                <a:tc>
                  <a:txBody>
                    <a:bodyPr/>
                    <a:lstStyle/>
                    <a:p>
                      <a:r>
                        <a:rPr sz="1600" b="0">
                          <a:solidFill>
                            <a:srgbClr val="1B1B1B"/>
                          </a:solidFill>
                          <a:latin typeface="Calibri"/>
                        </a:rPr>
                        <a:t>2.0</a:t>
                      </a:r>
                    </a:p>
                  </a:txBody>
                  <a:tcPr>
                    <a:solidFill>
                      <a:srgbClr val="E3F3EE"/>
                    </a:solidFill>
                  </a:tcPr>
                </a:tc>
                <a:tc>
                  <a:txBody>
                    <a:bodyPr/>
                    <a:lstStyle/>
                    <a:p>
                      <a:r>
                        <a:rPr sz="1600" b="0">
                          <a:solidFill>
                            <a:srgbClr val="1B1B1B"/>
                          </a:solidFill>
                          <a:latin typeface="Calibri"/>
                        </a:rPr>
                        <a:t>8 minutes</a:t>
                      </a:r>
                    </a:p>
                  </a:txBody>
                  <a:tcPr>
                    <a:solidFill>
                      <a:srgbClr val="E3F3EE"/>
                    </a:solidFill>
                  </a:tcPr>
                </a:tc>
              </a:tr>
              <a:tr h="566928">
                <a:tc>
                  <a:txBody>
                    <a:bodyPr/>
                    <a:lstStyle/>
                    <a:p>
                      <a:r>
                        <a:rPr sz="1600" b="0">
                          <a:solidFill>
                            <a:srgbClr val="1B1B1B"/>
                          </a:solidFill>
                          <a:latin typeface="Calibri"/>
                        </a:rPr>
                        <a:t>Language focus</a:t>
                      </a:r>
                    </a:p>
                  </a:txBody>
                  <a:tcPr>
                    <a:solidFill>
                      <a:srgbClr val="FFFFFF"/>
                    </a:solidFill>
                  </a:tcPr>
                </a:tc>
                <a:tc>
                  <a:txBody>
                    <a:bodyPr/>
                    <a:lstStyle/>
                    <a:p>
                      <a:r>
                        <a:rPr sz="1600" b="0">
                          <a:solidFill>
                            <a:srgbClr val="1B1B1B"/>
                          </a:solidFill>
                          <a:latin typeface="Calibri"/>
                        </a:rPr>
                        <a:t>3.0</a:t>
                      </a:r>
                    </a:p>
                  </a:txBody>
                  <a:tcPr>
                    <a:solidFill>
                      <a:srgbClr val="FFFFFF"/>
                    </a:solidFill>
                  </a:tcPr>
                </a:tc>
                <a:tc>
                  <a:txBody>
                    <a:bodyPr/>
                    <a:lstStyle/>
                    <a:p>
                      <a:r>
                        <a:rPr sz="1600" b="0">
                          <a:solidFill>
                            <a:srgbClr val="1B1B1B"/>
                          </a:solidFill>
                          <a:latin typeface="Calibri"/>
                        </a:rPr>
                        <a:t>12 minutes</a:t>
                      </a:r>
                    </a:p>
                  </a:txBody>
                  <a:tcPr>
                    <a:solidFill>
                      <a:srgbClr val="FFFFFF"/>
                    </a:solidFill>
                  </a:tcPr>
                </a:tc>
              </a:tr>
              <a:tr h="566928">
                <a:tc>
                  <a:txBody>
                    <a:bodyPr/>
                    <a:lstStyle/>
                    <a:p>
                      <a:r>
                        <a:rPr sz="1600" b="0">
                          <a:solidFill>
                            <a:srgbClr val="1B1B1B"/>
                          </a:solidFill>
                          <a:latin typeface="Calibri"/>
                        </a:rPr>
                        <a:t>Reading</a:t>
                      </a:r>
                    </a:p>
                  </a:txBody>
                  <a:tcPr>
                    <a:solidFill>
                      <a:srgbClr val="E3F3EE"/>
                    </a:solidFill>
                  </a:tcPr>
                </a:tc>
                <a:tc>
                  <a:txBody>
                    <a:bodyPr/>
                    <a:lstStyle/>
                    <a:p>
                      <a:r>
                        <a:rPr sz="1600" b="0">
                          <a:solidFill>
                            <a:srgbClr val="1B1B1B"/>
                          </a:solidFill>
                          <a:latin typeface="Calibri"/>
                        </a:rPr>
                        <a:t>2.5</a:t>
                      </a:r>
                    </a:p>
                  </a:txBody>
                  <a:tcPr>
                    <a:solidFill>
                      <a:srgbClr val="E3F3EE"/>
                    </a:solidFill>
                  </a:tcPr>
                </a:tc>
                <a:tc>
                  <a:txBody>
                    <a:bodyPr/>
                    <a:lstStyle/>
                    <a:p>
                      <a:r>
                        <a:rPr sz="1600" b="0">
                          <a:solidFill>
                            <a:srgbClr val="1B1B1B"/>
                          </a:solidFill>
                          <a:latin typeface="Calibri"/>
                        </a:rPr>
                        <a:t>12 minutes</a:t>
                      </a:r>
                    </a:p>
                  </a:txBody>
                  <a:tcPr>
                    <a:solidFill>
                      <a:srgbClr val="E3F3EE"/>
                    </a:solidFill>
                  </a:tcPr>
                </a:tc>
              </a:tr>
              <a:tr h="566928">
                <a:tc>
                  <a:txBody>
                    <a:bodyPr/>
                    <a:lstStyle/>
                    <a:p>
                      <a:r>
                        <a:rPr sz="1600" b="0">
                          <a:solidFill>
                            <a:srgbClr val="1B1B1B"/>
                          </a:solidFill>
                          <a:latin typeface="Calibri"/>
                        </a:rPr>
                        <a:t>Writing</a:t>
                      </a:r>
                    </a:p>
                  </a:txBody>
                  <a:tcPr>
                    <a:solidFill>
                      <a:srgbClr val="FFFFFF"/>
                    </a:solidFill>
                  </a:tcPr>
                </a:tc>
                <a:tc>
                  <a:txBody>
                    <a:bodyPr/>
                    <a:lstStyle/>
                    <a:p>
                      <a:r>
                        <a:rPr sz="1600" b="0">
                          <a:solidFill>
                            <a:srgbClr val="1B1B1B"/>
                          </a:solidFill>
                          <a:latin typeface="Calibri"/>
                        </a:rPr>
                        <a:t>2.5</a:t>
                      </a:r>
                    </a:p>
                  </a:txBody>
                  <a:tcPr>
                    <a:solidFill>
                      <a:srgbClr val="FFFFFF"/>
                    </a:solidFill>
                  </a:tcPr>
                </a:tc>
                <a:tc>
                  <a:txBody>
                    <a:bodyPr/>
                    <a:lstStyle/>
                    <a:p>
                      <a:r>
                        <a:rPr sz="1600" b="0">
                          <a:solidFill>
                            <a:srgbClr val="1B1B1B"/>
                          </a:solidFill>
                          <a:latin typeface="Calibri"/>
                        </a:rPr>
                        <a:t>13 minutes</a:t>
                      </a:r>
                    </a:p>
                  </a:txBody>
                  <a:tcPr>
                    <a:solidFill>
                      <a:srgbClr val="FFFFFF"/>
                    </a:solidFill>
                  </a:tcPr>
                </a:tc>
              </a:tr>
            </a:tbl>
          </a:graphicData>
        </a:graphic>
      </p:graphicFrame>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Look at the examples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REV3L2</a:t>
            </a:r>
          </a:p>
        </p:txBody>
      </p:sp>
      <p:sp>
        <p:nvSpPr>
          <p:cNvPr id="8" name="Rounded Rectangle 7"/>
          <p:cNvSpPr/>
          <p:nvPr/>
        </p:nvSpPr>
        <p:spPr>
          <a:xfrm>
            <a:off x="731520" y="1554480"/>
            <a:ext cx="10698480" cy="777240"/>
          </a:xfrm>
          <a:prstGeom prst="roundRect">
            <a:avLst>
              <a:gd name="adj" fmla="val 6000"/>
            </a:avLst>
          </a:prstGeom>
          <a:solidFill>
            <a:srgbClr val="FFFFFF"/>
          </a:solidFill>
          <a:ln w="19050">
            <a:solidFill>
              <a:srgbClr val="0E7C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627632"/>
            <a:ext cx="10241280" cy="64008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Read every instruction twice.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Be careful! A very common mistake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REV3L2</a:t>
            </a:r>
          </a:p>
        </p:txBody>
      </p:sp>
      <p:sp>
        <p:nvSpPr>
          <p:cNvPr id="8" name="Rounded Rectangle 7"/>
          <p:cNvSpPr/>
          <p:nvPr/>
        </p:nvSpPr>
        <p:spPr>
          <a:xfrm>
            <a:off x="731520" y="1645920"/>
            <a:ext cx="10698480" cy="23774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828800"/>
            <a:ext cx="10058400" cy="2011680"/>
          </a:xfrm>
          <a:prstGeom prst="rect">
            <a:avLst/>
          </a:prstGeom>
          <a:noFill/>
        </p:spPr>
        <p:txBody>
          <a:bodyPr wrap="square" anchor="t">
            <a:spAutoFit/>
          </a:bodyPr>
          <a:lstStyle/>
          <a:p>
            <a:pPr algn="l">
              <a:lnSpc>
                <a:spcPct val="100000"/>
              </a:lnSpc>
              <a:spcAft>
                <a:spcPts val="600"/>
              </a:spcAft>
            </a:pPr>
            <a:r>
              <a:rPr sz="2100" b="0" i="0">
                <a:solidFill>
                  <a:srgbClr val="1B1B1B"/>
                </a:solidFill>
                <a:latin typeface="Calibri"/>
              </a:rPr>
              <a:t>Keep 10 minutes for the writing.</a:t>
            </a:r>
          </a:p>
        </p:txBody>
      </p:sp>
      <p:sp>
        <p:nvSpPr>
          <p:cNvPr id="10" name="TextBox 9"/>
          <p:cNvSpPr txBox="1"/>
          <p:nvPr/>
        </p:nvSpPr>
        <p:spPr>
          <a:xfrm>
            <a:off x="1097280" y="4389120"/>
            <a:ext cx="10058400" cy="1280160"/>
          </a:xfrm>
          <a:prstGeom prst="rect">
            <a:avLst/>
          </a:prstGeom>
          <a:noFill/>
        </p:spPr>
        <p:txBody>
          <a:bodyPr wrap="square" anchor="t">
            <a:spAutoFit/>
          </a:bodyPr>
          <a:lstStyle/>
          <a:p>
            <a:pPr algn="l">
              <a:lnSpc>
                <a:spcPct val="100000"/>
              </a:lnSpc>
              <a:spcAft>
                <a:spcPts val="600"/>
              </a:spcAft>
            </a:pPr>
            <a:r>
              <a:rPr sz="2200" b="1" i="0">
                <a:solidFill>
                  <a:srgbClr val="2E7D32"/>
                </a:solidFill>
                <a:latin typeface="Calibri"/>
              </a:rPr>
              <a:t>👍 Say it like this:  Read every instruction twice.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Pronunciation: Speaking criteria</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REV3L2</a:t>
            </a:r>
          </a:p>
        </p:txBody>
      </p:sp>
      <p:sp>
        <p:nvSpPr>
          <p:cNvPr id="8" name="Rounded Rectangle 7"/>
          <p:cNvSpPr/>
          <p:nvPr/>
        </p:nvSpPr>
        <p:spPr>
          <a:xfrm>
            <a:off x="640080" y="1417320"/>
            <a:ext cx="10881360" cy="123444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08760"/>
            <a:ext cx="10332720" cy="1097280"/>
          </a:xfrm>
          <a:prstGeom prst="rect">
            <a:avLst/>
          </a:prstGeom>
          <a:noFill/>
        </p:spPr>
        <p:txBody>
          <a:bodyPr wrap="square" anchor="ctr">
            <a:spAutoFit/>
          </a:bodyPr>
          <a:lstStyle/>
          <a:p>
            <a:pPr algn="l">
              <a:lnSpc>
                <a:spcPct val="100000"/>
              </a:lnSpc>
              <a:spcAft>
                <a:spcPts val="600"/>
              </a:spcAft>
            </a:pPr>
            <a:r>
              <a:rPr sz="1800" b="0" i="0">
                <a:solidFill>
                  <a:srgbClr val="1B1B1B"/>
                </a:solidFill>
                <a:latin typeface="Calibri"/>
              </a:rPr>
              <a:t>Task 3 · Fluency 2.5 · Pronunciation 2.5 · Accuracy 2.</a:t>
            </a:r>
          </a:p>
        </p:txBody>
      </p:sp>
      <p:sp>
        <p:nvSpPr>
          <p:cNvPr id="10" name="Rounded Rectangle 9"/>
          <p:cNvSpPr/>
          <p:nvPr/>
        </p:nvSpPr>
        <p:spPr>
          <a:xfrm>
            <a:off x="731520" y="2880360"/>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05840" y="2926080"/>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Keep talking.</a:t>
            </a:r>
          </a:p>
        </p:txBody>
      </p:sp>
      <p:sp>
        <p:nvSpPr>
          <p:cNvPr id="12" name="Rounded Rectangle 11"/>
          <p:cNvSpPr/>
          <p:nvPr/>
        </p:nvSpPr>
        <p:spPr>
          <a:xfrm>
            <a:off x="731520" y="3593592"/>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05840" y="3639312"/>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Finish your words.</a:t>
            </a:r>
          </a:p>
        </p:txBody>
      </p:sp>
      <p:sp>
        <p:nvSpPr>
          <p:cNvPr id="14" name="Rounded Rectangle 13"/>
          <p:cNvSpPr/>
          <p:nvPr/>
        </p:nvSpPr>
        <p:spPr>
          <a:xfrm>
            <a:off x="731520" y="4306824"/>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05840" y="4352544"/>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Use one contrast connector.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Repeat after me — three times each!</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REV3L2</a:t>
            </a:r>
          </a:p>
        </p:txBody>
      </p:sp>
      <p:sp>
        <p:nvSpPr>
          <p:cNvPr id="8" name="Rounded Rectangle 7"/>
          <p:cNvSpPr/>
          <p:nvPr/>
        </p:nvSpPr>
        <p:spPr>
          <a:xfrm>
            <a:off x="731520" y="1737360"/>
            <a:ext cx="10698480" cy="91440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828800"/>
            <a:ext cx="10241280" cy="77724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 Although…, … . However, … .</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Lesson 30: Rolling on the River</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REV3L2</a:t>
            </a:r>
          </a:p>
        </p:txBody>
      </p:sp>
      <p:sp>
        <p:nvSpPr>
          <p:cNvPr id="8" name="Rounded Rectangle 7"/>
          <p:cNvSpPr/>
          <p:nvPr/>
        </p:nvSpPr>
        <p:spPr>
          <a:xfrm>
            <a:off x="731520" y="1737360"/>
            <a:ext cx="10698480" cy="182880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920240"/>
            <a:ext cx="10058400" cy="155448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You will hear a real recording: a boat trip on a river. American English — VOA’s professional actors (Anna, Pete, Marsha, Ms. Weaver…), slowed learner delivery. It lasts 3:19.</a:t>
            </a:r>
          </a:p>
        </p:txBody>
      </p:sp>
      <p:sp>
        <p:nvSpPr>
          <p:cNvPr id="10" name="TextBox 9"/>
          <p:cNvSpPr txBox="1"/>
          <p:nvPr/>
        </p:nvSpPr>
        <p:spPr>
          <a:xfrm>
            <a:off x="731520" y="4023360"/>
            <a:ext cx="10698480" cy="1463040"/>
          </a:xfrm>
          <a:prstGeom prst="rect">
            <a:avLst/>
          </a:prstGeom>
          <a:noFill/>
        </p:spPr>
        <p:txBody>
          <a:bodyPr wrap="square" anchor="t">
            <a:spAutoFit/>
          </a:bodyPr>
          <a:lstStyle/>
          <a:p>
            <a:pPr algn="l">
              <a:lnSpc>
                <a:spcPct val="100000"/>
              </a:lnSpc>
              <a:spcAft>
                <a:spcPts val="600"/>
              </a:spcAft>
            </a:pPr>
            <a:r>
              <a:rPr sz="2000" b="0" i="0">
                <a:solidFill>
                  <a:srgbClr val="142C4F"/>
                </a:solidFill>
                <a:latin typeface="Calibri"/>
              </a:rPr>
              <a:t>🎧  Listen 1: just listen — do not write.</a:t>
            </a:r>
          </a:p>
          <a:p>
            <a:pPr algn="l">
              <a:lnSpc>
                <a:spcPct val="100000"/>
              </a:lnSpc>
              <a:spcAft>
                <a:spcPts val="600"/>
              </a:spcAft>
            </a:pPr>
            <a:r>
              <a:rPr sz="2000" b="0" i="0">
                <a:solidFill>
                  <a:srgbClr val="142C4F"/>
                </a:solidFill>
                <a:latin typeface="Calibri"/>
              </a:rPr>
              <a:t>🎧  Listen 2: write your answers.</a:t>
            </a:r>
          </a:p>
          <a:p>
            <a:pPr algn="l">
              <a:lnSpc>
                <a:spcPct val="100000"/>
              </a:lnSpc>
              <a:spcAft>
                <a:spcPts val="600"/>
              </a:spcAft>
            </a:pPr>
            <a:r>
              <a:rPr sz="2000" b="0" i="0">
                <a:solidFill>
                  <a:srgbClr val="142C4F"/>
                </a:solidFill>
                <a:latin typeface="Calibri"/>
              </a:rPr>
              <a:t>🎧  Listen 3: check with your partner.</a:t>
            </a:r>
          </a:p>
        </p:txBody>
      </p:sp>
      <p:sp>
        <p:nvSpPr>
          <p:cNvPr id="11" name="Rounded Rectangle 10"/>
          <p:cNvSpPr/>
          <p:nvPr/>
        </p:nvSpPr>
        <p:spPr>
          <a:xfrm>
            <a:off x="731520" y="5440680"/>
            <a:ext cx="10698480" cy="530352"/>
          </a:xfrm>
          <a:prstGeom prst="roundRect">
            <a:avLst>
              <a:gd name="adj" fmla="val 6000"/>
            </a:avLst>
          </a:prstGeom>
          <a:solidFill>
            <a:srgbClr val="E7F1FA"/>
          </a:solidFill>
          <a:ln w="19050">
            <a:solidFill>
              <a:srgbClr val="1E6FB8"/>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ctr"/>
            <a:r>
              <a:rPr sz="1500" b="1">
                <a:solidFill>
                  <a:srgbClr val="142C4F"/>
                </a:solidFill>
                <a:hlinkClick r:id="rId2"/>
              </a:rPr>
              <a:t>▶ Play audio</a:t>
            </a:r>
          </a:p>
        </p:txBody>
      </p:sp>
      <p:sp>
        <p:nvSpPr>
          <p:cNvPr id="12" name="TextBox 11"/>
          <p:cNvSpPr txBox="1"/>
          <p:nvPr/>
        </p:nvSpPr>
        <p:spPr>
          <a:xfrm>
            <a:off x="731520" y="6062472"/>
            <a:ext cx="10698480" cy="502920"/>
          </a:xfrm>
          <a:prstGeom prst="rect">
            <a:avLst/>
          </a:prstGeom>
          <a:noFill/>
        </p:spPr>
        <p:txBody>
          <a:bodyPr wrap="square" anchor="t">
            <a:spAutoFit/>
          </a:bodyPr>
          <a:lstStyle/>
          <a:p>
            <a:pPr algn="l">
              <a:lnSpc>
                <a:spcPct val="100000"/>
              </a:lnSpc>
              <a:spcAft>
                <a:spcPts val="600"/>
              </a:spcAft>
            </a:pPr>
            <a:r>
              <a:rPr sz="1100" b="0" i="0">
                <a:solidFill>
                  <a:srgbClr val="6B7280"/>
                </a:solidFill>
                <a:latin typeface="Calibri"/>
              </a:rPr>
              <a:t>VOA Learning English — Let’s Learn English, Level 1 · 3:19 · American English — VOA’s professional actors (Anna, Pete, Marsha, Ms. Weaver…), slowed learner delivery</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REV3L2-L1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once. Choose the best answer.</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What is the recording mainly about?</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A. which foods are not healthy B. a boat trip on a river C. the things people can do at work</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REV3L2-L2</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again. Write T (true) or F (false).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Let's Learn English - Level 4</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Let’s Learn English - Level 4 - Lesson 30: Rolling on the River</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In fact, I am here to buy some seafood for my dinner party.</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You came to the right place.</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They have the freshest seafood in town.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REV3L2-L3</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once more and write the missing word.</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Anna: sits on the Potomac _____.</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Anna: This _____ is important to the history and culture of the city.</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Pete: Did you grow up on the _____?</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Anna: But I love the _____.</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Anna: Well … this afternoon I am going on a _____.</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Progress Test 3 – Reading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REV3L2</a:t>
            </a:r>
          </a:p>
        </p:txBody>
      </p:sp>
      <p:sp>
        <p:nvSpPr>
          <p:cNvPr id="8" name="Rounded Rectangle 7"/>
          <p:cNvSpPr/>
          <p:nvPr/>
        </p:nvSpPr>
        <p:spPr>
          <a:xfrm>
            <a:off x="640080" y="1371600"/>
            <a:ext cx="10881360" cy="484632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54480"/>
            <a:ext cx="10332720" cy="4480560"/>
          </a:xfrm>
          <a:prstGeom prst="rect">
            <a:avLst/>
          </a:prstGeom>
          <a:noFill/>
        </p:spPr>
        <p:txBody>
          <a:bodyPr wrap="square" anchor="t">
            <a:spAutoFit/>
          </a:bodyPr>
          <a:lstStyle/>
          <a:p>
            <a:pPr algn="l">
              <a:lnSpc>
                <a:spcPct val="115000"/>
              </a:lnSpc>
              <a:spcAft>
                <a:spcPts val="600"/>
              </a:spcAft>
            </a:pPr>
            <a:r>
              <a:rPr sz="1500" b="0" i="0">
                <a:solidFill>
                  <a:srgbClr val="1B1B1B"/>
                </a:solidFill>
                <a:latin typeface="Calibri"/>
              </a:rPr>
              <a:t>THE BRIDGE THAT CHANGED A VILLAGE Until 2019, the children of Nam Son village crossed the river to school in a small wooden boat. In the dry season the journey took ten minutes. In the rainy season, the river rose by three metres and the boat could not cross at all, so about forty children missed up to six weeks of school every year. In 2019 a bridge was built. It cost less than many people expected, and the villagers did most of the work themselves. Now the journey to school takes twelve minutes on foot, every day of the year. The head teacher says the change is easy to measure. Before the bridge, nine students from the village finished Grade 9. Last year, twenty-six did. However, not everything is simple. The bridge has also brought motorbikes, and last year there were two accidents on the village road, which was never designed for traffic. The village has now put up three signs and p…</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TEST3-R</a:t>
            </a:r>
          </a:p>
        </p:txBody>
      </p:sp>
      <p:sp>
        <p:nvSpPr>
          <p:cNvPr id="8" name="Rounded Rectangle 7"/>
          <p:cNvSpPr/>
          <p:nvPr/>
        </p:nvSpPr>
        <p:spPr>
          <a:xfrm>
            <a:off x="640080" y="1371600"/>
            <a:ext cx="10881360" cy="77724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Answer the questions.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How did children get to school before 2019, and what was the problem in the rainy season?</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Who did most of the work on the bridge?</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How long does the journey take now?</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What figures show the change?</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What new problem has the bridge created, and what has the village done about it?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TEST3-P2A</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Complete with ONE word.</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Always wear a h______ on a motorbike.</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Cross the road at the z______ crossing.</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A film that makes you laugh is a c______ .</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The people watching a film are the a______ .</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Children carry a l______ at the Mid-Autumn Festival.</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  (1/2)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TEST3-P2B</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Choose the correct answer.</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She goes to school (by / on) foot.</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You must (wear / to wear) a helmet.</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How far (is / does) it from here to the market?</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The film was (boring / bored).</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(Although / However) it was long, I liked it.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  (2/2)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TEST3-P2B</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Choose the correct answer.</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6. I saw (a / the) temple for the first time.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TEST3-P2C</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Circle the word with a DIFFERENT sound.</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bike / ride / train</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ship / live / sheep</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think / three / this</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month / fourth / mother</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Speaking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TEST3-S</a:t>
            </a:r>
          </a:p>
        </p:txBody>
      </p:sp>
      <p:sp>
        <p:nvSpPr>
          <p:cNvPr id="8" name="Rounded Rectangle 7"/>
          <p:cNvSpPr/>
          <p:nvPr/>
        </p:nvSpPr>
        <p:spPr>
          <a:xfrm>
            <a:off x="640080" y="1371600"/>
            <a:ext cx="10881360" cy="7772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In pairs. Choose a card, think for one minute, speak for two minutes. The examiner asks two questions.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Card A: My journey to school and how to make it safer</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Card B: A film I have seen (with one good and one weak point)</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Card C: A festival I know</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Real-life English: Test-taking strategies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REV3L2</a:t>
            </a:r>
          </a:p>
        </p:txBody>
      </p:sp>
      <p:sp>
        <p:nvSpPr>
          <p:cNvPr id="8" name="Rounded Rectangle 7"/>
          <p:cNvSpPr/>
          <p:nvPr/>
        </p:nvSpPr>
        <p:spPr>
          <a:xfrm>
            <a:off x="822960" y="1463040"/>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508760"/>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Could you repeat that, please?</a:t>
            </a:r>
          </a:p>
        </p:txBody>
      </p:sp>
      <p:sp>
        <p:nvSpPr>
          <p:cNvPr id="10" name="Rounded Rectangle 9"/>
          <p:cNvSpPr/>
          <p:nvPr/>
        </p:nvSpPr>
        <p:spPr>
          <a:xfrm>
            <a:off x="822960" y="2212848"/>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97280" y="2258568"/>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Let me think for a second.</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Role play — in pairs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REV3L2</a:t>
            </a:r>
          </a:p>
        </p:txBody>
      </p:sp>
      <p:sp>
        <p:nvSpPr>
          <p:cNvPr id="8" name="Rounded Rectangle 7"/>
          <p:cNvSpPr/>
          <p:nvPr/>
        </p:nvSpPr>
        <p:spPr>
          <a:xfrm>
            <a:off x="731520" y="1737360"/>
            <a:ext cx="10698480" cy="256032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920240"/>
            <a:ext cx="10058400" cy="219456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Paired speaking assessment.</a:t>
            </a:r>
          </a:p>
        </p:txBody>
      </p:sp>
      <p:sp>
        <p:nvSpPr>
          <p:cNvPr id="10" name="TextBox 9"/>
          <p:cNvSpPr txBox="1"/>
          <p:nvPr/>
        </p:nvSpPr>
        <p:spPr>
          <a:xfrm>
            <a:off x="822960" y="4663440"/>
            <a:ext cx="10515600" cy="1280160"/>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 2 minutes to prepare  ·  2 minutes to perform  ·  then swap roles</a:t>
            </a:r>
          </a:p>
          <a:p>
            <a:pPr algn="l">
              <a:lnSpc>
                <a:spcPct val="100000"/>
              </a:lnSpc>
              <a:spcAft>
                <a:spcPts val="600"/>
              </a:spcAft>
            </a:pPr>
            <a:r>
              <a:rPr sz="1900" b="1" i="0">
                <a:solidFill>
                  <a:srgbClr val="142C4F"/>
                </a:solidFill>
                <a:latin typeface="Calibri"/>
              </a:rPr>
              <a:t>Do not read! Look at your partner.</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Writing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TEST3-W</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Choose ONE task and write 100–120 words.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A. A road safety leaflet for your school.</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B. A review of a film you have seen.</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C. A description of a festival you know.</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Let's remember today's English</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REV3L2</a:t>
            </a:r>
          </a:p>
        </p:txBody>
      </p:sp>
      <p:sp>
        <p:nvSpPr>
          <p:cNvPr id="8" name="Rounded Rectangle 7"/>
          <p:cNvSpPr/>
          <p:nvPr/>
        </p:nvSpPr>
        <p:spPr>
          <a:xfrm>
            <a:off x="731520" y="160020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67335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The test covers Units 7–9 only.</a:t>
            </a:r>
          </a:p>
        </p:txBody>
      </p:sp>
      <p:sp>
        <p:nvSpPr>
          <p:cNvPr id="10" name="Rounded Rectangle 9"/>
          <p:cNvSpPr/>
          <p:nvPr/>
        </p:nvSpPr>
        <p:spPr>
          <a:xfrm>
            <a:off x="731520" y="256032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63347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Return the papers next lesson; compare with Tests 1 and 2.</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Homework — write it in your notebook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REV3L2</a:t>
            </a:r>
          </a:p>
        </p:txBody>
      </p:sp>
      <p:sp>
        <p:nvSpPr>
          <p:cNvPr id="8" name="Rounded Rectangle 7"/>
          <p:cNvSpPr/>
          <p:nvPr/>
        </p:nvSpPr>
        <p:spPr>
          <a:xfrm>
            <a:off x="731520" y="1554480"/>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05840" y="1609344"/>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TEST3-H1</a:t>
            </a:r>
          </a:p>
        </p:txBody>
      </p:sp>
      <p:sp>
        <p:nvSpPr>
          <p:cNvPr id="10" name="TextBox 9"/>
          <p:cNvSpPr txBox="1"/>
          <p:nvPr/>
        </p:nvSpPr>
        <p:spPr>
          <a:xfrm>
            <a:off x="2743200" y="1609344"/>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After the test — Compare your three test results. Write one thing that has improved and one goal for Units 10–12.</a:t>
            </a:r>
          </a:p>
        </p:txBody>
      </p:sp>
      <p:sp>
        <p:nvSpPr>
          <p:cNvPr id="11" name="Rounded Rectangle 10"/>
          <p:cNvSpPr/>
          <p:nvPr/>
        </p:nvSpPr>
        <p:spPr>
          <a:xfrm>
            <a:off x="731520" y="2523744"/>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1005840" y="2578608"/>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TEST3-H2</a:t>
            </a:r>
          </a:p>
        </p:txBody>
      </p:sp>
      <p:sp>
        <p:nvSpPr>
          <p:cNvPr id="13" name="TextBox 12"/>
          <p:cNvSpPr txBox="1"/>
          <p:nvPr/>
        </p:nvSpPr>
        <p:spPr>
          <a:xfrm>
            <a:off x="2743200" y="2578608"/>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Correction — Correct all your test mistakes and write the rule for each.</a:t>
            </a:r>
          </a:p>
        </p:txBody>
      </p:sp>
      <p:sp>
        <p:nvSpPr>
          <p:cNvPr id="14" name="Rounded Rectangle 13"/>
          <p:cNvSpPr/>
          <p:nvPr/>
        </p:nvSpPr>
        <p:spPr>
          <a:xfrm>
            <a:off x="731520" y="3493008"/>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05840" y="3547872"/>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TEST3-H3</a:t>
            </a:r>
          </a:p>
        </p:txBody>
      </p:sp>
      <p:sp>
        <p:nvSpPr>
          <p:cNvPr id="16" name="TextBox 15"/>
          <p:cNvSpPr txBox="1"/>
          <p:nvPr/>
        </p:nvSpPr>
        <p:spPr>
          <a:xfrm>
            <a:off x="2743200" y="3547872"/>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Prepare for Unit 10 — Write five sources of energy in English or Vietnamese.</a:t>
            </a:r>
          </a:p>
        </p:txBody>
      </p:sp>
      <p:sp>
        <p:nvSpPr>
          <p:cNvPr id="17" name="TextBox 16"/>
          <p:cNvSpPr txBox="1"/>
          <p:nvPr/>
        </p:nvSpPr>
        <p:spPr>
          <a:xfrm>
            <a:off x="731520" y="5989320"/>
            <a:ext cx="10698480" cy="640080"/>
          </a:xfrm>
          <a:prstGeom prst="rect">
            <a:avLst/>
          </a:prstGeom>
          <a:noFill/>
        </p:spPr>
        <p:txBody>
          <a:bodyPr wrap="square" anchor="t">
            <a:spAutoFit/>
          </a:bodyPr>
          <a:lstStyle/>
          <a:p>
            <a:pPr algn="ctr">
              <a:lnSpc>
                <a:spcPct val="100000"/>
              </a:lnSpc>
              <a:spcAft>
                <a:spcPts val="600"/>
              </a:spcAft>
            </a:pPr>
            <a:r>
              <a:rPr sz="1800" b="0" i="0">
                <a:solidFill>
                  <a:srgbClr val="6B7280"/>
                </a:solidFill>
                <a:latin typeface="Calibri"/>
              </a:rPr>
              <a:t>Homework Book, section REV3L2   ·   See you next lesson! 👋</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