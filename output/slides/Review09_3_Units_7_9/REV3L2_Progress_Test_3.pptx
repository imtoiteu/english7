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2  ·  PERIOD 69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PROGRESS TEST 3</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Progress Test 3 (Units 7–9) — 45 minutes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show what they can do in listening, language, reading and writing</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complete a 45-minute test under exam conditions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3-minute paired speaking assessment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set one goal for Units 10–12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Setting up  (3')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Desks apart; write the four parts and timings on the board.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Prepare.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Test format (as before)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1 Listening (2) · Part 2 Language focus (3) · Part 3 Reading (2.5) · Part 4 Writing (2.5). Speaking 10 marks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Marks</a:t>
                      </a:r>
                    </a:p>
                  </a:txBody>
                  <a:tcPr>
                    <a:solidFill>
                      <a:srgbClr val="0E7C66"/>
                    </a:solidFill>
                  </a:tcPr>
                </a:tc>
                <a:tc>
                  <a:txBody>
                    <a:bodyPr/>
                    <a:lstStyle/>
                    <a:p>
                      <a:r>
                        <a:rPr sz="1600" b="1">
                          <a:solidFill>
                            <a:srgbClr val="FFFFFF"/>
                          </a:solidFill>
                          <a:latin typeface="Calibri"/>
                        </a:rPr>
                        <a:t>Time</a:t>
                      </a:r>
                    </a:p>
                  </a:txBody>
                  <a:tcPr>
                    <a:solidFill>
                      <a:srgbClr val="0E7C66"/>
                    </a:solidFill>
                  </a:tcPr>
                </a:tc>
              </a:tr>
              <a:tr h="566928">
                <a:tc>
                  <a:txBody>
                    <a:bodyPr/>
                    <a:lstStyle/>
                    <a:p>
                      <a:r>
                        <a:rPr sz="1600" b="0">
                          <a:solidFill>
                            <a:srgbClr val="1B1B1B"/>
                          </a:solidFill>
                          <a:latin typeface="Calibri"/>
                        </a:rPr>
                        <a:t>Listening</a:t>
                      </a:r>
                    </a:p>
                  </a:txBody>
                  <a:tcPr>
                    <a:solidFill>
                      <a:srgbClr val="E3F3EE"/>
                    </a:solidFill>
                  </a:tcPr>
                </a:tc>
                <a:tc>
                  <a:txBody>
                    <a:bodyPr/>
                    <a:lstStyle/>
                    <a:p>
                      <a:r>
                        <a:rPr sz="1600" b="0">
                          <a:solidFill>
                            <a:srgbClr val="1B1B1B"/>
                          </a:solidFill>
                          <a:latin typeface="Calibri"/>
                        </a:rPr>
                        <a:t>2.0</a:t>
                      </a:r>
                    </a:p>
                  </a:txBody>
                  <a:tcPr>
                    <a:solidFill>
                      <a:srgbClr val="E3F3EE"/>
                    </a:solidFill>
                  </a:tcPr>
                </a:tc>
                <a:tc>
                  <a:txBody>
                    <a:bodyPr/>
                    <a:lstStyle/>
                    <a:p>
                      <a:r>
                        <a:rPr sz="1600" b="0">
                          <a:solidFill>
                            <a:srgbClr val="1B1B1B"/>
                          </a:solidFill>
                          <a:latin typeface="Calibri"/>
                        </a:rPr>
                        <a:t>8 minutes</a:t>
                      </a:r>
                    </a:p>
                  </a:txBody>
                  <a:tcPr>
                    <a:solidFill>
                      <a:srgbClr val="E3F3EE"/>
                    </a:solidFill>
                  </a:tcPr>
                </a:tc>
              </a:tr>
              <a:tr h="566928">
                <a:tc>
                  <a:txBody>
                    <a:bodyPr/>
                    <a:lstStyle/>
                    <a:p>
                      <a:r>
                        <a:rPr sz="1600" b="0">
                          <a:solidFill>
                            <a:srgbClr val="1B1B1B"/>
                          </a:solidFill>
                          <a:latin typeface="Calibri"/>
                        </a:rPr>
                        <a:t>Language focus</a:t>
                      </a:r>
                    </a:p>
                  </a:txBody>
                  <a:tcPr>
                    <a:solidFill>
                      <a:srgbClr val="FFFFFF"/>
                    </a:solidFill>
                  </a:tcPr>
                </a:tc>
                <a:tc>
                  <a:txBody>
                    <a:bodyPr/>
                    <a:lstStyle/>
                    <a:p>
                      <a:r>
                        <a:rPr sz="1600" b="0">
                          <a:solidFill>
                            <a:srgbClr val="1B1B1B"/>
                          </a:solidFill>
                          <a:latin typeface="Calibri"/>
                        </a:rPr>
                        <a:t>3.0</a:t>
                      </a:r>
                    </a:p>
                  </a:txBody>
                  <a:tcPr>
                    <a:solidFill>
                      <a:srgbClr val="FFFFFF"/>
                    </a:solidFill>
                  </a:tcPr>
                </a:tc>
                <a:tc>
                  <a:txBody>
                    <a:bodyPr/>
                    <a:lstStyle/>
                    <a:p>
                      <a:r>
                        <a:rPr sz="1600" b="0">
                          <a:solidFill>
                            <a:srgbClr val="1B1B1B"/>
                          </a:solidFill>
                          <a:latin typeface="Calibri"/>
                        </a:rPr>
                        <a:t>12 minutes</a:t>
                      </a:r>
                    </a:p>
                  </a:txBody>
                  <a:tcPr>
                    <a:solidFill>
                      <a:srgbClr val="FFFFFF"/>
                    </a:solidFill>
                  </a:tcPr>
                </a:tc>
              </a:tr>
              <a:tr h="566928">
                <a:tc>
                  <a:txBody>
                    <a:bodyPr/>
                    <a:lstStyle/>
                    <a:p>
                      <a:r>
                        <a:rPr sz="1600" b="0">
                          <a:solidFill>
                            <a:srgbClr val="1B1B1B"/>
                          </a:solidFill>
                          <a:latin typeface="Calibri"/>
                        </a:rPr>
                        <a:t>Reading</a:t>
                      </a:r>
                    </a:p>
                  </a:txBody>
                  <a:tcPr>
                    <a:solidFill>
                      <a:srgbClr val="E3F3EE"/>
                    </a:solidFill>
                  </a:tcPr>
                </a:tc>
                <a:tc>
                  <a:txBody>
                    <a:bodyPr/>
                    <a:lstStyle/>
                    <a:p>
                      <a:r>
                        <a:rPr sz="1600" b="0">
                          <a:solidFill>
                            <a:srgbClr val="1B1B1B"/>
                          </a:solidFill>
                          <a:latin typeface="Calibri"/>
                        </a:rPr>
                        <a:t>2.5</a:t>
                      </a:r>
                    </a:p>
                  </a:txBody>
                  <a:tcPr>
                    <a:solidFill>
                      <a:srgbClr val="E3F3EE"/>
                    </a:solidFill>
                  </a:tcPr>
                </a:tc>
                <a:tc>
                  <a:txBody>
                    <a:bodyPr/>
                    <a:lstStyle/>
                    <a:p>
                      <a:r>
                        <a:rPr sz="1600" b="0">
                          <a:solidFill>
                            <a:srgbClr val="1B1B1B"/>
                          </a:solidFill>
                          <a:latin typeface="Calibri"/>
                        </a:rPr>
                        <a:t>12 minutes</a:t>
                      </a:r>
                    </a:p>
                  </a:txBody>
                  <a:tcPr>
                    <a:solidFill>
                      <a:srgbClr val="E3F3EE"/>
                    </a:solidFill>
                  </a:tcPr>
                </a:tc>
              </a:tr>
              <a:tr h="566928">
                <a:tc>
                  <a:txBody>
                    <a:bodyPr/>
                    <a:lstStyle/>
                    <a:p>
                      <a:r>
                        <a:rPr sz="1600" b="0">
                          <a:solidFill>
                            <a:srgbClr val="1B1B1B"/>
                          </a:solidFill>
                          <a:latin typeface="Calibri"/>
                        </a:rPr>
                        <a:t>Writing</a:t>
                      </a:r>
                    </a:p>
                  </a:txBody>
                  <a:tcPr>
                    <a:solidFill>
                      <a:srgbClr val="FFFFFF"/>
                    </a:solidFill>
                  </a:tcPr>
                </a:tc>
                <a:tc>
                  <a:txBody>
                    <a:bodyPr/>
                    <a:lstStyle/>
                    <a:p>
                      <a:r>
                        <a:rPr sz="1600" b="0">
                          <a:solidFill>
                            <a:srgbClr val="1B1B1B"/>
                          </a:solidFill>
                          <a:latin typeface="Calibri"/>
                        </a:rPr>
                        <a:t>2.5</a:t>
                      </a:r>
                    </a:p>
                  </a:txBody>
                  <a:tcPr>
                    <a:solidFill>
                      <a:srgbClr val="FFFFFF"/>
                    </a:solidFill>
                  </a:tcPr>
                </a:tc>
                <a:tc>
                  <a:txBody>
                    <a:bodyPr/>
                    <a:lstStyle/>
                    <a:p>
                      <a:r>
                        <a:rPr sz="1600" b="0">
                          <a:solidFill>
                            <a:srgbClr val="1B1B1B"/>
                          </a:solidFill>
                          <a:latin typeface="Calibri"/>
                        </a:rPr>
                        <a:t>13 minutes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 every instruction twice.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Keep 10 minutes for the writing.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Read every instruction twice.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Speaking criteria</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Task 3 · Fluency 2.5 · Pronunciation 2.5 · Accuracy 2.</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Keep talking.</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your words.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one contrast connector.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Although…, … . However,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30: Rolling on the River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 boat trip on a river. American English — VOA’s professional actors (Anna, Pete, Marsha, Ms. Weaver…), slowed learner delivery. It lasts 3:19.</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3:19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which foods are not healthy B. a boat trip on a river C. the things people can do at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Let's Learn English - Level 4</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Let’s Learn English - Level 4 - Lesson 30: Rolling on the River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fact, I am here to buy some seafood for my dinner party.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You came to the right place.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They have the freshest seafood in town.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sits on the Potomac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This _____ is important to the history and culture of the city.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Pete: Did you grow up on the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But I love the 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Well … this afternoon I am going on a 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Progress Test 3 – Reading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BRIDGE THAT CHANGED A VILLAGE Until 2019, the children of Nam Son village crossed the river to school in a small wooden boat. In the dry season the journey took ten minutes. In the rainy season, the river rose by three metres and the boat could not cross at all, so about forty children missed up to six weeks of school every year. In 2019 a bridge was built. It cost less than many people expected, and the villagers did most of the work themselves. Now the journey to school takes twelve minutes on foot, every day of the year. The head teacher says the change is easy to measure. Before the bridge, nine students from the village finished Grade 9. Last year, twenty-six did. However, not everything is simple. The bridge has also brought motorbikes, and last year there were two accidents on the village road, which was never designed for traffic. The village has now put up three signs and 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TEST3-R</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did children get to school before 2019, and what was the problem in the rainy season?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Who did most of the work on the bridge?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does the journey take now?</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figures show the change?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new problem has the bridge created, and what has the village done about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TEST3-P2A</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ONE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Always wear a h______ on a motorbike.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Cross the road at the z______ crossing.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film that makes you laugh is a c______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people watching a film are the a______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Children carry a l______ at the Mid-Autumn Festival.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She goes to school (by / on) foot.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must (wear / to wear) a helmet.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far (is / does) it from here to the market?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film was (boring / bored).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(Although / However) it was long, I liked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 saw (a / the) temple for the first 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TEST3-P2C</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word with a DIFFERENT sound.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bike / ride / train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ship / live / sheep</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think / three / this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month / fourth / mother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TEST3-S</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Choose a card, think for one minute, speak for two minutes. The examiner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journey to school and how to make it safer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A film I have seen (with one good and one weak point)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A festival I know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Test-taking strategies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Could you repeat that,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think for a second.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assessment.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TEST3-W</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task and write 100–120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road safety leaflet for your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review of a film you have seen.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 description of a festival you know.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test covers Units 7–9 only.</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Return the papers next lesson; compare with Tests 1 and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REV3L2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After the test — Compare your three test results. Write one thing that has improved and one goal for Units 10–12.</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Correction — Correct all your test mistakes and write the rule for each.</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10 — Write five sources of energy in English or Vietnamese.</a:t>
            </a:r>
          </a:p>
        </p:txBody>
      </p:sp>
      <p:sp>
        <p:nvSpPr>
          <p:cNvPr id="17" name="TextBox 16"/>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REV3L2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