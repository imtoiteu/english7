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1  ·  PERIOD 68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3 (Units 7–9):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7–9 (about 80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must/mustn't, distance and time structures, contrast connectors and articles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of Units 7–9</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third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Three-column word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TRAFFIC / FILMS / FESTIVALS. Teams write as many words as they can in 60 seconds.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Units 7–9 grammar in one map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RULES: must + bare verb (the law) / mustn't (forbidden). Compare with should (advice, Unit 2).</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How far is it…? – It IS five kilometres.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How long does it take…? – It TAKES twenty minutes.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CONTRAST: Although + clause / …, but … / … . However,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graphicFrame>
        <p:nvGraphicFramePr>
          <p:cNvPr id="8" name="Table 7"/>
          <p:cNvGraphicFramePr>
            <a:graphicFrameLocks noGrp="1"/>
          </p:cNvGraphicFramePr>
          <p:nvPr/>
        </p:nvGraphicFramePr>
        <p:xfrm>
          <a:off x="548640" y="1463040"/>
          <a:ext cx="11064240" cy="4846320"/>
        </p:xfrm>
        <a:graphic>
          <a:graphicData uri="http://schemas.openxmlformats.org/drawingml/2006/table">
            <a:tbl>
              <a:tblPr firstRow="1" bandRow="1">
                <a:tableStyleId>{5C22544A-7EE6-4342-B048-85BDC9FD1C3A}</a:tableStyleId>
              </a:tblPr>
              <a:tblGrid>
                <a:gridCol w="3688080"/>
                <a:gridCol w="3688080"/>
                <a:gridCol w="3688080"/>
              </a:tblGrid>
              <a:tr h="538480">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38480">
                <a:tc>
                  <a:txBody>
                    <a:bodyPr/>
                    <a:lstStyle/>
                    <a:p>
                      <a:r>
                        <a:rPr sz="1600" b="0">
                          <a:solidFill>
                            <a:srgbClr val="1B1B1B"/>
                          </a:solidFill>
                          <a:latin typeface="Calibri"/>
                        </a:rPr>
                        <a:t>law</a:t>
                      </a:r>
                    </a:p>
                  </a:txBody>
                  <a:tcPr>
                    <a:solidFill>
                      <a:srgbClr val="E3F3EE"/>
                    </a:solidFill>
                  </a:tcPr>
                </a:tc>
                <a:tc>
                  <a:txBody>
                    <a:bodyPr/>
                    <a:lstStyle/>
                    <a:p>
                      <a:r>
                        <a:rPr sz="1600" b="0">
                          <a:solidFill>
                            <a:srgbClr val="1B1B1B"/>
                          </a:solidFill>
                          <a:latin typeface="Calibri"/>
                        </a:rPr>
                        <a:t>must / mustn't</a:t>
                      </a:r>
                    </a:p>
                  </a:txBody>
                  <a:tcPr>
                    <a:solidFill>
                      <a:srgbClr val="E3F3EE"/>
                    </a:solidFill>
                  </a:tcPr>
                </a:tc>
                <a:tc>
                  <a:txBody>
                    <a:bodyPr/>
                    <a:lstStyle/>
                    <a:p>
                      <a:r>
                        <a:rPr sz="1600" b="0">
                          <a:solidFill>
                            <a:srgbClr val="1B1B1B"/>
                          </a:solidFill>
                          <a:latin typeface="Calibri"/>
                        </a:rPr>
                        <a:t>You must wear a helmet.</a:t>
                      </a:r>
                    </a:p>
                  </a:txBody>
                  <a:tcPr>
                    <a:solidFill>
                      <a:srgbClr val="E3F3EE"/>
                    </a:solidFill>
                  </a:tcPr>
                </a:tc>
              </a:tr>
              <a:tr h="538480">
                <a:tc>
                  <a:txBody>
                    <a:bodyPr/>
                    <a:lstStyle/>
                    <a:p>
                      <a:r>
                        <a:rPr sz="1600" b="0">
                          <a:solidFill>
                            <a:srgbClr val="1B1B1B"/>
                          </a:solidFill>
                          <a:latin typeface="Calibri"/>
                        </a:rPr>
                        <a:t>distance</a:t>
                      </a:r>
                    </a:p>
                  </a:txBody>
                  <a:tcPr>
                    <a:solidFill>
                      <a:srgbClr val="FFFFFF"/>
                    </a:solidFill>
                  </a:tcPr>
                </a:tc>
                <a:tc>
                  <a:txBody>
                    <a:bodyPr/>
                    <a:lstStyle/>
                    <a:p>
                      <a:r>
                        <a:rPr sz="1600" b="0">
                          <a:solidFill>
                            <a:srgbClr val="1B1B1B"/>
                          </a:solidFill>
                          <a:latin typeface="Calibri"/>
                        </a:rPr>
                        <a:t>It is + km</a:t>
                      </a:r>
                    </a:p>
                  </a:txBody>
                  <a:tcPr>
                    <a:solidFill>
                      <a:srgbClr val="FFFFFF"/>
                    </a:solidFill>
                  </a:tcPr>
                </a:tc>
                <a:tc>
                  <a:txBody>
                    <a:bodyPr/>
                    <a:lstStyle/>
                    <a:p>
                      <a:r>
                        <a:rPr sz="1600" b="0">
                          <a:solidFill>
                            <a:srgbClr val="1B1B1B"/>
                          </a:solidFill>
                          <a:latin typeface="Calibri"/>
                        </a:rPr>
                        <a:t>It is three kilometres.</a:t>
                      </a:r>
                    </a:p>
                  </a:txBody>
                  <a:tcPr>
                    <a:solidFill>
                      <a:srgbClr val="FFFFFF"/>
                    </a:solidFill>
                  </a:tcPr>
                </a:tc>
              </a:tr>
              <a:tr h="538480">
                <a:tc>
                  <a:txBody>
                    <a:bodyPr/>
                    <a:lstStyle/>
                    <a:p>
                      <a:r>
                        <a:rPr sz="1600" b="0">
                          <a:solidFill>
                            <a:srgbClr val="1B1B1B"/>
                          </a:solidFill>
                          <a:latin typeface="Calibri"/>
                        </a:rPr>
                        <a:t>time</a:t>
                      </a:r>
                    </a:p>
                  </a:txBody>
                  <a:tcPr>
                    <a:solidFill>
                      <a:srgbClr val="E3F3EE"/>
                    </a:solidFill>
                  </a:tcPr>
                </a:tc>
                <a:tc>
                  <a:txBody>
                    <a:bodyPr/>
                    <a:lstStyle/>
                    <a:p>
                      <a:r>
                        <a:rPr sz="1600" b="0">
                          <a:solidFill>
                            <a:srgbClr val="1B1B1B"/>
                          </a:solidFill>
                          <a:latin typeface="Calibri"/>
                        </a:rPr>
                        <a:t>It takes + minutes</a:t>
                      </a:r>
                    </a:p>
                  </a:txBody>
                  <a:tcPr>
                    <a:solidFill>
                      <a:srgbClr val="E3F3EE"/>
                    </a:solidFill>
                  </a:tcPr>
                </a:tc>
                <a:tc>
                  <a:txBody>
                    <a:bodyPr/>
                    <a:lstStyle/>
                    <a:p>
                      <a:r>
                        <a:rPr sz="1600" b="0">
                          <a:solidFill>
                            <a:srgbClr val="1B1B1B"/>
                          </a:solidFill>
                          <a:latin typeface="Calibri"/>
                        </a:rPr>
                        <a:t>It takes ten minutes.</a:t>
                      </a:r>
                    </a:p>
                  </a:txBody>
                  <a:tcPr>
                    <a:solidFill>
                      <a:srgbClr val="E3F3EE"/>
                    </a:solidFill>
                  </a:tcPr>
                </a:tc>
              </a:tr>
              <a:tr h="538480">
                <a:tc>
                  <a:txBody>
                    <a:bodyPr/>
                    <a:lstStyle/>
                    <a:p>
                      <a:r>
                        <a:rPr sz="1600" b="0">
                          <a:solidFill>
                            <a:srgbClr val="1B1B1B"/>
                          </a:solidFill>
                          <a:latin typeface="Calibri"/>
                        </a:rPr>
                        <a:t>contrast</a:t>
                      </a:r>
                    </a:p>
                  </a:txBody>
                  <a:tcPr>
                    <a:solidFill>
                      <a:srgbClr val="FFFFFF"/>
                    </a:solidFill>
                  </a:tcPr>
                </a:tc>
                <a:tc>
                  <a:txBody>
                    <a:bodyPr/>
                    <a:lstStyle/>
                    <a:p>
                      <a:r>
                        <a:rPr sz="1600" b="0">
                          <a:solidFill>
                            <a:srgbClr val="1B1B1B"/>
                          </a:solidFill>
                          <a:latin typeface="Calibri"/>
                        </a:rPr>
                        <a:t>although / but / however</a:t>
                      </a:r>
                    </a:p>
                  </a:txBody>
                  <a:tcPr>
                    <a:solidFill>
                      <a:srgbClr val="FFFFFF"/>
                    </a:solidFill>
                  </a:tcPr>
                </a:tc>
                <a:tc>
                  <a:txBody>
                    <a:bodyPr/>
                    <a:lstStyle/>
                    <a:p>
                      <a:r>
                        <a:rPr sz="1600" b="0">
                          <a:solidFill>
                            <a:srgbClr val="1B1B1B"/>
                          </a:solidFill>
                          <a:latin typeface="Calibri"/>
                        </a:rPr>
                        <a:t>Although it was long, I liked it.</a:t>
                      </a:r>
                    </a:p>
                  </a:txBody>
                  <a:tcPr>
                    <a:solidFill>
                      <a:srgbClr val="FFFFFF"/>
                    </a:solidFill>
                  </a:tcPr>
                </a:tc>
              </a:tr>
              <a:tr h="538480">
                <a:tc>
                  <a:txBody>
                    <a:bodyPr/>
                    <a:lstStyle/>
                    <a:p>
                      <a:r>
                        <a:rPr sz="1600" b="0">
                          <a:solidFill>
                            <a:srgbClr val="1B1B1B"/>
                          </a:solidFill>
                          <a:latin typeface="Calibri"/>
                        </a:rPr>
                        <a:t>thing</a:t>
                      </a:r>
                    </a:p>
                  </a:txBody>
                  <a:tcPr>
                    <a:solidFill>
                      <a:srgbClr val="E3F3EE"/>
                    </a:solidFill>
                  </a:tcPr>
                </a:tc>
                <a:tc>
                  <a:txBody>
                    <a:bodyPr/>
                    <a:lstStyle/>
                    <a:p>
                      <a:r>
                        <a:rPr sz="1600" b="0">
                          <a:solidFill>
                            <a:srgbClr val="1B1B1B"/>
                          </a:solidFill>
                          <a:latin typeface="Calibri"/>
                        </a:rPr>
                        <a:t>-ing adjective</a:t>
                      </a:r>
                    </a:p>
                  </a:txBody>
                  <a:tcPr>
                    <a:solidFill>
                      <a:srgbClr val="E3F3EE"/>
                    </a:solidFill>
                  </a:tcPr>
                </a:tc>
                <a:tc>
                  <a:txBody>
                    <a:bodyPr/>
                    <a:lstStyle/>
                    <a:p>
                      <a:r>
                        <a:rPr sz="1600" b="0">
                          <a:solidFill>
                            <a:srgbClr val="1B1B1B"/>
                          </a:solidFill>
                          <a:latin typeface="Calibri"/>
                        </a:rPr>
                        <a:t>The film was boring.</a:t>
                      </a:r>
                    </a:p>
                  </a:txBody>
                  <a:tcPr>
                    <a:solidFill>
                      <a:srgbClr val="E3F3EE"/>
                    </a:solidFill>
                  </a:tcPr>
                </a:tc>
              </a:tr>
              <a:tr h="538480">
                <a:tc>
                  <a:txBody>
                    <a:bodyPr/>
                    <a:lstStyle/>
                    <a:p>
                      <a:r>
                        <a:rPr sz="1600" b="0">
                          <a:solidFill>
                            <a:srgbClr val="1B1B1B"/>
                          </a:solidFill>
                          <a:latin typeface="Calibri"/>
                        </a:rPr>
                        <a:t>person</a:t>
                      </a:r>
                    </a:p>
                  </a:txBody>
                  <a:tcPr>
                    <a:solidFill>
                      <a:srgbClr val="FFFFFF"/>
                    </a:solidFill>
                  </a:tcPr>
                </a:tc>
                <a:tc>
                  <a:txBody>
                    <a:bodyPr/>
                    <a:lstStyle/>
                    <a:p>
                      <a:r>
                        <a:rPr sz="1600" b="0">
                          <a:solidFill>
                            <a:srgbClr val="1B1B1B"/>
                          </a:solidFill>
                          <a:latin typeface="Calibri"/>
                        </a:rPr>
                        <a:t>-ed adjective</a:t>
                      </a:r>
                    </a:p>
                  </a:txBody>
                  <a:tcPr>
                    <a:solidFill>
                      <a:srgbClr val="FFFFFF"/>
                    </a:solidFill>
                  </a:tcPr>
                </a:tc>
                <a:tc>
                  <a:txBody>
                    <a:bodyPr/>
                    <a:lstStyle/>
                    <a:p>
                      <a:r>
                        <a:rPr sz="1600" b="0">
                          <a:solidFill>
                            <a:srgbClr val="1B1B1B"/>
                          </a:solidFill>
                          <a:latin typeface="Calibri"/>
                        </a:rPr>
                        <a:t>I was bored.</a:t>
                      </a:r>
                    </a:p>
                  </a:txBody>
                  <a:tcPr>
                    <a:solidFill>
                      <a:srgbClr val="FFFFFF"/>
                    </a:solidFill>
                  </a:tcPr>
                </a:tc>
              </a:tr>
              <a:tr h="538480">
                <a:tc>
                  <a:txBody>
                    <a:bodyPr/>
                    <a:lstStyle/>
                    <a:p>
                      <a:r>
                        <a:rPr sz="1600" b="0">
                          <a:solidFill>
                            <a:srgbClr val="1B1B1B"/>
                          </a:solidFill>
                          <a:latin typeface="Calibri"/>
                        </a:rPr>
                        <a:t>first mention</a:t>
                      </a:r>
                    </a:p>
                  </a:txBody>
                  <a:tcPr>
                    <a:solidFill>
                      <a:srgbClr val="E3F3EE"/>
                    </a:solidFill>
                  </a:tcPr>
                </a:tc>
                <a:tc>
                  <a:txBody>
                    <a:bodyPr/>
                    <a:lstStyle/>
                    <a:p>
                      <a:r>
                        <a:rPr sz="1600" b="0">
                          <a:solidFill>
                            <a:srgbClr val="1B1B1B"/>
                          </a:solidFill>
                          <a:latin typeface="Calibri"/>
                        </a:rPr>
                        <a:t>a / an</a:t>
                      </a:r>
                    </a:p>
                  </a:txBody>
                  <a:tcPr>
                    <a:solidFill>
                      <a:srgbClr val="E3F3EE"/>
                    </a:solidFill>
                  </a:tcPr>
                </a:tc>
                <a:tc>
                  <a:txBody>
                    <a:bodyPr/>
                    <a:lstStyle/>
                    <a:p>
                      <a:r>
                        <a:rPr sz="1600" b="0">
                          <a:solidFill>
                            <a:srgbClr val="1B1B1B"/>
                          </a:solidFill>
                          <a:latin typeface="Calibri"/>
                        </a:rPr>
                        <a:t>I saw a temple.</a:t>
                      </a:r>
                    </a:p>
                  </a:txBody>
                  <a:tcPr>
                    <a:solidFill>
                      <a:srgbClr val="E3F3EE"/>
                    </a:solidFill>
                  </a:tcPr>
                </a:tc>
              </a:tr>
              <a:tr h="538480">
                <a:tc>
                  <a:txBody>
                    <a:bodyPr/>
                    <a:lstStyle/>
                    <a:p>
                      <a:r>
                        <a:rPr sz="1600" b="0">
                          <a:solidFill>
                            <a:srgbClr val="1B1B1B"/>
                          </a:solidFill>
                          <a:latin typeface="Calibri"/>
                        </a:rPr>
                        <a:t>general plural</a:t>
                      </a:r>
                    </a:p>
                  </a:txBody>
                  <a:tcPr>
                    <a:solidFill>
                      <a:srgbClr val="FFFFFF"/>
                    </a:solidFill>
                  </a:tcPr>
                </a:tc>
                <a:tc>
                  <a:txBody>
                    <a:bodyPr/>
                    <a:lstStyle/>
                    <a:p>
                      <a:r>
                        <a:rPr sz="1600" b="0">
                          <a:solidFill>
                            <a:srgbClr val="1B1B1B"/>
                          </a:solidFill>
                          <a:latin typeface="Calibri"/>
                        </a:rPr>
                        <a:t>no article</a:t>
                      </a:r>
                    </a:p>
                  </a:txBody>
                  <a:tcPr>
                    <a:solidFill>
                      <a:srgbClr val="FFFFFF"/>
                    </a:solidFill>
                  </a:tcPr>
                </a:tc>
                <a:tc>
                  <a:txBody>
                    <a:bodyPr/>
                    <a:lstStyle/>
                    <a:p>
                      <a:r>
                        <a:rPr sz="1600" b="0">
                          <a:solidFill>
                            <a:srgbClr val="1B1B1B"/>
                          </a:solidFill>
                          <a:latin typeface="Calibri"/>
                        </a:rPr>
                        <a:t>Children love festivals.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it is only two kilometres, it takes twenty minutes at rush hour, so you must leave early.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three most expensive errors: *by foot*, *Although … but …*, and missing articles.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it is only two kilometres, it takes twenty minutes at rush hour, so you must leave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7–9</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/aɪ/ vs /eɪ/ (bike–bake), /ɪ/ vs /iː/ (ship–sheep), /θ/ vs /ð/ (think–this), and final consonants (light, month).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bike – bake, ride – raid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ship – sheep, live – leave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 this, month, third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light, right, straight,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third month.</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Turn right at the traffic light and take the straight road.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11: This Is My Neighborhood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places in a neighbourhood. American English — VOA’s professional actors (Anna, Pete, Marsha, Ms. Weaver…), slowed learner delivery. It lasts 1:50.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1:50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places in a neighbourhood B. which snacks are healthy and which are not C. talking about amounts of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now I need to buy stamps.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before we get ice cream, I need to return seven books to the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I can return the books here.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Marsha, these are letters to my family and friends back home … nine letters!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a bank behind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It is on this _____ on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Is there a post office _____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But there is a mailbox across from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Is there a bank _____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Nam, Thanks for your last email. You asked about my week, so here it is. On Monday I had a small accident on my bike. Don't worry — nothing serious. I was cycling to school and a car turned left without looking. Although I fell off, I was wearing a helmet, so I only hurt my elbow. My mother says I must always leave five minutes earlier, because I hurry and take risks. On Saturday we went to the cinema. We saw a documentary about the ocean. It's only 74 minutes, and although there is no music at all, it was the most beautiful film I have seen this year. However, my brother was bored after twenty minutes and slept until the end! Next week is our village festival. It dates back about two hundred years. On the first morning there is a procession to the temple, and in the afternoon there are boat races on the river. People come from all the villages around, so the streets are crowded and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happened to Kevin on Monday, and why was it not serious?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advice does his mother give, and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they see at the cinema, and what did Kevin think of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did his brother react?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Describe two things that happen at the village festival.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two questions does Kevin 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one 'must'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contrast connectors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-ed adjective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'dates back' chunk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articles used for first mention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7–9.</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wear it on your head: h______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black and white lines to cross: z______ c______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something bad on the road: a______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film that makes you laugh: c______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people watching a film: a______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7–9.</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light children carry at a festival: l______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a traditional way of doing something: c______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 very old story: l______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 on)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(wear /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(mustn't /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(is / does) it from here to school?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 takes) twenty minutes by bus.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film was (boring / bored).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I was (exciting / excited).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(Although / However) it was long, I liked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It was long. (But / However), I liked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saw (a / the) temple for the first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from here to the market?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takes about five kilometres.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Turn to left at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I am very boring in this lesson.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The film was frightened.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Although it was long but I enjoyed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The film is slow, however the ending is good.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It's worth to watch.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It talks about a boy that he loses his dog.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I saw temple on the hill.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She wore a ao dai.</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The children love the festivals.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Tet is most important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Why people clean the house?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People celebrate by eat special food.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REV3-S1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REV3-S1 with two different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journey to school (transport, distance, time, one danger, two rules)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A film I have seen (kind, story, two good points, one weak point, recommendation)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festival I know (when, where, what people do, why it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Coping strategies in a test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repeat that?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mean…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kind of…</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in English?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practice with the three cards.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100–120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safety leaflet (heading + five rules with reasons + slogan).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film review (facts, good points, weak point, recommendation).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festival description (four paragraphs).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 vs should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(distance) / It takes (time)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but / however</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and -ing adjectives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articles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24 words from Units 7–9 with Vietnamese meanings: 8 traffic, 8 film, 8 festival.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REV3-W1 (100–120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REV3L1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