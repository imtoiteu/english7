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audio/FREV3L1_1_de238e35-97b9-4c21-81e3-e3c26fbeccaa_hq.mp3"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9  ·  LESSON 1  ·  PERIOD 70</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REVIEW &amp; PRACTICE</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Review 3 (Units 7–9): language consolidation</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REV3L1</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revise the key vocabulary of Units 7–9 (about 80 items)</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use must/mustn't, distance and time structures, contrast connectors and articles</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correct the 18 typical errors of Units 7–9</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prepare for the third progress test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Three-column word storm  (5')</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REV3L1</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TRAFFIC / FILMS / FESTIVALS. Teams write as many words as they can in 60 seconds.</a:t>
            </a:r>
          </a:p>
        </p:txBody>
      </p:sp>
      <p:sp>
        <p:nvSpPr>
          <p:cNvPr id="10" name="TextBox 9"/>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Write words in teams.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Grammar: Units 7–9 grammar in one map</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REV3L1</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RULES: must + bare verb (the law) / mustn't (forbidden). Compare with should (advice, Unit 2).</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DISTANCE: How far is it…? – It IS five kilometres.</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TIME: How long does it take…? – It TAKES twenty minutes.</a:t>
            </a:r>
          </a:p>
        </p:txBody>
      </p:sp>
      <p:sp>
        <p:nvSpPr>
          <p:cNvPr id="14" name="Rounded Rectangle 13"/>
          <p:cNvSpPr/>
          <p:nvPr/>
        </p:nvSpPr>
        <p:spPr>
          <a:xfrm>
            <a:off x="640080" y="4535424"/>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0120" y="4608576"/>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CONTRAST: Although + clause / …, but … / … . However,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REV3L1</a:t>
            </a:r>
          </a:p>
        </p:txBody>
      </p:sp>
      <p:graphicFrame>
        <p:nvGraphicFramePr>
          <p:cNvPr id="8" name="Table 7"/>
          <p:cNvGraphicFramePr>
            <a:graphicFrameLocks noGrp="1"/>
          </p:cNvGraphicFramePr>
          <p:nvPr/>
        </p:nvGraphicFramePr>
        <p:xfrm>
          <a:off x="548640" y="1463040"/>
          <a:ext cx="11064240" cy="4846320"/>
        </p:xfrm>
        <a:graphic>
          <a:graphicData uri="http://schemas.openxmlformats.org/drawingml/2006/table">
            <a:tbl>
              <a:tblPr firstRow="1" bandRow="1">
                <a:tableStyleId>{5C22544A-7EE6-4342-B048-85BDC9FD1C3A}</a:tableStyleId>
              </a:tblPr>
              <a:tblGrid>
                <a:gridCol w="3688080"/>
                <a:gridCol w="3688080"/>
                <a:gridCol w="3688080"/>
              </a:tblGrid>
              <a:tr h="538480">
                <a:tc>
                  <a:txBody>
                    <a:bodyPr/>
                    <a:lstStyle/>
                    <a:p>
                      <a:r>
                        <a:rPr sz="1600" b="1">
                          <a:solidFill>
                            <a:srgbClr val="FFFFFF"/>
                          </a:solidFill>
                          <a:latin typeface="Calibri"/>
                        </a:rPr>
                        <a:t>Meaning</a:t>
                      </a:r>
                    </a:p>
                  </a:txBody>
                  <a:tcPr>
                    <a:solidFill>
                      <a:srgbClr val="0E7C66"/>
                    </a:solidFill>
                  </a:tcPr>
                </a:tc>
                <a:tc>
                  <a:txBody>
                    <a:bodyPr/>
                    <a:lstStyle/>
                    <a:p>
                      <a:r>
                        <a:rPr sz="1600" b="1">
                          <a:solidFill>
                            <a:srgbClr val="FFFFFF"/>
                          </a:solidFill>
                          <a:latin typeface="Calibri"/>
                        </a:rPr>
                        <a:t>Structure</a:t>
                      </a:r>
                    </a:p>
                  </a:txBody>
                  <a:tcPr>
                    <a:solidFill>
                      <a:srgbClr val="0E7C66"/>
                    </a:solidFill>
                  </a:tcPr>
                </a:tc>
                <a:tc>
                  <a:txBody>
                    <a:bodyPr/>
                    <a:lstStyle/>
                    <a:p>
                      <a:r>
                        <a:rPr sz="1600" b="1">
                          <a:solidFill>
                            <a:srgbClr val="FFFFFF"/>
                          </a:solidFill>
                          <a:latin typeface="Calibri"/>
                        </a:rPr>
                        <a:t>Example</a:t>
                      </a:r>
                    </a:p>
                  </a:txBody>
                  <a:tcPr>
                    <a:solidFill>
                      <a:srgbClr val="0E7C66"/>
                    </a:solidFill>
                  </a:tcPr>
                </a:tc>
              </a:tr>
              <a:tr h="538480">
                <a:tc>
                  <a:txBody>
                    <a:bodyPr/>
                    <a:lstStyle/>
                    <a:p>
                      <a:r>
                        <a:rPr sz="1600" b="0">
                          <a:solidFill>
                            <a:srgbClr val="1B1B1B"/>
                          </a:solidFill>
                          <a:latin typeface="Calibri"/>
                        </a:rPr>
                        <a:t>law</a:t>
                      </a:r>
                    </a:p>
                  </a:txBody>
                  <a:tcPr>
                    <a:solidFill>
                      <a:srgbClr val="E3F3EE"/>
                    </a:solidFill>
                  </a:tcPr>
                </a:tc>
                <a:tc>
                  <a:txBody>
                    <a:bodyPr/>
                    <a:lstStyle/>
                    <a:p>
                      <a:r>
                        <a:rPr sz="1600" b="0">
                          <a:solidFill>
                            <a:srgbClr val="1B1B1B"/>
                          </a:solidFill>
                          <a:latin typeface="Calibri"/>
                        </a:rPr>
                        <a:t>must / mustn't</a:t>
                      </a:r>
                    </a:p>
                  </a:txBody>
                  <a:tcPr>
                    <a:solidFill>
                      <a:srgbClr val="E3F3EE"/>
                    </a:solidFill>
                  </a:tcPr>
                </a:tc>
                <a:tc>
                  <a:txBody>
                    <a:bodyPr/>
                    <a:lstStyle/>
                    <a:p>
                      <a:r>
                        <a:rPr sz="1600" b="0">
                          <a:solidFill>
                            <a:srgbClr val="1B1B1B"/>
                          </a:solidFill>
                          <a:latin typeface="Calibri"/>
                        </a:rPr>
                        <a:t>You must wear a helmet.</a:t>
                      </a:r>
                    </a:p>
                  </a:txBody>
                  <a:tcPr>
                    <a:solidFill>
                      <a:srgbClr val="E3F3EE"/>
                    </a:solidFill>
                  </a:tcPr>
                </a:tc>
              </a:tr>
              <a:tr h="538480">
                <a:tc>
                  <a:txBody>
                    <a:bodyPr/>
                    <a:lstStyle/>
                    <a:p>
                      <a:r>
                        <a:rPr sz="1600" b="0">
                          <a:solidFill>
                            <a:srgbClr val="1B1B1B"/>
                          </a:solidFill>
                          <a:latin typeface="Calibri"/>
                        </a:rPr>
                        <a:t>distance</a:t>
                      </a:r>
                    </a:p>
                  </a:txBody>
                  <a:tcPr>
                    <a:solidFill>
                      <a:srgbClr val="FFFFFF"/>
                    </a:solidFill>
                  </a:tcPr>
                </a:tc>
                <a:tc>
                  <a:txBody>
                    <a:bodyPr/>
                    <a:lstStyle/>
                    <a:p>
                      <a:r>
                        <a:rPr sz="1600" b="0">
                          <a:solidFill>
                            <a:srgbClr val="1B1B1B"/>
                          </a:solidFill>
                          <a:latin typeface="Calibri"/>
                        </a:rPr>
                        <a:t>It is + km</a:t>
                      </a:r>
                    </a:p>
                  </a:txBody>
                  <a:tcPr>
                    <a:solidFill>
                      <a:srgbClr val="FFFFFF"/>
                    </a:solidFill>
                  </a:tcPr>
                </a:tc>
                <a:tc>
                  <a:txBody>
                    <a:bodyPr/>
                    <a:lstStyle/>
                    <a:p>
                      <a:r>
                        <a:rPr sz="1600" b="0">
                          <a:solidFill>
                            <a:srgbClr val="1B1B1B"/>
                          </a:solidFill>
                          <a:latin typeface="Calibri"/>
                        </a:rPr>
                        <a:t>It is three kilometres.</a:t>
                      </a:r>
                    </a:p>
                  </a:txBody>
                  <a:tcPr>
                    <a:solidFill>
                      <a:srgbClr val="FFFFFF"/>
                    </a:solidFill>
                  </a:tcPr>
                </a:tc>
              </a:tr>
              <a:tr h="538480">
                <a:tc>
                  <a:txBody>
                    <a:bodyPr/>
                    <a:lstStyle/>
                    <a:p>
                      <a:r>
                        <a:rPr sz="1600" b="0">
                          <a:solidFill>
                            <a:srgbClr val="1B1B1B"/>
                          </a:solidFill>
                          <a:latin typeface="Calibri"/>
                        </a:rPr>
                        <a:t>time</a:t>
                      </a:r>
                    </a:p>
                  </a:txBody>
                  <a:tcPr>
                    <a:solidFill>
                      <a:srgbClr val="E3F3EE"/>
                    </a:solidFill>
                  </a:tcPr>
                </a:tc>
                <a:tc>
                  <a:txBody>
                    <a:bodyPr/>
                    <a:lstStyle/>
                    <a:p>
                      <a:r>
                        <a:rPr sz="1600" b="0">
                          <a:solidFill>
                            <a:srgbClr val="1B1B1B"/>
                          </a:solidFill>
                          <a:latin typeface="Calibri"/>
                        </a:rPr>
                        <a:t>It takes + minutes</a:t>
                      </a:r>
                    </a:p>
                  </a:txBody>
                  <a:tcPr>
                    <a:solidFill>
                      <a:srgbClr val="E3F3EE"/>
                    </a:solidFill>
                  </a:tcPr>
                </a:tc>
                <a:tc>
                  <a:txBody>
                    <a:bodyPr/>
                    <a:lstStyle/>
                    <a:p>
                      <a:r>
                        <a:rPr sz="1600" b="0">
                          <a:solidFill>
                            <a:srgbClr val="1B1B1B"/>
                          </a:solidFill>
                          <a:latin typeface="Calibri"/>
                        </a:rPr>
                        <a:t>It takes ten minutes.</a:t>
                      </a:r>
                    </a:p>
                  </a:txBody>
                  <a:tcPr>
                    <a:solidFill>
                      <a:srgbClr val="E3F3EE"/>
                    </a:solidFill>
                  </a:tcPr>
                </a:tc>
              </a:tr>
              <a:tr h="538480">
                <a:tc>
                  <a:txBody>
                    <a:bodyPr/>
                    <a:lstStyle/>
                    <a:p>
                      <a:r>
                        <a:rPr sz="1600" b="0">
                          <a:solidFill>
                            <a:srgbClr val="1B1B1B"/>
                          </a:solidFill>
                          <a:latin typeface="Calibri"/>
                        </a:rPr>
                        <a:t>contrast</a:t>
                      </a:r>
                    </a:p>
                  </a:txBody>
                  <a:tcPr>
                    <a:solidFill>
                      <a:srgbClr val="FFFFFF"/>
                    </a:solidFill>
                  </a:tcPr>
                </a:tc>
                <a:tc>
                  <a:txBody>
                    <a:bodyPr/>
                    <a:lstStyle/>
                    <a:p>
                      <a:r>
                        <a:rPr sz="1600" b="0">
                          <a:solidFill>
                            <a:srgbClr val="1B1B1B"/>
                          </a:solidFill>
                          <a:latin typeface="Calibri"/>
                        </a:rPr>
                        <a:t>although / but / however</a:t>
                      </a:r>
                    </a:p>
                  </a:txBody>
                  <a:tcPr>
                    <a:solidFill>
                      <a:srgbClr val="FFFFFF"/>
                    </a:solidFill>
                  </a:tcPr>
                </a:tc>
                <a:tc>
                  <a:txBody>
                    <a:bodyPr/>
                    <a:lstStyle/>
                    <a:p>
                      <a:r>
                        <a:rPr sz="1600" b="0">
                          <a:solidFill>
                            <a:srgbClr val="1B1B1B"/>
                          </a:solidFill>
                          <a:latin typeface="Calibri"/>
                        </a:rPr>
                        <a:t>Although it was long, I liked it.</a:t>
                      </a:r>
                    </a:p>
                  </a:txBody>
                  <a:tcPr>
                    <a:solidFill>
                      <a:srgbClr val="FFFFFF"/>
                    </a:solidFill>
                  </a:tcPr>
                </a:tc>
              </a:tr>
              <a:tr h="538480">
                <a:tc>
                  <a:txBody>
                    <a:bodyPr/>
                    <a:lstStyle/>
                    <a:p>
                      <a:r>
                        <a:rPr sz="1600" b="0">
                          <a:solidFill>
                            <a:srgbClr val="1B1B1B"/>
                          </a:solidFill>
                          <a:latin typeface="Calibri"/>
                        </a:rPr>
                        <a:t>thing</a:t>
                      </a:r>
                    </a:p>
                  </a:txBody>
                  <a:tcPr>
                    <a:solidFill>
                      <a:srgbClr val="E3F3EE"/>
                    </a:solidFill>
                  </a:tcPr>
                </a:tc>
                <a:tc>
                  <a:txBody>
                    <a:bodyPr/>
                    <a:lstStyle/>
                    <a:p>
                      <a:r>
                        <a:rPr sz="1600" b="0">
                          <a:solidFill>
                            <a:srgbClr val="1B1B1B"/>
                          </a:solidFill>
                          <a:latin typeface="Calibri"/>
                        </a:rPr>
                        <a:t>-ing adjective</a:t>
                      </a:r>
                    </a:p>
                  </a:txBody>
                  <a:tcPr>
                    <a:solidFill>
                      <a:srgbClr val="E3F3EE"/>
                    </a:solidFill>
                  </a:tcPr>
                </a:tc>
                <a:tc>
                  <a:txBody>
                    <a:bodyPr/>
                    <a:lstStyle/>
                    <a:p>
                      <a:r>
                        <a:rPr sz="1600" b="0">
                          <a:solidFill>
                            <a:srgbClr val="1B1B1B"/>
                          </a:solidFill>
                          <a:latin typeface="Calibri"/>
                        </a:rPr>
                        <a:t>The film was boring.</a:t>
                      </a:r>
                    </a:p>
                  </a:txBody>
                  <a:tcPr>
                    <a:solidFill>
                      <a:srgbClr val="E3F3EE"/>
                    </a:solidFill>
                  </a:tcPr>
                </a:tc>
              </a:tr>
              <a:tr h="538480">
                <a:tc>
                  <a:txBody>
                    <a:bodyPr/>
                    <a:lstStyle/>
                    <a:p>
                      <a:r>
                        <a:rPr sz="1600" b="0">
                          <a:solidFill>
                            <a:srgbClr val="1B1B1B"/>
                          </a:solidFill>
                          <a:latin typeface="Calibri"/>
                        </a:rPr>
                        <a:t>person</a:t>
                      </a:r>
                    </a:p>
                  </a:txBody>
                  <a:tcPr>
                    <a:solidFill>
                      <a:srgbClr val="FFFFFF"/>
                    </a:solidFill>
                  </a:tcPr>
                </a:tc>
                <a:tc>
                  <a:txBody>
                    <a:bodyPr/>
                    <a:lstStyle/>
                    <a:p>
                      <a:r>
                        <a:rPr sz="1600" b="0">
                          <a:solidFill>
                            <a:srgbClr val="1B1B1B"/>
                          </a:solidFill>
                          <a:latin typeface="Calibri"/>
                        </a:rPr>
                        <a:t>-ed adjective</a:t>
                      </a:r>
                    </a:p>
                  </a:txBody>
                  <a:tcPr>
                    <a:solidFill>
                      <a:srgbClr val="FFFFFF"/>
                    </a:solidFill>
                  </a:tcPr>
                </a:tc>
                <a:tc>
                  <a:txBody>
                    <a:bodyPr/>
                    <a:lstStyle/>
                    <a:p>
                      <a:r>
                        <a:rPr sz="1600" b="0">
                          <a:solidFill>
                            <a:srgbClr val="1B1B1B"/>
                          </a:solidFill>
                          <a:latin typeface="Calibri"/>
                        </a:rPr>
                        <a:t>I was bored.</a:t>
                      </a:r>
                    </a:p>
                  </a:txBody>
                  <a:tcPr>
                    <a:solidFill>
                      <a:srgbClr val="FFFFFF"/>
                    </a:solidFill>
                  </a:tcPr>
                </a:tc>
              </a:tr>
              <a:tr h="538480">
                <a:tc>
                  <a:txBody>
                    <a:bodyPr/>
                    <a:lstStyle/>
                    <a:p>
                      <a:r>
                        <a:rPr sz="1600" b="0">
                          <a:solidFill>
                            <a:srgbClr val="1B1B1B"/>
                          </a:solidFill>
                          <a:latin typeface="Calibri"/>
                        </a:rPr>
                        <a:t>first mention</a:t>
                      </a:r>
                    </a:p>
                  </a:txBody>
                  <a:tcPr>
                    <a:solidFill>
                      <a:srgbClr val="E3F3EE"/>
                    </a:solidFill>
                  </a:tcPr>
                </a:tc>
                <a:tc>
                  <a:txBody>
                    <a:bodyPr/>
                    <a:lstStyle/>
                    <a:p>
                      <a:r>
                        <a:rPr sz="1600" b="0">
                          <a:solidFill>
                            <a:srgbClr val="1B1B1B"/>
                          </a:solidFill>
                          <a:latin typeface="Calibri"/>
                        </a:rPr>
                        <a:t>a / an</a:t>
                      </a:r>
                    </a:p>
                  </a:txBody>
                  <a:tcPr>
                    <a:solidFill>
                      <a:srgbClr val="E3F3EE"/>
                    </a:solidFill>
                  </a:tcPr>
                </a:tc>
                <a:tc>
                  <a:txBody>
                    <a:bodyPr/>
                    <a:lstStyle/>
                    <a:p>
                      <a:r>
                        <a:rPr sz="1600" b="0">
                          <a:solidFill>
                            <a:srgbClr val="1B1B1B"/>
                          </a:solidFill>
                          <a:latin typeface="Calibri"/>
                        </a:rPr>
                        <a:t>I saw a temple.</a:t>
                      </a:r>
                    </a:p>
                  </a:txBody>
                  <a:tcPr>
                    <a:solidFill>
                      <a:srgbClr val="E3F3EE"/>
                    </a:solidFill>
                  </a:tcPr>
                </a:tc>
              </a:tr>
              <a:tr h="538480">
                <a:tc>
                  <a:txBody>
                    <a:bodyPr/>
                    <a:lstStyle/>
                    <a:p>
                      <a:r>
                        <a:rPr sz="1600" b="0">
                          <a:solidFill>
                            <a:srgbClr val="1B1B1B"/>
                          </a:solidFill>
                          <a:latin typeface="Calibri"/>
                        </a:rPr>
                        <a:t>general plural</a:t>
                      </a:r>
                    </a:p>
                  </a:txBody>
                  <a:tcPr>
                    <a:solidFill>
                      <a:srgbClr val="FFFFFF"/>
                    </a:solidFill>
                  </a:tcPr>
                </a:tc>
                <a:tc>
                  <a:txBody>
                    <a:bodyPr/>
                    <a:lstStyle/>
                    <a:p>
                      <a:r>
                        <a:rPr sz="1600" b="0">
                          <a:solidFill>
                            <a:srgbClr val="1B1B1B"/>
                          </a:solidFill>
                          <a:latin typeface="Calibri"/>
                        </a:rPr>
                        <a:t>no article</a:t>
                      </a:r>
                    </a:p>
                  </a:txBody>
                  <a:tcPr>
                    <a:solidFill>
                      <a:srgbClr val="FFFFFF"/>
                    </a:solidFill>
                  </a:tcPr>
                </a:tc>
                <a:tc>
                  <a:txBody>
                    <a:bodyPr/>
                    <a:lstStyle/>
                    <a:p>
                      <a:r>
                        <a:rPr sz="1600" b="0">
                          <a:solidFill>
                            <a:srgbClr val="1B1B1B"/>
                          </a:solidFill>
                          <a:latin typeface="Calibri"/>
                        </a:rPr>
                        <a:t>Children love festivals.</a:t>
                      </a:r>
                    </a:p>
                  </a:txBody>
                  <a:tcP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REV3L1</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Although it is only two kilometres, it takes twenty minutes at rush hour, so you must leave early.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REV3L1</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The three most expensive errors: *by foot*, *Although … but …*, and missing articles.</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Although it is only two kilometres, it takes twenty minutes at rush hour, so you must leave early.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Pronunciation: Sounds of Units 7–9</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REV3L1</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Four checks: /aɪ/ vs /eɪ/ (bike–bake), /ɪ/ vs /iː/ (ship–sheep), /θ/ vs /ð/ (think–this), and final consonants (light, month).</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bike – bake, ride – raid</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ship – sheep, live – leave</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think – this, month, third</a:t>
            </a:r>
          </a:p>
        </p:txBody>
      </p:sp>
      <p:sp>
        <p:nvSpPr>
          <p:cNvPr id="16" name="Rounded Rectangle 15"/>
          <p:cNvSpPr/>
          <p:nvPr/>
        </p:nvSpPr>
        <p:spPr>
          <a:xfrm>
            <a:off x="731520" y="5020056"/>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05840" y="5065776"/>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light, right, straight, month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REV3L1</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They think this is the third month.</a:t>
            </a:r>
          </a:p>
        </p:txBody>
      </p:sp>
      <p:sp>
        <p:nvSpPr>
          <p:cNvPr id="10" name="Rounded Rectangle 9"/>
          <p:cNvSpPr/>
          <p:nvPr/>
        </p:nvSpPr>
        <p:spPr>
          <a:xfrm>
            <a:off x="731520" y="278892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88036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Turn right at the traffic light and take the straight road.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Lesson 11: This Is My Neighborhood</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REV3L1</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will hear a real recording: the places in a neighbourhood. American English — VOA’s professional actors (Anna, Pete, Marsha, Ms. Weaver…), slowed learner delivery. It lasts 1:50.</a:t>
            </a:r>
          </a:p>
        </p:txBody>
      </p:sp>
      <p:sp>
        <p:nvSpPr>
          <p:cNvPr id="10" name="TextBox 9"/>
          <p:cNvSpPr txBox="1"/>
          <p:nvPr/>
        </p:nvSpPr>
        <p:spPr>
          <a:xfrm>
            <a:off x="731520" y="4023360"/>
            <a:ext cx="10698480" cy="1463040"/>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Rounded Rectangle 10"/>
          <p:cNvSpPr/>
          <p:nvPr/>
        </p:nvSpPr>
        <p:spPr>
          <a:xfrm>
            <a:off x="731520" y="5440680"/>
            <a:ext cx="10698480" cy="530352"/>
          </a:xfrm>
          <a:prstGeom prst="roundRect">
            <a:avLst>
              <a:gd name="adj" fmla="val 6000"/>
            </a:avLst>
          </a:prstGeom>
          <a:solidFill>
            <a:srgbClr val="E7F1FA"/>
          </a:solidFill>
          <a:ln w="19050">
            <a:solidFill>
              <a:srgbClr val="1E6FB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42C4F"/>
                </a:solidFill>
                <a:hlinkClick r:id="rId2"/>
              </a:rPr>
              <a:t>▶ Play audio</a:t>
            </a:r>
          </a:p>
        </p:txBody>
      </p:sp>
      <p:sp>
        <p:nvSpPr>
          <p:cNvPr id="12" name="TextBox 11"/>
          <p:cNvSpPr txBox="1"/>
          <p:nvPr/>
        </p:nvSpPr>
        <p:spPr>
          <a:xfrm>
            <a:off x="731520" y="6062472"/>
            <a:ext cx="10698480" cy="502920"/>
          </a:xfrm>
          <a:prstGeom prst="rect">
            <a:avLst/>
          </a:prstGeom>
          <a:noFill/>
        </p:spPr>
        <p:txBody>
          <a:bodyPr wrap="square" anchor="t">
            <a:spAutoFit/>
          </a:bodyPr>
          <a:lstStyle/>
          <a:p>
            <a:pPr algn="l">
              <a:lnSpc>
                <a:spcPct val="100000"/>
              </a:lnSpc>
              <a:spcAft>
                <a:spcPts val="600"/>
              </a:spcAft>
            </a:pPr>
            <a:r>
              <a:rPr sz="1100" b="0" i="0">
                <a:solidFill>
                  <a:srgbClr val="6B7280"/>
                </a:solidFill>
                <a:latin typeface="Calibri"/>
              </a:rPr>
              <a:t>VOA Learning English — Let’s Learn English, Level 1 · 1:50 · American English — VOA’s professional actors (Anna, Pete, Marsha, Ms. Weaver…), slowed learner delivery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REV3L1-L1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Choose the best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the recording mainly about?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the places in a neighbourhood B. which snacks are healthy and which are not C. talking about amounts of things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REV3L1-L2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again. Write T (true) or F (false).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Marsha, now I need to buy stamps.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Marsha, before we get ice cream, I need to return seven books to the library.</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Marsha, I can return the books here.</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Marsha, these are letters to my family and friends back home … nine letters!</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There is a bank behind you.</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REV3L1-L3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more and write the missing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Marsha: It is on this _____ on the corner.</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Anna: Is there a post office _____ here?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Marsha: But there is a mailbox across from the 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Anna: Is there a bank _____ here?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Reading: Review reading: A letter from a pen friend</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REV3L1</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Hi Nam, Thanks for your last email. You asked about my week, so here it is. On Monday I had a small accident on my bike. Don't worry — nothing serious. I was cycling to school and a car turned left without looking. Although I fell off, I was wearing a helmet, so I only hurt my elbow. My mother says I must always leave five minutes earlier, because I hurry and take risks. On Saturday we went to the cinema. We saw a documentary about the ocean. It's only 74 minutes, and although there is no music at all, it was the most beautiful film I have seen this year. However, my brother was bored after twenty minutes and slept until the end! Next week is our village festival. It dates back about two hundred years. On the first morning there is a procession to the temple, and in the afternoon there are boat races on the river. People come from all the villages around, so the streets are crowded and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REV3-R1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in full sentences.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happened to Kevin on Monday, and why was it not serious?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What advice does his mother give, and why?</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What did they see at the cinema, and what did Kevin think of it?</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How did his brother react?</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Describe two things that happen at the village festival.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REV3-R1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in full sentences.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What two questions does Kevin ask?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REV3-R2</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Find in the letter: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one 'must' sentence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two contrast connectors</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one -ed adjective</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one 'dates back' chunk</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two articles used for first mention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REV3-G1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word from Units 7–9.</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you wear it on your head: h______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black and white lines to cross: z______ c______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something bad on the road: a______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a film that makes you laugh: c______</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the people watching a film: a______</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REV3-G1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word from Units 7–9.</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a light children carry at a festival: l______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7. a traditional way of doing something: c______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8. a very old story: l______</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REV3-G2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Circle the correct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I go to school (by / on) foot.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You must (wear / to wear) a helmet.</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You (mustn't / don't must) use your phone.</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How far (is / does) it from here to school?</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It (is / takes) twenty minutes by bus.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REV3-G2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Circle the correct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The film was (boring / bored).</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7. I was (exciting / excited).</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8. (Although / However) it was long, I liked it.</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9. It was long. (But / However), I liked it.</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10. I saw (a / the) temple for the first time.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  (1/4)</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REV3-I1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Correct one mistake in each sentence.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I go to school by foot.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You must to wear a helmet.</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You don't must use your phone.</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How far from here to the market?</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It takes about five kilometres.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  (2/4)</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REV3-I1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Correct one mistake in each sentence.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Turn to left at the corner.</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7. I am very boring in this lesson.</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8. The film was frightened.</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9. Although it was long but I enjoyed it.</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10. The film is slow, however the ending is good.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  (3/4)</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REV3-I1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Correct one mistake in each sentence.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11. It's worth to watch.</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12. It talks about a boy that he loses his dog.</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13. I saw temple on the hill.</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14. She wore a ao dai.</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15. The children love the festivals.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  (4/4)</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REV3-I1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Correct one mistake in each sentence.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16. Tet is most important festival.</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17. Why people clean the house?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18. People celebrate by eat special food.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REV3-I2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Do REV3-S1 with two different partners.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REV3-I2</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Do REV3-S1 with two different partners.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REV3-S1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Work in pairs. Talk for two minutes on ONE topic card. Your partner asks two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Card A: My journey to school (transport, distance, time, one danger, two rules)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Card B: A film I have seen (kind, story, two good points, one weak point, recommendation)</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Card C: A festival I know (when, where, what people do, why it matters)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Real-life English: Coping strategies in a test</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REV3L1</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Sorry, could you repeat that?</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Let me think.</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 mean…</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It's a kind of…</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How do you say… in English?</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REV3L1</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Paired speaking practice with the three cards.</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REV3-W1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Choose ONE and write 100–120 words.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A road safety leaflet (heading + five rules with reasons + slogan).</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B. A film review (facts, good points, weak point, recommendation).</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 A festival description (four paragraphs).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REV3L1</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must / mustn't vs should</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 is (distance) / It takes (time)</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although / but / however</a:t>
            </a:r>
          </a:p>
        </p:txBody>
      </p:sp>
      <p:sp>
        <p:nvSpPr>
          <p:cNvPr id="14" name="Rounded Rectangle 13"/>
          <p:cNvSpPr/>
          <p:nvPr/>
        </p:nvSpPr>
        <p:spPr>
          <a:xfrm>
            <a:off x="731520" y="448056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51560" y="455371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-ed and -ing adjectives</a:t>
            </a:r>
          </a:p>
        </p:txBody>
      </p:sp>
      <p:sp>
        <p:nvSpPr>
          <p:cNvPr id="16" name="Rounded Rectangle 15"/>
          <p:cNvSpPr/>
          <p:nvPr/>
        </p:nvSpPr>
        <p:spPr>
          <a:xfrm>
            <a:off x="731520" y="544068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51560" y="551383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articles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REV3L1</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REV3-H1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Revision — Learn the 18 wall-list corrections. Write each correct sentence twice.</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REV3-H2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Vocabulary — Write 24 words from Units 7–9 with Vietnamese meanings: 8 traffic, 8 film, 8 festival.</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REV3-H3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Write your chosen text from REV3-W1 (100–120 words).</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REV3-H4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Speaking — Prepare all three speaking cards; practise each for two minutes.</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REV3L1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