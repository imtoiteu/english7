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2L2_1_A2-23-Much-Many.mp3" TargetMode="External"/><Relationship Id="rId3" Type="http://schemas.openxmlformats.org/officeDocument/2006/relationships/hyperlink" Target="../../../audio/FU2L3_1_A2-17-Imperatives.mp3"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2  ·  LESSON 7  ·  PERIOD 16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2 review and the Healthy Class Campaign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health vocabulary of Unit 2 in a game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should / shouldn't and imperatives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make and present a health campaign poster in a group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Health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draw a 3×3 grid and write nine health words from the unit.</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reads definitions; students cross out. First with a line shouts BINGO.</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unit vocabulary.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campaign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/kæmˈpeɪn/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chiến dịch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 ran a healthy-eating campaign.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slogan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/ˈsləʊɡən/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khẩu hiệu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slogan is 'Move more, sit less!'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message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/ˈmesɪdʒ/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điệp</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message of our poster is simple.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poster is about…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slogan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remember:…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listening.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2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have / has + a + health problem</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too much (uncountable) / too many (countable)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should / shouldn't + bare verb</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Imperative: Verb! / Don't + Verb!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have + a + problem</a:t>
                      </a:r>
                    </a:p>
                  </a:txBody>
                  <a:tcPr>
                    <a:solidFill>
                      <a:srgbClr val="E3F3EE"/>
                    </a:solidFill>
                  </a:tcPr>
                </a:tc>
                <a:tc>
                  <a:txBody>
                    <a:bodyPr/>
                    <a:lstStyle/>
                    <a:p>
                      <a:r>
                        <a:rPr sz="1600" b="0">
                          <a:solidFill>
                            <a:srgbClr val="1B1B1B"/>
                          </a:solidFill>
                          <a:latin typeface="Calibri"/>
                        </a:rPr>
                        <a:t>She has a headache.</a:t>
                      </a:r>
                    </a:p>
                  </a:txBody>
                  <a:tcPr>
                    <a:solidFill>
                      <a:srgbClr val="E3F3EE"/>
                    </a:solidFill>
                  </a:tcPr>
                </a:tc>
                <a:tc>
                  <a:txBody>
                    <a:bodyPr/>
                    <a:lstStyle/>
                    <a:p>
                      <a:r>
                        <a:rPr sz="1600" b="0">
                          <a:solidFill>
                            <a:srgbClr val="1B1B1B"/>
                          </a:solidFill>
                          <a:latin typeface="Calibri"/>
                        </a:rPr>
                        <a:t>*She is headache.</a:t>
                      </a:r>
                    </a:p>
                  </a:txBody>
                  <a:tcPr>
                    <a:solidFill>
                      <a:srgbClr val="E3F3EE"/>
                    </a:solidFill>
                  </a:tcPr>
                </a:tc>
              </a:tr>
              <a:tr h="566928">
                <a:tc>
                  <a:txBody>
                    <a:bodyPr/>
                    <a:lstStyle/>
                    <a:p>
                      <a:r>
                        <a:rPr sz="1600" b="0">
                          <a:solidFill>
                            <a:srgbClr val="1B1B1B"/>
                          </a:solidFill>
                          <a:latin typeface="Calibri"/>
                        </a:rPr>
                        <a:t>too much / too many</a:t>
                      </a:r>
                    </a:p>
                  </a:txBody>
                  <a:tcPr>
                    <a:solidFill>
                      <a:srgbClr val="FFFFFF"/>
                    </a:solidFill>
                  </a:tcPr>
                </a:tc>
                <a:tc>
                  <a:txBody>
                    <a:bodyPr/>
                    <a:lstStyle/>
                    <a:p>
                      <a:r>
                        <a:rPr sz="1600" b="0">
                          <a:solidFill>
                            <a:srgbClr val="1B1B1B"/>
                          </a:solidFill>
                          <a:latin typeface="Calibri"/>
                        </a:rPr>
                        <a:t>too much sugar / too many sweets</a:t>
                      </a:r>
                    </a:p>
                  </a:txBody>
                  <a:tcPr>
                    <a:solidFill>
                      <a:srgbClr val="FFFFFF"/>
                    </a:solidFill>
                  </a:tcPr>
                </a:tc>
                <a:tc>
                  <a:txBody>
                    <a:bodyPr/>
                    <a:lstStyle/>
                    <a:p>
                      <a:r>
                        <a:rPr sz="1600" b="0">
                          <a:solidFill>
                            <a:srgbClr val="1B1B1B"/>
                          </a:solidFill>
                          <a:latin typeface="Calibri"/>
                        </a:rPr>
                        <a:t>*too much sweets</a:t>
                      </a:r>
                    </a:p>
                  </a:txBody>
                  <a:tcPr>
                    <a:solidFill>
                      <a:srgbClr val="FFFFFF"/>
                    </a:solidFill>
                  </a:tcPr>
                </a:tc>
              </a:tr>
              <a:tr h="566928">
                <a:tc>
                  <a:txBody>
                    <a:bodyPr/>
                    <a:lstStyle/>
                    <a:p>
                      <a:r>
                        <a:rPr sz="1600" b="0">
                          <a:solidFill>
                            <a:srgbClr val="1B1B1B"/>
                          </a:solidFill>
                          <a:latin typeface="Calibri"/>
                        </a:rPr>
                        <a:t>should + bare verb</a:t>
                      </a:r>
                    </a:p>
                  </a:txBody>
                  <a:tcPr>
                    <a:solidFill>
                      <a:srgbClr val="E3F3EE"/>
                    </a:solidFill>
                  </a:tcPr>
                </a:tc>
                <a:tc>
                  <a:txBody>
                    <a:bodyPr/>
                    <a:lstStyle/>
                    <a:p>
                      <a:r>
                        <a:rPr sz="1600" b="0">
                          <a:solidFill>
                            <a:srgbClr val="1B1B1B"/>
                          </a:solidFill>
                          <a:latin typeface="Calibri"/>
                        </a:rPr>
                        <a:t>You should rest.</a:t>
                      </a:r>
                    </a:p>
                  </a:txBody>
                  <a:tcPr>
                    <a:solidFill>
                      <a:srgbClr val="E3F3EE"/>
                    </a:solidFill>
                  </a:tcPr>
                </a:tc>
                <a:tc>
                  <a:txBody>
                    <a:bodyPr/>
                    <a:lstStyle/>
                    <a:p>
                      <a:r>
                        <a:rPr sz="1600" b="0">
                          <a:solidFill>
                            <a:srgbClr val="1B1B1B"/>
                          </a:solidFill>
                          <a:latin typeface="Calibri"/>
                        </a:rPr>
                        <a:t>*You should to rest.</a:t>
                      </a:r>
                    </a:p>
                  </a:txBody>
                  <a:tcPr>
                    <a:solidFill>
                      <a:srgbClr val="E3F3EE"/>
                    </a:solidFill>
                  </a:tcPr>
                </a:tc>
              </a:tr>
              <a:tr h="566928">
                <a:tc>
                  <a:txBody>
                    <a:bodyPr/>
                    <a:lstStyle/>
                    <a:p>
                      <a:r>
                        <a:rPr sz="1600" b="0">
                          <a:solidFill>
                            <a:srgbClr val="1B1B1B"/>
                          </a:solidFill>
                          <a:latin typeface="Calibri"/>
                        </a:rPr>
                        <a:t>shouldn't + bare verb</a:t>
                      </a:r>
                    </a:p>
                  </a:txBody>
                  <a:tcPr>
                    <a:solidFill>
                      <a:srgbClr val="FFFFFF"/>
                    </a:solidFill>
                  </a:tcPr>
                </a:tc>
                <a:tc>
                  <a:txBody>
                    <a:bodyPr/>
                    <a:lstStyle/>
                    <a:p>
                      <a:r>
                        <a:rPr sz="1600" b="0">
                          <a:solidFill>
                            <a:srgbClr val="1B1B1B"/>
                          </a:solidFill>
                          <a:latin typeface="Calibri"/>
                        </a:rPr>
                        <a:t>He shouldn't stay up late.</a:t>
                      </a:r>
                    </a:p>
                  </a:txBody>
                  <a:tcPr>
                    <a:solidFill>
                      <a:srgbClr val="FFFFFF"/>
                    </a:solidFill>
                  </a:tcPr>
                </a:tc>
                <a:tc>
                  <a:txBody>
                    <a:bodyPr/>
                    <a:lstStyle/>
                    <a:p>
                      <a:r>
                        <a:rPr sz="1600" b="0">
                          <a:solidFill>
                            <a:srgbClr val="1B1B1B"/>
                          </a:solidFill>
                          <a:latin typeface="Calibri"/>
                        </a:rPr>
                        <a:t>*He not should stay up late.</a:t>
                      </a:r>
                    </a:p>
                  </a:txBody>
                  <a:tcPr>
                    <a:solidFill>
                      <a:srgbClr val="FFFFFF"/>
                    </a:solidFill>
                  </a:tcPr>
                </a:tc>
              </a:tr>
              <a:tr h="566928">
                <a:tc>
                  <a:txBody>
                    <a:bodyPr/>
                    <a:lstStyle/>
                    <a:p>
                      <a:r>
                        <a:rPr sz="1600" b="0">
                          <a:solidFill>
                            <a:srgbClr val="1B1B1B"/>
                          </a:solidFill>
                          <a:latin typeface="Calibri"/>
                        </a:rPr>
                        <a:t>Don't + verb</a:t>
                      </a:r>
                    </a:p>
                  </a:txBody>
                  <a:tcPr>
                    <a:solidFill>
                      <a:srgbClr val="E3F3EE"/>
                    </a:solidFill>
                  </a:tcPr>
                </a:tc>
                <a:tc>
                  <a:txBody>
                    <a:bodyPr/>
                    <a:lstStyle/>
                    <a:p>
                      <a:r>
                        <a:rPr sz="1600" b="0">
                          <a:solidFill>
                            <a:srgbClr val="1B1B1B"/>
                          </a:solidFill>
                          <a:latin typeface="Calibri"/>
                        </a:rPr>
                        <a:t>Don't share bottles!</a:t>
                      </a:r>
                    </a:p>
                  </a:txBody>
                  <a:tcPr>
                    <a:solidFill>
                      <a:srgbClr val="E3F3EE"/>
                    </a:solidFill>
                  </a:tcPr>
                </a:tc>
                <a:tc>
                  <a:txBody>
                    <a:bodyPr/>
                    <a:lstStyle/>
                    <a:p>
                      <a:r>
                        <a:rPr sz="1600" b="0">
                          <a:solidFill>
                            <a:srgbClr val="1B1B1B"/>
                          </a:solidFill>
                          <a:latin typeface="Calibri"/>
                        </a:rPr>
                        <a:t>*Not share bottles!</a:t>
                      </a:r>
                    </a:p>
                  </a:txBody>
                  <a:tcPr>
                    <a:solidFill>
                      <a:srgbClr val="E3F3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My brother has a stomach ache because he eats too many sweets. He should eat more fruit and he shouldn't buy street foo…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Run the error clinic (U2.7-G2) and add the new errors to the classroom wall list started in Unit 1.</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My brother has a stomach ache because he eats too many sweets. He should eat more fruit and he shouldn't buy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2 sounds review: /f/, /v/, final consonants, sent…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does 'very' buzz? can I hear the final /t/, /d/, /k/? is 'should' weak? are the important words strong?</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five very fresh vegetables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food – sick – cold – eat – milk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should DRINK more WATER.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Five very healthy vegetables keep you fit.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You shouldn't eat cold food when you have a cough.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Much and many · Imperatives.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U2L2</a:t>
            </a:r>
          </a:p>
        </p:txBody>
      </p:sp>
      <p:sp>
        <p:nvSpPr>
          <p:cNvPr id="12" name="Rounded Rectangle 11"/>
          <p:cNvSpPr/>
          <p:nvPr/>
        </p:nvSpPr>
        <p:spPr>
          <a:xfrm>
            <a:off x="6135624"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3"/>
              </a:rPr>
              <a:t>▶ U2L3</a:t>
            </a:r>
          </a:p>
        </p:txBody>
      </p:sp>
      <p:sp>
        <p:nvSpPr>
          <p:cNvPr id="13" name="TextBox 12"/>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healthiest class in the school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Last term, class 7B decided to become the healthiest class in the school. They made three rules. Rule 1: everybody brings a water bottle and drinks at least one litre a day. Rule 2: no soft drinks or sweets in the classroom. Rule 3: five minutes of exercise between lesson three and lesson four. After two months, the class nurse checked the results. Students in 7B were absent 40% less than in the other classes, and eleven students said they could concentrate better in the afternoon. 'The hardest rule was number two,' said Mai. 'But now nobody wants the sweets. We drink water and we feel good.'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were the three rules?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did the campaign last?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two results did the nurse find?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rule was the hardest? Why?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pain in your head: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very hot body: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food with a lot of fat and sugar: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eating the right amount of everything: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pain in your throat: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hours in front of a phone: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is headache today.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 eats too much sweets.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should to see a doctor.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not should stay up late.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Not eat street food!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My brother don't get enough sleep.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five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your campaign poster and prepare the presentation.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Steps: topic → slogan → five pieces of advice → pictures → practise.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group's poster for two minutes. Everyone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'Good morning. Our poster is about… Our slogan is… First, you should… Second,… Don't…! Please remember: … Thank you for listening.'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Presenting a campaign to an audience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poster is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slogan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at this picture.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 Second / Finally…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remember:…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listening.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Group presentation; the audience asks two questions and votes for the best campaign.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slogan and five pieces of advice.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Slogan (5 words or fewer):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should / shouldn't: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 imperative: ______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Health habits and problems (16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 has + a + problem</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too much / too many / not enough</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should / shouldn't</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imperatives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2 with their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an email (70–80 words) to a friend who never does exercise.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3 — Write five things students can do to help other people in their village or town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U2L7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