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2  ·  LESSON 7  ·  PERIOD 16</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LOOKING BACK &amp; PROJECT</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Unit 2 review and the Healthy Class Campaign</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recall the health vocabulary of Unit 2 in a game</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should / shouldn't and imperatives accurately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correct the six typical mistakes of the unit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make and present a health campaign poster in a group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Health bingo  (6')</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Students draw a 3×3 grid and write nine health words from the unit.</a:t>
            </a:r>
          </a:p>
        </p:txBody>
      </p:sp>
      <p:sp>
        <p:nvSpPr>
          <p:cNvPr id="10" name="TextBox 9"/>
          <p:cNvSpPr txBox="1"/>
          <p:nvPr/>
        </p:nvSpPr>
        <p:spPr>
          <a:xfrm>
            <a:off x="1005840" y="260604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Teacher reads definitions; students cross out. First with a line shouts BINGO.</a:t>
            </a:r>
          </a:p>
        </p:txBody>
      </p:sp>
      <p:sp>
        <p:nvSpPr>
          <p:cNvPr id="11" name="TextBox 10"/>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Play bingo with unit vocabulary.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campaign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/kæmˈpeɪn/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chiến dịch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Our class ran a healthy-eating campaign.</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slogan</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/ˈsləʊɡən/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khẩu hiệu</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Our slogan is 'Move more, sit less!'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message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/ˈmesɪdʒ/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thông điệp</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message of our poster is simple.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Our poster is about…</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Our slogan is…</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Please remember:…</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 you for listening.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Unit 2 grammar in one page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have / has + a + health problem</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too much (uncountable) / too many (countable)</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should / shouldn't + bare verb</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Imperative: Verb! / Don't + Verb!</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c>
                  <a:txBody>
                    <a:bodyPr/>
                    <a:lstStyle/>
                    <a:p>
                      <a:r>
                        <a:rPr sz="1600" b="1">
                          <a:solidFill>
                            <a:srgbClr val="FFFFFF"/>
                          </a:solidFill>
                          <a:latin typeface="Calibri"/>
                        </a:rPr>
                        <a:t>Common mistake</a:t>
                      </a:r>
                    </a:p>
                  </a:txBody>
                  <a:tcPr>
                    <a:solidFill>
                      <a:srgbClr val="0E7C66"/>
                    </a:solidFill>
                  </a:tcPr>
                </a:tc>
              </a:tr>
              <a:tr h="566928">
                <a:tc>
                  <a:txBody>
                    <a:bodyPr/>
                    <a:lstStyle/>
                    <a:p>
                      <a:r>
                        <a:rPr sz="1600" b="0">
                          <a:solidFill>
                            <a:srgbClr val="1B1B1B"/>
                          </a:solidFill>
                          <a:latin typeface="Calibri"/>
                        </a:rPr>
                        <a:t>have + a + problem</a:t>
                      </a:r>
                    </a:p>
                  </a:txBody>
                  <a:tcPr>
                    <a:solidFill>
                      <a:srgbClr val="E3F3EE"/>
                    </a:solidFill>
                  </a:tcPr>
                </a:tc>
                <a:tc>
                  <a:txBody>
                    <a:bodyPr/>
                    <a:lstStyle/>
                    <a:p>
                      <a:r>
                        <a:rPr sz="1600" b="0">
                          <a:solidFill>
                            <a:srgbClr val="1B1B1B"/>
                          </a:solidFill>
                          <a:latin typeface="Calibri"/>
                        </a:rPr>
                        <a:t>She has a headache.</a:t>
                      </a:r>
                    </a:p>
                  </a:txBody>
                  <a:tcPr>
                    <a:solidFill>
                      <a:srgbClr val="E3F3EE"/>
                    </a:solidFill>
                  </a:tcPr>
                </a:tc>
                <a:tc>
                  <a:txBody>
                    <a:bodyPr/>
                    <a:lstStyle/>
                    <a:p>
                      <a:r>
                        <a:rPr sz="1600" b="0">
                          <a:solidFill>
                            <a:srgbClr val="1B1B1B"/>
                          </a:solidFill>
                          <a:latin typeface="Calibri"/>
                        </a:rPr>
                        <a:t>*She is headache.</a:t>
                      </a:r>
                    </a:p>
                  </a:txBody>
                  <a:tcPr>
                    <a:solidFill>
                      <a:srgbClr val="E3F3EE"/>
                    </a:solidFill>
                  </a:tcPr>
                </a:tc>
              </a:tr>
              <a:tr h="566928">
                <a:tc>
                  <a:txBody>
                    <a:bodyPr/>
                    <a:lstStyle/>
                    <a:p>
                      <a:r>
                        <a:rPr sz="1600" b="0">
                          <a:solidFill>
                            <a:srgbClr val="1B1B1B"/>
                          </a:solidFill>
                          <a:latin typeface="Calibri"/>
                        </a:rPr>
                        <a:t>too much / too many</a:t>
                      </a:r>
                    </a:p>
                  </a:txBody>
                  <a:tcPr>
                    <a:solidFill>
                      <a:srgbClr val="FFFFFF"/>
                    </a:solidFill>
                  </a:tcPr>
                </a:tc>
                <a:tc>
                  <a:txBody>
                    <a:bodyPr/>
                    <a:lstStyle/>
                    <a:p>
                      <a:r>
                        <a:rPr sz="1600" b="0">
                          <a:solidFill>
                            <a:srgbClr val="1B1B1B"/>
                          </a:solidFill>
                          <a:latin typeface="Calibri"/>
                        </a:rPr>
                        <a:t>too much sugar / too many sweets</a:t>
                      </a:r>
                    </a:p>
                  </a:txBody>
                  <a:tcPr>
                    <a:solidFill>
                      <a:srgbClr val="FFFFFF"/>
                    </a:solidFill>
                  </a:tcPr>
                </a:tc>
                <a:tc>
                  <a:txBody>
                    <a:bodyPr/>
                    <a:lstStyle/>
                    <a:p>
                      <a:r>
                        <a:rPr sz="1600" b="0">
                          <a:solidFill>
                            <a:srgbClr val="1B1B1B"/>
                          </a:solidFill>
                          <a:latin typeface="Calibri"/>
                        </a:rPr>
                        <a:t>*too much sweets</a:t>
                      </a:r>
                    </a:p>
                  </a:txBody>
                  <a:tcPr>
                    <a:solidFill>
                      <a:srgbClr val="FFFFFF"/>
                    </a:solidFill>
                  </a:tcPr>
                </a:tc>
              </a:tr>
              <a:tr h="566928">
                <a:tc>
                  <a:txBody>
                    <a:bodyPr/>
                    <a:lstStyle/>
                    <a:p>
                      <a:r>
                        <a:rPr sz="1600" b="0">
                          <a:solidFill>
                            <a:srgbClr val="1B1B1B"/>
                          </a:solidFill>
                          <a:latin typeface="Calibri"/>
                        </a:rPr>
                        <a:t>should + bare verb</a:t>
                      </a:r>
                    </a:p>
                  </a:txBody>
                  <a:tcPr>
                    <a:solidFill>
                      <a:srgbClr val="E3F3EE"/>
                    </a:solidFill>
                  </a:tcPr>
                </a:tc>
                <a:tc>
                  <a:txBody>
                    <a:bodyPr/>
                    <a:lstStyle/>
                    <a:p>
                      <a:r>
                        <a:rPr sz="1600" b="0">
                          <a:solidFill>
                            <a:srgbClr val="1B1B1B"/>
                          </a:solidFill>
                          <a:latin typeface="Calibri"/>
                        </a:rPr>
                        <a:t>You should rest.</a:t>
                      </a:r>
                    </a:p>
                  </a:txBody>
                  <a:tcPr>
                    <a:solidFill>
                      <a:srgbClr val="E3F3EE"/>
                    </a:solidFill>
                  </a:tcPr>
                </a:tc>
                <a:tc>
                  <a:txBody>
                    <a:bodyPr/>
                    <a:lstStyle/>
                    <a:p>
                      <a:r>
                        <a:rPr sz="1600" b="0">
                          <a:solidFill>
                            <a:srgbClr val="1B1B1B"/>
                          </a:solidFill>
                          <a:latin typeface="Calibri"/>
                        </a:rPr>
                        <a:t>*You should to rest.</a:t>
                      </a:r>
                    </a:p>
                  </a:txBody>
                  <a:tcPr>
                    <a:solidFill>
                      <a:srgbClr val="E3F3EE"/>
                    </a:solidFill>
                  </a:tcPr>
                </a:tc>
              </a:tr>
              <a:tr h="566928">
                <a:tc>
                  <a:txBody>
                    <a:bodyPr/>
                    <a:lstStyle/>
                    <a:p>
                      <a:r>
                        <a:rPr sz="1600" b="0">
                          <a:solidFill>
                            <a:srgbClr val="1B1B1B"/>
                          </a:solidFill>
                          <a:latin typeface="Calibri"/>
                        </a:rPr>
                        <a:t>shouldn't + bare verb</a:t>
                      </a:r>
                    </a:p>
                  </a:txBody>
                  <a:tcPr>
                    <a:solidFill>
                      <a:srgbClr val="FFFFFF"/>
                    </a:solidFill>
                  </a:tcPr>
                </a:tc>
                <a:tc>
                  <a:txBody>
                    <a:bodyPr/>
                    <a:lstStyle/>
                    <a:p>
                      <a:r>
                        <a:rPr sz="1600" b="0">
                          <a:solidFill>
                            <a:srgbClr val="1B1B1B"/>
                          </a:solidFill>
                          <a:latin typeface="Calibri"/>
                        </a:rPr>
                        <a:t>He shouldn't stay up late.</a:t>
                      </a:r>
                    </a:p>
                  </a:txBody>
                  <a:tcPr>
                    <a:solidFill>
                      <a:srgbClr val="FFFFFF"/>
                    </a:solidFill>
                  </a:tcPr>
                </a:tc>
                <a:tc>
                  <a:txBody>
                    <a:bodyPr/>
                    <a:lstStyle/>
                    <a:p>
                      <a:r>
                        <a:rPr sz="1600" b="0">
                          <a:solidFill>
                            <a:srgbClr val="1B1B1B"/>
                          </a:solidFill>
                          <a:latin typeface="Calibri"/>
                        </a:rPr>
                        <a:t>*He not should stay up late.</a:t>
                      </a:r>
                    </a:p>
                  </a:txBody>
                  <a:tcPr>
                    <a:solidFill>
                      <a:srgbClr val="FFFFFF"/>
                    </a:solidFill>
                  </a:tcPr>
                </a:tc>
              </a:tr>
              <a:tr h="566928">
                <a:tc>
                  <a:txBody>
                    <a:bodyPr/>
                    <a:lstStyle/>
                    <a:p>
                      <a:r>
                        <a:rPr sz="1600" b="0">
                          <a:solidFill>
                            <a:srgbClr val="1B1B1B"/>
                          </a:solidFill>
                          <a:latin typeface="Calibri"/>
                        </a:rPr>
                        <a:t>Don't + verb</a:t>
                      </a:r>
                    </a:p>
                  </a:txBody>
                  <a:tcPr>
                    <a:solidFill>
                      <a:srgbClr val="E3F3EE"/>
                    </a:solidFill>
                  </a:tcPr>
                </a:tc>
                <a:tc>
                  <a:txBody>
                    <a:bodyPr/>
                    <a:lstStyle/>
                    <a:p>
                      <a:r>
                        <a:rPr sz="1600" b="0">
                          <a:solidFill>
                            <a:srgbClr val="1B1B1B"/>
                          </a:solidFill>
                          <a:latin typeface="Calibri"/>
                        </a:rPr>
                        <a:t>Don't share bottles!</a:t>
                      </a:r>
                    </a:p>
                  </a:txBody>
                  <a:tcPr>
                    <a:solidFill>
                      <a:srgbClr val="E3F3EE"/>
                    </a:solidFill>
                  </a:tcPr>
                </a:tc>
                <a:tc>
                  <a:txBody>
                    <a:bodyPr/>
                    <a:lstStyle/>
                    <a:p>
                      <a:r>
                        <a:rPr sz="1600" b="0">
                          <a:solidFill>
                            <a:srgbClr val="1B1B1B"/>
                          </a:solidFill>
                          <a:latin typeface="Calibri"/>
                        </a:rPr>
                        <a:t>*Not share bottles!</a:t>
                      </a:r>
                    </a:p>
                  </a:txBody>
                  <a:tcPr>
                    <a:solidFill>
                      <a:srgbClr val="E3F3EE"/>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My brother has a stomach ache because he eats too many sweets. He should eat more fruit and he shouldn't buy street foo…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Run the error clinic (U2.7-G2) and add the new errors to the classroom wall list started in Unit 1.</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My brother has a stomach ache because he eats too many sweets. He should eat more fruit and he shouldn't buy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Pronunciation: Unit 2 sounds review: /f/, /v/, final consonants, sent…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Four checks: does 'very' buzz? can I hear the final /t/, /d/, /k/? is 'should' weak? are the important words strong?</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five very fresh vegetables</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food – sick – cold – eat – milk</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You should DRINK more WATER.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Five very healthy vegetables keep you fit.</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You shouldn't eat cold food when you have a cough.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Looking Back — listen again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No new recording. You hear this unit’s own recordings again: Much and many · Imperatives.</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Recycled — this unit’s own verified recordings · replayed extracts · As in the original recordings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____________________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____________________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____________________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____________________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____________________</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____________________</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The healthiest class in the school</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Last term, class 7B decided to become the healthiest class in the school. They made three rules. Rule 1: everybody brings a water bottle and drinks at least one litre a day. Rule 2: no soft drinks or sweets in the classroom. Rule 3: five minutes of exercise between lesson three and lesson four. After two months, the class nurse checked the results. Students in 7B were absent 40% less than in the other classes, and eleven students said they could concentrate better in the afternoon. 'The hardest rule was number two,' said Mai. 'But now nobody wants the sweets. We drink water and we feel good.'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U2.7-R1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were the three rules?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long did the campaign last?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two results did the nurse find?</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Which rule was the hardest? Why?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 pain in your head: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 very hot body: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food with a lot of fat and sugar: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eating the right amount of everything: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 pain in your throat: ______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hours in front of a phone: ______</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She is headache today.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He eats too much sweets.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You should to see a doctor.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We not should stay up late.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Not eat street food!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My brother don't get enough sleep.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U2.7-I1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text with one word in each gap.</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Write the five words.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U2.7-I2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Make your campaign poster and prepare the presentation.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Steps: topic → slogan → five pieces of advice → pictures → practise.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U2.7-S1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Present your group's poster for two minutes. Everyone speaks.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Frame: 'Good morning. Our poster is about… Our slogan is… First, you should… Second,… Don't…! Please remember: … Thank you for listening.'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Presenting a campaign to an audience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Our poster is about…</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Our slogan is…</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Look at this picture.</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First / Second / Finally…</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Please remember:…</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 you for listening.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Group presentation; the audience asks two questions and votes for the best campaign.</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U2.7-W1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your slogan and five pieces of advice.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Slogan (5 words or fewer):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 should / shouldn't: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 imperative: ______</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Health habits and problems (16 words)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have / has + a + problem</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too much / too many / not enough</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should / shouldn't</a:t>
            </a:r>
          </a:p>
        </p:txBody>
      </p:sp>
      <p:sp>
        <p:nvSpPr>
          <p:cNvPr id="16" name="Rounded Rectangle 15"/>
          <p:cNvSpPr/>
          <p:nvPr/>
        </p:nvSpPr>
        <p:spPr>
          <a:xfrm>
            <a:off x="731520" y="544068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51560" y="551383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imperatives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U2L7</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U2.7-H1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10 words from Unit 2 with their Vietnamese meanings.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U2.7-H2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Choose the correct answer.</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U2.7-H3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an email (70–80 words) to a friend who never does exercise.</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U2.7-H4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Prepare for Unit 3 — Write five things students can do to help other people in their village or town (in English or Vietnamese).</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U2L7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