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2  ·  LESSON 6  ·  PERIOD 15</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Listening: The radio doctor + Writing: An email of advice</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a radio programme and complete a table of problems and advice</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the layout of an informal email (greeting, body, closing)</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an email of advice of 60–80 words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check writing with a checklist and correct a partner's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Advice ping-pong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Teacher says a problem; students must answer with correct advice in three seconds.</a:t>
            </a:r>
          </a:p>
        </p:txBody>
      </p:sp>
      <p:sp>
        <p:nvSpPr>
          <p:cNvPr id="10" name="TextBox 9"/>
          <p:cNvSpPr txBox="1"/>
          <p:nvPr/>
        </p:nvSpPr>
        <p:spPr>
          <a:xfrm>
            <a:off x="1005840" y="260604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Recycles should / shouldn't from Lesson 3.</a:t>
            </a:r>
          </a:p>
        </p:txBody>
      </p:sp>
      <p:sp>
        <p:nvSpPr>
          <p:cNvPr id="11" name="TextBox 10"/>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Give quick advice.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worried</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/ˈwʌrid/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lo lắng</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I'm worried about my brother's health.</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suggest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/səˈdʒest/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gợi ý, đề nghị</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 suggest going to bed earlier.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try</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/traɪ/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thử</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Why don't you try drinking warm milk?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give up</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/ɡɪv ʌp/   (v phr)</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từ bỏ</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He gave up drinking soft drinks.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plenty of</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/ˈplenti əv/   (det)</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nhiều</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Drink plenty of water in summer.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regular</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/ˈreɡjələ/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đều đặn, thường xuyên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Regular exercise is important.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Thanks for your email.</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sorry to hear that…</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Why don't you…?</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hope this helps.</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Write back soon.</a:t>
            </a:r>
          </a:p>
        </p:txBody>
      </p:sp>
      <p:sp>
        <p:nvSpPr>
          <p:cNvPr id="18" name="Rounded Rectangle 17"/>
          <p:cNvSpPr/>
          <p:nvPr/>
        </p:nvSpPr>
        <p:spPr>
          <a:xfrm>
            <a:off x="822960" y="512064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17550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Best wishes, / See you soon,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Informal email layout (writing focus)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Greeting: Hi Nam, / Dear Mai, (comma, then a new line).</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Opening line: say why you are writing — Thanks for your email. I'm sorry to hear that…</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Body: 2–3 pieces of advice with should / shouldn't / Why don't you…?</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Closing: a friendly wish + your name — I hope this helps. Best wishes, Linh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Greeting</a:t>
                      </a:r>
                    </a:p>
                  </a:txBody>
                  <a:tcPr>
                    <a:solidFill>
                      <a:srgbClr val="E3F3EE"/>
                    </a:solidFill>
                  </a:tcPr>
                </a:tc>
                <a:tc>
                  <a:txBody>
                    <a:bodyPr/>
                    <a:lstStyle/>
                    <a:p>
                      <a:r>
                        <a:rPr sz="1600" b="0">
                          <a:solidFill>
                            <a:srgbClr val="1B1B1B"/>
                          </a:solidFill>
                          <a:latin typeface="Calibri"/>
                        </a:rPr>
                        <a:t>Hi Nam,</a:t>
                      </a:r>
                    </a:p>
                  </a:txBody>
                  <a:tcPr>
                    <a:solidFill>
                      <a:srgbClr val="E3F3EE"/>
                    </a:solidFill>
                  </a:tcPr>
                </a:tc>
              </a:tr>
              <a:tr h="566928">
                <a:tc>
                  <a:txBody>
                    <a:bodyPr/>
                    <a:lstStyle/>
                    <a:p>
                      <a:r>
                        <a:rPr sz="1600" b="0">
                          <a:solidFill>
                            <a:srgbClr val="1B1B1B"/>
                          </a:solidFill>
                          <a:latin typeface="Calibri"/>
                        </a:rPr>
                        <a:t>Opening</a:t>
                      </a:r>
                    </a:p>
                  </a:txBody>
                  <a:tcPr>
                    <a:solidFill>
                      <a:srgbClr val="FFFFFF"/>
                    </a:solidFill>
                  </a:tcPr>
                </a:tc>
                <a:tc>
                  <a:txBody>
                    <a:bodyPr/>
                    <a:lstStyle/>
                    <a:p>
                      <a:r>
                        <a:rPr sz="1600" b="0">
                          <a:solidFill>
                            <a:srgbClr val="1B1B1B"/>
                          </a:solidFill>
                          <a:latin typeface="Calibri"/>
                        </a:rPr>
                        <a:t>Thanks for your email. I'm sorry to hear that you can't sleep.</a:t>
                      </a:r>
                    </a:p>
                  </a:txBody>
                  <a:tcPr>
                    <a:solidFill>
                      <a:srgbClr val="FFFFFF"/>
                    </a:solidFill>
                  </a:tcPr>
                </a:tc>
              </a:tr>
              <a:tr h="566928">
                <a:tc>
                  <a:txBody>
                    <a:bodyPr/>
                    <a:lstStyle/>
                    <a:p>
                      <a:r>
                        <a:rPr sz="1600" b="0">
                          <a:solidFill>
                            <a:srgbClr val="1B1B1B"/>
                          </a:solidFill>
                          <a:latin typeface="Calibri"/>
                        </a:rPr>
                        <a:t>Advice 1</a:t>
                      </a:r>
                    </a:p>
                  </a:txBody>
                  <a:tcPr>
                    <a:solidFill>
                      <a:srgbClr val="E3F3EE"/>
                    </a:solidFill>
                  </a:tcPr>
                </a:tc>
                <a:tc>
                  <a:txBody>
                    <a:bodyPr/>
                    <a:lstStyle/>
                    <a:p>
                      <a:r>
                        <a:rPr sz="1600" b="0">
                          <a:solidFill>
                            <a:srgbClr val="1B1B1B"/>
                          </a:solidFill>
                          <a:latin typeface="Calibri"/>
                        </a:rPr>
                        <a:t>First, you should put your phone in another room.</a:t>
                      </a:r>
                    </a:p>
                  </a:txBody>
                  <a:tcPr>
                    <a:solidFill>
                      <a:srgbClr val="E3F3EE"/>
                    </a:solidFill>
                  </a:tcPr>
                </a:tc>
              </a:tr>
              <a:tr h="566928">
                <a:tc>
                  <a:txBody>
                    <a:bodyPr/>
                    <a:lstStyle/>
                    <a:p>
                      <a:r>
                        <a:rPr sz="1600" b="0">
                          <a:solidFill>
                            <a:srgbClr val="1B1B1B"/>
                          </a:solidFill>
                          <a:latin typeface="Calibri"/>
                        </a:rPr>
                        <a:t>Advice 2</a:t>
                      </a:r>
                    </a:p>
                  </a:txBody>
                  <a:tcPr>
                    <a:solidFill>
                      <a:srgbClr val="FFFFFF"/>
                    </a:solidFill>
                  </a:tcPr>
                </a:tc>
                <a:tc>
                  <a:txBody>
                    <a:bodyPr/>
                    <a:lstStyle/>
                    <a:p>
                      <a:r>
                        <a:rPr sz="1600" b="0">
                          <a:solidFill>
                            <a:srgbClr val="1B1B1B"/>
                          </a:solidFill>
                          <a:latin typeface="Calibri"/>
                        </a:rPr>
                        <a:t>You shouldn't drink tea after seven o'clock.</a:t>
                      </a:r>
                    </a:p>
                  </a:txBody>
                  <a:tcPr>
                    <a:solidFill>
                      <a:srgbClr val="FFFFFF"/>
                    </a:solidFill>
                  </a:tcPr>
                </a:tc>
              </a:tr>
              <a:tr h="566928">
                <a:tc>
                  <a:txBody>
                    <a:bodyPr/>
                    <a:lstStyle/>
                    <a:p>
                      <a:r>
                        <a:rPr sz="1600" b="0">
                          <a:solidFill>
                            <a:srgbClr val="1B1B1B"/>
                          </a:solidFill>
                          <a:latin typeface="Calibri"/>
                        </a:rPr>
                        <a:t>Advice 3</a:t>
                      </a:r>
                    </a:p>
                  </a:txBody>
                  <a:tcPr>
                    <a:solidFill>
                      <a:srgbClr val="E3F3EE"/>
                    </a:solidFill>
                  </a:tcPr>
                </a:tc>
                <a:tc>
                  <a:txBody>
                    <a:bodyPr/>
                    <a:lstStyle/>
                    <a:p>
                      <a:r>
                        <a:rPr sz="1600" b="0">
                          <a:solidFill>
                            <a:srgbClr val="1B1B1B"/>
                          </a:solidFill>
                          <a:latin typeface="Calibri"/>
                        </a:rPr>
                        <a:t>Why don't you read a book before bed?</a:t>
                      </a:r>
                    </a:p>
                  </a:txBody>
                  <a:tcPr>
                    <a:solidFill>
                      <a:srgbClr val="E3F3EE"/>
                    </a:solidFill>
                  </a:tcPr>
                </a:tc>
              </a:tr>
              <a:tr h="566928">
                <a:tc>
                  <a:txBody>
                    <a:bodyPr/>
                    <a:lstStyle/>
                    <a:p>
                      <a:r>
                        <a:rPr sz="1600" b="0">
                          <a:solidFill>
                            <a:srgbClr val="1B1B1B"/>
                          </a:solidFill>
                          <a:latin typeface="Calibri"/>
                        </a:rPr>
                        <a:t>Closing</a:t>
                      </a:r>
                    </a:p>
                  </a:txBody>
                  <a:tcPr>
                    <a:solidFill>
                      <a:srgbClr val="FFFFFF"/>
                    </a:solidFill>
                  </a:tcPr>
                </a:tc>
                <a:tc>
                  <a:txBody>
                    <a:bodyPr/>
                    <a:lstStyle/>
                    <a:p>
                      <a:r>
                        <a:rPr sz="1600" b="0">
                          <a:solidFill>
                            <a:srgbClr val="1B1B1B"/>
                          </a:solidFill>
                          <a:latin typeface="Calibri"/>
                        </a:rPr>
                        <a:t>I hope this helps. Write back soon. Best wishes, Linh</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Hi Minh, Thanks for your message. I'm sorry to hear that you have headaches every 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write one long block with no greeting or closing, or begin 'Dear friend Nam!'. Teach the four parts and use a new line for each.</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Hi Minh, Thanks for your message. I'm sorry to hear that you have headaches every day.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Sentence stress: the important words are strong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In an English sentence we stress the words that carry meaning (verbs, nouns, adjectives) and weaken the small words (to, of, a, the, for).</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You should DRINK plenty of WATER.</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I'm SORRY to HEAR THAT.</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Why don't you TRY a SHORT WALK?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You should GO to BED beFORE ten.</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You shouldn't DRINK COFfee at NIGHT.</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 HOPE this HELPS.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What food is not healthy?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which foods are not healthy. Single speaker — Nerry / Belize. It lasts 0:47.</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One Minute English · 0:47 · Single speaker — Nerry / Belize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which foods are not healthy B. where one person's family lives C. auditioning for a part in a stage show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My question for you today is what?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Hello, my name is Nerry, and I am from Belize.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The air fryer fries the wings without oil making it very delicious and healthy.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To make it healthy, I prepare it in the air-fryer.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question today is, what food is not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Fried chicken wings is not 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 chicken wings is not healthy because it is greasy and it is made by frying the wings in oil.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Model email</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Hi Hung, Thanks for your email. I'm sorry to hear that you feel tired every day. Here is some advice. First, you should stop drinking coffee in the afternoon, because coffee stays in your body for six hours. Second, you shouldn't use your phone in bed — put it in another room. Finally, why don't you go to bed at the same time every night? Your body likes a regular habit. I hope this helps. Write back and tell me how you feel next week. Best wishes, Linh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 about the email.</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does Linh start the email?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Which sentence shows sympathy?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many pieces of advice are there?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Which three ordering words does she use?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 does she close the email?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Number the parts 1–6.</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First, you should drink more water.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Best wishes, Mai</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Hi Trang,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I hope this helps.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Thanks for your message. I'm sorry to hear that you have headaches.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Number the parts 1–6.</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You shouldn't skip breakfast.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First, Second, Finally.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 you should eat breakfast every day.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 you shouldn't drink soft drinks.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 why don't you walk to school?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U2.6-W1 and U2.6-W2.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U2.6-W1 and U2.6-W2.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your email to your partner. Your partner listens with the checklist.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Read your email to your partner. Your partner listens with the checklist.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Before you write, tell your partner your three pieces of advice aloud.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First… Second… Finally…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Writing a friendly message of advice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Thanks for your email.</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sorry to hear that…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Here is my advice.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Why don't you…?</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hope this helps.</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Write back soon.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Message chain: student A writes a problem on a slip of paper, passes it to B, who writes two lines of advice and passes it back.</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friend Nam wrote to you: 'I catch a cold almost every month and I feel weak.' Plan your reply.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Greeting: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Sympathy line: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Advice 1 (should):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Advice 2 (shouldn't):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Advice 3 (Why don't you…?): ______</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friend Nam wrote to you: 'I catch a cold almost every month and I feel weak.' Plan your reply.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Closing: ______</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U2.6-W2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your reply in 60–80 words using your plan.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U2.6-W2</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Write your reply in 60–80 words using your plan.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emails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greeting + comma</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 sympathy sentence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three pieces of advice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should / shouldn't used correctly (no 'to', no -s)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ordering words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emails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closing + name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60–80 words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Email layout: greeting – sympathy – advice – closing</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First / Second / Finally</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Sentence stress on the important words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U2L6</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U2.6-H1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Listening / vocabulary — Complete from the radio programme.</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U2.6-H2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worried, suggest, give up, plenty of, regular.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U2.6-H3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Rewrite your email neatly after your partner's correction and hand it in.</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U2.6-H4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Read your email aloud twice, tapping the table on the strong words.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U2L6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