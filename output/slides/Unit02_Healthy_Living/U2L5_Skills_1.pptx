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udio/FU2L5_1_A2-035-HAZAL-WHAT-SNACKS-ARE-HEALTHY.mp3"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2  ·  LESSON 5  ·  PERIOD 14</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SKILLS 1</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Reading: Screen time + Speaking: A healthier week</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U2L5</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read a 200-word article and find the main idea of each paragraph</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understand numbers and facts in a text</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discuss a health problem in a group and agree on three solutions</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present the group's solutions to the class in 60 seconds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Guess my screen time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U2L5</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Write your own (or an invented) screen time on the board as a secret number. Students ask yes/no questions: 'Is it more than three hours?'</a:t>
            </a:r>
          </a:p>
        </p:txBody>
      </p:sp>
      <p:sp>
        <p:nvSpPr>
          <p:cNvPr id="10" name="TextBox 9"/>
          <p:cNvSpPr txBox="1"/>
          <p:nvPr/>
        </p:nvSpPr>
        <p:spPr>
          <a:xfrm>
            <a:off x="1005840" y="260604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Then ask three students for their real number.</a:t>
            </a:r>
          </a:p>
        </p:txBody>
      </p:sp>
      <p:sp>
        <p:nvSpPr>
          <p:cNvPr id="11" name="TextBox 10"/>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Ask questions and guess; say their own screen 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U2L5</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screen time</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/ˈskriːn taɪm/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thời gian dùng màn hình</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My screen time is four hours a day.</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eyesight</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/ˈaɪsaɪt/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thị lực</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Too much screen time is bad for your eyesight.</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concentrate</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/ˈkɒnsntreɪt/   (v)</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tập trung</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 can't concentrate when I'm tired.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U2L5</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solution</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/səˈluːʃn/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giải pháp</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What is the best solution?</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reduce</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/rɪˈdjuːs/   (v)</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giảm</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You should reduce your screen time.</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instead of</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/ɪnˈsted əv/   (prep)</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thay vì</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Play outside instead of watching videos.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U2L5</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spend X hours a day + V-ing</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be bad / good for your…</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cut down on…</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In my opinion,…</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agree / I don't agree.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Grammar: Expressing and supporting an opinion</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U2L5</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Give the opinion: In my opinion, … / I think (that) …</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Give the reason: … because … / That's why …</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Agree or disagree: I agree with you. / I'm not sure. I think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U2L5</a:t>
            </a:r>
          </a:p>
        </p:txBody>
      </p:sp>
      <p:graphicFrame>
        <p:nvGraphicFramePr>
          <p:cNvPr id="8" name="Table 7"/>
          <p:cNvGraphicFramePr>
            <a:graphicFrameLocks noGrp="1"/>
          </p:cNvGraphicFramePr>
          <p:nvPr/>
        </p:nvGraphicFramePr>
        <p:xfrm>
          <a:off x="548640" y="1463040"/>
          <a:ext cx="11064240" cy="2834640"/>
        </p:xfrm>
        <a:graphic>
          <a:graphicData uri="http://schemas.openxmlformats.org/drawingml/2006/table">
            <a:tbl>
              <a:tblPr firstRow="1" bandRow="1">
                <a:tableStyleId>{5C22544A-7EE6-4342-B048-85BDC9FD1C3A}</a:tableStyleId>
              </a:tblPr>
              <a:tblGrid>
                <a:gridCol w="5532120"/>
                <a:gridCol w="5532120"/>
              </a:tblGrid>
              <a:tr h="566928">
                <a:tc>
                  <a:txBody>
                    <a:bodyPr/>
                    <a:lstStyle/>
                    <a:p>
                      <a:r>
                        <a:rPr sz="1600" b="1">
                          <a:solidFill>
                            <a:srgbClr val="FFFFFF"/>
                          </a:solidFill>
                          <a:latin typeface="Calibri"/>
                        </a:rPr>
                        <a:t>Function</a:t>
                      </a:r>
                    </a:p>
                  </a:txBody>
                  <a:tcPr>
                    <a:solidFill>
                      <a:srgbClr val="0E7C66"/>
                    </a:solidFill>
                  </a:tcPr>
                </a:tc>
                <a:tc>
                  <a:txBody>
                    <a:bodyPr/>
                    <a:lstStyle/>
                    <a:p>
                      <a:r>
                        <a:rPr sz="1600" b="1">
                          <a:solidFill>
                            <a:srgbClr val="FFFFFF"/>
                          </a:solidFill>
                          <a:latin typeface="Calibri"/>
                        </a:rPr>
                        <a:t>Language</a:t>
                      </a:r>
                    </a:p>
                  </a:txBody>
                  <a:tcPr>
                    <a:solidFill>
                      <a:srgbClr val="0E7C66"/>
                    </a:solidFill>
                  </a:tcPr>
                </a:tc>
              </a:tr>
              <a:tr h="566928">
                <a:tc>
                  <a:txBody>
                    <a:bodyPr/>
                    <a:lstStyle/>
                    <a:p>
                      <a:r>
                        <a:rPr sz="1600" b="0">
                          <a:solidFill>
                            <a:srgbClr val="1B1B1B"/>
                          </a:solidFill>
                          <a:latin typeface="Calibri"/>
                        </a:rPr>
                        <a:t>Opinion</a:t>
                      </a:r>
                    </a:p>
                  </a:txBody>
                  <a:tcPr>
                    <a:solidFill>
                      <a:srgbClr val="E3F3EE"/>
                    </a:solidFill>
                  </a:tcPr>
                </a:tc>
                <a:tc>
                  <a:txBody>
                    <a:bodyPr/>
                    <a:lstStyle/>
                    <a:p>
                      <a:r>
                        <a:rPr sz="1600" b="0">
                          <a:solidFill>
                            <a:srgbClr val="1B1B1B"/>
                          </a:solidFill>
                          <a:latin typeface="Calibri"/>
                        </a:rPr>
                        <a:t>In my opinion, students should… / I think we should…</a:t>
                      </a:r>
                    </a:p>
                  </a:txBody>
                  <a:tcPr>
                    <a:solidFill>
                      <a:srgbClr val="E3F3EE"/>
                    </a:solidFill>
                  </a:tcPr>
                </a:tc>
              </a:tr>
              <a:tr h="566928">
                <a:tc>
                  <a:txBody>
                    <a:bodyPr/>
                    <a:lstStyle/>
                    <a:p>
                      <a:r>
                        <a:rPr sz="1600" b="0">
                          <a:solidFill>
                            <a:srgbClr val="1B1B1B"/>
                          </a:solidFill>
                          <a:latin typeface="Calibri"/>
                        </a:rPr>
                        <a:t>Reason</a:t>
                      </a:r>
                    </a:p>
                  </a:txBody>
                  <a:tcPr>
                    <a:solidFill>
                      <a:srgbClr val="FFFFFF"/>
                    </a:solidFill>
                  </a:tcPr>
                </a:tc>
                <a:tc>
                  <a:txBody>
                    <a:bodyPr/>
                    <a:lstStyle/>
                    <a:p>
                      <a:r>
                        <a:rPr sz="1600" b="0">
                          <a:solidFill>
                            <a:srgbClr val="1B1B1B"/>
                          </a:solidFill>
                          <a:latin typeface="Calibri"/>
                        </a:rPr>
                        <a:t>…because it is bad for our eyes.</a:t>
                      </a:r>
                    </a:p>
                  </a:txBody>
                  <a:tcPr>
                    <a:solidFill>
                      <a:srgbClr val="FFFFFF"/>
                    </a:solidFill>
                  </a:tcPr>
                </a:tc>
              </a:tr>
              <a:tr h="566928">
                <a:tc>
                  <a:txBody>
                    <a:bodyPr/>
                    <a:lstStyle/>
                    <a:p>
                      <a:r>
                        <a:rPr sz="1600" b="0">
                          <a:solidFill>
                            <a:srgbClr val="1B1B1B"/>
                          </a:solidFill>
                          <a:latin typeface="Calibri"/>
                        </a:rPr>
                        <a:t>Agreeing</a:t>
                      </a:r>
                    </a:p>
                  </a:txBody>
                  <a:tcPr>
                    <a:solidFill>
                      <a:srgbClr val="E3F3EE"/>
                    </a:solidFill>
                  </a:tcPr>
                </a:tc>
                <a:tc>
                  <a:txBody>
                    <a:bodyPr/>
                    <a:lstStyle/>
                    <a:p>
                      <a:r>
                        <a:rPr sz="1600" b="0">
                          <a:solidFill>
                            <a:srgbClr val="1B1B1B"/>
                          </a:solidFill>
                          <a:latin typeface="Calibri"/>
                        </a:rPr>
                        <a:t>I agree. / That's right. / Good idea.</a:t>
                      </a:r>
                    </a:p>
                  </a:txBody>
                  <a:tcPr>
                    <a:solidFill>
                      <a:srgbClr val="E3F3EE"/>
                    </a:solidFill>
                  </a:tcPr>
                </a:tc>
              </a:tr>
              <a:tr h="566928">
                <a:tc>
                  <a:txBody>
                    <a:bodyPr/>
                    <a:lstStyle/>
                    <a:p>
                      <a:r>
                        <a:rPr sz="1600" b="0">
                          <a:solidFill>
                            <a:srgbClr val="1B1B1B"/>
                          </a:solidFill>
                          <a:latin typeface="Calibri"/>
                        </a:rPr>
                        <a:t>Disagreeing politely</a:t>
                      </a:r>
                    </a:p>
                  </a:txBody>
                  <a:tcPr>
                    <a:solidFill>
                      <a:srgbClr val="FFFFFF"/>
                    </a:solidFill>
                  </a:tcPr>
                </a:tc>
                <a:tc>
                  <a:txBody>
                    <a:bodyPr/>
                    <a:lstStyle/>
                    <a:p>
                      <a:r>
                        <a:rPr sz="1600" b="0">
                          <a:solidFill>
                            <a:srgbClr val="1B1B1B"/>
                          </a:solidFill>
                          <a:latin typeface="Calibri"/>
                        </a:rPr>
                        <a:t>I'm not sure. / Yes, but…</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U2L5</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In my opinion, students shouldn't use phones at night because it is bad for sleep.</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agree with Nam, but I think two hours is enough.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U2L5</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*I think that is right or not?* and *According to me* are direct translations. English says: 'What do you think?' and 'In my opinion'.</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In my opinion, students shouldn't use phones at night because it is bad for sleep.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Pronunciation: Stress in three-syllable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U2L5</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Most three-syllable nouns stress the FIRST syllable: EX-er-cise, EN-er-gy. But many words ending in -tion stress the syllable BEFORE -tion: so-LU-tion, in-fec-TION → in-FEC-tion.</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'exercise (Ooo)</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'energy (Ooo)</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so'lution (oOo)</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in'fection (oOo)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U2L5</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The so-LU-tion is more EX-er-cise.</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I can't con-cen-TRATE… no: CON-cen-trate!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What snacks are healthy?</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U2L5</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which snacks are healthy and which are not. Single speaker — Hazal / Turkiye. It lasts 1:04.</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Rounded Rectangle 10"/>
          <p:cNvSpPr/>
          <p:nvPr/>
        </p:nvSpPr>
        <p:spPr>
          <a:xfrm>
            <a:off x="731520" y="5440680"/>
            <a:ext cx="10698480" cy="530352"/>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42C4F"/>
                </a:solidFill>
                <a:hlinkClick r:id="rId2"/>
              </a:rPr>
              <a:t>▶ Play audio</a:t>
            </a:r>
          </a:p>
        </p:txBody>
      </p:sp>
      <p:sp>
        <p:nvSpPr>
          <p:cNvPr id="12" name="TextBox 11"/>
          <p:cNvSpPr txBox="1"/>
          <p:nvPr/>
        </p:nvSpPr>
        <p:spPr>
          <a:xfrm>
            <a:off x="731520" y="6062472"/>
            <a:ext cx="10698480" cy="502920"/>
          </a:xfrm>
          <a:prstGeom prst="rect">
            <a:avLst/>
          </a:prstGeom>
          <a:noFill/>
        </p:spPr>
        <p:txBody>
          <a:bodyPr wrap="square" anchor="t">
            <a:spAutoFit/>
          </a:bodyPr>
          <a:lstStyle/>
          <a:p>
            <a:pPr algn="l">
              <a:lnSpc>
                <a:spcPct val="100000"/>
              </a:lnSpc>
              <a:spcAft>
                <a:spcPts val="600"/>
              </a:spcAft>
            </a:pPr>
            <a:r>
              <a:rPr sz="1100" b="0" i="0">
                <a:solidFill>
                  <a:srgbClr val="6B7280"/>
                </a:solidFill>
                <a:latin typeface="Calibri"/>
              </a:rPr>
              <a:t>ELLLO — One Minute English · 1:04 · Single speaker — Hazal / Turkiye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U2.5-L1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which snacks are healthy and which are not B. who visits at holiday times C. a boat trip on a river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U2.5-L2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Number the lines 1-5 in the order you hear them.</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Hello, my name is Hazal and I'm from Turkey.</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You can mix yogurt with some good fruits to make it even more tasty.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You can also eat dark chocolate for a healthy choice, but it should not be too much.</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d. You can also eat yogurt because it is also another good choice for a healthy snack.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U2.5-L3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My question is, what snacks are 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Fruits are a good choice for _____ snacks.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You can _____ apples, bananas, or grapes for healthy choices.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If you want to eat a salty _____, you can choose carrots or cucumbers.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Another good choice is nuts, like walnuts or peanuts, but you should not _____ them too much.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Reading: Four hours a day: teenagers and screens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U2L5</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A new study of 1,000 Vietnamese students aged 12 to 15 has found that the average student spends four hours a day looking at a screen — a phone, a computer or a television. That is twenty-eight hours a week, more than one full day. Doctors say this is a problem for three reasons. First, eyesight: when you look at a small screen for a long time, your eyes do not rest and they become tired and dry. Second, sleep: the light from a phone tells your brain that it is still daytime, so you cannot fall asleep. Third, exercise: every hour in front of a screen is an hour you are not moving. But screens are not the enemy. Students in the study also used their phones to learn English, to talk to their grandparents and to find information for school projects. 'The question is not zero or four hours,' says Doctor Pham Thi Hoa. 'The question is: what are you doing, and for how long?' Her advice is sim…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U2.5-R1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Match the paragraph (1–4) with its main idea.</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___ Screens can also be useful.</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___ The doctor's practical advice.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___ How much time students spend on screens.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___ Three health problems.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U2.5-R2</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with a number from the text.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The study looked at ______ students.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They are aged ______ to ______ .</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The average screen time is ______ hours a day.</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That is ______ hours a week.</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Take a break every ______ minutes.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U2.5-R3</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Find a word or phrase in the text that means: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the ability to see (paragraph 2)</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to go to sleep (paragraph 2)</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the normal or middle amount (paragraph 1)</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useful, helpful (paragraph 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U2.5-R4</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with your own ideas.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Why does the doctor say 'screens are not the enemy'?</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Which of her three pieces of advice is easiest for you? Which is hardest? Why?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Do you agree that four hours is too much? Give a reason.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U2.5-G1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Read the text again and write T or F.</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The study looked at students aged 12 to 15.</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The average screen time is two hours a day.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Screen light makes it harder to fall asleep.</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The doctor says students should never use a phone.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She advises a break every twenty minutes.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U2.5-G2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with In my opinion / because / agree / not sure.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______ , students should do more sport.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 ______ with you — that's a good idea.</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We shouldn't use phones at night ______ the light is bad for sleep.</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I'm ______ . Two hours is a lot.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U2.5-I1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U2.5-S1 and complete U2.5-W1.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U2.5-I1</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U2.5-S1 and complete U2.5-W1.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U2.5-I2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Close the book. In pairs, say the three health problems caused by screens.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U2.5-I2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Close the book. In pairs, say the three health problems caused by screens.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U2.5-S1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In fours, choose ONE problem and agree on THREE solutions.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Problems: too much screen time / no breakfast / not enough sleep / too much junk food</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Language: 'In my opinion, we should…' 'I agree, but…' 'Let's write that down.'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U2.5-S2</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One student from each group presents for 60 seconds.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Frame: 'Our problem is… Our first solution is… because… Our second… Finally… Thank you.'</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Discussing and agreeing in a group</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U2L5</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In my opinion, …</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What do you think?</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agree with you.</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I'm not sure.</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Yes, but…</a:t>
            </a:r>
          </a:p>
        </p:txBody>
      </p:sp>
      <p:sp>
        <p:nvSpPr>
          <p:cNvPr id="18" name="Rounded Rectangle 17"/>
          <p:cNvSpPr/>
          <p:nvPr/>
        </p:nvSpPr>
        <p:spPr>
          <a:xfrm>
            <a:off x="822960" y="521208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25780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Let's write that down.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U2L5</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Class committee meeting: your group must give the head teacher three rules for a healthier school. You must all agree before you present.</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U2.5-W1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your group's three solutions with one reason each.</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Solution 1: ______ because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Solution 2: ______ because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Solution 3: ______ because ______</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U2L5</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Reading skill: find the main idea of each paragraph</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Opinion language: In my opinion / I agree / I'm not sure</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Three-syllable word stress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U2L5</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U2.5-H1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Reading — Read the text again and answer in full sentences.</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U2.5-H2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Complete with screen time, eyesight, concentrate, reduce, instead of.</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U2.5-H3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your opinion (5 sentences): 'Should students bring phones to school?'</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U2.5-H4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Speaking — Practise your 60-second presentation three times at home.</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U2L5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