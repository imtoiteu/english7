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5  ·  PERIOD 44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Schools around the world + Speaking: Comparing schools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unusual schools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schools in a 90-second talk</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Question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school-life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boarding school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/ˈbɔːdɪŋ skuːl/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trường nội trú</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goes to a boarding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 learning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ˌlɜːnɪŋ/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từ xa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 distance learning by radio.</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pupil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/ˈpjuːpl/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only nine pupils.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remote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/rɪˈməʊt/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xa xôi, hẻo lánh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is very remote.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equipment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/ɪˈkwɪpmənt/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bị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modern equipment.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opportunity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/ˌɒpəˈtjuːnəti/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hội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Education gives you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 lessons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the chance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other hand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Comparing two things in a talk (recycling Unit 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comparatives to compare two schools: bigger than, more modern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'while' and 'However' to organise (Unit 4 Lesson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'both' for similarities: Both schools have…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New: 'compared with' — Compared with my school, this one is very small.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similarity</a:t>
                      </a:r>
                    </a:p>
                  </a:txBody>
                  <a:tcPr>
                    <a:solidFill>
                      <a:srgbClr val="E3F3EE"/>
                    </a:solidFill>
                  </a:tcPr>
                </a:tc>
                <a:tc>
                  <a:txBody>
                    <a:bodyPr/>
                    <a:lstStyle/>
                    <a:p>
                      <a:r>
                        <a:rPr sz="1600" b="0">
                          <a:solidFill>
                            <a:srgbClr val="1B1B1B"/>
                          </a:solidFill>
                          <a:latin typeface="Calibri"/>
                        </a:rPr>
                        <a:t>Both … and …</a:t>
                      </a:r>
                    </a:p>
                  </a:txBody>
                  <a:tcPr>
                    <a:solidFill>
                      <a:srgbClr val="E3F3EE"/>
                    </a:solidFill>
                  </a:tcPr>
                </a:tc>
                <a:tc>
                  <a:txBody>
                    <a:bodyPr/>
                    <a:lstStyle/>
                    <a:p>
                      <a:r>
                        <a:rPr sz="1600" b="0">
                          <a:solidFill>
                            <a:srgbClr val="1B1B1B"/>
                          </a:solidFill>
                          <a:latin typeface="Calibri"/>
                        </a:rPr>
                        <a:t>Both schools start early.</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…-er / more … than</a:t>
                      </a:r>
                    </a:p>
                  </a:txBody>
                  <a:tcPr>
                    <a:solidFill>
                      <a:srgbClr val="FFFFFF"/>
                    </a:solidFill>
                  </a:tcPr>
                </a:tc>
                <a:tc>
                  <a:txBody>
                    <a:bodyPr/>
                    <a:lstStyle/>
                    <a:p>
                      <a:r>
                        <a:rPr sz="1600" b="0">
                          <a:solidFill>
                            <a:srgbClr val="1B1B1B"/>
                          </a:solidFill>
                          <a:latin typeface="Calibri"/>
                        </a:rPr>
                        <a:t>Their day is shorter than ours.</a:t>
                      </a:r>
                    </a:p>
                  </a:txBody>
                  <a:tcPr>
                    <a:solidFill>
                      <a:srgbClr val="FFFFFF"/>
                    </a:solidFill>
                  </a:tcPr>
                </a:tc>
              </a:tr>
              <a:tr h="566928">
                <a:tc>
                  <a:txBody>
                    <a:bodyPr/>
                    <a:lstStyle/>
                    <a:p>
                      <a:r>
                        <a:rPr sz="1600" b="0">
                          <a:solidFill>
                            <a:srgbClr val="1B1B1B"/>
                          </a:solidFill>
                          <a:latin typeface="Calibri"/>
                        </a:rPr>
                        <a:t>contrast</a:t>
                      </a:r>
                    </a:p>
                  </a:txBody>
                  <a:tcPr>
                    <a:solidFill>
                      <a:srgbClr val="E3F3EE"/>
                    </a:solidFill>
                  </a:tcPr>
                </a:tc>
                <a:tc>
                  <a:txBody>
                    <a:bodyPr/>
                    <a:lstStyle/>
                    <a:p>
                      <a:r>
                        <a:rPr sz="1600" b="0">
                          <a:solidFill>
                            <a:srgbClr val="1B1B1B"/>
                          </a:solidFill>
                          <a:latin typeface="Calibri"/>
                        </a:rPr>
                        <a:t>…, while …</a:t>
                      </a:r>
                    </a:p>
                  </a:txBody>
                  <a:tcPr>
                    <a:solidFill>
                      <a:srgbClr val="E3F3EE"/>
                    </a:solidFill>
                  </a:tcPr>
                </a:tc>
                <a:tc>
                  <a:txBody>
                    <a:bodyPr/>
                    <a:lstStyle/>
                    <a:p>
                      <a:r>
                        <a:rPr sz="1600" b="0">
                          <a:solidFill>
                            <a:srgbClr val="1B1B1B"/>
                          </a:solidFill>
                          <a:latin typeface="Calibri"/>
                        </a:rPr>
                        <a:t>We have 42 in a class, while they have 12.</a:t>
                      </a:r>
                    </a:p>
                  </a:txBody>
                  <a:tcPr>
                    <a:solidFill>
                      <a:srgbClr val="E3F3EE"/>
                    </a:solidFill>
                  </a:tcPr>
                </a:tc>
              </a:tr>
              <a:tr h="566928">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Compared with …, …</a:t>
                      </a:r>
                    </a:p>
                  </a:txBody>
                  <a:tcPr>
                    <a:solidFill>
                      <a:srgbClr val="FFFFFF"/>
                    </a:solidFill>
                  </a:tcPr>
                </a:tc>
                <a:tc>
                  <a:txBody>
                    <a:bodyPr/>
                    <a:lstStyle/>
                    <a:p>
                      <a:r>
                        <a:rPr sz="1600" b="0">
                          <a:solidFill>
                            <a:srgbClr val="1B1B1B"/>
                          </a:solidFill>
                          <a:latin typeface="Calibri"/>
                        </a:rPr>
                        <a:t>Compared with our school, theirs is tiny.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schools use technology, but their classes are much smaller than ours.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 a city school, a village school has less equipment.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*Compare with my school, it is small.* The correct form is COMPARED WITH.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schools use technology, but their classes are much smaller than 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oppor'TU-ni-ty, e'QUIP-ment, 'BOARD-ing school, 'DIS-tance learning. Group your words and pause between the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oppor'tunity (ooOoo)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e'quipment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'boarding school (Oo 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learning (Oo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Education gives every child an oppor-TU-ni-ty.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Their school has better e-QUIP-ment / than 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is on your schedule today?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one person's schedule for today. Single speaker — Nerry / Belize. It lasts 1:00.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1:00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one person's schedule for today B. who visits at holiday times C. where different people come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cleaned my house this morning, and now I am doing some work on my computer.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 gym makes me happy.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 am still on my holiday vacation, so there is not much for me to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for _____ is, what is on your schedule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only thing on my schedule _____ is gym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I'm finished with this, _____ I will be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question for you is, what do you have on your _____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Not every school has a classroom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When you think of a school, you probably think of a building, a playground and a bell. But for millions of children, school looks completely different. In the mountains of northern Viet Nam, some children walk two hours to school and stay in a boarding school from Monday to Friday. They cook together, study together and go home only at the weekend. 'I miss my mother,' says Sung Thi Mai, 12, 'but at home there is no electricity, so I cannot study in the evening.' In the Australian outback, children who live hundreds of kilometres from any town use distance learning. Every morning they sit at a desk at home and meet their teacher on a screen. Their 'classmates' may live 300 kilometres away. Once a year the whole school meets for a sports day — and for many pupils it is the first time they see each other. In Bangladesh, where floods cover the roads for months, engineers built floating scho…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schools need better equipment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Different kinds of school around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Life in the Australian outback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 | Kind of school | One detail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 Viet Nam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Australia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Bangladesh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school where students live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far countryside of Australia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who design and build things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chance to do something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Mai stay at the boarding school, even though she misses her mother?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the yearly sports day so important for the Australian pupils?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schools would be hardest for you?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 children in northern Viet Nam walk two hours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Boarding students go home every evening.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Australian distance-learning pupils meet their teacher on a screen.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Australian school meets twice a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Floating schools were built because of floods.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while, than, Compared with.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schools have computers.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classes are bigger ______ theirs.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have 42 students, ______ they have nine.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their school, ours is enormous.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Describe one of the three schools to your partner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Where / what kind / how pupils get there / one problem / one good 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comparing YOUR school with ONE of the schools in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school?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similarities (Both…)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differences (…-er than / while)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would you prefer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'Both schools…', '…is much bigger than…', 'We have 42 students in a class, while they have nine.', 'Compared with…', 'I would prefer…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Reacting to surprising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they manage?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must be difficult.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We're lucky, aren't we?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listeners must react with one expression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Comparing with both / than / while / compared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in long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boarding school, distance learning, pupil, remote, equipment, opportunity.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comparison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comparison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