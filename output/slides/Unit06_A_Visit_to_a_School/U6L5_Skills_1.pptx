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6L5_1_A2-050-NERRY-WHAT-IS-ON-YOUR-SCHEDULE-TODAY.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5  ·  PERIOD 44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Schools around the world + Speaking: Comparing schools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230-word article about unusual schools and answer three types of question</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compare two schools in a 90-second talk</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Question chain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ask each other school-life questions along the row. Recycles Lesson 4.</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and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boarding school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/ˈbɔːdɪŋ skuːl/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trường nội trú</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She goes to a boarding school.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distance learning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/ˈdɪstəns ˌlɜːnɪŋ/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học từ xa</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use distance learning by radio.</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pupil</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/ˈpjuːpl/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học sinh</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school has only nine pupils.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remote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/rɪˈməʊt/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xa xôi, hẻo lánh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village is very remote.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equipment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/ɪˈkwɪpmənt/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thiết bị</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school has modern equipment.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opportunity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/ˌɒpəˈtjuːnəti/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cơ hội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Education gives you opportunities.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get to school</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part in lessons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the chance to…</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compared with…</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the other hand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Comparing two things in a talk (recycling Unit 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comparatives to compare two schools: bigger than, more modern than.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'while' and 'However' to organise (Unit 4 Lesson 6).</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'both' for similarities: Both schools have…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New: 'compared with' — Compared with my school, this one is very small.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similarity</a:t>
                      </a:r>
                    </a:p>
                  </a:txBody>
                  <a:tcPr>
                    <a:solidFill>
                      <a:srgbClr val="E3F3EE"/>
                    </a:solidFill>
                  </a:tcPr>
                </a:tc>
                <a:tc>
                  <a:txBody>
                    <a:bodyPr/>
                    <a:lstStyle/>
                    <a:p>
                      <a:r>
                        <a:rPr sz="1600" b="0">
                          <a:solidFill>
                            <a:srgbClr val="1B1B1B"/>
                          </a:solidFill>
                          <a:latin typeface="Calibri"/>
                        </a:rPr>
                        <a:t>Both … and …</a:t>
                      </a:r>
                    </a:p>
                  </a:txBody>
                  <a:tcPr>
                    <a:solidFill>
                      <a:srgbClr val="E3F3EE"/>
                    </a:solidFill>
                  </a:tcPr>
                </a:tc>
                <a:tc>
                  <a:txBody>
                    <a:bodyPr/>
                    <a:lstStyle/>
                    <a:p>
                      <a:r>
                        <a:rPr sz="1600" b="0">
                          <a:solidFill>
                            <a:srgbClr val="1B1B1B"/>
                          </a:solidFill>
                          <a:latin typeface="Calibri"/>
                        </a:rPr>
                        <a:t>Both schools start early.</a:t>
                      </a:r>
                    </a:p>
                  </a:txBody>
                  <a:tcPr>
                    <a:solidFill>
                      <a:srgbClr val="E3F3EE"/>
                    </a:solidFill>
                  </a:tcPr>
                </a:tc>
              </a:tr>
              <a:tr h="566928">
                <a:tc>
                  <a:txBody>
                    <a:bodyPr/>
                    <a:lstStyle/>
                    <a:p>
                      <a:r>
                        <a:rPr sz="1600" b="0">
                          <a:solidFill>
                            <a:srgbClr val="1B1B1B"/>
                          </a:solidFill>
                          <a:latin typeface="Calibri"/>
                        </a:rPr>
                        <a:t>difference</a:t>
                      </a:r>
                    </a:p>
                  </a:txBody>
                  <a:tcPr>
                    <a:solidFill>
                      <a:srgbClr val="FFFFFF"/>
                    </a:solidFill>
                  </a:tcPr>
                </a:tc>
                <a:tc>
                  <a:txBody>
                    <a:bodyPr/>
                    <a:lstStyle/>
                    <a:p>
                      <a:r>
                        <a:rPr sz="1600" b="0">
                          <a:solidFill>
                            <a:srgbClr val="1B1B1B"/>
                          </a:solidFill>
                          <a:latin typeface="Calibri"/>
                        </a:rPr>
                        <a:t>…-er / more … than</a:t>
                      </a:r>
                    </a:p>
                  </a:txBody>
                  <a:tcPr>
                    <a:solidFill>
                      <a:srgbClr val="FFFFFF"/>
                    </a:solidFill>
                  </a:tcPr>
                </a:tc>
                <a:tc>
                  <a:txBody>
                    <a:bodyPr/>
                    <a:lstStyle/>
                    <a:p>
                      <a:r>
                        <a:rPr sz="1600" b="0">
                          <a:solidFill>
                            <a:srgbClr val="1B1B1B"/>
                          </a:solidFill>
                          <a:latin typeface="Calibri"/>
                        </a:rPr>
                        <a:t>Their day is shorter than ours.</a:t>
                      </a:r>
                    </a:p>
                  </a:txBody>
                  <a:tcPr>
                    <a:solidFill>
                      <a:srgbClr val="FFFFFF"/>
                    </a:solidFill>
                  </a:tcPr>
                </a:tc>
              </a:tr>
              <a:tr h="566928">
                <a:tc>
                  <a:txBody>
                    <a:bodyPr/>
                    <a:lstStyle/>
                    <a:p>
                      <a:r>
                        <a:rPr sz="1600" b="0">
                          <a:solidFill>
                            <a:srgbClr val="1B1B1B"/>
                          </a:solidFill>
                          <a:latin typeface="Calibri"/>
                        </a:rPr>
                        <a:t>contrast</a:t>
                      </a:r>
                    </a:p>
                  </a:txBody>
                  <a:tcPr>
                    <a:solidFill>
                      <a:srgbClr val="E3F3EE"/>
                    </a:solidFill>
                  </a:tcPr>
                </a:tc>
                <a:tc>
                  <a:txBody>
                    <a:bodyPr/>
                    <a:lstStyle/>
                    <a:p>
                      <a:r>
                        <a:rPr sz="1600" b="0">
                          <a:solidFill>
                            <a:srgbClr val="1B1B1B"/>
                          </a:solidFill>
                          <a:latin typeface="Calibri"/>
                        </a:rPr>
                        <a:t>…, while …</a:t>
                      </a:r>
                    </a:p>
                  </a:txBody>
                  <a:tcPr>
                    <a:solidFill>
                      <a:srgbClr val="E3F3EE"/>
                    </a:solidFill>
                  </a:tcPr>
                </a:tc>
                <a:tc>
                  <a:txBody>
                    <a:bodyPr/>
                    <a:lstStyle/>
                    <a:p>
                      <a:r>
                        <a:rPr sz="1600" b="0">
                          <a:solidFill>
                            <a:srgbClr val="1B1B1B"/>
                          </a:solidFill>
                          <a:latin typeface="Calibri"/>
                        </a:rPr>
                        <a:t>We have 42 in a class, while they have 12.</a:t>
                      </a:r>
                    </a:p>
                  </a:txBody>
                  <a:tcPr>
                    <a:solidFill>
                      <a:srgbClr val="E3F3EE"/>
                    </a:solidFill>
                  </a:tcPr>
                </a:tc>
              </a:tr>
              <a:tr h="566928">
                <a:tc>
                  <a:txBody>
                    <a:bodyPr/>
                    <a:lstStyle/>
                    <a:p>
                      <a:r>
                        <a:rPr sz="1600" b="0">
                          <a:solidFill>
                            <a:srgbClr val="1B1B1B"/>
                          </a:solidFill>
                          <a:latin typeface="Calibri"/>
                        </a:rPr>
                        <a:t>contrast</a:t>
                      </a:r>
                    </a:p>
                  </a:txBody>
                  <a:tcPr>
                    <a:solidFill>
                      <a:srgbClr val="FFFFFF"/>
                    </a:solidFill>
                  </a:tcPr>
                </a:tc>
                <a:tc>
                  <a:txBody>
                    <a:bodyPr/>
                    <a:lstStyle/>
                    <a:p>
                      <a:r>
                        <a:rPr sz="1600" b="0">
                          <a:solidFill>
                            <a:srgbClr val="1B1B1B"/>
                          </a:solidFill>
                          <a:latin typeface="Calibri"/>
                        </a:rPr>
                        <a:t>Compared with …, …</a:t>
                      </a:r>
                    </a:p>
                  </a:txBody>
                  <a:tcPr>
                    <a:solidFill>
                      <a:srgbClr val="FFFFFF"/>
                    </a:solidFill>
                  </a:tcPr>
                </a:tc>
                <a:tc>
                  <a:txBody>
                    <a:bodyPr/>
                    <a:lstStyle/>
                    <a:p>
                      <a:r>
                        <a:rPr sz="1600" b="0">
                          <a:solidFill>
                            <a:srgbClr val="1B1B1B"/>
                          </a:solidFill>
                          <a:latin typeface="Calibri"/>
                        </a:rPr>
                        <a:t>Compared with our school, theirs is tiny.</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Both schools use technology, but their classes are much smaller than ours.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Compared with a city school, a village school has less equipment.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*Compare with my school, it is small.* The correct form is COMPARED WITH.</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Both schools use technology, but their classes are much smaller than ours.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Stress in long words and clear phrasing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Practise: oppor'TU-ni-ty, e'QUIP-ment, 'BOARD-ing school, 'DIS-tance learning. Group your words and pause between the groups.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oppor'tunity (ooOoo)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e'quipment (oOo)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'boarding school (Oo 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'distance learning (Oo 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Education gives every child an oppor-TU-ni-ty.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Their school has better e-QUIP-ment / than 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is on your schedule today?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one person's schedule for today. Single speaker — Nerry / Belize. It lasts 1:00.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One Minute English · 1:00 · Single speaker — Nerry / Belize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one person's schedule for today B. who visits at holiday times C. where different people come from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 cleaned my house this morning, and now I am doing some work on my computer.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My name is Nerry, and I am from Belize.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 like going to the gym.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The gym makes me happy.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I am still on my holiday vacation, so there is not much for me to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for _____ is, what is on your schedule today?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only thing on my schedule _____ is gym time.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When I'm finished with this, _____ I will be going to the gym.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question for you is, what do you have on your _____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Not every school has a classroom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When you think of a school, you probably think of a building, a playground and a bell. But for millions of children, school looks completely different. In the mountains of northern Viet Nam, some children walk two hours to school and stay in a boarding school from Monday to Friday. They cook together, study together and go home only at the weekend. 'I miss my mother,' says Sung Thi Mai, 12, 'but at home there is no electricity, so I cannot study in the evening.' In the Australian outback, children who live hundreds of kilometres from any town use distance learning. Every morning they sit at a desk at home and meet their teacher on a screen. Their 'classmates' may live 300 kilometres away. Once a year the whole school meets for a sports day — and for many pupils it is the first time they see each other. In Bangladesh, where floods cover the roads for months, engineers built floating scho…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Why schools need better equipment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Different kinds of school around the world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Life in the Australian outback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Place | Kind of school | One detail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 Viet Nam | ___ |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Australia | ___ |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Bangladesh | ___ |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school where students live (paragraph 2)</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far countryside of Australia (paragraph 3)</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people who design and build things (paragraph 4)</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chance to do something (paragraph 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Mai stay at the boarding school, even though she misses her mother?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the yearly sports day so important for the Australian pupils?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of the three schools would be hardest for you? Why?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Some children in northern Viet Nam walk two hours to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Boarding students go home every evening.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Australian distance-learning pupils meet their teacher on a screen.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Australian school meets twice a year.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Floating schools were built because of floods.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Both, while, than, Compared with.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schools have computers.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Our classes are bigger ______ theirs.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have 42 students, ______ they have nine.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their school, ours is enormous.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Describe one of the three schools to your partner in five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Where / what kind / how pupils get there / one problem / one good 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U6.5-S2 in your group.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U6.5-S2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comparing YOUR school with ONE of the schools in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Which school?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Two similarities (Both…)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Three differences (…-er than / while)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would you prefer and why?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one question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'Both schools…', '…is much bigger than…', 'We have 42 students in a class, while they have nine.', 'Compared with…', 'I would prefer…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Reacting to surprising information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amazing!</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can't imagine that.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they manage?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 must be difficult.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We're lucky, aren't we?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talk, listeners must react with one expression and ask one question.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notes into six sentences.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Comparing with both / than / while / compared with</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Stress in long words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boarding school, distance learning, pupil, remote, equipment, opportunity.</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comparison as a paragraph (90–100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90-second comparison three times.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