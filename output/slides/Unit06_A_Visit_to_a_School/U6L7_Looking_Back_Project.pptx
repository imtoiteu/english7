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6  ·  LESSON 7  ·  PERIOD 44</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LOOKING BACK &amp; PROJECT</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Unit 6 review and Our Dream School</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recall the school vocabulary of Unit 6</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choose correctly between the present simple and the present continuous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correct the six typical mistakes of the unit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design and present a dream school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Tense tennis  (6')</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Teacher says a time expression; students shout the tense and a sentence. Fast, 12 rounds.</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Produce the correct tense.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design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/dɪˈzaɪn/   (v/n)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thiết kế</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designed our dream school.</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ideal</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/aɪˈdɪəl/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lý tưởng</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This is our ideal classroom.</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suggest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/səˈdʒest/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đề xuất</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suggest a garden on the roof.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Our dream school has…</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our school, students…</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suggest…</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Next year we are opening…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Unit 6 grammar in one page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Present simple: habits, routines, facts, timetables</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Present continuous: now, these days, fixed future arrangements</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State verbs are not used in the continuous</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Prepositions of time: on days, at times, in longer periods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c>
                  <a:txBody>
                    <a:bodyPr/>
                    <a:lstStyle/>
                    <a:p>
                      <a:r>
                        <a:rPr sz="1600" b="1">
                          <a:solidFill>
                            <a:srgbClr val="FFFFFF"/>
                          </a:solidFill>
                          <a:latin typeface="Calibri"/>
                        </a:rPr>
                        <a:t>Common mistake</a:t>
                      </a:r>
                    </a:p>
                  </a:txBody>
                  <a:tcPr>
                    <a:solidFill>
                      <a:srgbClr val="0E7C66"/>
                    </a:solidFill>
                  </a:tcPr>
                </a:tc>
              </a:tr>
              <a:tr h="566928">
                <a:tc>
                  <a:txBody>
                    <a:bodyPr/>
                    <a:lstStyle/>
                    <a:p>
                      <a:r>
                        <a:rPr sz="1600" b="0">
                          <a:solidFill>
                            <a:srgbClr val="1B1B1B"/>
                          </a:solidFill>
                          <a:latin typeface="Calibri"/>
                        </a:rPr>
                        <a:t>simple for habits</a:t>
                      </a:r>
                    </a:p>
                  </a:txBody>
                  <a:tcPr>
                    <a:solidFill>
                      <a:srgbClr val="E3F3EE"/>
                    </a:solidFill>
                  </a:tcPr>
                </a:tc>
                <a:tc>
                  <a:txBody>
                    <a:bodyPr/>
                    <a:lstStyle/>
                    <a:p>
                      <a:r>
                        <a:rPr sz="1600" b="0">
                          <a:solidFill>
                            <a:srgbClr val="1B1B1B"/>
                          </a:solidFill>
                          <a:latin typeface="Calibri"/>
                        </a:rPr>
                        <a:t>We start at seven every day.</a:t>
                      </a:r>
                    </a:p>
                  </a:txBody>
                  <a:tcPr>
                    <a:solidFill>
                      <a:srgbClr val="E3F3EE"/>
                    </a:solidFill>
                  </a:tcPr>
                </a:tc>
                <a:tc>
                  <a:txBody>
                    <a:bodyPr/>
                    <a:lstStyle/>
                    <a:p>
                      <a:r>
                        <a:rPr sz="1600" b="0">
                          <a:solidFill>
                            <a:srgbClr val="1B1B1B"/>
                          </a:solidFill>
                          <a:latin typeface="Calibri"/>
                        </a:rPr>
                        <a:t>*We are starting every day.</a:t>
                      </a:r>
                    </a:p>
                  </a:txBody>
                  <a:tcPr>
                    <a:solidFill>
                      <a:srgbClr val="E3F3EE"/>
                    </a:solidFill>
                  </a:tcPr>
                </a:tc>
              </a:tr>
              <a:tr h="566928">
                <a:tc>
                  <a:txBody>
                    <a:bodyPr/>
                    <a:lstStyle/>
                    <a:p>
                      <a:r>
                        <a:rPr sz="1600" b="0">
                          <a:solidFill>
                            <a:srgbClr val="1B1B1B"/>
                          </a:solidFill>
                          <a:latin typeface="Calibri"/>
                        </a:rPr>
                        <a:t>continuous for now</a:t>
                      </a:r>
                    </a:p>
                  </a:txBody>
                  <a:tcPr>
                    <a:solidFill>
                      <a:srgbClr val="FFFFFF"/>
                    </a:solidFill>
                  </a:tcPr>
                </a:tc>
                <a:tc>
                  <a:txBody>
                    <a:bodyPr/>
                    <a:lstStyle/>
                    <a:p>
                      <a:r>
                        <a:rPr sz="1600" b="0">
                          <a:solidFill>
                            <a:srgbClr val="1B1B1B"/>
                          </a:solidFill>
                          <a:latin typeface="Calibri"/>
                        </a:rPr>
                        <a:t>Look! He is running.</a:t>
                      </a:r>
                    </a:p>
                  </a:txBody>
                  <a:tcPr>
                    <a:solidFill>
                      <a:srgbClr val="FFFFFF"/>
                    </a:solidFill>
                  </a:tcPr>
                </a:tc>
                <a:tc>
                  <a:txBody>
                    <a:bodyPr/>
                    <a:lstStyle/>
                    <a:p>
                      <a:r>
                        <a:rPr sz="1600" b="0">
                          <a:solidFill>
                            <a:srgbClr val="1B1B1B"/>
                          </a:solidFill>
                          <a:latin typeface="Calibri"/>
                        </a:rPr>
                        <a:t>*Look! He runs.</a:t>
                      </a:r>
                    </a:p>
                  </a:txBody>
                  <a:tcPr>
                    <a:solidFill>
                      <a:srgbClr val="FFFFFF"/>
                    </a:solidFill>
                  </a:tcPr>
                </a:tc>
              </a:tr>
              <a:tr h="566928">
                <a:tc>
                  <a:txBody>
                    <a:bodyPr/>
                    <a:lstStyle/>
                    <a:p>
                      <a:r>
                        <a:rPr sz="1600" b="0">
                          <a:solidFill>
                            <a:srgbClr val="1B1B1B"/>
                          </a:solidFill>
                          <a:latin typeface="Calibri"/>
                        </a:rPr>
                        <a:t>continuous for plans</a:t>
                      </a:r>
                    </a:p>
                  </a:txBody>
                  <a:tcPr>
                    <a:solidFill>
                      <a:srgbClr val="E3F3EE"/>
                    </a:solidFill>
                  </a:tcPr>
                </a:tc>
                <a:tc>
                  <a:txBody>
                    <a:bodyPr/>
                    <a:lstStyle/>
                    <a:p>
                      <a:r>
                        <a:rPr sz="1600" b="0">
                          <a:solidFill>
                            <a:srgbClr val="1B1B1B"/>
                          </a:solidFill>
                          <a:latin typeface="Calibri"/>
                        </a:rPr>
                        <a:t>We are visiting Hue next Friday.</a:t>
                      </a:r>
                    </a:p>
                  </a:txBody>
                  <a:tcPr>
                    <a:solidFill>
                      <a:srgbClr val="E3F3EE"/>
                    </a:solidFill>
                  </a:tcPr>
                </a:tc>
                <a:tc>
                  <a:txBody>
                    <a:bodyPr/>
                    <a:lstStyle/>
                    <a:p>
                      <a:r>
                        <a:rPr sz="1600" b="0">
                          <a:solidFill>
                            <a:srgbClr val="1B1B1B"/>
                          </a:solidFill>
                          <a:latin typeface="Calibri"/>
                        </a:rPr>
                        <a:t>*We visit Hue next Friday.</a:t>
                      </a:r>
                    </a:p>
                  </a:txBody>
                  <a:tcPr>
                    <a:solidFill>
                      <a:srgbClr val="E3F3EE"/>
                    </a:solidFill>
                  </a:tcPr>
                </a:tc>
              </a:tr>
              <a:tr h="566928">
                <a:tc>
                  <a:txBody>
                    <a:bodyPr/>
                    <a:lstStyle/>
                    <a:p>
                      <a:r>
                        <a:rPr sz="1600" b="0">
                          <a:solidFill>
                            <a:srgbClr val="1B1B1B"/>
                          </a:solidFill>
                          <a:latin typeface="Calibri"/>
                        </a:rPr>
                        <a:t>state verbs</a:t>
                      </a:r>
                    </a:p>
                  </a:txBody>
                  <a:tcPr>
                    <a:solidFill>
                      <a:srgbClr val="FFFFFF"/>
                    </a:solidFill>
                  </a:tcPr>
                </a:tc>
                <a:tc>
                  <a:txBody>
                    <a:bodyPr/>
                    <a:lstStyle/>
                    <a:p>
                      <a:r>
                        <a:rPr sz="1600" b="0">
                          <a:solidFill>
                            <a:srgbClr val="1B1B1B"/>
                          </a:solidFill>
                          <a:latin typeface="Calibri"/>
                        </a:rPr>
                        <a:t>I know the answer.</a:t>
                      </a:r>
                    </a:p>
                  </a:txBody>
                  <a:tcPr>
                    <a:solidFill>
                      <a:srgbClr val="FFFFFF"/>
                    </a:solidFill>
                  </a:tcPr>
                </a:tc>
                <a:tc>
                  <a:txBody>
                    <a:bodyPr/>
                    <a:lstStyle/>
                    <a:p>
                      <a:r>
                        <a:rPr sz="1600" b="0">
                          <a:solidFill>
                            <a:srgbClr val="1B1B1B"/>
                          </a:solidFill>
                          <a:latin typeface="Calibri"/>
                        </a:rPr>
                        <a:t>*I am knowing the answer.</a:t>
                      </a:r>
                    </a:p>
                  </a:txBody>
                  <a:tcPr>
                    <a:solidFill>
                      <a:srgbClr val="FFFFFF"/>
                    </a:solidFill>
                  </a:tcPr>
                </a:tc>
              </a:tr>
              <a:tr h="566928">
                <a:tc>
                  <a:txBody>
                    <a:bodyPr/>
                    <a:lstStyle/>
                    <a:p>
                      <a:r>
                        <a:rPr sz="1600" b="0">
                          <a:solidFill>
                            <a:srgbClr val="1B1B1B"/>
                          </a:solidFill>
                          <a:latin typeface="Calibri"/>
                        </a:rPr>
                        <a:t>be + -ing (both parts)</a:t>
                      </a:r>
                    </a:p>
                  </a:txBody>
                  <a:tcPr>
                    <a:solidFill>
                      <a:srgbClr val="E3F3EE"/>
                    </a:solidFill>
                  </a:tcPr>
                </a:tc>
                <a:tc>
                  <a:txBody>
                    <a:bodyPr/>
                    <a:lstStyle/>
                    <a:p>
                      <a:r>
                        <a:rPr sz="1600" b="0">
                          <a:solidFill>
                            <a:srgbClr val="1B1B1B"/>
                          </a:solidFill>
                          <a:latin typeface="Calibri"/>
                        </a:rPr>
                        <a:t>She is reading.</a:t>
                      </a:r>
                    </a:p>
                  </a:txBody>
                  <a:tcPr>
                    <a:solidFill>
                      <a:srgbClr val="E3F3EE"/>
                    </a:solidFill>
                  </a:tcPr>
                </a:tc>
                <a:tc>
                  <a:txBody>
                    <a:bodyPr/>
                    <a:lstStyle/>
                    <a:p>
                      <a:r>
                        <a:rPr sz="1600" b="0">
                          <a:solidFill>
                            <a:srgbClr val="1B1B1B"/>
                          </a:solidFill>
                          <a:latin typeface="Calibri"/>
                        </a:rPr>
                        <a:t>*She reading.</a:t>
                      </a:r>
                    </a:p>
                  </a:txBody>
                  <a:tcPr>
                    <a:solidFill>
                      <a:srgbClr val="E3F3EE"/>
                    </a:solidFill>
                  </a:tcPr>
                </a:tc>
              </a:tr>
              <a:tr h="566928">
                <a:tc>
                  <a:txBody>
                    <a:bodyPr/>
                    <a:lstStyle/>
                    <a:p>
                      <a:r>
                        <a:rPr sz="1600" b="0">
                          <a:solidFill>
                            <a:srgbClr val="1B1B1B"/>
                          </a:solidFill>
                          <a:latin typeface="Calibri"/>
                        </a:rPr>
                        <a:t>on / at / in</a:t>
                      </a:r>
                    </a:p>
                  </a:txBody>
                  <a:tcPr>
                    <a:solidFill>
                      <a:srgbClr val="FFFFFF"/>
                    </a:solidFill>
                  </a:tcPr>
                </a:tc>
                <a:tc>
                  <a:txBody>
                    <a:bodyPr/>
                    <a:lstStyle/>
                    <a:p>
                      <a:r>
                        <a:rPr sz="1600" b="0">
                          <a:solidFill>
                            <a:srgbClr val="1B1B1B"/>
                          </a:solidFill>
                          <a:latin typeface="Calibri"/>
                        </a:rPr>
                        <a:t>on Monday, at seven, in July</a:t>
                      </a:r>
                    </a:p>
                  </a:txBody>
                  <a:tcPr>
                    <a:solidFill>
                      <a:srgbClr val="FFFFFF"/>
                    </a:solidFill>
                  </a:tcPr>
                </a:tc>
                <a:tc>
                  <a:txBody>
                    <a:bodyPr/>
                    <a:lstStyle/>
                    <a:p>
                      <a:r>
                        <a:rPr sz="1600" b="0">
                          <a:solidFill>
                            <a:srgbClr val="1B1B1B"/>
                          </a:solidFill>
                          <a:latin typeface="Calibri"/>
                        </a:rPr>
                        <a:t>*in Monday, at July</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usually have PE on Friday, but this week we are having it on Wednesday because the gym is closed.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Add these six to the classroom wall list.</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We usually have PE on Friday, but this week we are having it on Wednesday because the gym is closed.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Pronunciation: Unit 6 sounds review: -tion/-sion, contractions, quest…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Three checks: is the stress before -tion? are contractions used? does the yes/no question rise?</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edu'CA-tion, re'VI-sion</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I'm, he's, they're, isn't</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Do you…? ↗ / What…?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I'm having a revision lesson before the competition. Do you have one too?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Looking Back — listen again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No new recording. You hear this unit’s own recordings again: The present continuous for future arrangements · The present continuous.</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Recycled — this unit’s own verified recordings · replayed extracts · As in the original recordings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____________________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____________________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____________________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____________________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____________________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____________________</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The school that students designed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Three years ago, a secondary school in Da Nang did something unusual: it asked the students to design the new building. More than 200 students sent in ideas. Some were impossible (a swimming pool on the roof, a lift for students only). But three ideas became real. First, the corridors are wider, because students said the old ones were dangerous at break time. Second, every classroom has a small green wall of plants, which keeps the room cooler. Third — and this was the most popular idea — the library is open until six in the evening, because many students have nowhere quiet to study at home. 'The students knew things we didn't,' said the head teacher. 'We are teachers, but we are not thirteen years old.'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U6.7-R1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did the school ask the students to do?</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many students sent ideas?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Give two impossible ideas.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Why are the corridors wider now?</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Why is the late library opening the most popular idea?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where you do experiments: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where teachers rest: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plan of your lessons: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you wear to school: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 school where students live: ______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a subject about the past: 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Look! The bus comes.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Every day I am going to school by bike.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He playing football now.</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 am knowing the answer.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We visit the museum next Friday. (already arranged)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We have English in Monday.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U6.7-I1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text with the correct tense.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Write the eight verbs.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U6.7-I2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Design your dream school and prepare the presentation.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U6.7-I2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Design your dream school and prepare the presentation.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U6.7-S1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Present your design for two minutes. Everyone speaks.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Frame: 'Welcome to our dream school. It has… In our school, students… In this picture, students are… Next year we are opening… Any questions?'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Presenting a design and answering questions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Welcome to…</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As you can see…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suggest…</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Our best idea is…</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Any questions?</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a good question.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Design fair: groups present; the class asks two questions each and votes for the best idea.</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U6.7-W1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sentences for your poster.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 'Our school has…' (present simple)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 'Students…' (present simple habits)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 'In this picture, students are…' (present continuous)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 'Next year we are opening…' (future arrangement)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School vocabulary (26 items)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Present simple vs present continuous (three uses)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State verbs</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on / at / in</a:t>
            </a:r>
          </a:p>
        </p:txBody>
      </p:sp>
      <p:sp>
        <p:nvSpPr>
          <p:cNvPr id="16" name="Rounded Rectangle 15"/>
          <p:cNvSpPr/>
          <p:nvPr/>
        </p:nvSpPr>
        <p:spPr>
          <a:xfrm>
            <a:off x="731520" y="544068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51560" y="551383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Question forms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U6L7</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U6.7-H1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10 words from Unit 6 with Vietnamese meanings.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U6.7-H2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Choose the correct answer.</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U6.7-H3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an email (100–110 words) describing your dream school to a friend.</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U6.7-H4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Prepare for Unit 7 — Write five kinds of transport and three traffic signs you know, in English or Vietnamese.</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U6L7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