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6  ·  LESSON 7  ·  PERIOD 46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6 review and Our Dream School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school vocabulary of Unit 6</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choose correctly between the present simple and the present continuous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design and present a dream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Tense tennis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time expression; students shout the tense and a sentence. Fast, 12 rounds.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the correct tense.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design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/dɪˈzaɪn/   (v/n)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thiết kế</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designed our dream school.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ideal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/aɪˈdɪəl/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lý tưởng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is our ideal classroom.</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suggest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/səˈdʒest/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 xuất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suggest a garden on the roof.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dream school has…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our school, students…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Next year we are opening…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6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routines, facts, timetables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continuous: now, these days, fixed future arrangements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State verbs are not used in the continuous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time: on days, at times, in longer periods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simple for habits</a:t>
                      </a:r>
                    </a:p>
                  </a:txBody>
                  <a:tcPr>
                    <a:solidFill>
                      <a:srgbClr val="E3F3EE"/>
                    </a:solidFill>
                  </a:tcPr>
                </a:tc>
                <a:tc>
                  <a:txBody>
                    <a:bodyPr/>
                    <a:lstStyle/>
                    <a:p>
                      <a:r>
                        <a:rPr sz="1600" b="0">
                          <a:solidFill>
                            <a:srgbClr val="1B1B1B"/>
                          </a:solidFill>
                          <a:latin typeface="Calibri"/>
                        </a:rPr>
                        <a:t>We start at seven every day.</a:t>
                      </a:r>
                    </a:p>
                  </a:txBody>
                  <a:tcPr>
                    <a:solidFill>
                      <a:srgbClr val="E3F3EE"/>
                    </a:solidFill>
                  </a:tcPr>
                </a:tc>
                <a:tc>
                  <a:txBody>
                    <a:bodyPr/>
                    <a:lstStyle/>
                    <a:p>
                      <a:r>
                        <a:rPr sz="1600" b="0">
                          <a:solidFill>
                            <a:srgbClr val="1B1B1B"/>
                          </a:solidFill>
                          <a:latin typeface="Calibri"/>
                        </a:rPr>
                        <a:t>*We are starting every day.</a:t>
                      </a:r>
                    </a:p>
                  </a:txBody>
                  <a:tcPr>
                    <a:solidFill>
                      <a:srgbClr val="E3F3EE"/>
                    </a:solidFill>
                  </a:tcPr>
                </a:tc>
              </a:tr>
              <a:tr h="566928">
                <a:tc>
                  <a:txBody>
                    <a:bodyPr/>
                    <a:lstStyle/>
                    <a:p>
                      <a:r>
                        <a:rPr sz="1600" b="0">
                          <a:solidFill>
                            <a:srgbClr val="1B1B1B"/>
                          </a:solidFill>
                          <a:latin typeface="Calibri"/>
                        </a:rPr>
                        <a:t>continuous for now</a:t>
                      </a:r>
                    </a:p>
                  </a:txBody>
                  <a:tcPr>
                    <a:solidFill>
                      <a:srgbClr val="FFFFFF"/>
                    </a:solidFill>
                  </a:tcPr>
                </a:tc>
                <a:tc>
                  <a:txBody>
                    <a:bodyPr/>
                    <a:lstStyle/>
                    <a:p>
                      <a:r>
                        <a:rPr sz="1600" b="0">
                          <a:solidFill>
                            <a:srgbClr val="1B1B1B"/>
                          </a:solidFill>
                          <a:latin typeface="Calibri"/>
                        </a:rPr>
                        <a:t>Look! He is running.</a:t>
                      </a:r>
                    </a:p>
                  </a:txBody>
                  <a:tcPr>
                    <a:solidFill>
                      <a:srgbClr val="FFFFFF"/>
                    </a:solidFill>
                  </a:tcPr>
                </a:tc>
                <a:tc>
                  <a:txBody>
                    <a:bodyPr/>
                    <a:lstStyle/>
                    <a:p>
                      <a:r>
                        <a:rPr sz="1600" b="0">
                          <a:solidFill>
                            <a:srgbClr val="1B1B1B"/>
                          </a:solidFill>
                          <a:latin typeface="Calibri"/>
                        </a:rPr>
                        <a:t>*Look! He runs.</a:t>
                      </a:r>
                    </a:p>
                  </a:txBody>
                  <a:tcPr>
                    <a:solidFill>
                      <a:srgbClr val="FFFFFF"/>
                    </a:solidFill>
                  </a:tcPr>
                </a:tc>
              </a:tr>
              <a:tr h="566928">
                <a:tc>
                  <a:txBody>
                    <a:bodyPr/>
                    <a:lstStyle/>
                    <a:p>
                      <a:r>
                        <a:rPr sz="1600" b="0">
                          <a:solidFill>
                            <a:srgbClr val="1B1B1B"/>
                          </a:solidFill>
                          <a:latin typeface="Calibri"/>
                        </a:rPr>
                        <a:t>continuous for plans</a:t>
                      </a:r>
                    </a:p>
                  </a:txBody>
                  <a:tcPr>
                    <a:solidFill>
                      <a:srgbClr val="E3F3EE"/>
                    </a:solidFill>
                  </a:tcPr>
                </a:tc>
                <a:tc>
                  <a:txBody>
                    <a:bodyPr/>
                    <a:lstStyle/>
                    <a:p>
                      <a:r>
                        <a:rPr sz="1600" b="0">
                          <a:solidFill>
                            <a:srgbClr val="1B1B1B"/>
                          </a:solidFill>
                          <a:latin typeface="Calibri"/>
                        </a:rPr>
                        <a:t>We are visiting Hue next Friday.</a:t>
                      </a:r>
                    </a:p>
                  </a:txBody>
                  <a:tcPr>
                    <a:solidFill>
                      <a:srgbClr val="E3F3EE"/>
                    </a:solidFill>
                  </a:tcPr>
                </a:tc>
                <a:tc>
                  <a:txBody>
                    <a:bodyPr/>
                    <a:lstStyle/>
                    <a:p>
                      <a:r>
                        <a:rPr sz="1600" b="0">
                          <a:solidFill>
                            <a:srgbClr val="1B1B1B"/>
                          </a:solidFill>
                          <a:latin typeface="Calibri"/>
                        </a:rPr>
                        <a:t>*We visit Hue next Friday.</a:t>
                      </a:r>
                    </a:p>
                  </a:txBody>
                  <a:tcPr>
                    <a:solidFill>
                      <a:srgbClr val="E3F3EE"/>
                    </a:solidFill>
                  </a:tcPr>
                </a:tc>
              </a:tr>
              <a:tr h="566928">
                <a:tc>
                  <a:txBody>
                    <a:bodyPr/>
                    <a:lstStyle/>
                    <a:p>
                      <a:r>
                        <a:rPr sz="1600" b="0">
                          <a:solidFill>
                            <a:srgbClr val="1B1B1B"/>
                          </a:solidFill>
                          <a:latin typeface="Calibri"/>
                        </a:rPr>
                        <a:t>state verbs</a:t>
                      </a:r>
                    </a:p>
                  </a:txBody>
                  <a:tcPr>
                    <a:solidFill>
                      <a:srgbClr val="FFFFFF"/>
                    </a:solidFill>
                  </a:tcPr>
                </a:tc>
                <a:tc>
                  <a:txBody>
                    <a:bodyPr/>
                    <a:lstStyle/>
                    <a:p>
                      <a:r>
                        <a:rPr sz="1600" b="0">
                          <a:solidFill>
                            <a:srgbClr val="1B1B1B"/>
                          </a:solidFill>
                          <a:latin typeface="Calibri"/>
                        </a:rPr>
                        <a:t>I know the answer.</a:t>
                      </a:r>
                    </a:p>
                  </a:txBody>
                  <a:tcPr>
                    <a:solidFill>
                      <a:srgbClr val="FFFFFF"/>
                    </a:solidFill>
                  </a:tcPr>
                </a:tc>
                <a:tc>
                  <a:txBody>
                    <a:bodyPr/>
                    <a:lstStyle/>
                    <a:p>
                      <a:r>
                        <a:rPr sz="1600" b="0">
                          <a:solidFill>
                            <a:srgbClr val="1B1B1B"/>
                          </a:solidFill>
                          <a:latin typeface="Calibri"/>
                        </a:rPr>
                        <a:t>*I am knowing the answer.</a:t>
                      </a:r>
                    </a:p>
                  </a:txBody>
                  <a:tcPr>
                    <a:solidFill>
                      <a:srgbClr val="FFFFFF"/>
                    </a:solidFill>
                  </a:tcPr>
                </a:tc>
              </a:tr>
              <a:tr h="566928">
                <a:tc>
                  <a:txBody>
                    <a:bodyPr/>
                    <a:lstStyle/>
                    <a:p>
                      <a:r>
                        <a:rPr sz="1600" b="0">
                          <a:solidFill>
                            <a:srgbClr val="1B1B1B"/>
                          </a:solidFill>
                          <a:latin typeface="Calibri"/>
                        </a:rPr>
                        <a:t>be + -ing (both parts)</a:t>
                      </a:r>
                    </a:p>
                  </a:txBody>
                  <a:tcPr>
                    <a:solidFill>
                      <a:srgbClr val="E3F3EE"/>
                    </a:solidFill>
                  </a:tcPr>
                </a:tc>
                <a:tc>
                  <a:txBody>
                    <a:bodyPr/>
                    <a:lstStyle/>
                    <a:p>
                      <a:r>
                        <a:rPr sz="1600" b="0">
                          <a:solidFill>
                            <a:srgbClr val="1B1B1B"/>
                          </a:solidFill>
                          <a:latin typeface="Calibri"/>
                        </a:rPr>
                        <a:t>She is reading.</a:t>
                      </a:r>
                    </a:p>
                  </a:txBody>
                  <a:tcPr>
                    <a:solidFill>
                      <a:srgbClr val="E3F3EE"/>
                    </a:solidFill>
                  </a:tcPr>
                </a:tc>
                <a:tc>
                  <a:txBody>
                    <a:bodyPr/>
                    <a:lstStyle/>
                    <a:p>
                      <a:r>
                        <a:rPr sz="1600" b="0">
                          <a:solidFill>
                            <a:srgbClr val="1B1B1B"/>
                          </a:solidFill>
                          <a:latin typeface="Calibri"/>
                        </a:rPr>
                        <a:t>*She reading.</a:t>
                      </a:r>
                    </a:p>
                  </a:txBody>
                  <a:tcPr>
                    <a:solidFill>
                      <a:srgbClr val="E3F3EE"/>
                    </a:solidFill>
                  </a:tcPr>
                </a:tc>
              </a:tr>
              <a:tr h="566928">
                <a:tc>
                  <a:txBody>
                    <a:bodyPr/>
                    <a:lstStyle/>
                    <a:p>
                      <a:r>
                        <a:rPr sz="1600" b="0">
                          <a:solidFill>
                            <a:srgbClr val="1B1B1B"/>
                          </a:solidFill>
                          <a:latin typeface="Calibri"/>
                        </a:rPr>
                        <a:t>on / at / in</a:t>
                      </a:r>
                    </a:p>
                  </a:txBody>
                  <a:tcPr>
                    <a:solidFill>
                      <a:srgbClr val="FFFFFF"/>
                    </a:solidFill>
                  </a:tcPr>
                </a:tc>
                <a:tc>
                  <a:txBody>
                    <a:bodyPr/>
                    <a:lstStyle/>
                    <a:p>
                      <a:r>
                        <a:rPr sz="1600" b="0">
                          <a:solidFill>
                            <a:srgbClr val="1B1B1B"/>
                          </a:solidFill>
                          <a:latin typeface="Calibri"/>
                        </a:rPr>
                        <a:t>on Monday, at seven, in July</a:t>
                      </a:r>
                    </a:p>
                  </a:txBody>
                  <a:tcPr>
                    <a:solidFill>
                      <a:srgbClr val="FFFFFF"/>
                    </a:solidFill>
                  </a:tcPr>
                </a:tc>
                <a:tc>
                  <a:txBody>
                    <a:bodyPr/>
                    <a:lstStyle/>
                    <a:p>
                      <a:r>
                        <a:rPr sz="1600" b="0">
                          <a:solidFill>
                            <a:srgbClr val="1B1B1B"/>
                          </a:solidFill>
                          <a:latin typeface="Calibri"/>
                        </a:rPr>
                        <a:t>*in Monday, at July</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usually have PE on Friday, but this week we are having it on Wednesday because the gym is closed.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We usually have PE on Friday, but this week we are having it on Wednesday because the gym is closed.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Unit 6 sounds review: -tion/-sion, contractions, quest…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stress before -tion? are contractions used? does the yes/no question rise?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edu'CA-tion, re'VI-sion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 he's, they're, isn't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you…? ↗ / What…?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I'm having a revision lesson before the competition. Do you have one too?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The present continuous for future arrangements · The present continuous.</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school that students designed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Three years ago, a secondary school in Da Nang did something unusual: it asked the students to design the new building. More than 200 students sent in ideas. Some were impossible (a swimming pool on the roof, a lift for students only). But three ideas became real. First, the corridors are wider, because students said the old ones were dangerous at break time. Second, every classroom has a small green wall of plants, which keeps the room cooler. Third — and this was the most popular idea — the library is open until six in the evening, because many students have nowhere quiet to study at home. 'The students knew things we didn't,' said the head teacher. 'We are teachers, but we are not thirteen years old.'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school ask the students to do?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students sent ideas?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Give two impossible ideas.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are the corridors wider now?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late library opening the most popular idea?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you do experiments: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where teachers rest: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plan of your lessons: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you wear to school: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school where students live: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subject about the past: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Look! The bus comes.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Every day I am going to school by bike.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playing football 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am knowing the answer.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visit the museum next Friday. (already arranged)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have English in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the correct tense.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eight verbs.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Design your dream school and prepare the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Design your dream school and prepare the presentation.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design for two minutes. Everyone speaks.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dream school. It has… In our school, students… In this picture, students are… Next year we are opening…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Presenting a design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you can see…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suggest…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Our best idea is…</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Design fair: groups present; the class asks two questions each and votes for the best idea.</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sentences for your poster.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'Our school has…'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'Students…' (present simple habits)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 'In this picture, students are…' (present continuous)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 'Next year we are opening…' (future arrangement)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School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present continuous (three uses)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State verbs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 / at / in</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U6L7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6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an email (100–110 words) describing your dream school to a friend.</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U6.7-H4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7 — Write five kinds of transport and three traffic signs you know,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U6L7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