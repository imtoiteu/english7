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1  ·  PERIOD 38</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Welcome to our school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ten school places and facilities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between a student and a visitor</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describe what people are doing in a picture</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their own school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Where am I?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Describe a place ('I can smell food and I can hear plates'); students guess (the canteen). Five rounds.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Guess the school places.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classroom</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/ˈklɑːsruːm/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phòng học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classroom is on the second floor.</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library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/ˈlaɪbrəri/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thư viện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library has 4,000 books.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laboratory (lab)</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/ləˈbɒrətri/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phòng thí nghiệm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do experiments in the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playground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/ˈpleɪɡraʊnd/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sân chơi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playground is behind the school.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staff room</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/ˈstɑːf ruːm/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phòng giáo viên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teachers meet in the staff room.</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canteen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/kænˈtiːn/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căng tin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buy lunch at the canteen.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gym</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/dʒɪm/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phòng tập thể dục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have PE in the gym when it rains.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notice board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/ˈnəʊtɪs bɔːd/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bảng thông báo</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timetable is on the notice board.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uniform</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/ˈjuːnɪfɔːm/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đồng phục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wear a white uniform on Mondays.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break time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/ˈbreɪk taɪm/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giờ ra chơi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Break time is at half past nine.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 our school.</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way, please.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your left / right you can see…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show you…</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Here we 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Present continuous — first look (what is happening now)</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We use the present continuous for actions happening NOW, at this moment.</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Form: am / is / are + verb-ING.</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Time words: now, at the moment, at present, look!, listen!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graphicFrame>
        <p:nvGraphicFramePr>
          <p:cNvPr id="8" name="Table 7"/>
          <p:cNvGraphicFramePr>
            <a:graphicFrameLocks noGrp="1"/>
          </p:cNvGraphicFramePr>
          <p:nvPr/>
        </p:nvGraphicFramePr>
        <p:xfrm>
          <a:off x="548640" y="1463040"/>
          <a:ext cx="11064240" cy="2267712"/>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800" b="1">
                          <a:solidFill>
                            <a:srgbClr val="FFFFFF"/>
                          </a:solidFill>
                          <a:latin typeface="Calibri"/>
                        </a:rPr>
                        <a:t>Subject</a:t>
                      </a:r>
                    </a:p>
                  </a:txBody>
                  <a:tcPr>
                    <a:solidFill>
                      <a:srgbClr val="0E7C66"/>
                    </a:solidFill>
                  </a:tcPr>
                </a:tc>
                <a:tc>
                  <a:txBody>
                    <a:bodyPr/>
                    <a:lstStyle/>
                    <a:p>
                      <a:r>
                        <a:rPr sz="1800" b="1">
                          <a:solidFill>
                            <a:srgbClr val="FFFFFF"/>
                          </a:solidFill>
                          <a:latin typeface="Calibri"/>
                        </a:rPr>
                        <a:t>Form</a:t>
                      </a:r>
                    </a:p>
                  </a:txBody>
                  <a:tcPr>
                    <a:solidFill>
                      <a:srgbClr val="0E7C66"/>
                    </a:solidFill>
                  </a:tcPr>
                </a:tc>
                <a:tc>
                  <a:txBody>
                    <a:bodyPr/>
                    <a:lstStyle/>
                    <a:p>
                      <a:r>
                        <a:rPr sz="1800" b="1">
                          <a:solidFill>
                            <a:srgbClr val="FFFFFF"/>
                          </a:solidFill>
                          <a:latin typeface="Calibri"/>
                        </a:rPr>
                        <a:t>Example</a:t>
                      </a:r>
                    </a:p>
                  </a:txBody>
                  <a:tcPr>
                    <a:solidFill>
                      <a:srgbClr val="0E7C66"/>
                    </a:solidFill>
                  </a:tcPr>
                </a:tc>
              </a:tr>
              <a:tr h="566928">
                <a:tc>
                  <a:txBody>
                    <a:bodyPr/>
                    <a:lstStyle/>
                    <a:p>
                      <a:r>
                        <a:rPr sz="1800" b="0">
                          <a:solidFill>
                            <a:srgbClr val="1B1B1B"/>
                          </a:solidFill>
                          <a:latin typeface="Calibri"/>
                        </a:rPr>
                        <a:t>I</a:t>
                      </a:r>
                    </a:p>
                  </a:txBody>
                  <a:tcPr>
                    <a:solidFill>
                      <a:srgbClr val="E3F3EE"/>
                    </a:solidFill>
                  </a:tcPr>
                </a:tc>
                <a:tc>
                  <a:txBody>
                    <a:bodyPr/>
                    <a:lstStyle/>
                    <a:p>
                      <a:r>
                        <a:rPr sz="1800" b="0">
                          <a:solidFill>
                            <a:srgbClr val="1B1B1B"/>
                          </a:solidFill>
                          <a:latin typeface="Calibri"/>
                        </a:rPr>
                        <a:t>am + V-ing</a:t>
                      </a:r>
                    </a:p>
                  </a:txBody>
                  <a:tcPr>
                    <a:solidFill>
                      <a:srgbClr val="E3F3EE"/>
                    </a:solidFill>
                  </a:tcPr>
                </a:tc>
                <a:tc>
                  <a:txBody>
                    <a:bodyPr/>
                    <a:lstStyle/>
                    <a:p>
                      <a:r>
                        <a:rPr sz="1800" b="0">
                          <a:solidFill>
                            <a:srgbClr val="1B1B1B"/>
                          </a:solidFill>
                          <a:latin typeface="Calibri"/>
                        </a:rPr>
                        <a:t>I am writing.</a:t>
                      </a:r>
                    </a:p>
                  </a:txBody>
                  <a:tcPr>
                    <a:solidFill>
                      <a:srgbClr val="E3F3EE"/>
                    </a:solidFill>
                  </a:tcPr>
                </a:tc>
              </a:tr>
              <a:tr h="566928">
                <a:tc>
                  <a:txBody>
                    <a:bodyPr/>
                    <a:lstStyle/>
                    <a:p>
                      <a:r>
                        <a:rPr sz="1800" b="0">
                          <a:solidFill>
                            <a:srgbClr val="1B1B1B"/>
                          </a:solidFill>
                          <a:latin typeface="Calibri"/>
                        </a:rPr>
                        <a:t>He / She / It</a:t>
                      </a:r>
                    </a:p>
                  </a:txBody>
                  <a:tcPr>
                    <a:solidFill>
                      <a:srgbClr val="FFFFFF"/>
                    </a:solidFill>
                  </a:tcPr>
                </a:tc>
                <a:tc>
                  <a:txBody>
                    <a:bodyPr/>
                    <a:lstStyle/>
                    <a:p>
                      <a:r>
                        <a:rPr sz="1800" b="0">
                          <a:solidFill>
                            <a:srgbClr val="1B1B1B"/>
                          </a:solidFill>
                          <a:latin typeface="Calibri"/>
                        </a:rPr>
                        <a:t>is + V-ing</a:t>
                      </a:r>
                    </a:p>
                  </a:txBody>
                  <a:tcPr>
                    <a:solidFill>
                      <a:srgbClr val="FFFFFF"/>
                    </a:solidFill>
                  </a:tcPr>
                </a:tc>
                <a:tc>
                  <a:txBody>
                    <a:bodyPr/>
                    <a:lstStyle/>
                    <a:p>
                      <a:r>
                        <a:rPr sz="1800" b="0">
                          <a:solidFill>
                            <a:srgbClr val="1B1B1B"/>
                          </a:solidFill>
                          <a:latin typeface="Calibri"/>
                        </a:rPr>
                        <a:t>She is reading.</a:t>
                      </a:r>
                    </a:p>
                  </a:txBody>
                  <a:tcPr>
                    <a:solidFill>
                      <a:srgbClr val="FFFFFF"/>
                    </a:solidFill>
                  </a:tcPr>
                </a:tc>
              </a:tr>
              <a:tr h="566928">
                <a:tc>
                  <a:txBody>
                    <a:bodyPr/>
                    <a:lstStyle/>
                    <a:p>
                      <a:r>
                        <a:rPr sz="1800" b="0">
                          <a:solidFill>
                            <a:srgbClr val="1B1B1B"/>
                          </a:solidFill>
                          <a:latin typeface="Calibri"/>
                        </a:rPr>
                        <a:t>You / We / They</a:t>
                      </a:r>
                    </a:p>
                  </a:txBody>
                  <a:tcPr>
                    <a:solidFill>
                      <a:srgbClr val="E3F3EE"/>
                    </a:solidFill>
                  </a:tcPr>
                </a:tc>
                <a:tc>
                  <a:txBody>
                    <a:bodyPr/>
                    <a:lstStyle/>
                    <a:p>
                      <a:r>
                        <a:rPr sz="1800" b="0">
                          <a:solidFill>
                            <a:srgbClr val="1B1B1B"/>
                          </a:solidFill>
                          <a:latin typeface="Calibri"/>
                        </a:rPr>
                        <a:t>are + V-ing</a:t>
                      </a:r>
                    </a:p>
                  </a:txBody>
                  <a:tcPr>
                    <a:solidFill>
                      <a:srgbClr val="E3F3EE"/>
                    </a:solidFill>
                  </a:tcPr>
                </a:tc>
                <a:tc>
                  <a:txBody>
                    <a:bodyPr/>
                    <a:lstStyle/>
                    <a:p>
                      <a:r>
                        <a:rPr sz="1800" b="0">
                          <a:solidFill>
                            <a:srgbClr val="1B1B1B"/>
                          </a:solidFill>
                          <a:latin typeface="Calibri"/>
                        </a:rPr>
                        <a:t>They are playing football.</a:t>
                      </a:r>
                    </a:p>
                  </a:txBody>
                  <a:tcPr>
                    <a:solidFill>
                      <a:srgbClr val="E3F3EE"/>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Look! The students are playing in the playground.</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She is talking to the head teacher at the moment.</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are studying English now.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Two errors: (1) forgetting BE — *He playing football*; (2) using the present simple for now — *Look! He plays football*. Vietnamese uses 'đang' as a separate word, so students forget the -ing or the be.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Look! The students are playing in the playground.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Word stress in school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Most of these words stress the FIRST part: CLASSroom, PLAYground, LIbrary, NOtice board. But canTEEN and laBORatory are different — learn them separately.</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'classroom (Oo)</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'library (Ooo)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'playground (Oo)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can'teen (oO)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LIbrary is next to the CLASSroom.</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We eat in the canTEEN at BREAK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50: Back to School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going back to school and studying a subject. American English — VOA’s professional actors (Anna, Pete, Marsha, Ms. Weaver…), slowed learner delivery. It lasts 3:22.</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3:22 · American English — VOA’s professional actors (Anna, Pete, Marsha, Ms. Weaver…), slowed learner delivery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going back to school and studying a subject B. how one person travels in the city C. who one person will meet later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Thanks to Georgetown University for allowing us to film on their historic campus.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Let's Learn English - Level 5</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If we put a violin in the hands of every child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Students have been studying here since 1802!</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So, going back to school makes me a little nervous.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 am going back to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Taylor: The _____ is really interesting to me.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How long has the _____ been waiting?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You know, I've been wanting to go back to _____ for a long time.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Let’s _____ English - Level 1 - Lesson 50: Back to School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Our school in numbers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Le Loi Secondary School opened in 1998. Today it has 900 students, 46 teachers and 24 classrooms. The school day starts at seven o'clock and finishes at half past eleven for the morning shift, and at half past twelve for the afternoon shift. There are five lessons in a shift and each lesson is 45 minutes. The most popular place is not the library or the gym — it is the canteen, where about 300 students buy something every break time. The most popular thing to buy is banh mi. The newest part of the school is the computer room, which opened last year with thirty computers. The oldest part is the front building, which is nearly thirty years old.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a number.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Students: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Teachers: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Classrooms: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Lesson length: ______ minutes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Computers: ______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When did the school open?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time does the morning shift finish?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is the most popular place, and why?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part of the school is the newest?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place.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They are doing an experiment. → the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They are borrowing books. → the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They are buying banh mi. → the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They are playing football. → the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teachers are drinking tea. → the ______</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Look! The students ______ (play) football.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______ (write) an email now.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She ______ (talk) to the head teacher at the moment.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We ______ (study) English.</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Listen! Someone ______ (sing) in the next room.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five sentences about what is happening in your classroom right now.</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Look around you! Use am/is/are + V-ing.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tour role play in pairs.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tour role play in pairs.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Look at the picture of a school. Say what people are doing.</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Model: 'In the playground, some students are playing football. In the library, a girl is reading.'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Welcoming and showing someone around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show you around.</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way, please.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your left / right you can see…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Here we are.</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like…?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is a student guide, B is a visitor from another school. Show four places and say what is happening in each.</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your school.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school has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My favourite place is ______ because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Right now, in my school, ______ (present continuous).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10 school places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continuous: am/is/are + V-ing</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Stress on the first part of compound words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place.</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the present continuous.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describing your school to a foreign friend.</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words with the correct stress five times: CLASSroom, LIbrary, PLAYground, canTEEN, UNiform.</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U6L1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