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685800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Oval 3"/>
          <p:cNvSpPr/>
          <p:nvPr/>
        </p:nvSpPr>
        <p:spPr>
          <a:xfrm>
            <a:off x="-1097280" y="4389120"/>
            <a:ext cx="6858000" cy="4114800"/>
          </a:xfrm>
          <a:prstGeom prst="ellipse">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Oval 4"/>
          <p:cNvSpPr/>
          <p:nvPr/>
        </p:nvSpPr>
        <p:spPr>
          <a:xfrm>
            <a:off x="8778240" y="-1828800"/>
            <a:ext cx="5486400" cy="4572000"/>
          </a:xfrm>
          <a:prstGeom prst="ellipse">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22960" y="1371600"/>
            <a:ext cx="10515600" cy="548640"/>
          </a:xfrm>
          <a:prstGeom prst="rect">
            <a:avLst/>
          </a:prstGeom>
          <a:noFill/>
        </p:spPr>
        <p:txBody>
          <a:bodyPr wrap="square" anchor="t">
            <a:spAutoFit/>
          </a:bodyPr>
          <a:lstStyle/>
          <a:p>
            <a:pPr algn="l">
              <a:lnSpc>
                <a:spcPct val="100000"/>
              </a:lnSpc>
              <a:spcAft>
                <a:spcPts val="600"/>
              </a:spcAft>
            </a:pPr>
            <a:r>
              <a:rPr sz="2000" b="1" i="0">
                <a:solidFill>
                  <a:srgbClr val="FFFFFF"/>
                </a:solidFill>
                <a:latin typeface="Calibri"/>
              </a:rPr>
              <a:t>UNIT 6  ·  LESSON 3  ·  PERIOD 40</a:t>
            </a:r>
          </a:p>
        </p:txBody>
      </p:sp>
      <p:sp>
        <p:nvSpPr>
          <p:cNvPr id="7" name="TextBox 6"/>
          <p:cNvSpPr txBox="1"/>
          <p:nvPr/>
        </p:nvSpPr>
        <p:spPr>
          <a:xfrm>
            <a:off x="822960" y="2011680"/>
            <a:ext cx="10515600" cy="1463040"/>
          </a:xfrm>
          <a:prstGeom prst="rect">
            <a:avLst/>
          </a:prstGeom>
          <a:noFill/>
        </p:spPr>
        <p:txBody>
          <a:bodyPr wrap="square" anchor="t">
            <a:spAutoFit/>
          </a:bodyPr>
          <a:lstStyle/>
          <a:p>
            <a:pPr algn="l">
              <a:lnSpc>
                <a:spcPct val="100000"/>
              </a:lnSpc>
              <a:spcAft>
                <a:spcPts val="600"/>
              </a:spcAft>
            </a:pPr>
            <a:r>
              <a:rPr sz="3000" b="1" i="0">
                <a:solidFill>
                  <a:srgbClr val="E7F1FA"/>
                </a:solidFill>
                <a:latin typeface="Calibri"/>
              </a:rPr>
              <a:t>A CLOSER LOOK 2</a:t>
            </a:r>
          </a:p>
        </p:txBody>
      </p:sp>
      <p:sp>
        <p:nvSpPr>
          <p:cNvPr id="8" name="TextBox 7"/>
          <p:cNvSpPr txBox="1"/>
          <p:nvPr/>
        </p:nvSpPr>
        <p:spPr>
          <a:xfrm>
            <a:off x="822960" y="2926080"/>
            <a:ext cx="10515600" cy="2011680"/>
          </a:xfrm>
          <a:prstGeom prst="rect">
            <a:avLst/>
          </a:prstGeom>
          <a:noFill/>
        </p:spPr>
        <p:txBody>
          <a:bodyPr wrap="square" anchor="t">
            <a:spAutoFit/>
          </a:bodyPr>
          <a:lstStyle/>
          <a:p>
            <a:pPr algn="l">
              <a:lnSpc>
                <a:spcPct val="100000"/>
              </a:lnSpc>
              <a:spcAft>
                <a:spcPts val="600"/>
              </a:spcAft>
            </a:pPr>
            <a:r>
              <a:rPr sz="4400" b="1" i="0">
                <a:solidFill>
                  <a:srgbClr val="FFFFFF"/>
                </a:solidFill>
                <a:latin typeface="Calibri"/>
              </a:rPr>
              <a:t>Present simple or present continuous?</a:t>
            </a:r>
          </a:p>
        </p:txBody>
      </p:sp>
      <p:sp>
        <p:nvSpPr>
          <p:cNvPr id="9" name="TextBox 8"/>
          <p:cNvSpPr txBox="1"/>
          <p:nvPr/>
        </p:nvSpPr>
        <p:spPr>
          <a:xfrm>
            <a:off x="822960" y="5303520"/>
            <a:ext cx="10515600" cy="731520"/>
          </a:xfrm>
          <a:prstGeom prst="rect">
            <a:avLst/>
          </a:prstGeom>
          <a:noFill/>
        </p:spPr>
        <p:txBody>
          <a:bodyPr wrap="square" anchor="t">
            <a:spAutoFit/>
          </a:bodyPr>
          <a:lstStyle/>
          <a:p>
            <a:pPr algn="l">
              <a:lnSpc>
                <a:spcPct val="100000"/>
              </a:lnSpc>
              <a:spcAft>
                <a:spcPts val="600"/>
              </a:spcAft>
            </a:pPr>
            <a:r>
              <a:rPr sz="2000" b="0" i="0">
                <a:solidFill>
                  <a:srgbClr val="E7F1FA"/>
                </a:solidFill>
                <a:latin typeface="Calibri"/>
              </a:rPr>
              <a:t>English 7  ·  Let's start!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Today we will learn to…</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640080" y="1463040"/>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640080" y="1463040"/>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960120" y="1508760"/>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1</a:t>
            </a:r>
          </a:p>
        </p:txBody>
      </p:sp>
      <p:sp>
        <p:nvSpPr>
          <p:cNvPr id="11" name="TextBox 10"/>
          <p:cNvSpPr txBox="1"/>
          <p:nvPr/>
        </p:nvSpPr>
        <p:spPr>
          <a:xfrm>
            <a:off x="1737360" y="1508760"/>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choose correctly between the present simple and the present continuous</a:t>
            </a:r>
          </a:p>
        </p:txBody>
      </p:sp>
      <p:sp>
        <p:nvSpPr>
          <p:cNvPr id="12" name="Rounded Rectangle 11"/>
          <p:cNvSpPr/>
          <p:nvPr/>
        </p:nvSpPr>
        <p:spPr>
          <a:xfrm>
            <a:off x="640080" y="2450592"/>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ectangle 12"/>
          <p:cNvSpPr/>
          <p:nvPr/>
        </p:nvSpPr>
        <p:spPr>
          <a:xfrm>
            <a:off x="640080" y="2450592"/>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60120" y="2496312"/>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2</a:t>
            </a:r>
          </a:p>
        </p:txBody>
      </p:sp>
      <p:sp>
        <p:nvSpPr>
          <p:cNvPr id="15" name="TextBox 14"/>
          <p:cNvSpPr txBox="1"/>
          <p:nvPr/>
        </p:nvSpPr>
        <p:spPr>
          <a:xfrm>
            <a:off x="1737360" y="2496312"/>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use the present continuous for future arrangements</a:t>
            </a:r>
          </a:p>
        </p:txBody>
      </p:sp>
      <p:sp>
        <p:nvSpPr>
          <p:cNvPr id="16" name="Rounded Rectangle 15"/>
          <p:cNvSpPr/>
          <p:nvPr/>
        </p:nvSpPr>
        <p:spPr>
          <a:xfrm>
            <a:off x="640080" y="3438144"/>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Rectangle 16"/>
          <p:cNvSpPr/>
          <p:nvPr/>
        </p:nvSpPr>
        <p:spPr>
          <a:xfrm>
            <a:off x="640080" y="3438144"/>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960120" y="3483864"/>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3</a:t>
            </a:r>
          </a:p>
        </p:txBody>
      </p:sp>
      <p:sp>
        <p:nvSpPr>
          <p:cNvPr id="19" name="TextBox 18"/>
          <p:cNvSpPr txBox="1"/>
          <p:nvPr/>
        </p:nvSpPr>
        <p:spPr>
          <a:xfrm>
            <a:off x="1737360" y="3483864"/>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explain the difference between the two tenses in their own words</a:t>
            </a:r>
          </a:p>
        </p:txBody>
      </p:sp>
      <p:sp>
        <p:nvSpPr>
          <p:cNvPr id="20" name="Rounded Rectangle 19"/>
          <p:cNvSpPr/>
          <p:nvPr/>
        </p:nvSpPr>
        <p:spPr>
          <a:xfrm>
            <a:off x="640080" y="4425696"/>
            <a:ext cx="1088136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ectangle 20"/>
          <p:cNvSpPr/>
          <p:nvPr/>
        </p:nvSpPr>
        <p:spPr>
          <a:xfrm>
            <a:off x="640080" y="4425696"/>
            <a:ext cx="128016" cy="86868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960120" y="4471416"/>
            <a:ext cx="914400" cy="777240"/>
          </a:xfrm>
          <a:prstGeom prst="rect">
            <a:avLst/>
          </a:prstGeom>
          <a:noFill/>
        </p:spPr>
        <p:txBody>
          <a:bodyPr wrap="square" anchor="ctr">
            <a:spAutoFit/>
          </a:bodyPr>
          <a:lstStyle/>
          <a:p>
            <a:pPr algn="l">
              <a:lnSpc>
                <a:spcPct val="100000"/>
              </a:lnSpc>
              <a:spcAft>
                <a:spcPts val="600"/>
              </a:spcAft>
            </a:pPr>
            <a:r>
              <a:rPr sz="2600" b="1" i="0">
                <a:solidFill>
                  <a:srgbClr val="1E6FB8"/>
                </a:solidFill>
                <a:latin typeface="Calibri"/>
              </a:rPr>
              <a:t>4</a:t>
            </a:r>
          </a:p>
        </p:txBody>
      </p:sp>
      <p:sp>
        <p:nvSpPr>
          <p:cNvPr id="23" name="TextBox 22"/>
          <p:cNvSpPr txBox="1"/>
          <p:nvPr/>
        </p:nvSpPr>
        <p:spPr>
          <a:xfrm>
            <a:off x="1737360" y="4471416"/>
            <a:ext cx="950976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talk about their week: habits and arrangements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Warm-up: Mime and describe  (5')</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640080" y="1463040"/>
            <a:ext cx="10881360" cy="4206240"/>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737360"/>
            <a:ext cx="10149840" cy="82296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 Two students mime; the class describes with the present continuous.</a:t>
            </a:r>
          </a:p>
        </p:txBody>
      </p:sp>
      <p:sp>
        <p:nvSpPr>
          <p:cNvPr id="10" name="TextBox 9"/>
          <p:cNvSpPr txBox="1"/>
          <p:nvPr/>
        </p:nvSpPr>
        <p:spPr>
          <a:xfrm>
            <a:off x="1005840" y="5852160"/>
            <a:ext cx="10149840" cy="640080"/>
          </a:xfrm>
          <a:prstGeom prst="rect">
            <a:avLst/>
          </a:prstGeom>
          <a:noFill/>
        </p:spPr>
        <p:txBody>
          <a:bodyPr wrap="square" anchor="t">
            <a:spAutoFit/>
          </a:bodyPr>
          <a:lstStyle/>
          <a:p>
            <a:pPr algn="l">
              <a:lnSpc>
                <a:spcPct val="100000"/>
              </a:lnSpc>
              <a:spcAft>
                <a:spcPts val="600"/>
              </a:spcAft>
            </a:pPr>
            <a:r>
              <a:rPr sz="1800" b="0" i="1">
                <a:solidFill>
                  <a:srgbClr val="6B7280"/>
                </a:solidFill>
                <a:latin typeface="Calibri"/>
              </a:rPr>
              <a:t>👉 You: Describe the actions.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arrangement</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/əˈreɪndʒmənt/   (n)</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sự sắp xếp, hẹn</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have an arrangement for Friday.</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exchange student</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/ɪksˈtʃeɪndʒ ˌstjuːdnt/   (n)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học sinh trao đổi</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An exchange student is visiting our class.</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visit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/ˈvɪzɪt/   (v/n)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thăm</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They are visiting our school next Monday.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New words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548640" y="14173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868680" y="15270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prepare</a:t>
            </a:r>
          </a:p>
        </p:txBody>
      </p:sp>
      <p:sp>
        <p:nvSpPr>
          <p:cNvPr id="10" name="TextBox 9"/>
          <p:cNvSpPr txBox="1"/>
          <p:nvPr/>
        </p:nvSpPr>
        <p:spPr>
          <a:xfrm>
            <a:off x="868680" y="21671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/prɪˈpeə/   (v)</a:t>
            </a:r>
          </a:p>
        </p:txBody>
      </p:sp>
      <p:sp>
        <p:nvSpPr>
          <p:cNvPr id="11" name="TextBox 10"/>
          <p:cNvSpPr txBox="1"/>
          <p:nvPr/>
        </p:nvSpPr>
        <p:spPr>
          <a:xfrm>
            <a:off x="5212080" y="15270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chuẩn bị</a:t>
            </a:r>
          </a:p>
        </p:txBody>
      </p:sp>
      <p:sp>
        <p:nvSpPr>
          <p:cNvPr id="12" name="TextBox 11"/>
          <p:cNvSpPr txBox="1"/>
          <p:nvPr/>
        </p:nvSpPr>
        <p:spPr>
          <a:xfrm>
            <a:off x="5212080" y="21945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are preparing a welcome show.</a:t>
            </a:r>
          </a:p>
        </p:txBody>
      </p:sp>
      <p:sp>
        <p:nvSpPr>
          <p:cNvPr id="13" name="Rounded Rectangle 12"/>
          <p:cNvSpPr/>
          <p:nvPr/>
        </p:nvSpPr>
        <p:spPr>
          <a:xfrm>
            <a:off x="548640" y="30175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868680" y="31272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welcome</a:t>
            </a:r>
          </a:p>
        </p:txBody>
      </p:sp>
      <p:sp>
        <p:nvSpPr>
          <p:cNvPr id="15" name="TextBox 14"/>
          <p:cNvSpPr txBox="1"/>
          <p:nvPr/>
        </p:nvSpPr>
        <p:spPr>
          <a:xfrm>
            <a:off x="868680" y="37673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/ˈwelkəm/   (v/n)</a:t>
            </a:r>
          </a:p>
        </p:txBody>
      </p:sp>
      <p:sp>
        <p:nvSpPr>
          <p:cNvPr id="16" name="TextBox 15"/>
          <p:cNvSpPr txBox="1"/>
          <p:nvPr/>
        </p:nvSpPr>
        <p:spPr>
          <a:xfrm>
            <a:off x="5212080" y="31272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chào đón</a:t>
            </a:r>
          </a:p>
        </p:txBody>
      </p:sp>
      <p:sp>
        <p:nvSpPr>
          <p:cNvPr id="17" name="TextBox 16"/>
          <p:cNvSpPr txBox="1"/>
          <p:nvPr/>
        </p:nvSpPr>
        <p:spPr>
          <a:xfrm>
            <a:off x="5212080" y="37947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We are going to welcome them at the gate.</a:t>
            </a:r>
          </a:p>
        </p:txBody>
      </p:sp>
      <p:sp>
        <p:nvSpPr>
          <p:cNvPr id="18" name="Rounded Rectangle 17"/>
          <p:cNvSpPr/>
          <p:nvPr/>
        </p:nvSpPr>
        <p:spPr>
          <a:xfrm>
            <a:off x="548640" y="4617720"/>
            <a:ext cx="11064240" cy="1481328"/>
          </a:xfrm>
          <a:prstGeom prst="roundRect">
            <a:avLst>
              <a:gd name="adj" fmla="val 6000"/>
            </a:avLst>
          </a:prstGeom>
          <a:solidFill>
            <a:srgbClr val="FDF2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68680" y="4727448"/>
            <a:ext cx="4206240" cy="640080"/>
          </a:xfrm>
          <a:prstGeom prst="rect">
            <a:avLst/>
          </a:prstGeom>
          <a:noFill/>
        </p:spPr>
        <p:txBody>
          <a:bodyPr wrap="square" anchor="t">
            <a:spAutoFit/>
          </a:bodyPr>
          <a:lstStyle/>
          <a:p>
            <a:pPr algn="l">
              <a:lnSpc>
                <a:spcPct val="100000"/>
              </a:lnSpc>
              <a:spcAft>
                <a:spcPts val="600"/>
              </a:spcAft>
            </a:pPr>
            <a:r>
              <a:rPr sz="3000" b="1" i="0">
                <a:solidFill>
                  <a:srgbClr val="E07A1F"/>
                </a:solidFill>
                <a:latin typeface="Calibri"/>
              </a:rPr>
              <a:t>host</a:t>
            </a:r>
          </a:p>
        </p:txBody>
      </p:sp>
      <p:sp>
        <p:nvSpPr>
          <p:cNvPr id="20" name="TextBox 19"/>
          <p:cNvSpPr txBox="1"/>
          <p:nvPr/>
        </p:nvSpPr>
        <p:spPr>
          <a:xfrm>
            <a:off x="868680" y="5367528"/>
            <a:ext cx="4206240" cy="548640"/>
          </a:xfrm>
          <a:prstGeom prst="rect">
            <a:avLst/>
          </a:prstGeom>
          <a:noFill/>
        </p:spPr>
        <p:txBody>
          <a:bodyPr wrap="square" anchor="t">
            <a:spAutoFit/>
          </a:bodyPr>
          <a:lstStyle/>
          <a:p>
            <a:pPr algn="l">
              <a:lnSpc>
                <a:spcPct val="100000"/>
              </a:lnSpc>
              <a:spcAft>
                <a:spcPts val="600"/>
              </a:spcAft>
            </a:pPr>
            <a:r>
              <a:rPr sz="1700" b="0" i="0">
                <a:solidFill>
                  <a:srgbClr val="6B7280"/>
                </a:solidFill>
                <a:latin typeface="Calibri"/>
              </a:rPr>
              <a:t>/həʊst/   (v/n)</a:t>
            </a:r>
          </a:p>
        </p:txBody>
      </p:sp>
      <p:sp>
        <p:nvSpPr>
          <p:cNvPr id="21" name="TextBox 20"/>
          <p:cNvSpPr txBox="1"/>
          <p:nvPr/>
        </p:nvSpPr>
        <p:spPr>
          <a:xfrm>
            <a:off x="5212080" y="4727448"/>
            <a:ext cx="6126480" cy="603504"/>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tiếp đón; chủ nhà</a:t>
            </a:r>
          </a:p>
        </p:txBody>
      </p:sp>
      <p:sp>
        <p:nvSpPr>
          <p:cNvPr id="22" name="TextBox 21"/>
          <p:cNvSpPr txBox="1"/>
          <p:nvPr/>
        </p:nvSpPr>
        <p:spPr>
          <a:xfrm>
            <a:off x="5212080" y="5394960"/>
            <a:ext cx="6126480" cy="548640"/>
          </a:xfrm>
          <a:prstGeom prst="rect">
            <a:avLst/>
          </a:prstGeom>
          <a:noFill/>
        </p:spPr>
        <p:txBody>
          <a:bodyPr wrap="square" anchor="t">
            <a:spAutoFit/>
          </a:bodyPr>
          <a:lstStyle/>
          <a:p>
            <a:pPr algn="l">
              <a:lnSpc>
                <a:spcPct val="100000"/>
              </a:lnSpc>
              <a:spcAft>
                <a:spcPts val="600"/>
              </a:spcAft>
            </a:pPr>
            <a:r>
              <a:rPr sz="1500" b="0" i="1">
                <a:solidFill>
                  <a:srgbClr val="1B1B1B"/>
                </a:solidFill>
                <a:latin typeface="Calibri"/>
              </a:rPr>
              <a:t>e.g. Our class is hosting three students.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E07A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Useful phrases — learn them as one block!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822960" y="1554480"/>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609344"/>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at the moment</a:t>
            </a:r>
          </a:p>
        </p:txBody>
      </p:sp>
      <p:sp>
        <p:nvSpPr>
          <p:cNvPr id="10" name="Rounded Rectangle 9"/>
          <p:cNvSpPr/>
          <p:nvPr/>
        </p:nvSpPr>
        <p:spPr>
          <a:xfrm>
            <a:off x="822960" y="2267712"/>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322576"/>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these days</a:t>
            </a:r>
          </a:p>
        </p:txBody>
      </p:sp>
      <p:sp>
        <p:nvSpPr>
          <p:cNvPr id="12" name="Rounded Rectangle 11"/>
          <p:cNvSpPr/>
          <p:nvPr/>
        </p:nvSpPr>
        <p:spPr>
          <a:xfrm>
            <a:off x="822960" y="2980944"/>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35808"/>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next Monday</a:t>
            </a:r>
          </a:p>
        </p:txBody>
      </p:sp>
      <p:sp>
        <p:nvSpPr>
          <p:cNvPr id="14" name="Rounded Rectangle 13"/>
          <p:cNvSpPr/>
          <p:nvPr/>
        </p:nvSpPr>
        <p:spPr>
          <a:xfrm>
            <a:off x="822960" y="3694176"/>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49040"/>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this weekend</a:t>
            </a:r>
          </a:p>
        </p:txBody>
      </p:sp>
      <p:sp>
        <p:nvSpPr>
          <p:cNvPr id="16" name="Rounded Rectangle 15"/>
          <p:cNvSpPr/>
          <p:nvPr/>
        </p:nvSpPr>
        <p:spPr>
          <a:xfrm>
            <a:off x="822960" y="4407408"/>
            <a:ext cx="10515600" cy="621792"/>
          </a:xfrm>
          <a:prstGeom prst="roundRect">
            <a:avLst>
              <a:gd name="adj" fmla="val 6000"/>
            </a:avLst>
          </a:prstGeom>
          <a:solidFill>
            <a:srgbClr val="FFFFFF"/>
          </a:solidFill>
          <a:ln w="19050">
            <a:solidFill>
              <a:srgbClr val="E07A1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462272"/>
            <a:ext cx="10058400" cy="54864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every 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000" b="1" i="0">
                <a:solidFill>
                  <a:srgbClr val="FFFFFF"/>
                </a:solidFill>
                <a:latin typeface="Calibri"/>
              </a:rPr>
              <a:t>Grammar: Present simple vs present continuous (including the future …</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640080" y="1463040"/>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36192"/>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PRESENT SIMPLE = habits, routines, timetables, facts. Time words: every day, usually, always, on Mondays, never.</a:t>
            </a:r>
          </a:p>
        </p:txBody>
      </p:sp>
      <p:sp>
        <p:nvSpPr>
          <p:cNvPr id="10" name="Rounded Rectangle 9"/>
          <p:cNvSpPr/>
          <p:nvPr/>
        </p:nvSpPr>
        <p:spPr>
          <a:xfrm>
            <a:off x="640080" y="2487168"/>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60120" y="2560320"/>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PRESENT CONTINUOUS = (1) actions happening NOW: Look! He is running. (2) temporary situations these days: I am studying hard this month. (3) FUTURE ARRANGEMENT…</a:t>
            </a:r>
          </a:p>
        </p:txBody>
      </p:sp>
      <p:sp>
        <p:nvSpPr>
          <p:cNvPr id="12" name="Rounded Rectangle 11"/>
          <p:cNvSpPr/>
          <p:nvPr/>
        </p:nvSpPr>
        <p:spPr>
          <a:xfrm>
            <a:off x="640080" y="3511296"/>
            <a:ext cx="10881360" cy="91440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60120" y="3584448"/>
            <a:ext cx="10332720" cy="7772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STATE verbs (like, know, want, need, understand, have = own) are NOT normally used in the continuous: *I am liking it* → I like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The form</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graphicFrame>
        <p:nvGraphicFramePr>
          <p:cNvPr id="8" name="Table 7"/>
          <p:cNvGraphicFramePr>
            <a:graphicFrameLocks noGrp="1"/>
          </p:cNvGraphicFramePr>
          <p:nvPr/>
        </p:nvGraphicFramePr>
        <p:xfrm>
          <a:off x="548640" y="1463040"/>
          <a:ext cx="11064240" cy="3401568"/>
        </p:xfrm>
        <a:graphic>
          <a:graphicData uri="http://schemas.openxmlformats.org/drawingml/2006/table">
            <a:tbl>
              <a:tblPr firstRow="1" bandRow="1">
                <a:tableStyleId>{5C22544A-7EE6-4342-B048-85BDC9FD1C3A}</a:tableStyleId>
              </a:tblPr>
              <a:tblGrid>
                <a:gridCol w="3688080"/>
                <a:gridCol w="3688080"/>
                <a:gridCol w="3688080"/>
              </a:tblGrid>
              <a:tr h="566928">
                <a:tc>
                  <a:txBody>
                    <a:bodyPr/>
                    <a:lstStyle/>
                    <a:p>
                      <a:r>
                        <a:rPr sz="1600" b="1">
                          <a:solidFill>
                            <a:srgbClr val="FFFFFF"/>
                          </a:solidFill>
                          <a:latin typeface="Calibri"/>
                        </a:rPr>
                        <a:t>Meaning</a:t>
                      </a:r>
                    </a:p>
                  </a:txBody>
                  <a:tcPr>
                    <a:solidFill>
                      <a:srgbClr val="0E7C66"/>
                    </a:solidFill>
                  </a:tcPr>
                </a:tc>
                <a:tc>
                  <a:txBody>
                    <a:bodyPr/>
                    <a:lstStyle/>
                    <a:p>
                      <a:r>
                        <a:rPr sz="1600" b="1">
                          <a:solidFill>
                            <a:srgbClr val="FFFFFF"/>
                          </a:solidFill>
                          <a:latin typeface="Calibri"/>
                        </a:rPr>
                        <a:t>Tense</a:t>
                      </a:r>
                    </a:p>
                  </a:txBody>
                  <a:tcPr>
                    <a:solidFill>
                      <a:srgbClr val="0E7C66"/>
                    </a:solidFill>
                  </a:tcPr>
                </a:tc>
                <a:tc>
                  <a:txBody>
                    <a:bodyPr/>
                    <a:lstStyle/>
                    <a:p>
                      <a:r>
                        <a:rPr sz="1600" b="1">
                          <a:solidFill>
                            <a:srgbClr val="FFFFFF"/>
                          </a:solidFill>
                          <a:latin typeface="Calibri"/>
                        </a:rPr>
                        <a:t>Example</a:t>
                      </a:r>
                    </a:p>
                  </a:txBody>
                  <a:tcPr>
                    <a:solidFill>
                      <a:srgbClr val="0E7C66"/>
                    </a:solidFill>
                  </a:tcPr>
                </a:tc>
              </a:tr>
              <a:tr h="566928">
                <a:tc>
                  <a:txBody>
                    <a:bodyPr/>
                    <a:lstStyle/>
                    <a:p>
                      <a:r>
                        <a:rPr sz="1600" b="0">
                          <a:solidFill>
                            <a:srgbClr val="1B1B1B"/>
                          </a:solidFill>
                          <a:latin typeface="Calibri"/>
                        </a:rPr>
                        <a:t>habit</a:t>
                      </a:r>
                    </a:p>
                  </a:txBody>
                  <a:tcPr>
                    <a:solidFill>
                      <a:srgbClr val="E3F3EE"/>
                    </a:solidFill>
                  </a:tcPr>
                </a:tc>
                <a:tc>
                  <a:txBody>
                    <a:bodyPr/>
                    <a:lstStyle/>
                    <a:p>
                      <a:r>
                        <a:rPr sz="1600" b="0">
                          <a:solidFill>
                            <a:srgbClr val="1B1B1B"/>
                          </a:solidFill>
                          <a:latin typeface="Calibri"/>
                        </a:rPr>
                        <a:t>present simple</a:t>
                      </a:r>
                    </a:p>
                  </a:txBody>
                  <a:tcPr>
                    <a:solidFill>
                      <a:srgbClr val="E3F3EE"/>
                    </a:solidFill>
                  </a:tcPr>
                </a:tc>
                <a:tc>
                  <a:txBody>
                    <a:bodyPr/>
                    <a:lstStyle/>
                    <a:p>
                      <a:r>
                        <a:rPr sz="1600" b="0">
                          <a:solidFill>
                            <a:srgbClr val="1B1B1B"/>
                          </a:solidFill>
                          <a:latin typeface="Calibri"/>
                        </a:rPr>
                        <a:t>We have English every Tuesday.</a:t>
                      </a:r>
                    </a:p>
                  </a:txBody>
                  <a:tcPr>
                    <a:solidFill>
                      <a:srgbClr val="E3F3EE"/>
                    </a:solidFill>
                  </a:tcPr>
                </a:tc>
              </a:tr>
              <a:tr h="566928">
                <a:tc>
                  <a:txBody>
                    <a:bodyPr/>
                    <a:lstStyle/>
                    <a:p>
                      <a:r>
                        <a:rPr sz="1600" b="0">
                          <a:solidFill>
                            <a:srgbClr val="1B1B1B"/>
                          </a:solidFill>
                          <a:latin typeface="Calibri"/>
                        </a:rPr>
                        <a:t>now</a:t>
                      </a:r>
                    </a:p>
                  </a:txBody>
                  <a:tcPr>
                    <a:solidFill>
                      <a:srgbClr val="FFFFFF"/>
                    </a:solidFill>
                  </a:tcPr>
                </a:tc>
                <a:tc>
                  <a:txBody>
                    <a:bodyPr/>
                    <a:lstStyle/>
                    <a:p>
                      <a:r>
                        <a:rPr sz="1600" b="0">
                          <a:solidFill>
                            <a:srgbClr val="1B1B1B"/>
                          </a:solidFill>
                          <a:latin typeface="Calibri"/>
                        </a:rPr>
                        <a:t>present continuous</a:t>
                      </a:r>
                    </a:p>
                  </a:txBody>
                  <a:tcPr>
                    <a:solidFill>
                      <a:srgbClr val="FFFFFF"/>
                    </a:solidFill>
                  </a:tcPr>
                </a:tc>
                <a:tc>
                  <a:txBody>
                    <a:bodyPr/>
                    <a:lstStyle/>
                    <a:p>
                      <a:r>
                        <a:rPr sz="1600" b="0">
                          <a:solidFill>
                            <a:srgbClr val="1B1B1B"/>
                          </a:solidFill>
                          <a:latin typeface="Calibri"/>
                        </a:rPr>
                        <a:t>We are having English now.</a:t>
                      </a:r>
                    </a:p>
                  </a:txBody>
                  <a:tcPr>
                    <a:solidFill>
                      <a:srgbClr val="FFFFFF"/>
                    </a:solidFill>
                  </a:tcPr>
                </a:tc>
              </a:tr>
              <a:tr h="566928">
                <a:tc>
                  <a:txBody>
                    <a:bodyPr/>
                    <a:lstStyle/>
                    <a:p>
                      <a:r>
                        <a:rPr sz="1600" b="0">
                          <a:solidFill>
                            <a:srgbClr val="1B1B1B"/>
                          </a:solidFill>
                          <a:latin typeface="Calibri"/>
                        </a:rPr>
                        <a:t>these days (temporary)</a:t>
                      </a:r>
                    </a:p>
                  </a:txBody>
                  <a:tcPr>
                    <a:solidFill>
                      <a:srgbClr val="E3F3EE"/>
                    </a:solidFill>
                  </a:tcPr>
                </a:tc>
                <a:tc>
                  <a:txBody>
                    <a:bodyPr/>
                    <a:lstStyle/>
                    <a:p>
                      <a:r>
                        <a:rPr sz="1600" b="0">
                          <a:solidFill>
                            <a:srgbClr val="1B1B1B"/>
                          </a:solidFill>
                          <a:latin typeface="Calibri"/>
                        </a:rPr>
                        <a:t>present continuous</a:t>
                      </a:r>
                    </a:p>
                  </a:txBody>
                  <a:tcPr>
                    <a:solidFill>
                      <a:srgbClr val="E3F3EE"/>
                    </a:solidFill>
                  </a:tcPr>
                </a:tc>
                <a:tc>
                  <a:txBody>
                    <a:bodyPr/>
                    <a:lstStyle/>
                    <a:p>
                      <a:r>
                        <a:rPr sz="1600" b="0">
                          <a:solidFill>
                            <a:srgbClr val="1B1B1B"/>
                          </a:solidFill>
                          <a:latin typeface="Calibri"/>
                        </a:rPr>
                        <a:t>I am studying a lot this term.</a:t>
                      </a:r>
                    </a:p>
                  </a:txBody>
                  <a:tcPr>
                    <a:solidFill>
                      <a:srgbClr val="E3F3EE"/>
                    </a:solidFill>
                  </a:tcPr>
                </a:tc>
              </a:tr>
              <a:tr h="566928">
                <a:tc>
                  <a:txBody>
                    <a:bodyPr/>
                    <a:lstStyle/>
                    <a:p>
                      <a:r>
                        <a:rPr sz="1600" b="0">
                          <a:solidFill>
                            <a:srgbClr val="1B1B1B"/>
                          </a:solidFill>
                          <a:latin typeface="Calibri"/>
                        </a:rPr>
                        <a:t>fixed future plan</a:t>
                      </a:r>
                    </a:p>
                  </a:txBody>
                  <a:tcPr>
                    <a:solidFill>
                      <a:srgbClr val="FFFFFF"/>
                    </a:solidFill>
                  </a:tcPr>
                </a:tc>
                <a:tc>
                  <a:txBody>
                    <a:bodyPr/>
                    <a:lstStyle/>
                    <a:p>
                      <a:r>
                        <a:rPr sz="1600" b="0">
                          <a:solidFill>
                            <a:srgbClr val="1B1B1B"/>
                          </a:solidFill>
                          <a:latin typeface="Calibri"/>
                        </a:rPr>
                        <a:t>present continuous</a:t>
                      </a:r>
                    </a:p>
                  </a:txBody>
                  <a:tcPr>
                    <a:solidFill>
                      <a:srgbClr val="FFFFFF"/>
                    </a:solidFill>
                  </a:tcPr>
                </a:tc>
                <a:tc>
                  <a:txBody>
                    <a:bodyPr/>
                    <a:lstStyle/>
                    <a:p>
                      <a:r>
                        <a:rPr sz="1600" b="0">
                          <a:solidFill>
                            <a:srgbClr val="1B1B1B"/>
                          </a:solidFill>
                          <a:latin typeface="Calibri"/>
                        </a:rPr>
                        <a:t>We are visiting Hue next Friday.</a:t>
                      </a:r>
                    </a:p>
                  </a:txBody>
                  <a:tcPr>
                    <a:solidFill>
                      <a:srgbClr val="FFFFFF"/>
                    </a:solidFill>
                  </a:tcPr>
                </a:tc>
              </a:tr>
              <a:tr h="566928">
                <a:tc>
                  <a:txBody>
                    <a:bodyPr/>
                    <a:lstStyle/>
                    <a:p>
                      <a:r>
                        <a:rPr sz="1600" b="0">
                          <a:solidFill>
                            <a:srgbClr val="1B1B1B"/>
                          </a:solidFill>
                          <a:latin typeface="Calibri"/>
                        </a:rPr>
                        <a:t>state verb</a:t>
                      </a:r>
                    </a:p>
                  </a:txBody>
                  <a:tcPr>
                    <a:solidFill>
                      <a:srgbClr val="E3F3EE"/>
                    </a:solidFill>
                  </a:tcPr>
                </a:tc>
                <a:tc>
                  <a:txBody>
                    <a:bodyPr/>
                    <a:lstStyle/>
                    <a:p>
                      <a:r>
                        <a:rPr sz="1600" b="0">
                          <a:solidFill>
                            <a:srgbClr val="1B1B1B"/>
                          </a:solidFill>
                          <a:latin typeface="Calibri"/>
                        </a:rPr>
                        <a:t>present simple</a:t>
                      </a:r>
                    </a:p>
                  </a:txBody>
                  <a:tcPr>
                    <a:solidFill>
                      <a:srgbClr val="E3F3EE"/>
                    </a:solidFill>
                  </a:tcPr>
                </a:tc>
                <a:tc>
                  <a:txBody>
                    <a:bodyPr/>
                    <a:lstStyle/>
                    <a:p>
                      <a:r>
                        <a:rPr sz="1600" b="0">
                          <a:solidFill>
                            <a:srgbClr val="1B1B1B"/>
                          </a:solidFill>
                          <a:latin typeface="Calibri"/>
                        </a:rPr>
                        <a:t>I know the answer. (NOT I am knowing)</a:t>
                      </a:r>
                    </a:p>
                  </a:txBody>
                  <a:tcPr>
                    <a:solidFill>
                      <a:srgbClr val="E3F3EE"/>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Look at the examples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731520" y="1554480"/>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27632"/>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 usually walk to school, but this week I am going by bus because of the rain.</a:t>
            </a:r>
          </a:p>
        </p:txBody>
      </p:sp>
      <p:sp>
        <p:nvSpPr>
          <p:cNvPr id="10" name="Rounded Rectangle 9"/>
          <p:cNvSpPr/>
          <p:nvPr/>
        </p:nvSpPr>
        <p:spPr>
          <a:xfrm>
            <a:off x="731520" y="2450592"/>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523744"/>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are you doing on Saturday? – I'm meeting my cousin at ten.</a:t>
            </a:r>
          </a:p>
        </p:txBody>
      </p:sp>
      <p:sp>
        <p:nvSpPr>
          <p:cNvPr id="12" name="Rounded Rectangle 11"/>
          <p:cNvSpPr/>
          <p:nvPr/>
        </p:nvSpPr>
        <p:spPr>
          <a:xfrm>
            <a:off x="731520" y="3346704"/>
            <a:ext cx="10698480" cy="777240"/>
          </a:xfrm>
          <a:prstGeom prst="roundRect">
            <a:avLst>
              <a:gd name="adj" fmla="val 6000"/>
            </a:avLst>
          </a:prstGeom>
          <a:solidFill>
            <a:srgbClr val="FFFFFF"/>
          </a:solidFill>
          <a:ln w="19050">
            <a:solidFill>
              <a:srgbClr val="0E7C66"/>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419856"/>
            <a:ext cx="10241280" cy="640080"/>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She wants a new bag. (NOT: She is wanting)</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Be careful! A very common mistake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731520" y="1645920"/>
            <a:ext cx="10698480" cy="23774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828800"/>
            <a:ext cx="10058400" cy="2011680"/>
          </a:xfrm>
          <a:prstGeom prst="rect">
            <a:avLst/>
          </a:prstGeom>
          <a:noFill/>
        </p:spPr>
        <p:txBody>
          <a:bodyPr wrap="square" anchor="t">
            <a:spAutoFit/>
          </a:bodyPr>
          <a:lstStyle/>
          <a:p>
            <a:pPr algn="l">
              <a:lnSpc>
                <a:spcPct val="100000"/>
              </a:lnSpc>
              <a:spcAft>
                <a:spcPts val="600"/>
              </a:spcAft>
            </a:pPr>
            <a:r>
              <a:rPr sz="2100" b="0" i="0">
                <a:solidFill>
                  <a:srgbClr val="1B1B1B"/>
                </a:solidFill>
                <a:latin typeface="Calibri"/>
              </a:rPr>
              <a:t>THE key confusion of Grade 7. Vietnamese uses 'đang' only for 'now', so students never use the continuous for the future: *I go to Hanoi next week.* Teach the future use as a separate, memorable rule: FIXED PLAN = -ing.</a:t>
            </a:r>
          </a:p>
        </p:txBody>
      </p:sp>
      <p:sp>
        <p:nvSpPr>
          <p:cNvPr id="10" name="TextBox 9"/>
          <p:cNvSpPr txBox="1"/>
          <p:nvPr/>
        </p:nvSpPr>
        <p:spPr>
          <a:xfrm>
            <a:off x="1097280" y="4389120"/>
            <a:ext cx="10058400" cy="1280160"/>
          </a:xfrm>
          <a:prstGeom prst="rect">
            <a:avLst/>
          </a:prstGeom>
          <a:noFill/>
        </p:spPr>
        <p:txBody>
          <a:bodyPr wrap="square" anchor="t">
            <a:spAutoFit/>
          </a:bodyPr>
          <a:lstStyle/>
          <a:p>
            <a:pPr algn="l">
              <a:lnSpc>
                <a:spcPct val="100000"/>
              </a:lnSpc>
              <a:spcAft>
                <a:spcPts val="600"/>
              </a:spcAft>
            </a:pPr>
            <a:r>
              <a:rPr sz="2200" b="1" i="0">
                <a:solidFill>
                  <a:srgbClr val="2E7D32"/>
                </a:solidFill>
                <a:latin typeface="Calibri"/>
              </a:rPr>
              <a:t>👍 Say it like this:  I usually walk to school, but this week I am going by bus because of the rain.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Pronunciation: Contractions in the continuous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640080" y="1417320"/>
            <a:ext cx="10881360" cy="123444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08760"/>
            <a:ext cx="10332720" cy="1097280"/>
          </a:xfrm>
          <a:prstGeom prst="rect">
            <a:avLst/>
          </a:prstGeom>
          <a:noFill/>
        </p:spPr>
        <p:txBody>
          <a:bodyPr wrap="square" anchor="ctr">
            <a:spAutoFit/>
          </a:bodyPr>
          <a:lstStyle/>
          <a:p>
            <a:pPr algn="l">
              <a:lnSpc>
                <a:spcPct val="100000"/>
              </a:lnSpc>
              <a:spcAft>
                <a:spcPts val="600"/>
              </a:spcAft>
            </a:pPr>
            <a:r>
              <a:rPr sz="1800" b="0" i="0">
                <a:solidFill>
                  <a:srgbClr val="1B1B1B"/>
                </a:solidFill>
                <a:latin typeface="Calibri"/>
              </a:rPr>
              <a:t>In speech we almost always contract: I'm going, he's coming, they're visiting, we aren't staying. Full forms sound formal or strange.</a:t>
            </a:r>
          </a:p>
        </p:txBody>
      </p:sp>
      <p:sp>
        <p:nvSpPr>
          <p:cNvPr id="10" name="Rounded Rectangle 9"/>
          <p:cNvSpPr/>
          <p:nvPr/>
        </p:nvSpPr>
        <p:spPr>
          <a:xfrm>
            <a:off x="731520" y="2880360"/>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05840" y="2926080"/>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I'm /aɪm/</a:t>
            </a:r>
          </a:p>
        </p:txBody>
      </p:sp>
      <p:sp>
        <p:nvSpPr>
          <p:cNvPr id="12" name="Rounded Rectangle 11"/>
          <p:cNvSpPr/>
          <p:nvPr/>
        </p:nvSpPr>
        <p:spPr>
          <a:xfrm>
            <a:off x="731520" y="3593592"/>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05840" y="3639312"/>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he's /hiːz/</a:t>
            </a:r>
          </a:p>
        </p:txBody>
      </p:sp>
      <p:sp>
        <p:nvSpPr>
          <p:cNvPr id="14" name="Rounded Rectangle 13"/>
          <p:cNvSpPr/>
          <p:nvPr/>
        </p:nvSpPr>
        <p:spPr>
          <a:xfrm>
            <a:off x="731520" y="4306824"/>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4352544"/>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we're /wɪə/</a:t>
            </a:r>
          </a:p>
        </p:txBody>
      </p:sp>
      <p:sp>
        <p:nvSpPr>
          <p:cNvPr id="16" name="Rounded Rectangle 15"/>
          <p:cNvSpPr/>
          <p:nvPr/>
        </p:nvSpPr>
        <p:spPr>
          <a:xfrm>
            <a:off x="731520" y="5020056"/>
            <a:ext cx="10698480" cy="621792"/>
          </a:xfrm>
          <a:prstGeom prst="roundRect">
            <a:avLst>
              <a:gd name="adj" fmla="val 6000"/>
            </a:avLst>
          </a:prstGeom>
          <a:solidFill>
            <a:srgbClr val="FFFFFF"/>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05840" y="5065776"/>
            <a:ext cx="10241280" cy="548640"/>
          </a:xfrm>
          <a:prstGeom prst="rect">
            <a:avLst/>
          </a:prstGeom>
          <a:noFill/>
        </p:spPr>
        <p:txBody>
          <a:bodyPr wrap="square" anchor="ctr">
            <a:spAutoFit/>
          </a:bodyPr>
          <a:lstStyle/>
          <a:p>
            <a:pPr algn="l">
              <a:lnSpc>
                <a:spcPct val="100000"/>
              </a:lnSpc>
              <a:spcAft>
                <a:spcPts val="600"/>
              </a:spcAft>
            </a:pPr>
            <a:r>
              <a:rPr sz="1900" b="0" i="0">
                <a:solidFill>
                  <a:srgbClr val="1B1B1B"/>
                </a:solidFill>
                <a:latin typeface="Calibri"/>
              </a:rPr>
              <a:t>🔊 they're /ðeə/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Repeat after me — three times each!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731520" y="173736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82880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I'm meeting my friend at four.</a:t>
            </a:r>
          </a:p>
        </p:txBody>
      </p:sp>
      <p:sp>
        <p:nvSpPr>
          <p:cNvPr id="10" name="Rounded Rectangle 9"/>
          <p:cNvSpPr/>
          <p:nvPr/>
        </p:nvSpPr>
        <p:spPr>
          <a:xfrm>
            <a:off x="731520" y="278892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88036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They're visiting our school on Monday.</a:t>
            </a:r>
          </a:p>
        </p:txBody>
      </p:sp>
      <p:sp>
        <p:nvSpPr>
          <p:cNvPr id="12" name="Rounded Rectangle 11"/>
          <p:cNvSpPr/>
          <p:nvPr/>
        </p:nvSpPr>
        <p:spPr>
          <a:xfrm>
            <a:off x="731520" y="3840480"/>
            <a:ext cx="10698480" cy="914400"/>
          </a:xfrm>
          <a:prstGeom prst="roundRect">
            <a:avLst>
              <a:gd name="adj" fmla="val 6000"/>
            </a:avLst>
          </a:prstGeom>
          <a:solidFill>
            <a:srgbClr val="F1EA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931920"/>
            <a:ext cx="10241280" cy="77724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 She isn't coming today.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The present continuous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731520" y="1737360"/>
            <a:ext cx="10698480" cy="182880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155448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will hear a real recording: what people are doing right now. Two speakers, scripted dialogue, native English. It lasts 2:23.</a:t>
            </a:r>
          </a:p>
        </p:txBody>
      </p:sp>
      <p:sp>
        <p:nvSpPr>
          <p:cNvPr id="10" name="TextBox 9"/>
          <p:cNvSpPr txBox="1"/>
          <p:nvPr/>
        </p:nvSpPr>
        <p:spPr>
          <a:xfrm>
            <a:off x="731520" y="4023360"/>
            <a:ext cx="10698480" cy="1463040"/>
          </a:xfrm>
          <a:prstGeom prst="rect">
            <a:avLst/>
          </a:prstGeom>
          <a:noFill/>
        </p:spPr>
        <p:txBody>
          <a:bodyPr wrap="square" anchor="t">
            <a:spAutoFit/>
          </a:bodyPr>
          <a:lstStyle/>
          <a:p>
            <a:pPr algn="l">
              <a:lnSpc>
                <a:spcPct val="100000"/>
              </a:lnSpc>
              <a:spcAft>
                <a:spcPts val="600"/>
              </a:spcAft>
            </a:pPr>
            <a:r>
              <a:rPr sz="2000" b="0" i="0">
                <a:solidFill>
                  <a:srgbClr val="142C4F"/>
                </a:solidFill>
                <a:latin typeface="Calibri"/>
              </a:rPr>
              <a:t>🎧  Listen 1: just listen — do not write.</a:t>
            </a:r>
          </a:p>
          <a:p>
            <a:pPr algn="l">
              <a:lnSpc>
                <a:spcPct val="100000"/>
              </a:lnSpc>
              <a:spcAft>
                <a:spcPts val="600"/>
              </a:spcAft>
            </a:pPr>
            <a:r>
              <a:rPr sz="2000" b="0" i="0">
                <a:solidFill>
                  <a:srgbClr val="142C4F"/>
                </a:solidFill>
                <a:latin typeface="Calibri"/>
              </a:rPr>
              <a:t>🎧  Listen 2: write your answers.</a:t>
            </a:r>
          </a:p>
          <a:p>
            <a:pPr algn="l">
              <a:lnSpc>
                <a:spcPct val="100000"/>
              </a:lnSpc>
              <a:spcAft>
                <a:spcPts val="600"/>
              </a:spcAft>
            </a:pPr>
            <a:r>
              <a:rPr sz="2000" b="0" i="0">
                <a:solidFill>
                  <a:srgbClr val="142C4F"/>
                </a:solidFill>
                <a:latin typeface="Calibri"/>
              </a:rPr>
              <a:t>🎧  Listen 3: check with your partner.</a:t>
            </a:r>
          </a:p>
        </p:txBody>
      </p:sp>
      <p:sp>
        <p:nvSpPr>
          <p:cNvPr id="11" name="TextBox 10"/>
          <p:cNvSpPr txBox="1"/>
          <p:nvPr/>
        </p:nvSpPr>
        <p:spPr>
          <a:xfrm>
            <a:off x="731520" y="5577840"/>
            <a:ext cx="10698480" cy="822960"/>
          </a:xfrm>
          <a:prstGeom prst="rect">
            <a:avLst/>
          </a:prstGeom>
          <a:noFill/>
        </p:spPr>
        <p:txBody>
          <a:bodyPr wrap="square" anchor="t">
            <a:spAutoFit/>
          </a:bodyPr>
          <a:lstStyle/>
          <a:p>
            <a:pPr algn="l">
              <a:lnSpc>
                <a:spcPct val="100000"/>
              </a:lnSpc>
              <a:spcAft>
                <a:spcPts val="600"/>
              </a:spcAft>
            </a:pPr>
            <a:r>
              <a:rPr sz="1200" b="0" i="0">
                <a:solidFill>
                  <a:srgbClr val="6B7280"/>
                </a:solidFill>
                <a:latin typeface="Calibri"/>
              </a:rPr>
              <a:t>ELLLO — Sound Grammar · 2:23 · Two speakers, scripted dialogue, native English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U6.3-L1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Choose the best answer.</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is the recording mainly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playing a game to find American symbols at the memorials B. living near a train station C. what people are doing right now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U6.3-L2</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again. Write the number of the conversation (1-4) you hear each line in.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Yeah. I’m picking up a few things, and then I’m going to the gym.</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He looks OK. He’s smiling and talking now.</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She’s in the kitchen. She’s cooking dinner.</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It is! I’m learning a lot.</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Oh no. Is it serious?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E6FB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Listening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U6.3-L3</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Listen once more and write the missing word.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Man: What are you _____ about?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Man: What are you _____ here?</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Woman: We’re _____ to the new Italian restaurant.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Man: I’m picking up a few things, and then I’m _____ to the gym.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An email about next week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640080" y="1371600"/>
            <a:ext cx="10881360" cy="484632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60120" y="1554480"/>
            <a:ext cx="10332720" cy="4480560"/>
          </a:xfrm>
          <a:prstGeom prst="rect">
            <a:avLst/>
          </a:prstGeom>
          <a:noFill/>
        </p:spPr>
        <p:txBody>
          <a:bodyPr wrap="square" anchor="t">
            <a:spAutoFit/>
          </a:bodyPr>
          <a:lstStyle/>
          <a:p>
            <a:pPr algn="l">
              <a:lnSpc>
                <a:spcPct val="115000"/>
              </a:lnSpc>
              <a:spcAft>
                <a:spcPts val="600"/>
              </a:spcAft>
            </a:pPr>
            <a:r>
              <a:rPr sz="1500" b="0" i="0">
                <a:solidFill>
                  <a:srgbClr val="1B1B1B"/>
                </a:solidFill>
                <a:latin typeface="Calibri"/>
              </a:rPr>
              <a:t>Hi Kevin, Thanks for your message. Yes, everything is ready for your visit! Normally our school day starts at seven, but next Monday we are starting at half past eight, because you are arriving on the early bus. Here is the plan. In the morning we are showing you the school and you are joining our English lesson. My friend Mai usually sits next to me, but on Monday you are sitting there — she doesn't mind! In the afternoon we are going to the water puppet theatre. It opens at two and the show lasts one hour. One question: what do you usually eat for breakfast? My mother is worried because we eat pho or rice, and she thinks you eat bread and milk. Please tell her the truth! See you on Monday. Nam</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U6.3-R1</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Answer the questions.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What time does the school day normally start?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What time is it starting next Monday? Why?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Where is Kevin sitting in the English lesson?</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are they doing in the afternoon?</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Why is Nam's mother worried?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Reading task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U6.3-R2</a:t>
            </a:r>
          </a:p>
        </p:txBody>
      </p:sp>
      <p:sp>
        <p:nvSpPr>
          <p:cNvPr id="8" name="Rounded Rectangle 7"/>
          <p:cNvSpPr/>
          <p:nvPr/>
        </p:nvSpPr>
        <p:spPr>
          <a:xfrm>
            <a:off x="640080" y="1371600"/>
            <a:ext cx="10881360" cy="777240"/>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Find in the email:</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two present simple sentences about habits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three present continuous sentences about next Monday</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one present simple sentence about a timetable (the theatre)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PS (present simple) or PC (present continuous).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I go to school by bike every day. 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Look! It is raining. 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We are visiting the museum next Friday. 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She usually has lunch at home. 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They are studying hard this month. ___</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U6.3-G1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PS (present simple) or PC (present continuous).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Water boils at 100 degrees. ___</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tense you need.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every Monday → ______</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at the moment → ______</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now → ______</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usually → ______</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next Friday (fixed plan) → ______</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Guided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U6.3-G2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Write the tense you need.</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these days → ______</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Look! The teacher comes.</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I am liking English very much.</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Every day I am going to school by bike.</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you are doing now?</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We visit the museum next Monday. (the tickets are booked)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U6.3-I1</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Correct one mistake in each sentence.</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She is having a new bike.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U6.3-I2</a:t>
            </a:r>
          </a:p>
        </p:txBody>
      </p:sp>
      <p:sp>
        <p:nvSpPr>
          <p:cNvPr id="8" name="Rounded Rectangle 7"/>
          <p:cNvSpPr/>
          <p:nvPr/>
        </p:nvSpPr>
        <p:spPr>
          <a:xfrm>
            <a:off x="640080" y="1371600"/>
            <a:ext cx="10881360" cy="77724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Do U6.3-S2 and report two arrangements.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0E7C6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Your turn — independent practice</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U6.3-I2</a:t>
            </a:r>
          </a:p>
        </p:txBody>
      </p:sp>
      <p:sp>
        <p:nvSpPr>
          <p:cNvPr id="8" name="Rounded Rectangle 7"/>
          <p:cNvSpPr/>
          <p:nvPr/>
        </p:nvSpPr>
        <p:spPr>
          <a:xfrm>
            <a:off x="731520" y="1828800"/>
            <a:ext cx="10698480" cy="2194560"/>
          </a:xfrm>
          <a:prstGeom prst="roundRect">
            <a:avLst>
              <a:gd name="adj" fmla="val 6000"/>
            </a:avLst>
          </a:prstGeom>
          <a:solidFill>
            <a:srgbClr val="E3F3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2011680"/>
            <a:ext cx="10058400" cy="1828800"/>
          </a:xfrm>
          <a:prstGeom prst="rect">
            <a:avLst/>
          </a:prstGeom>
          <a:noFill/>
        </p:spPr>
        <p:txBody>
          <a:bodyPr wrap="square" anchor="ctr">
            <a:spAutoFit/>
          </a:bodyPr>
          <a:lstStyle/>
          <a:p>
            <a:pPr algn="l">
              <a:lnSpc>
                <a:spcPct val="100000"/>
              </a:lnSpc>
              <a:spcAft>
                <a:spcPts val="600"/>
              </a:spcAft>
            </a:pPr>
            <a:r>
              <a:rPr sz="2200" b="0" i="0">
                <a:solidFill>
                  <a:srgbClr val="1B1B1B"/>
                </a:solidFill>
                <a:latin typeface="Calibri"/>
              </a:rPr>
              <a:t>Do U6.3-S2 and report two arrangements.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U6.3-S1</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Look at the prompts and make two sentences: one habit, one happening now.</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our teacher / write</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we / study English</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I / sit</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the students / play football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Speaking</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U6.3-S2</a:t>
            </a:r>
          </a:p>
        </p:txBody>
      </p:sp>
      <p:sp>
        <p:nvSpPr>
          <p:cNvPr id="8" name="Rounded Rectangle 7"/>
          <p:cNvSpPr/>
          <p:nvPr/>
        </p:nvSpPr>
        <p:spPr>
          <a:xfrm>
            <a:off x="640080" y="1371600"/>
            <a:ext cx="10881360" cy="77724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Ask five classmates about their arrangements. Write the name and the plan.</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A: What are you doing on Saturday evening? B: I'm visiting my grandmother.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300" b="1" i="0">
                <a:solidFill>
                  <a:srgbClr val="FFFFFF"/>
                </a:solidFill>
                <a:latin typeface="Calibri"/>
              </a:rPr>
              <a:t>Real-life English: Making and confirming arrangements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822960" y="1463040"/>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508760"/>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What are you doing on…?</a:t>
            </a:r>
          </a:p>
        </p:txBody>
      </p:sp>
      <p:sp>
        <p:nvSpPr>
          <p:cNvPr id="10" name="Rounded Rectangle 9"/>
          <p:cNvSpPr/>
          <p:nvPr/>
        </p:nvSpPr>
        <p:spPr>
          <a:xfrm>
            <a:off x="822960" y="2212848"/>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97280" y="2258568"/>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I'm meeting… at…</a:t>
            </a:r>
          </a:p>
        </p:txBody>
      </p:sp>
      <p:sp>
        <p:nvSpPr>
          <p:cNvPr id="12" name="Rounded Rectangle 11"/>
          <p:cNvSpPr/>
          <p:nvPr/>
        </p:nvSpPr>
        <p:spPr>
          <a:xfrm>
            <a:off x="822960" y="2962656"/>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97280" y="3008376"/>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Are you free on…?</a:t>
            </a:r>
          </a:p>
        </p:txBody>
      </p:sp>
      <p:sp>
        <p:nvSpPr>
          <p:cNvPr id="14" name="Rounded Rectangle 13"/>
          <p:cNvSpPr/>
          <p:nvPr/>
        </p:nvSpPr>
        <p:spPr>
          <a:xfrm>
            <a:off x="822960" y="3712464"/>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97280" y="3758184"/>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So we're meeting at… , right?</a:t>
            </a:r>
          </a:p>
        </p:txBody>
      </p:sp>
      <p:sp>
        <p:nvSpPr>
          <p:cNvPr id="16" name="Rounded Rectangle 15"/>
          <p:cNvSpPr/>
          <p:nvPr/>
        </p:nvSpPr>
        <p:spPr>
          <a:xfrm>
            <a:off x="822960" y="4462272"/>
            <a:ext cx="10515600" cy="658368"/>
          </a:xfrm>
          <a:prstGeom prst="roundRect">
            <a:avLst>
              <a:gd name="adj" fmla="val 6000"/>
            </a:avLst>
          </a:prstGeom>
          <a:solidFill>
            <a:srgbClr val="FFFFFF"/>
          </a:solidFill>
          <a:ln w="1905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1097280" y="4507992"/>
            <a:ext cx="10058400" cy="566928"/>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See you then!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Role play — in pairs</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731520" y="1737360"/>
            <a:ext cx="10698480" cy="2560320"/>
          </a:xfrm>
          <a:prstGeom prst="roundRect">
            <a:avLst>
              <a:gd name="adj" fmla="val 6000"/>
            </a:avLst>
          </a:prstGeom>
          <a:solidFill>
            <a:srgbClr val="FC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97280" y="1920240"/>
            <a:ext cx="10058400" cy="2194560"/>
          </a:xfrm>
          <a:prstGeom prst="rect">
            <a:avLst/>
          </a:prstGeom>
          <a:noFill/>
        </p:spPr>
        <p:txBody>
          <a:bodyPr wrap="square" anchor="ctr">
            <a:spAutoFit/>
          </a:bodyPr>
          <a:lstStyle/>
          <a:p>
            <a:pPr algn="l">
              <a:lnSpc>
                <a:spcPct val="100000"/>
              </a:lnSpc>
              <a:spcAft>
                <a:spcPts val="600"/>
              </a:spcAft>
            </a:pPr>
            <a:r>
              <a:rPr sz="2100" b="0" i="0">
                <a:solidFill>
                  <a:srgbClr val="1B1B1B"/>
                </a:solidFill>
                <a:latin typeface="Calibri"/>
              </a:rPr>
              <a:t>You and a partner are planning the exchange students' afternoon. Agree on three activities with times, then confirm the plan.</a:t>
            </a:r>
          </a:p>
        </p:txBody>
      </p:sp>
      <p:sp>
        <p:nvSpPr>
          <p:cNvPr id="10" name="TextBox 9"/>
          <p:cNvSpPr txBox="1"/>
          <p:nvPr/>
        </p:nvSpPr>
        <p:spPr>
          <a:xfrm>
            <a:off x="822960" y="4663440"/>
            <a:ext cx="10515600" cy="1280160"/>
          </a:xfrm>
          <a:prstGeom prst="rect">
            <a:avLst/>
          </a:prstGeom>
          <a:noFill/>
        </p:spPr>
        <p:txBody>
          <a:bodyPr wrap="square" anchor="t">
            <a:spAutoFit/>
          </a:bodyPr>
          <a:lstStyle/>
          <a:p>
            <a:pPr algn="l">
              <a:lnSpc>
                <a:spcPct val="100000"/>
              </a:lnSpc>
              <a:spcAft>
                <a:spcPts val="600"/>
              </a:spcAft>
            </a:pPr>
            <a:r>
              <a:rPr sz="1900" b="1" i="0">
                <a:solidFill>
                  <a:srgbClr val="142C4F"/>
                </a:solidFill>
                <a:latin typeface="Calibri"/>
              </a:rPr>
              <a:t>⏱ 2 minutes to prepare  ·  2 minutes to perform  ·  then swap roles</a:t>
            </a:r>
          </a:p>
          <a:p>
            <a:pPr algn="l">
              <a:lnSpc>
                <a:spcPct val="100000"/>
              </a:lnSpc>
              <a:spcAft>
                <a:spcPts val="600"/>
              </a:spcAft>
            </a:pPr>
            <a:r>
              <a:rPr sz="1900" b="1" i="0">
                <a:solidFill>
                  <a:srgbClr val="142C4F"/>
                </a:solidFill>
                <a:latin typeface="Calibri"/>
              </a:rPr>
              <a:t>Do not read! Look at your partner.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(1/2)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the present simple or present continuous.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1. We usually (start) ______ at seven, but tomorrow we (start) ______ at eight.</a:t>
            </a:r>
          </a:p>
        </p:txBody>
      </p:sp>
      <p:sp>
        <p:nvSpPr>
          <p:cNvPr id="11" name="TextBox 10"/>
          <p:cNvSpPr txBox="1"/>
          <p:nvPr/>
        </p:nvSpPr>
        <p:spPr>
          <a:xfrm>
            <a:off x="1005840" y="3035808"/>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2. Look! The head teacher (come) ______ .</a:t>
            </a:r>
          </a:p>
        </p:txBody>
      </p:sp>
      <p:sp>
        <p:nvSpPr>
          <p:cNvPr id="12" name="TextBox 11"/>
          <p:cNvSpPr txBox="1"/>
          <p:nvPr/>
        </p:nvSpPr>
        <p:spPr>
          <a:xfrm>
            <a:off x="1005840" y="3694176"/>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3. She (not like) ______ chemistry.</a:t>
            </a:r>
          </a:p>
        </p:txBody>
      </p:sp>
      <p:sp>
        <p:nvSpPr>
          <p:cNvPr id="13" name="TextBox 12"/>
          <p:cNvSpPr txBox="1"/>
          <p:nvPr/>
        </p:nvSpPr>
        <p:spPr>
          <a:xfrm>
            <a:off x="1005840" y="4352544"/>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4. What you (do) ______ next Saturday?</a:t>
            </a:r>
          </a:p>
        </p:txBody>
      </p:sp>
      <p:sp>
        <p:nvSpPr>
          <p:cNvPr id="14" name="TextBox 13"/>
          <p:cNvSpPr txBox="1"/>
          <p:nvPr/>
        </p:nvSpPr>
        <p:spPr>
          <a:xfrm>
            <a:off x="1005840" y="5010912"/>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5. My father (work) ______ in a factory. He (work) ______ at the moment.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Writing  (2/2)</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U6.3-W1</a:t>
            </a:r>
          </a:p>
        </p:txBody>
      </p:sp>
      <p:sp>
        <p:nvSpPr>
          <p:cNvPr id="8" name="Rounded Rectangle 7"/>
          <p:cNvSpPr/>
          <p:nvPr/>
        </p:nvSpPr>
        <p:spPr>
          <a:xfrm>
            <a:off x="640080" y="1371600"/>
            <a:ext cx="10881360" cy="77724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1444752"/>
            <a:ext cx="10332720" cy="685800"/>
          </a:xfrm>
          <a:prstGeom prst="rect">
            <a:avLst/>
          </a:prstGeom>
          <a:noFill/>
        </p:spPr>
        <p:txBody>
          <a:bodyPr wrap="square" anchor="ctr">
            <a:spAutoFit/>
          </a:bodyPr>
          <a:lstStyle/>
          <a:p>
            <a:pPr algn="l">
              <a:lnSpc>
                <a:spcPct val="100000"/>
              </a:lnSpc>
              <a:spcAft>
                <a:spcPts val="600"/>
              </a:spcAft>
            </a:pPr>
            <a:r>
              <a:rPr sz="1900" b="1" i="0">
                <a:solidFill>
                  <a:srgbClr val="1B1B1B"/>
                </a:solidFill>
                <a:latin typeface="Calibri"/>
              </a:rPr>
              <a:t>Complete with the present simple or present continuous.</a:t>
            </a:r>
          </a:p>
        </p:txBody>
      </p:sp>
      <p:sp>
        <p:nvSpPr>
          <p:cNvPr id="10" name="TextBox 9"/>
          <p:cNvSpPr txBox="1"/>
          <p:nvPr/>
        </p:nvSpPr>
        <p:spPr>
          <a:xfrm>
            <a:off x="1005840" y="2377440"/>
            <a:ext cx="10241280" cy="640080"/>
          </a:xfrm>
          <a:prstGeom prst="rect">
            <a:avLst/>
          </a:prstGeom>
          <a:noFill/>
        </p:spPr>
        <p:txBody>
          <a:bodyPr wrap="square" anchor="t">
            <a:spAutoFit/>
          </a:bodyPr>
          <a:lstStyle/>
          <a:p>
            <a:pPr algn="l">
              <a:lnSpc>
                <a:spcPct val="100000"/>
              </a:lnSpc>
              <a:spcAft>
                <a:spcPts val="600"/>
              </a:spcAft>
            </a:pPr>
            <a:r>
              <a:rPr sz="1900" b="0" i="0">
                <a:solidFill>
                  <a:srgbClr val="1B1B1B"/>
                </a:solidFill>
                <a:latin typeface="Calibri"/>
              </a:rPr>
              <a:t>6. The museum (open) ______ at nine every day.</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Let's remember today's English</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731520" y="160020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51560" y="167335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 simple = habits and facts</a:t>
            </a:r>
          </a:p>
        </p:txBody>
      </p:sp>
      <p:sp>
        <p:nvSpPr>
          <p:cNvPr id="10" name="Rounded Rectangle 9"/>
          <p:cNvSpPr/>
          <p:nvPr/>
        </p:nvSpPr>
        <p:spPr>
          <a:xfrm>
            <a:off x="731520" y="256032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1051560" y="263347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present continuous = now / these days / fixed future</a:t>
            </a:r>
          </a:p>
        </p:txBody>
      </p:sp>
      <p:sp>
        <p:nvSpPr>
          <p:cNvPr id="12" name="Rounded Rectangle 11"/>
          <p:cNvSpPr/>
          <p:nvPr/>
        </p:nvSpPr>
        <p:spPr>
          <a:xfrm>
            <a:off x="731520" y="3520440"/>
            <a:ext cx="10698480" cy="841248"/>
          </a:xfrm>
          <a:prstGeom prst="roundRect">
            <a:avLst>
              <a:gd name="adj" fmla="val 6000"/>
            </a:avLst>
          </a:prstGeom>
          <a:solidFill>
            <a:srgbClr val="EAF5E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1051560" y="3593592"/>
            <a:ext cx="10241280" cy="713232"/>
          </a:xfrm>
          <a:prstGeom prst="rect">
            <a:avLst/>
          </a:prstGeom>
          <a:noFill/>
        </p:spPr>
        <p:txBody>
          <a:bodyPr wrap="square" anchor="ctr">
            <a:spAutoFit/>
          </a:bodyPr>
          <a:lstStyle/>
          <a:p>
            <a:pPr algn="l">
              <a:lnSpc>
                <a:spcPct val="100000"/>
              </a:lnSpc>
              <a:spcAft>
                <a:spcPts val="600"/>
              </a:spcAft>
            </a:pPr>
            <a:r>
              <a:rPr sz="2000" b="0" i="0">
                <a:solidFill>
                  <a:srgbClr val="1B1B1B"/>
                </a:solidFill>
                <a:latin typeface="Calibri"/>
              </a:rPr>
              <a:t>✓ state verbs are not used in the continuous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1051560"/>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0" y="1051560"/>
            <a:ext cx="12191695" cy="54864"/>
          </a:xfrm>
          <a:prstGeom prst="rect">
            <a:avLst/>
          </a:prstGeom>
          <a:solidFill>
            <a:srgbClr val="142C4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411480" y="146304"/>
            <a:ext cx="914400" cy="777240"/>
          </a:xfrm>
          <a:prstGeom prst="rect">
            <a:avLst/>
          </a:prstGeom>
          <a:noFill/>
        </p:spPr>
        <p:txBody>
          <a:bodyPr wrap="square" anchor="ctr">
            <a:spAutoFit/>
          </a:bodyPr>
          <a:lstStyle/>
          <a:p>
            <a:pPr algn="ctr">
              <a:lnSpc>
                <a:spcPct val="100000"/>
              </a:lnSpc>
              <a:spcAft>
                <a:spcPts val="600"/>
              </a:spcAft>
            </a:pPr>
            <a:r>
              <a:rPr sz="3400" b="0" i="0">
                <a:solidFill>
                  <a:srgbClr val="FFFFFF"/>
                </a:solidFill>
                <a:latin typeface="Calibri"/>
              </a:rPr>
              <a:t>🏠</a:t>
            </a:r>
          </a:p>
        </p:txBody>
      </p:sp>
      <p:sp>
        <p:nvSpPr>
          <p:cNvPr id="6" name="TextBox 5"/>
          <p:cNvSpPr txBox="1"/>
          <p:nvPr/>
        </p:nvSpPr>
        <p:spPr>
          <a:xfrm>
            <a:off x="1325880" y="146304"/>
            <a:ext cx="8961120" cy="777240"/>
          </a:xfrm>
          <a:prstGeom prst="rect">
            <a:avLst/>
          </a:prstGeom>
          <a:noFill/>
        </p:spPr>
        <p:txBody>
          <a:bodyPr wrap="square" anchor="ctr">
            <a:spAutoFit/>
          </a:bodyPr>
          <a:lstStyle/>
          <a:p>
            <a:pPr algn="l">
              <a:lnSpc>
                <a:spcPct val="100000"/>
              </a:lnSpc>
              <a:spcAft>
                <a:spcPts val="600"/>
              </a:spcAft>
            </a:pPr>
            <a:r>
              <a:rPr sz="2800" b="1" i="0">
                <a:solidFill>
                  <a:srgbClr val="FFFFFF"/>
                </a:solidFill>
                <a:latin typeface="Calibri"/>
              </a:rPr>
              <a:t>Homework — write it in your notebook</a:t>
            </a:r>
          </a:p>
        </p:txBody>
      </p:sp>
      <p:sp>
        <p:nvSpPr>
          <p:cNvPr id="7" name="TextBox 6"/>
          <p:cNvSpPr txBox="1"/>
          <p:nvPr/>
        </p:nvSpPr>
        <p:spPr>
          <a:xfrm>
            <a:off x="10424160" y="274320"/>
            <a:ext cx="1463040" cy="548640"/>
          </a:xfrm>
          <a:prstGeom prst="rect">
            <a:avLst/>
          </a:prstGeom>
          <a:noFill/>
        </p:spPr>
        <p:txBody>
          <a:bodyPr wrap="square" anchor="ctr">
            <a:spAutoFit/>
          </a:bodyPr>
          <a:lstStyle/>
          <a:p>
            <a:pPr algn="r">
              <a:lnSpc>
                <a:spcPct val="100000"/>
              </a:lnSpc>
              <a:spcAft>
                <a:spcPts val="600"/>
              </a:spcAft>
            </a:pPr>
            <a:r>
              <a:rPr sz="1200" b="0" i="0">
                <a:solidFill>
                  <a:srgbClr val="FFFFFF"/>
                </a:solidFill>
                <a:latin typeface="Calibri"/>
              </a:rPr>
              <a:t>U6L3</a:t>
            </a:r>
          </a:p>
        </p:txBody>
      </p:sp>
      <p:sp>
        <p:nvSpPr>
          <p:cNvPr id="8" name="Rounded Rectangle 7"/>
          <p:cNvSpPr/>
          <p:nvPr/>
        </p:nvSpPr>
        <p:spPr>
          <a:xfrm>
            <a:off x="731520" y="1554480"/>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1005840" y="1609344"/>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U6.3-H1</a:t>
            </a:r>
          </a:p>
        </p:txBody>
      </p:sp>
      <p:sp>
        <p:nvSpPr>
          <p:cNvPr id="10" name="TextBox 9"/>
          <p:cNvSpPr txBox="1"/>
          <p:nvPr/>
        </p:nvSpPr>
        <p:spPr>
          <a:xfrm>
            <a:off x="2743200" y="1609344"/>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Complete with the present simple or continuous.</a:t>
            </a:r>
          </a:p>
        </p:txBody>
      </p:sp>
      <p:sp>
        <p:nvSpPr>
          <p:cNvPr id="11" name="Rounded Rectangle 10"/>
          <p:cNvSpPr/>
          <p:nvPr/>
        </p:nvSpPr>
        <p:spPr>
          <a:xfrm>
            <a:off x="731520" y="2523744"/>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2578608"/>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U6.3-H2</a:t>
            </a:r>
          </a:p>
        </p:txBody>
      </p:sp>
      <p:sp>
        <p:nvSpPr>
          <p:cNvPr id="13" name="TextBox 12"/>
          <p:cNvSpPr txBox="1"/>
          <p:nvPr/>
        </p:nvSpPr>
        <p:spPr>
          <a:xfrm>
            <a:off x="2743200" y="2578608"/>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Grammar — Write two sentences for each prompt: one habit, one arrangement.</a:t>
            </a:r>
          </a:p>
        </p:txBody>
      </p:sp>
      <p:sp>
        <p:nvSpPr>
          <p:cNvPr id="14" name="Rounded Rectangle 13"/>
          <p:cNvSpPr/>
          <p:nvPr/>
        </p:nvSpPr>
        <p:spPr>
          <a:xfrm>
            <a:off x="731520" y="3493008"/>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 y="3547872"/>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U6.3-H3</a:t>
            </a:r>
          </a:p>
        </p:txBody>
      </p:sp>
      <p:sp>
        <p:nvSpPr>
          <p:cNvPr id="16" name="TextBox 15"/>
          <p:cNvSpPr txBox="1"/>
          <p:nvPr/>
        </p:nvSpPr>
        <p:spPr>
          <a:xfrm>
            <a:off x="2743200" y="3547872"/>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Writing — Write an email (70–80 words) to a friend about your plans for next weekend.</a:t>
            </a:r>
          </a:p>
        </p:txBody>
      </p:sp>
      <p:sp>
        <p:nvSpPr>
          <p:cNvPr id="17" name="Rounded Rectangle 16"/>
          <p:cNvSpPr/>
          <p:nvPr/>
        </p:nvSpPr>
        <p:spPr>
          <a:xfrm>
            <a:off x="731520" y="4462272"/>
            <a:ext cx="10698480" cy="868680"/>
          </a:xfrm>
          <a:prstGeom prst="roundRect">
            <a:avLst>
              <a:gd name="adj" fmla="val 6000"/>
            </a:avLst>
          </a:prstGeom>
          <a:solidFill>
            <a:srgbClr val="E7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4517136"/>
            <a:ext cx="1828800" cy="777240"/>
          </a:xfrm>
          <a:prstGeom prst="rect">
            <a:avLst/>
          </a:prstGeom>
          <a:noFill/>
        </p:spPr>
        <p:txBody>
          <a:bodyPr wrap="square" anchor="ctr">
            <a:spAutoFit/>
          </a:bodyPr>
          <a:lstStyle/>
          <a:p>
            <a:pPr algn="l">
              <a:lnSpc>
                <a:spcPct val="100000"/>
              </a:lnSpc>
              <a:spcAft>
                <a:spcPts val="600"/>
              </a:spcAft>
            </a:pPr>
            <a:r>
              <a:rPr sz="1900" b="1" i="0">
                <a:solidFill>
                  <a:srgbClr val="142C4F"/>
                </a:solidFill>
                <a:latin typeface="Calibri"/>
              </a:rPr>
              <a:t>U6.3-H4</a:t>
            </a:r>
          </a:p>
        </p:txBody>
      </p:sp>
      <p:sp>
        <p:nvSpPr>
          <p:cNvPr id="19" name="TextBox 18"/>
          <p:cNvSpPr txBox="1"/>
          <p:nvPr/>
        </p:nvSpPr>
        <p:spPr>
          <a:xfrm>
            <a:off x="2743200" y="4517136"/>
            <a:ext cx="8503920" cy="777240"/>
          </a:xfrm>
          <a:prstGeom prst="rect">
            <a:avLst/>
          </a:prstGeom>
          <a:noFill/>
        </p:spPr>
        <p:txBody>
          <a:bodyPr wrap="square" anchor="ctr">
            <a:spAutoFit/>
          </a:bodyPr>
          <a:lstStyle/>
          <a:p>
            <a:pPr algn="l">
              <a:lnSpc>
                <a:spcPct val="100000"/>
              </a:lnSpc>
              <a:spcAft>
                <a:spcPts val="600"/>
              </a:spcAft>
            </a:pPr>
            <a:r>
              <a:rPr sz="1700" b="0" i="0">
                <a:solidFill>
                  <a:srgbClr val="1B1B1B"/>
                </a:solidFill>
                <a:latin typeface="Calibri"/>
              </a:rPr>
              <a:t>Pronunciation — Say these contractions five times: I'm meeting, he's coming, they're visiting, we aren't staying, she isn't going.</a:t>
            </a:r>
          </a:p>
        </p:txBody>
      </p:sp>
      <p:sp>
        <p:nvSpPr>
          <p:cNvPr id="20" name="TextBox 19"/>
          <p:cNvSpPr txBox="1"/>
          <p:nvPr/>
        </p:nvSpPr>
        <p:spPr>
          <a:xfrm>
            <a:off x="731520" y="5989320"/>
            <a:ext cx="10698480" cy="640080"/>
          </a:xfrm>
          <a:prstGeom prst="rect">
            <a:avLst/>
          </a:prstGeom>
          <a:noFill/>
        </p:spPr>
        <p:txBody>
          <a:bodyPr wrap="square" anchor="t">
            <a:spAutoFit/>
          </a:bodyPr>
          <a:lstStyle/>
          <a:p>
            <a:pPr algn="ctr">
              <a:lnSpc>
                <a:spcPct val="100000"/>
              </a:lnSpc>
              <a:spcAft>
                <a:spcPts val="600"/>
              </a:spcAft>
            </a:pPr>
            <a:r>
              <a:rPr sz="1800" b="0" i="0">
                <a:solidFill>
                  <a:srgbClr val="6B7280"/>
                </a:solidFill>
                <a:latin typeface="Calibri"/>
              </a:rPr>
              <a:t>Homework Book, section U6L3   ·   See you next lesson!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