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3_1_A2-03-Present-Continuous.mp3" TargetMode="External"/><Relationship Id="rId3" Type="http://schemas.openxmlformats.org/officeDocument/2006/relationships/hyperlink" Target="https://elllo.org/book/A2/A2-03-Present-Continuou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3  ·  PERIOD 42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Present simple or present continuous?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continuous for future arrangements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the two tenses in their own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week: habits and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and describe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mime; the class describes with the present continuous.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the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sắp xếp, hẹn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an arrangement for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exchange student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/ɪksˈtʃeɪndʒ ˌstjuːdnt/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 trao đổi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exchange student is visiting our class.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visiting our school next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prepare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/prɪˈpeə/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chuẩn bị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preparing a welcome show.</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welcome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/ˈwelkəm/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chào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going to welcome them at the gate.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tiếp đón; chủ nhà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is hosting three students.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moment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these days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Monday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weekend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Present simple vs present continuous (including the future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 habits, routines, timetables, facts. Time words: every day, usually, always, on Mondays,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 (1) actions happening NOW: Look! He is running. (2) temporary situations these days: I am studying hard this month. (3) FUTURE ARRANGEMENT…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(like, know, want, need, understand, have = own) are NOT normally used in the continuous: *I am liking it* → I like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Tense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We have English every Tuesday.</a:t>
                      </a:r>
                    </a:p>
                  </a:txBody>
                  <a:tcPr>
                    <a:solidFill>
                      <a:srgbClr val="E3F3EE"/>
                    </a:solidFill>
                  </a:tcPr>
                </a:tc>
              </a:tr>
              <a:tr h="566928">
                <a:tc>
                  <a:txBody>
                    <a:bodyPr/>
                    <a:lstStyle/>
                    <a:p>
                      <a:r>
                        <a:rPr sz="1600" b="0">
                          <a:solidFill>
                            <a:srgbClr val="1B1B1B"/>
                          </a:solidFill>
                          <a:latin typeface="Calibri"/>
                        </a:rPr>
                        <a:t>now</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having English now.</a:t>
                      </a:r>
                    </a:p>
                  </a:txBody>
                  <a:tcPr>
                    <a:solidFill>
                      <a:srgbClr val="FFFFFF"/>
                    </a:solidFill>
                  </a:tcPr>
                </a:tc>
              </a:tr>
              <a:tr h="566928">
                <a:tc>
                  <a:txBody>
                    <a:bodyPr/>
                    <a:lstStyle/>
                    <a:p>
                      <a:r>
                        <a:rPr sz="1600" b="0">
                          <a:solidFill>
                            <a:srgbClr val="1B1B1B"/>
                          </a:solidFill>
                          <a:latin typeface="Calibri"/>
                        </a:rPr>
                        <a:t>these days (temporary)</a:t>
                      </a:r>
                    </a:p>
                  </a:txBody>
                  <a:tcPr>
                    <a:solidFill>
                      <a:srgbClr val="E3F3EE"/>
                    </a:solidFill>
                  </a:tcPr>
                </a:tc>
                <a:tc>
                  <a:txBody>
                    <a:bodyPr/>
                    <a:lstStyle/>
                    <a:p>
                      <a:r>
                        <a:rPr sz="1600" b="0">
                          <a:solidFill>
                            <a:srgbClr val="1B1B1B"/>
                          </a:solidFill>
                          <a:latin typeface="Calibri"/>
                        </a:rPr>
                        <a:t>present continuous</a:t>
                      </a:r>
                    </a:p>
                  </a:txBody>
                  <a:tcPr>
                    <a:solidFill>
                      <a:srgbClr val="E3F3EE"/>
                    </a:solidFill>
                  </a:tcPr>
                </a:tc>
                <a:tc>
                  <a:txBody>
                    <a:bodyPr/>
                    <a:lstStyle/>
                    <a:p>
                      <a:r>
                        <a:rPr sz="1600" b="0">
                          <a:solidFill>
                            <a:srgbClr val="1B1B1B"/>
                          </a:solidFill>
                          <a:latin typeface="Calibri"/>
                        </a:rPr>
                        <a:t>I am studying a lot this term.</a:t>
                      </a:r>
                    </a:p>
                  </a:txBody>
                  <a:tcPr>
                    <a:solidFill>
                      <a:srgbClr val="E3F3EE"/>
                    </a:solidFill>
                  </a:tcPr>
                </a:tc>
              </a:tr>
              <a:tr h="566928">
                <a:tc>
                  <a:txBody>
                    <a:bodyPr/>
                    <a:lstStyle/>
                    <a:p>
                      <a:r>
                        <a:rPr sz="1600" b="0">
                          <a:solidFill>
                            <a:srgbClr val="1B1B1B"/>
                          </a:solidFill>
                          <a:latin typeface="Calibri"/>
                        </a:rPr>
                        <a:t>fixed future plan</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visiting Hue next Friday.</a:t>
                      </a:r>
                    </a:p>
                  </a:txBody>
                  <a:tcPr>
                    <a:solidFill>
                      <a:srgbClr val="FFFFFF"/>
                    </a:solidFill>
                  </a:tcPr>
                </a:tc>
              </a:tr>
              <a:tr h="566928">
                <a:tc>
                  <a:txBody>
                    <a:bodyPr/>
                    <a:lstStyle/>
                    <a:p>
                      <a:r>
                        <a:rPr sz="1600" b="0">
                          <a:solidFill>
                            <a:srgbClr val="1B1B1B"/>
                          </a:solidFill>
                          <a:latin typeface="Calibri"/>
                        </a:rPr>
                        <a:t>state verb</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I know the answer. (NOT I am knowing)</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walk to school, but this week I am going by bus because of the rain.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 Saturday? – I'm meeting my cousin at ten.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wants a new bag. (NOT: She is wanting)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key confusion of Grade 7. Vietnamese uses 'đang' only for 'now', so students never use the continuous for the future: *I go to Hanoi next week.* Teach the future use as a separate, memorable rule: FIXED PLAN = -ing.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walk to school, but this week I am going by bus because of the 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Contractions in the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we almost always contract: I'm going, he's coming, they're visiting, we aren't staying. Full forms sound formal or strange.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/aɪm/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he's /hiːz/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we're /wɪə/</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they're /ðeə/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meeting my friend at four.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They're visiting our school on Monday.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isn't coming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present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right now. Two speakers, scripted dialogue, native English. It lasts 2:23.</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2:23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playing a game to find American symbols at the memorials B. living near a train station C. what people are doing right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Yeah. I’m picking up a few things, and then I’m going to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looks OK. He’s smiling and talking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She’s in the kitchen. She’s cooking dinner.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I’m learning a lot.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no. Is it serious?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What are you _____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What are you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We’re _____ to the new Italian restaurant.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I’m picking up a few things, and then I’m _____ to the gym.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about next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message. Yes, everything is ready for your visit! Normally our school day starts at seven, but next Monday we are starting at half past eight, because you are arriving on the early bus. Here is the plan. In the morning we are showing you the school and you are joining our English lesson. My friend Mai usually sits next to me, but on Monday you are sitting there — she doesn't mind! In the afternoon we are going to the water puppet theatre. It opens at two and the show lasts one hour. One question: what do you usually eat for breakfast? My mother is worried because we eat pho or rice, and she thinks you eat bread and milk. Please tell her the truth! See you on Monday.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the school day normally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is it starting next Monday?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is Kevin sitting in the English lesson?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they doing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Nam's mother worried?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present simple sentences about habits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present continuous sentences about next Monday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simple sentence about a timetable (the theatre)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bike every day.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It is raining.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are visiting the museum next Friday.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usually has lunch at home.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studying hard this month.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Water boils at 100 degrees.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every Monday →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at the moment →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now →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usually →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next Friday (fixed plan) →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days → ______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teacher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liking English very much.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Every day I am going to school by 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are doing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Monday. (the tickets are booked)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having a new bike.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U6.3-S2 and report two arrangements.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U6.3-S2 and report two arrangements.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prompts and make two sentences: one habit, one happening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our teacher / write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 study English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 sit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 play football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their arrangements. Write the name and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Saturday evening? B: I'm visiting my grandmother.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confirming arrangements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meeting… 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free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 we're meeting at… , right?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See you then!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partner are planning the exchange students' afternoon. Agree on three activities with times, then confirm the plan.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 but tomorrow we (start) ______ at eight.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The head teacher (come)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(not like) ______ chemistry.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(do) ______ next Saturday?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(work) ______ in a factory. He (work) ______ at the moment.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museum (open) ______ at nine every day.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 habits and facts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 now / these days / fixed future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 are not used in the continuous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present simple or continuous.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two sentences for each prompt: one habit, one arrangement.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about your plans for next weekend.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contractions five times: I'm meeting, he's coming, they're visiting, we aren't staying, she isn't going.</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