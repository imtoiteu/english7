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6L3_1_A2-03-Present-Continuous.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3  ·  PERIOD 42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Present simple or present continuous?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correctly between the present simple and the present continuous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continuous for future arrangements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the difference between the two tenses in their own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their week: habits and arrangements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Mime and describe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students mime; the class describes with the present continuous.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the actions.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arrangement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/əˈreɪndʒmənt/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sắp xếp, hẹn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have an arrangement for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exchange student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/ɪksˈtʃeɪndʒ ˌstjuːdnt/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sinh trao đổi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 exchange student is visiting our class.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are visiting our school next Monday.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prepare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/prɪˈpeə/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chuẩn bị</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preparing a welcome show.</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welcome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/ˈwelkəm/   (v/n)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chào đón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going to welcome them at the gate.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tiếp đón; chủ nhà</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is hosting three students.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the moment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these days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Monday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weekend</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Present simple vs present continuous (including the future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 habits, routines, timetables, facts. Time words: every day, usually, always, on Mondays, never.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CONTINUOUS = (1) actions happening NOW: Look! He is running. (2) temporary situations these days: I am studying hard this month. (3) FUTURE ARRANGEMENT…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STATE verbs (like, know, want, need, understand, have = own) are NOT normally used in the continuous: *I am liking it* → I like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Tense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habit</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We have English every Tuesday.</a:t>
                      </a:r>
                    </a:p>
                  </a:txBody>
                  <a:tcPr>
                    <a:solidFill>
                      <a:srgbClr val="E3F3EE"/>
                    </a:solidFill>
                  </a:tcPr>
                </a:tc>
              </a:tr>
              <a:tr h="566928">
                <a:tc>
                  <a:txBody>
                    <a:bodyPr/>
                    <a:lstStyle/>
                    <a:p>
                      <a:r>
                        <a:rPr sz="1600" b="0">
                          <a:solidFill>
                            <a:srgbClr val="1B1B1B"/>
                          </a:solidFill>
                          <a:latin typeface="Calibri"/>
                        </a:rPr>
                        <a:t>now</a:t>
                      </a:r>
                    </a:p>
                  </a:txBody>
                  <a:tcPr>
                    <a:solidFill>
                      <a:srgbClr val="FFFFFF"/>
                    </a:solidFill>
                  </a:tcPr>
                </a:tc>
                <a:tc>
                  <a:txBody>
                    <a:bodyPr/>
                    <a:lstStyle/>
                    <a:p>
                      <a:r>
                        <a:rPr sz="1600" b="0">
                          <a:solidFill>
                            <a:srgbClr val="1B1B1B"/>
                          </a:solidFill>
                          <a:latin typeface="Calibri"/>
                        </a:rPr>
                        <a:t>present continuous</a:t>
                      </a:r>
                    </a:p>
                  </a:txBody>
                  <a:tcPr>
                    <a:solidFill>
                      <a:srgbClr val="FFFFFF"/>
                    </a:solidFill>
                  </a:tcPr>
                </a:tc>
                <a:tc>
                  <a:txBody>
                    <a:bodyPr/>
                    <a:lstStyle/>
                    <a:p>
                      <a:r>
                        <a:rPr sz="1600" b="0">
                          <a:solidFill>
                            <a:srgbClr val="1B1B1B"/>
                          </a:solidFill>
                          <a:latin typeface="Calibri"/>
                        </a:rPr>
                        <a:t>We are having English now.</a:t>
                      </a:r>
                    </a:p>
                  </a:txBody>
                  <a:tcPr>
                    <a:solidFill>
                      <a:srgbClr val="FFFFFF"/>
                    </a:solidFill>
                  </a:tcPr>
                </a:tc>
              </a:tr>
              <a:tr h="566928">
                <a:tc>
                  <a:txBody>
                    <a:bodyPr/>
                    <a:lstStyle/>
                    <a:p>
                      <a:r>
                        <a:rPr sz="1600" b="0">
                          <a:solidFill>
                            <a:srgbClr val="1B1B1B"/>
                          </a:solidFill>
                          <a:latin typeface="Calibri"/>
                        </a:rPr>
                        <a:t>these days (temporary)</a:t>
                      </a:r>
                    </a:p>
                  </a:txBody>
                  <a:tcPr>
                    <a:solidFill>
                      <a:srgbClr val="E3F3EE"/>
                    </a:solidFill>
                  </a:tcPr>
                </a:tc>
                <a:tc>
                  <a:txBody>
                    <a:bodyPr/>
                    <a:lstStyle/>
                    <a:p>
                      <a:r>
                        <a:rPr sz="1600" b="0">
                          <a:solidFill>
                            <a:srgbClr val="1B1B1B"/>
                          </a:solidFill>
                          <a:latin typeface="Calibri"/>
                        </a:rPr>
                        <a:t>present continuous</a:t>
                      </a:r>
                    </a:p>
                  </a:txBody>
                  <a:tcPr>
                    <a:solidFill>
                      <a:srgbClr val="E3F3EE"/>
                    </a:solidFill>
                  </a:tcPr>
                </a:tc>
                <a:tc>
                  <a:txBody>
                    <a:bodyPr/>
                    <a:lstStyle/>
                    <a:p>
                      <a:r>
                        <a:rPr sz="1600" b="0">
                          <a:solidFill>
                            <a:srgbClr val="1B1B1B"/>
                          </a:solidFill>
                          <a:latin typeface="Calibri"/>
                        </a:rPr>
                        <a:t>I am studying a lot this term.</a:t>
                      </a:r>
                    </a:p>
                  </a:txBody>
                  <a:tcPr>
                    <a:solidFill>
                      <a:srgbClr val="E3F3EE"/>
                    </a:solidFill>
                  </a:tcPr>
                </a:tc>
              </a:tr>
              <a:tr h="566928">
                <a:tc>
                  <a:txBody>
                    <a:bodyPr/>
                    <a:lstStyle/>
                    <a:p>
                      <a:r>
                        <a:rPr sz="1600" b="0">
                          <a:solidFill>
                            <a:srgbClr val="1B1B1B"/>
                          </a:solidFill>
                          <a:latin typeface="Calibri"/>
                        </a:rPr>
                        <a:t>fixed future plan</a:t>
                      </a:r>
                    </a:p>
                  </a:txBody>
                  <a:tcPr>
                    <a:solidFill>
                      <a:srgbClr val="FFFFFF"/>
                    </a:solidFill>
                  </a:tcPr>
                </a:tc>
                <a:tc>
                  <a:txBody>
                    <a:bodyPr/>
                    <a:lstStyle/>
                    <a:p>
                      <a:r>
                        <a:rPr sz="1600" b="0">
                          <a:solidFill>
                            <a:srgbClr val="1B1B1B"/>
                          </a:solidFill>
                          <a:latin typeface="Calibri"/>
                        </a:rPr>
                        <a:t>present continuous</a:t>
                      </a:r>
                    </a:p>
                  </a:txBody>
                  <a:tcPr>
                    <a:solidFill>
                      <a:srgbClr val="FFFFFF"/>
                    </a:solidFill>
                  </a:tcPr>
                </a:tc>
                <a:tc>
                  <a:txBody>
                    <a:bodyPr/>
                    <a:lstStyle/>
                    <a:p>
                      <a:r>
                        <a:rPr sz="1600" b="0">
                          <a:solidFill>
                            <a:srgbClr val="1B1B1B"/>
                          </a:solidFill>
                          <a:latin typeface="Calibri"/>
                        </a:rPr>
                        <a:t>We are visiting Hue next Friday.</a:t>
                      </a:r>
                    </a:p>
                  </a:txBody>
                  <a:tcPr>
                    <a:solidFill>
                      <a:srgbClr val="FFFFFF"/>
                    </a:solidFill>
                  </a:tcPr>
                </a:tc>
              </a:tr>
              <a:tr h="566928">
                <a:tc>
                  <a:txBody>
                    <a:bodyPr/>
                    <a:lstStyle/>
                    <a:p>
                      <a:r>
                        <a:rPr sz="1600" b="0">
                          <a:solidFill>
                            <a:srgbClr val="1B1B1B"/>
                          </a:solidFill>
                          <a:latin typeface="Calibri"/>
                        </a:rPr>
                        <a:t>state verb</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I know the answer. (NOT I am knowing)</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walk to school, but this week I am going by bus because of the rain.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are you doing on Saturday? – I'm meeting my cousin at ten.</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wants a new bag. (NOT: She is wanting)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key confusion of Grade 7. Vietnamese uses 'đang' only for 'now', so students never use the continuous for the future: *I go to Hanoi next week.* Teach the future use as a separate, memorable rule: FIXED PLAN = -ing.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walk to school, but this week I am going by bus because of the 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Contractions in the continuous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speech we almost always contract: I'm going, he's coming, they're visiting, we aren't staying. Full forms sound formal or strange.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/aɪm/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he's /hiːz/</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we're /wɪə/</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they're /ðeə/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I'm meeting my friend at four.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They're visiting our school on Monday.</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isn't coming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present continuous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are doing right now. Two speakers, scripted dialogue, native English. It lasts 2:23.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2:23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playing a game to find American symbols at the memorials B. living near a train station C. what people are doing right now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Yeah. I’m picking up a few things, and then I’m going to the gym.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looks OK. He’s smiling and talking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She’s in the kitchen. She’s cooking dinner.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I’m learning a lot.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Oh no. Is it serious?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What are you _____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What are you _____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We’re _____ to the new Italian restaurant.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I’m picking up a few things, and then I’m _____ to the gym.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An email about next week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Kevin, Thanks for your message. Yes, everything is ready for your visit! Normally our school day starts at seven, but next Monday we are starting at half past eight, because you are arriving on the early bus. Here is the plan. In the morning we are showing you the school and you are joining our English lesson. My friend Mai usually sits next to me, but on Monday you are sitting there — she doesn't mind! In the afternoon we are going to the water puppet theatre. It opens at two and the show lasts one hour. One question: what do you usually eat for breakfast? My mother is worried because we eat pho or rice, and she thinks you eat bread and milk. Please tell her the truth! See you on Monday. Nam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the school day normally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is it starting next Monday?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is Kevin sitting in the English lesson?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are they doing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Nam's mother worried?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email: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present simple sentences about habits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three present continuous sentences about next Monday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present simple sentence about a timetable (the theatre)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PS (present simple) or PC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bike every day.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Look! It is raining.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are visiting the museum next Friday.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usually has lunch at home.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are studying hard this month.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PS (present simple) or PC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Water boils at 100 degrees. 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tense you need.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every Monday →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at the moment →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now →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usually →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next Friday (fixed plan) →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tense you need.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these days → ______</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teacher comes.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am liking English very much.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Every day I am going to school by bike.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are doing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visit the museum next Monday. (the tickets are booked)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having a new bike.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U6.3-S2 and report two arrangements.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U6.3-S2 and report two arrangements.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prompts and make two sentences: one habit, one happening 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our teacher / write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 study English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 sit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students / play football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five classmates about their arrangements. Write the name and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are you doing on Saturday evening? B: I'm visiting my grandmother.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Making and confirming arrangements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are you doing 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meeting… 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free 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 we're meeting at… , right?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See you then!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a partner are planning the exchange students' afternoon. Agree on three activities with times, then confirm the plan.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present simple or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usually (start) ______ at seven, but tomorrow we (start) ______ at eight.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Look! The head teacher (come)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(not like) ______ chemistry.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(do) ______ next Saturday?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father (work) ______ in a factory. He (work) ______ at the moment.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present simple or present continuous.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museum (open) ______ at nine every day.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 habits and facts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continuous = now / these days / fixed future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state verbs are not used in the continuous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present simple or continuous.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two sentences for each prompt: one habit, one arrangement.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(70–80 words) to a friend about your plans for next weekend.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contractions five times: I'm meeting, he's coming, they're visiting, we aren't staying, she isn't going.</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