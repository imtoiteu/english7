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685800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Oval 3"/>
          <p:cNvSpPr/>
          <p:nvPr/>
        </p:nvSpPr>
        <p:spPr>
          <a:xfrm>
            <a:off x="-1097280" y="4389120"/>
            <a:ext cx="6858000" cy="4114800"/>
          </a:xfrm>
          <a:prstGeom prst="ellipse">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Oval 4"/>
          <p:cNvSpPr/>
          <p:nvPr/>
        </p:nvSpPr>
        <p:spPr>
          <a:xfrm>
            <a:off x="8778240" y="-1828800"/>
            <a:ext cx="5486400" cy="4572000"/>
          </a:xfrm>
          <a:prstGeom prst="ellipse">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822960" y="1371600"/>
            <a:ext cx="10515600" cy="548640"/>
          </a:xfrm>
          <a:prstGeom prst="rect">
            <a:avLst/>
          </a:prstGeom>
          <a:noFill/>
        </p:spPr>
        <p:txBody>
          <a:bodyPr wrap="square" anchor="t">
            <a:spAutoFit/>
          </a:bodyPr>
          <a:lstStyle/>
          <a:p>
            <a:pPr algn="l">
              <a:lnSpc>
                <a:spcPct val="100000"/>
              </a:lnSpc>
              <a:spcAft>
                <a:spcPts val="600"/>
              </a:spcAft>
            </a:pPr>
            <a:r>
              <a:rPr sz="2000" b="1" i="0">
                <a:solidFill>
                  <a:srgbClr val="FFFFFF"/>
                </a:solidFill>
                <a:latin typeface="Calibri"/>
              </a:rPr>
              <a:t>UNIT 6  ·  LESSON 6  ·  PERIOD 43</a:t>
            </a:r>
          </a:p>
        </p:txBody>
      </p:sp>
      <p:sp>
        <p:nvSpPr>
          <p:cNvPr id="7" name="TextBox 6"/>
          <p:cNvSpPr txBox="1"/>
          <p:nvPr/>
        </p:nvSpPr>
        <p:spPr>
          <a:xfrm>
            <a:off x="822960" y="2011680"/>
            <a:ext cx="10515600" cy="1463040"/>
          </a:xfrm>
          <a:prstGeom prst="rect">
            <a:avLst/>
          </a:prstGeom>
          <a:noFill/>
        </p:spPr>
        <p:txBody>
          <a:bodyPr wrap="square" anchor="t">
            <a:spAutoFit/>
          </a:bodyPr>
          <a:lstStyle/>
          <a:p>
            <a:pPr algn="l">
              <a:lnSpc>
                <a:spcPct val="100000"/>
              </a:lnSpc>
              <a:spcAft>
                <a:spcPts val="600"/>
              </a:spcAft>
            </a:pPr>
            <a:r>
              <a:rPr sz="3000" b="1" i="0">
                <a:solidFill>
                  <a:srgbClr val="E7F1FA"/>
                </a:solidFill>
                <a:latin typeface="Calibri"/>
              </a:rPr>
              <a:t>SKILLS 2</a:t>
            </a:r>
          </a:p>
        </p:txBody>
      </p:sp>
      <p:sp>
        <p:nvSpPr>
          <p:cNvPr id="8" name="TextBox 7"/>
          <p:cNvSpPr txBox="1"/>
          <p:nvPr/>
        </p:nvSpPr>
        <p:spPr>
          <a:xfrm>
            <a:off x="822960" y="2926080"/>
            <a:ext cx="10515600" cy="2011680"/>
          </a:xfrm>
          <a:prstGeom prst="rect">
            <a:avLst/>
          </a:prstGeom>
          <a:noFill/>
        </p:spPr>
        <p:txBody>
          <a:bodyPr wrap="square" anchor="t">
            <a:spAutoFit/>
          </a:bodyPr>
          <a:lstStyle/>
          <a:p>
            <a:pPr algn="l">
              <a:lnSpc>
                <a:spcPct val="100000"/>
              </a:lnSpc>
              <a:spcAft>
                <a:spcPts val="600"/>
              </a:spcAft>
            </a:pPr>
            <a:r>
              <a:rPr sz="4400" b="1" i="0">
                <a:solidFill>
                  <a:srgbClr val="FFFFFF"/>
                </a:solidFill>
                <a:latin typeface="Calibri"/>
              </a:rPr>
              <a:t>Listening: A school announcement + Writing: An email about my school</a:t>
            </a:r>
          </a:p>
        </p:txBody>
      </p:sp>
      <p:sp>
        <p:nvSpPr>
          <p:cNvPr id="9" name="TextBox 8"/>
          <p:cNvSpPr txBox="1"/>
          <p:nvPr/>
        </p:nvSpPr>
        <p:spPr>
          <a:xfrm>
            <a:off x="822960" y="5303520"/>
            <a:ext cx="10515600" cy="731520"/>
          </a:xfrm>
          <a:prstGeom prst="rect">
            <a:avLst/>
          </a:prstGeom>
          <a:noFill/>
        </p:spPr>
        <p:txBody>
          <a:bodyPr wrap="square" anchor="t">
            <a:spAutoFit/>
          </a:bodyPr>
          <a:lstStyle/>
          <a:p>
            <a:pPr algn="l">
              <a:lnSpc>
                <a:spcPct val="100000"/>
              </a:lnSpc>
              <a:spcAft>
                <a:spcPts val="600"/>
              </a:spcAft>
            </a:pPr>
            <a:r>
              <a:rPr sz="2000" b="0" i="0">
                <a:solidFill>
                  <a:srgbClr val="E7F1FA"/>
                </a:solidFill>
                <a:latin typeface="Calibri"/>
              </a:rPr>
              <a:t>English 7  ·  Let's start! 👋</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Today we will learn to…</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U6L6</a:t>
            </a:r>
          </a:p>
        </p:txBody>
      </p:sp>
      <p:sp>
        <p:nvSpPr>
          <p:cNvPr id="8" name="Rounded Rectangle 7"/>
          <p:cNvSpPr/>
          <p:nvPr/>
        </p:nvSpPr>
        <p:spPr>
          <a:xfrm>
            <a:off x="640080" y="1463040"/>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640080" y="1463040"/>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960120" y="1508760"/>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1</a:t>
            </a:r>
          </a:p>
        </p:txBody>
      </p:sp>
      <p:sp>
        <p:nvSpPr>
          <p:cNvPr id="11" name="TextBox 10"/>
          <p:cNvSpPr txBox="1"/>
          <p:nvPr/>
        </p:nvSpPr>
        <p:spPr>
          <a:xfrm>
            <a:off x="1737360" y="1508760"/>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listen to an announcement and complete a schedule</a:t>
            </a:r>
          </a:p>
        </p:txBody>
      </p:sp>
      <p:sp>
        <p:nvSpPr>
          <p:cNvPr id="12" name="Rounded Rectangle 11"/>
          <p:cNvSpPr/>
          <p:nvPr/>
        </p:nvSpPr>
        <p:spPr>
          <a:xfrm>
            <a:off x="640080" y="2450592"/>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640080" y="2450592"/>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960120" y="2496312"/>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2</a:t>
            </a:r>
          </a:p>
        </p:txBody>
      </p:sp>
      <p:sp>
        <p:nvSpPr>
          <p:cNvPr id="15" name="TextBox 14"/>
          <p:cNvSpPr txBox="1"/>
          <p:nvPr/>
        </p:nvSpPr>
        <p:spPr>
          <a:xfrm>
            <a:off x="1737360" y="2496312"/>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organise an informal email describing a school</a:t>
            </a:r>
          </a:p>
        </p:txBody>
      </p:sp>
      <p:sp>
        <p:nvSpPr>
          <p:cNvPr id="16" name="Rounded Rectangle 15"/>
          <p:cNvSpPr/>
          <p:nvPr/>
        </p:nvSpPr>
        <p:spPr>
          <a:xfrm>
            <a:off x="640080" y="3438144"/>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640080" y="3438144"/>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960120" y="3483864"/>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3</a:t>
            </a:r>
          </a:p>
        </p:txBody>
      </p:sp>
      <p:sp>
        <p:nvSpPr>
          <p:cNvPr id="19" name="TextBox 18"/>
          <p:cNvSpPr txBox="1"/>
          <p:nvPr/>
        </p:nvSpPr>
        <p:spPr>
          <a:xfrm>
            <a:off x="1737360" y="3483864"/>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write an email of 90–110 words to a pen friend</a:t>
            </a:r>
          </a:p>
        </p:txBody>
      </p:sp>
      <p:sp>
        <p:nvSpPr>
          <p:cNvPr id="20" name="Rounded Rectangle 19"/>
          <p:cNvSpPr/>
          <p:nvPr/>
        </p:nvSpPr>
        <p:spPr>
          <a:xfrm>
            <a:off x="640080" y="4425696"/>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640080" y="4425696"/>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960120" y="4471416"/>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4</a:t>
            </a:r>
          </a:p>
        </p:txBody>
      </p:sp>
      <p:sp>
        <p:nvSpPr>
          <p:cNvPr id="23" name="TextBox 22"/>
          <p:cNvSpPr txBox="1"/>
          <p:nvPr/>
        </p:nvSpPr>
        <p:spPr>
          <a:xfrm>
            <a:off x="1737360" y="4471416"/>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check writing with a checklist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Warm-up: Announcement dictation  (5')</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U6L6</a:t>
            </a:r>
          </a:p>
        </p:txBody>
      </p:sp>
      <p:sp>
        <p:nvSpPr>
          <p:cNvPr id="8" name="Rounded Rectangle 7"/>
          <p:cNvSpPr/>
          <p:nvPr/>
        </p:nvSpPr>
        <p:spPr>
          <a:xfrm>
            <a:off x="640080" y="1463040"/>
            <a:ext cx="10881360" cy="4206240"/>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05840" y="1737360"/>
            <a:ext cx="10149840" cy="82296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 Read a three-line announcement at normal speed; students note the key information; compare in pairs.</a:t>
            </a:r>
          </a:p>
        </p:txBody>
      </p:sp>
      <p:sp>
        <p:nvSpPr>
          <p:cNvPr id="10" name="TextBox 9"/>
          <p:cNvSpPr txBox="1"/>
          <p:nvPr/>
        </p:nvSpPr>
        <p:spPr>
          <a:xfrm>
            <a:off x="1005840" y="5852160"/>
            <a:ext cx="10149840" cy="640080"/>
          </a:xfrm>
          <a:prstGeom prst="rect">
            <a:avLst/>
          </a:prstGeom>
          <a:noFill/>
        </p:spPr>
        <p:txBody>
          <a:bodyPr wrap="square" anchor="t">
            <a:spAutoFit/>
          </a:bodyPr>
          <a:lstStyle/>
          <a:p>
            <a:pPr algn="l">
              <a:lnSpc>
                <a:spcPct val="100000"/>
              </a:lnSpc>
              <a:spcAft>
                <a:spcPts val="600"/>
              </a:spcAft>
            </a:pPr>
            <a:r>
              <a:rPr sz="1800" b="0" i="1">
                <a:solidFill>
                  <a:srgbClr val="6B7280"/>
                </a:solidFill>
                <a:latin typeface="Calibri"/>
              </a:rPr>
              <a:t>👉 You: Listen and note.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New words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U6L6</a:t>
            </a:r>
          </a:p>
        </p:txBody>
      </p:sp>
      <p:sp>
        <p:nvSpPr>
          <p:cNvPr id="8" name="Rounded Rectangle 7"/>
          <p:cNvSpPr/>
          <p:nvPr/>
        </p:nvSpPr>
        <p:spPr>
          <a:xfrm>
            <a:off x="548640" y="14173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68680" y="15270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announcement</a:t>
            </a:r>
          </a:p>
        </p:txBody>
      </p:sp>
      <p:sp>
        <p:nvSpPr>
          <p:cNvPr id="10" name="TextBox 9"/>
          <p:cNvSpPr txBox="1"/>
          <p:nvPr/>
        </p:nvSpPr>
        <p:spPr>
          <a:xfrm>
            <a:off x="868680" y="21671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/əˈnaʊnsmənt/   (n)</a:t>
            </a:r>
          </a:p>
        </p:txBody>
      </p:sp>
      <p:sp>
        <p:nvSpPr>
          <p:cNvPr id="11" name="TextBox 10"/>
          <p:cNvSpPr txBox="1"/>
          <p:nvPr/>
        </p:nvSpPr>
        <p:spPr>
          <a:xfrm>
            <a:off x="5212080" y="15270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thông báo</a:t>
            </a:r>
          </a:p>
        </p:txBody>
      </p:sp>
      <p:sp>
        <p:nvSpPr>
          <p:cNvPr id="12" name="TextBox 11"/>
          <p:cNvSpPr txBox="1"/>
          <p:nvPr/>
        </p:nvSpPr>
        <p:spPr>
          <a:xfrm>
            <a:off x="5212080" y="21945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Listen to the morning announcement.</a:t>
            </a:r>
          </a:p>
        </p:txBody>
      </p:sp>
      <p:sp>
        <p:nvSpPr>
          <p:cNvPr id="13" name="Rounded Rectangle 12"/>
          <p:cNvSpPr/>
          <p:nvPr/>
        </p:nvSpPr>
        <p:spPr>
          <a:xfrm>
            <a:off x="548640" y="30175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68680" y="31272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schedule</a:t>
            </a:r>
          </a:p>
        </p:txBody>
      </p:sp>
      <p:sp>
        <p:nvSpPr>
          <p:cNvPr id="15" name="TextBox 14"/>
          <p:cNvSpPr txBox="1"/>
          <p:nvPr/>
        </p:nvSpPr>
        <p:spPr>
          <a:xfrm>
            <a:off x="868680" y="37673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/ˈʃedjuːl/   (n)</a:t>
            </a:r>
          </a:p>
        </p:txBody>
      </p:sp>
      <p:sp>
        <p:nvSpPr>
          <p:cNvPr id="16" name="TextBox 15"/>
          <p:cNvSpPr txBox="1"/>
          <p:nvPr/>
        </p:nvSpPr>
        <p:spPr>
          <a:xfrm>
            <a:off x="5212080" y="31272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lịch trình</a:t>
            </a:r>
          </a:p>
        </p:txBody>
      </p:sp>
      <p:sp>
        <p:nvSpPr>
          <p:cNvPr id="17" name="TextBox 16"/>
          <p:cNvSpPr txBox="1"/>
          <p:nvPr/>
        </p:nvSpPr>
        <p:spPr>
          <a:xfrm>
            <a:off x="5212080" y="37947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Here is the schedule for Friday.</a:t>
            </a:r>
          </a:p>
        </p:txBody>
      </p:sp>
      <p:sp>
        <p:nvSpPr>
          <p:cNvPr id="18" name="Rounded Rectangle 17"/>
          <p:cNvSpPr/>
          <p:nvPr/>
        </p:nvSpPr>
        <p:spPr>
          <a:xfrm>
            <a:off x="548640" y="46177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868680" y="47274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assembly</a:t>
            </a:r>
          </a:p>
        </p:txBody>
      </p:sp>
      <p:sp>
        <p:nvSpPr>
          <p:cNvPr id="20" name="TextBox 19"/>
          <p:cNvSpPr txBox="1"/>
          <p:nvPr/>
        </p:nvSpPr>
        <p:spPr>
          <a:xfrm>
            <a:off x="868680" y="53675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/əˈsembli/   (n)</a:t>
            </a:r>
          </a:p>
        </p:txBody>
      </p:sp>
      <p:sp>
        <p:nvSpPr>
          <p:cNvPr id="21" name="TextBox 20"/>
          <p:cNvSpPr txBox="1"/>
          <p:nvPr/>
        </p:nvSpPr>
        <p:spPr>
          <a:xfrm>
            <a:off x="5212080" y="47274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buổi chào cờ, tập trung</a:t>
            </a:r>
          </a:p>
        </p:txBody>
      </p:sp>
      <p:sp>
        <p:nvSpPr>
          <p:cNvPr id="22" name="TextBox 21"/>
          <p:cNvSpPr txBox="1"/>
          <p:nvPr/>
        </p:nvSpPr>
        <p:spPr>
          <a:xfrm>
            <a:off x="5212080" y="53949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Assembly is at 6.45 on Monday.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New words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U6L6</a:t>
            </a:r>
          </a:p>
        </p:txBody>
      </p:sp>
      <p:sp>
        <p:nvSpPr>
          <p:cNvPr id="8" name="Rounded Rectangle 7"/>
          <p:cNvSpPr/>
          <p:nvPr/>
        </p:nvSpPr>
        <p:spPr>
          <a:xfrm>
            <a:off x="548640" y="14173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68680" y="15270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cancel</a:t>
            </a:r>
          </a:p>
        </p:txBody>
      </p:sp>
      <p:sp>
        <p:nvSpPr>
          <p:cNvPr id="10" name="TextBox 9"/>
          <p:cNvSpPr txBox="1"/>
          <p:nvPr/>
        </p:nvSpPr>
        <p:spPr>
          <a:xfrm>
            <a:off x="868680" y="21671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/ˈkænsl/   (v)</a:t>
            </a:r>
          </a:p>
        </p:txBody>
      </p:sp>
      <p:sp>
        <p:nvSpPr>
          <p:cNvPr id="11" name="TextBox 10"/>
          <p:cNvSpPr txBox="1"/>
          <p:nvPr/>
        </p:nvSpPr>
        <p:spPr>
          <a:xfrm>
            <a:off x="5212080" y="15270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hủy</a:t>
            </a:r>
          </a:p>
        </p:txBody>
      </p:sp>
      <p:sp>
        <p:nvSpPr>
          <p:cNvPr id="12" name="TextBox 11"/>
          <p:cNvSpPr txBox="1"/>
          <p:nvPr/>
        </p:nvSpPr>
        <p:spPr>
          <a:xfrm>
            <a:off x="5212080" y="21945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The trip is cancelled because of the rain.</a:t>
            </a:r>
          </a:p>
        </p:txBody>
      </p:sp>
      <p:sp>
        <p:nvSpPr>
          <p:cNvPr id="13" name="Rounded Rectangle 12"/>
          <p:cNvSpPr/>
          <p:nvPr/>
        </p:nvSpPr>
        <p:spPr>
          <a:xfrm>
            <a:off x="548640" y="30175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68680" y="31272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attend</a:t>
            </a:r>
          </a:p>
        </p:txBody>
      </p:sp>
      <p:sp>
        <p:nvSpPr>
          <p:cNvPr id="15" name="TextBox 14"/>
          <p:cNvSpPr txBox="1"/>
          <p:nvPr/>
        </p:nvSpPr>
        <p:spPr>
          <a:xfrm>
            <a:off x="868680" y="37673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/əˈtend/   (v)</a:t>
            </a:r>
          </a:p>
        </p:txBody>
      </p:sp>
      <p:sp>
        <p:nvSpPr>
          <p:cNvPr id="16" name="TextBox 15"/>
          <p:cNvSpPr txBox="1"/>
          <p:nvPr/>
        </p:nvSpPr>
        <p:spPr>
          <a:xfrm>
            <a:off x="5212080" y="31272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tham dự</a:t>
            </a:r>
          </a:p>
        </p:txBody>
      </p:sp>
      <p:sp>
        <p:nvSpPr>
          <p:cNvPr id="17" name="TextBox 16"/>
          <p:cNvSpPr txBox="1"/>
          <p:nvPr/>
        </p:nvSpPr>
        <p:spPr>
          <a:xfrm>
            <a:off x="5212080" y="37947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All students must attend the meeting.</a:t>
            </a:r>
          </a:p>
        </p:txBody>
      </p:sp>
      <p:sp>
        <p:nvSpPr>
          <p:cNvPr id="18" name="Rounded Rectangle 17"/>
          <p:cNvSpPr/>
          <p:nvPr/>
        </p:nvSpPr>
        <p:spPr>
          <a:xfrm>
            <a:off x="548640" y="46177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868680" y="47274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facilities</a:t>
            </a:r>
          </a:p>
        </p:txBody>
      </p:sp>
      <p:sp>
        <p:nvSpPr>
          <p:cNvPr id="20" name="TextBox 19"/>
          <p:cNvSpPr txBox="1"/>
          <p:nvPr/>
        </p:nvSpPr>
        <p:spPr>
          <a:xfrm>
            <a:off x="868680" y="53675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/fəˈsɪlətiz/   (n)</a:t>
            </a:r>
          </a:p>
        </p:txBody>
      </p:sp>
      <p:sp>
        <p:nvSpPr>
          <p:cNvPr id="21" name="TextBox 20"/>
          <p:cNvSpPr txBox="1"/>
          <p:nvPr/>
        </p:nvSpPr>
        <p:spPr>
          <a:xfrm>
            <a:off x="5212080" y="47274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cơ sở vật chất</a:t>
            </a:r>
          </a:p>
        </p:txBody>
      </p:sp>
      <p:sp>
        <p:nvSpPr>
          <p:cNvPr id="22" name="TextBox 21"/>
          <p:cNvSpPr txBox="1"/>
          <p:nvPr/>
        </p:nvSpPr>
        <p:spPr>
          <a:xfrm>
            <a:off x="5212080" y="53949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Our school has good sports facilities.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Useful phrases — learn them as one block!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U6L6</a:t>
            </a:r>
          </a:p>
        </p:txBody>
      </p:sp>
      <p:sp>
        <p:nvSpPr>
          <p:cNvPr id="8" name="Rounded Rectangle 7"/>
          <p:cNvSpPr/>
          <p:nvPr/>
        </p:nvSpPr>
        <p:spPr>
          <a:xfrm>
            <a:off x="822960" y="1554480"/>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609344"/>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Attention, please!</a:t>
            </a:r>
          </a:p>
        </p:txBody>
      </p:sp>
      <p:sp>
        <p:nvSpPr>
          <p:cNvPr id="10" name="Rounded Rectangle 9"/>
          <p:cNvSpPr/>
          <p:nvPr/>
        </p:nvSpPr>
        <p:spPr>
          <a:xfrm>
            <a:off x="822960" y="2267712"/>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97280" y="2322576"/>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There will be…</a:t>
            </a:r>
          </a:p>
        </p:txBody>
      </p:sp>
      <p:sp>
        <p:nvSpPr>
          <p:cNvPr id="12" name="Rounded Rectangle 11"/>
          <p:cNvSpPr/>
          <p:nvPr/>
        </p:nvSpPr>
        <p:spPr>
          <a:xfrm>
            <a:off x="822960" y="2980944"/>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97280" y="3035808"/>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All students must…</a:t>
            </a:r>
          </a:p>
        </p:txBody>
      </p:sp>
      <p:sp>
        <p:nvSpPr>
          <p:cNvPr id="14" name="Rounded Rectangle 13"/>
          <p:cNvSpPr/>
          <p:nvPr/>
        </p:nvSpPr>
        <p:spPr>
          <a:xfrm>
            <a:off x="822960" y="3694176"/>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97280" y="3749040"/>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…is cancelled / postponed</a:t>
            </a:r>
          </a:p>
        </p:txBody>
      </p:sp>
      <p:sp>
        <p:nvSpPr>
          <p:cNvPr id="16" name="Rounded Rectangle 15"/>
          <p:cNvSpPr/>
          <p:nvPr/>
        </p:nvSpPr>
        <p:spPr>
          <a:xfrm>
            <a:off x="822960" y="4407408"/>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1097280" y="4462272"/>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Please bring…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300" b="1" i="0">
                <a:solidFill>
                  <a:srgbClr val="FFFFFF"/>
                </a:solidFill>
                <a:latin typeface="Calibri"/>
              </a:rPr>
              <a:t>Grammar: Informal email describing a place (writing focus)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U6L6</a:t>
            </a:r>
          </a:p>
        </p:txBody>
      </p:sp>
      <p:sp>
        <p:nvSpPr>
          <p:cNvPr id="8" name="Rounded Rectangle 7"/>
          <p:cNvSpPr/>
          <p:nvPr/>
        </p:nvSpPr>
        <p:spPr>
          <a:xfrm>
            <a:off x="640080" y="1463040"/>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60120" y="1536192"/>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Greeting + thank you for the last message.</a:t>
            </a:r>
          </a:p>
        </p:txBody>
      </p:sp>
      <p:sp>
        <p:nvSpPr>
          <p:cNvPr id="10" name="Rounded Rectangle 9"/>
          <p:cNvSpPr/>
          <p:nvPr/>
        </p:nvSpPr>
        <p:spPr>
          <a:xfrm>
            <a:off x="640080" y="2487168"/>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960120" y="2560320"/>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Paragraph 1: the basic facts (where, how big, when it starts).</a:t>
            </a:r>
          </a:p>
        </p:txBody>
      </p:sp>
      <p:sp>
        <p:nvSpPr>
          <p:cNvPr id="12" name="Rounded Rectangle 11"/>
          <p:cNvSpPr/>
          <p:nvPr/>
        </p:nvSpPr>
        <p:spPr>
          <a:xfrm>
            <a:off x="640080" y="3511296"/>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960120" y="3584448"/>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Paragraph 2: what it looks like and what facilities it has.</a:t>
            </a:r>
          </a:p>
        </p:txBody>
      </p:sp>
      <p:sp>
        <p:nvSpPr>
          <p:cNvPr id="14" name="Rounded Rectangle 13"/>
          <p:cNvSpPr/>
          <p:nvPr/>
        </p:nvSpPr>
        <p:spPr>
          <a:xfrm>
            <a:off x="640080" y="4535424"/>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960120" y="4608576"/>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Paragraph 3: what you do there (present simple) and something happening now or next week (present continuous).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The form</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U6L6</a:t>
            </a:r>
          </a:p>
        </p:txBody>
      </p:sp>
      <p:graphicFrame>
        <p:nvGraphicFramePr>
          <p:cNvPr id="8" name="Table 7"/>
          <p:cNvGraphicFramePr>
            <a:graphicFrameLocks noGrp="1"/>
          </p:cNvGraphicFramePr>
          <p:nvPr/>
        </p:nvGraphicFramePr>
        <p:xfrm>
          <a:off x="548640" y="1463040"/>
          <a:ext cx="11064240" cy="3968496"/>
        </p:xfrm>
        <a:graphic>
          <a:graphicData uri="http://schemas.openxmlformats.org/drawingml/2006/table">
            <a:tbl>
              <a:tblPr firstRow="1" bandRow="1">
                <a:tableStyleId>{5C22544A-7EE6-4342-B048-85BDC9FD1C3A}</a:tableStyleId>
              </a:tblPr>
              <a:tblGrid>
                <a:gridCol w="5532120"/>
                <a:gridCol w="5532120"/>
              </a:tblGrid>
              <a:tr h="566928">
                <a:tc>
                  <a:txBody>
                    <a:bodyPr/>
                    <a:lstStyle/>
                    <a:p>
                      <a:r>
                        <a:rPr sz="1600" b="1">
                          <a:solidFill>
                            <a:srgbClr val="FFFFFF"/>
                          </a:solidFill>
                          <a:latin typeface="Calibri"/>
                        </a:rPr>
                        <a:t>Part</a:t>
                      </a:r>
                    </a:p>
                  </a:txBody>
                  <a:tcPr>
                    <a:solidFill>
                      <a:srgbClr val="0E7C66"/>
                    </a:solidFill>
                  </a:tcPr>
                </a:tc>
                <a:tc>
                  <a:txBody>
                    <a:bodyPr/>
                    <a:lstStyle/>
                    <a:p>
                      <a:r>
                        <a:rPr sz="1600" b="1">
                          <a:solidFill>
                            <a:srgbClr val="FFFFFF"/>
                          </a:solidFill>
                          <a:latin typeface="Calibri"/>
                        </a:rPr>
                        <a:t>Example</a:t>
                      </a:r>
                    </a:p>
                  </a:txBody>
                  <a:tcPr>
                    <a:solidFill>
                      <a:srgbClr val="0E7C66"/>
                    </a:solidFill>
                  </a:tcPr>
                </a:tc>
              </a:tr>
              <a:tr h="566928">
                <a:tc>
                  <a:txBody>
                    <a:bodyPr/>
                    <a:lstStyle/>
                    <a:p>
                      <a:r>
                        <a:rPr sz="1600" b="0">
                          <a:solidFill>
                            <a:srgbClr val="1B1B1B"/>
                          </a:solidFill>
                          <a:latin typeface="Calibri"/>
                        </a:rPr>
                        <a:t>Greeting</a:t>
                      </a:r>
                    </a:p>
                  </a:txBody>
                  <a:tcPr>
                    <a:solidFill>
                      <a:srgbClr val="E3F3EE"/>
                    </a:solidFill>
                  </a:tcPr>
                </a:tc>
                <a:tc>
                  <a:txBody>
                    <a:bodyPr/>
                    <a:lstStyle/>
                    <a:p>
                      <a:r>
                        <a:rPr sz="1600" b="0">
                          <a:solidFill>
                            <a:srgbClr val="1B1B1B"/>
                          </a:solidFill>
                          <a:latin typeface="Calibri"/>
                        </a:rPr>
                        <a:t>Hi Kevin,</a:t>
                      </a:r>
                    </a:p>
                  </a:txBody>
                  <a:tcPr>
                    <a:solidFill>
                      <a:srgbClr val="E3F3EE"/>
                    </a:solidFill>
                  </a:tcPr>
                </a:tc>
              </a:tr>
              <a:tr h="566928">
                <a:tc>
                  <a:txBody>
                    <a:bodyPr/>
                    <a:lstStyle/>
                    <a:p>
                      <a:r>
                        <a:rPr sz="1600" b="0">
                          <a:solidFill>
                            <a:srgbClr val="1B1B1B"/>
                          </a:solidFill>
                          <a:latin typeface="Calibri"/>
                        </a:rPr>
                        <a:t>Opening</a:t>
                      </a:r>
                    </a:p>
                  </a:txBody>
                  <a:tcPr>
                    <a:solidFill>
                      <a:srgbClr val="FFFFFF"/>
                    </a:solidFill>
                  </a:tcPr>
                </a:tc>
                <a:tc>
                  <a:txBody>
                    <a:bodyPr/>
                    <a:lstStyle/>
                    <a:p>
                      <a:r>
                        <a:rPr sz="1600" b="0">
                          <a:solidFill>
                            <a:srgbClr val="1B1B1B"/>
                          </a:solidFill>
                          <a:latin typeface="Calibri"/>
                        </a:rPr>
                        <a:t>Thanks for your email. You asked about my school, so here it is.</a:t>
                      </a:r>
                    </a:p>
                  </a:txBody>
                  <a:tcPr>
                    <a:solidFill>
                      <a:srgbClr val="FFFFFF"/>
                    </a:solidFill>
                  </a:tcPr>
                </a:tc>
              </a:tr>
              <a:tr h="566928">
                <a:tc>
                  <a:txBody>
                    <a:bodyPr/>
                    <a:lstStyle/>
                    <a:p>
                      <a:r>
                        <a:rPr sz="1600" b="0">
                          <a:solidFill>
                            <a:srgbClr val="1B1B1B"/>
                          </a:solidFill>
                          <a:latin typeface="Calibri"/>
                        </a:rPr>
                        <a:t>Facts</a:t>
                      </a:r>
                    </a:p>
                  </a:txBody>
                  <a:tcPr>
                    <a:solidFill>
                      <a:srgbClr val="E3F3EE"/>
                    </a:solidFill>
                  </a:tcPr>
                </a:tc>
                <a:tc>
                  <a:txBody>
                    <a:bodyPr/>
                    <a:lstStyle/>
                    <a:p>
                      <a:r>
                        <a:rPr sz="1600" b="0">
                          <a:solidFill>
                            <a:srgbClr val="1B1B1B"/>
                          </a:solidFill>
                          <a:latin typeface="Calibri"/>
                        </a:rPr>
                        <a:t>My school is called Le Loi Secondary School. It has about 900 students.</a:t>
                      </a:r>
                    </a:p>
                  </a:txBody>
                  <a:tcPr>
                    <a:solidFill>
                      <a:srgbClr val="E3F3EE"/>
                    </a:solidFill>
                  </a:tcPr>
                </a:tc>
              </a:tr>
              <a:tr h="566928">
                <a:tc>
                  <a:txBody>
                    <a:bodyPr/>
                    <a:lstStyle/>
                    <a:p>
                      <a:r>
                        <a:rPr sz="1600" b="0">
                          <a:solidFill>
                            <a:srgbClr val="1B1B1B"/>
                          </a:solidFill>
                          <a:latin typeface="Calibri"/>
                        </a:rPr>
                        <a:t>Description</a:t>
                      </a:r>
                    </a:p>
                  </a:txBody>
                  <a:tcPr>
                    <a:solidFill>
                      <a:srgbClr val="FFFFFF"/>
                    </a:solidFill>
                  </a:tcPr>
                </a:tc>
                <a:tc>
                  <a:txBody>
                    <a:bodyPr/>
                    <a:lstStyle/>
                    <a:p>
                      <a:r>
                        <a:rPr sz="1600" b="0">
                          <a:solidFill>
                            <a:srgbClr val="1B1B1B"/>
                          </a:solidFill>
                          <a:latin typeface="Calibri"/>
                        </a:rPr>
                        <a:t>There is a big playground, a library and a science lab.</a:t>
                      </a:r>
                    </a:p>
                  </a:txBody>
                  <a:tcPr>
                    <a:solidFill>
                      <a:srgbClr val="FFFFFF"/>
                    </a:solidFill>
                  </a:tcPr>
                </a:tc>
              </a:tr>
              <a:tr h="566928">
                <a:tc>
                  <a:txBody>
                    <a:bodyPr/>
                    <a:lstStyle/>
                    <a:p>
                      <a:r>
                        <a:rPr sz="1600" b="0">
                          <a:solidFill>
                            <a:srgbClr val="1B1B1B"/>
                          </a:solidFill>
                          <a:latin typeface="Calibri"/>
                        </a:rPr>
                        <a:t>Routine + now</a:t>
                      </a:r>
                    </a:p>
                  </a:txBody>
                  <a:tcPr>
                    <a:solidFill>
                      <a:srgbClr val="E3F3EE"/>
                    </a:solidFill>
                  </a:tcPr>
                </a:tc>
                <a:tc>
                  <a:txBody>
                    <a:bodyPr/>
                    <a:lstStyle/>
                    <a:p>
                      <a:r>
                        <a:rPr sz="1600" b="0">
                          <a:solidFill>
                            <a:srgbClr val="1B1B1B"/>
                          </a:solidFill>
                          <a:latin typeface="Calibri"/>
                        </a:rPr>
                        <a:t>We start at seven. This week we are practising for the sports day.</a:t>
                      </a:r>
                    </a:p>
                  </a:txBody>
                  <a:tcPr>
                    <a:solidFill>
                      <a:srgbClr val="E3F3EE"/>
                    </a:solidFill>
                  </a:tcPr>
                </a:tc>
              </a:tr>
              <a:tr h="566928">
                <a:tc>
                  <a:txBody>
                    <a:bodyPr/>
                    <a:lstStyle/>
                    <a:p>
                      <a:r>
                        <a:rPr sz="1600" b="0">
                          <a:solidFill>
                            <a:srgbClr val="1B1B1B"/>
                          </a:solidFill>
                          <a:latin typeface="Calibri"/>
                        </a:rPr>
                        <a:t>Closing</a:t>
                      </a:r>
                    </a:p>
                  </a:txBody>
                  <a:tcPr>
                    <a:solidFill>
                      <a:srgbClr val="FFFFFF"/>
                    </a:solidFill>
                  </a:tcPr>
                </a:tc>
                <a:tc>
                  <a:txBody>
                    <a:bodyPr/>
                    <a:lstStyle/>
                    <a:p>
                      <a:r>
                        <a:rPr sz="1600" b="0">
                          <a:solidFill>
                            <a:srgbClr val="1B1B1B"/>
                          </a:solidFill>
                          <a:latin typeface="Calibri"/>
                        </a:rPr>
                        <a:t>What's your school like? Write soon. Nam</a:t>
                      </a:r>
                    </a:p>
                  </a:txBody>
                  <a:tcPr>
                    <a:solidFill>
                      <a:srgbClr val="FFFFFF"/>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Look at the examples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U6L6</a:t>
            </a:r>
          </a:p>
        </p:txBody>
      </p:sp>
      <p:sp>
        <p:nvSpPr>
          <p:cNvPr id="8" name="Rounded Rectangle 7"/>
          <p:cNvSpPr/>
          <p:nvPr/>
        </p:nvSpPr>
        <p:spPr>
          <a:xfrm>
            <a:off x="731520" y="1554480"/>
            <a:ext cx="10698480" cy="777240"/>
          </a:xfrm>
          <a:prstGeom prst="roundRect">
            <a:avLst>
              <a:gd name="adj" fmla="val 6000"/>
            </a:avLst>
          </a:prstGeom>
          <a:solidFill>
            <a:srgbClr val="FFFFFF"/>
          </a:solidFill>
          <a:ln w="19050">
            <a:solidFill>
              <a:srgbClr val="0E7C6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51560" y="1627632"/>
            <a:ext cx="10241280" cy="64008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My school isn't very modern, but the teachers are friendly.</a:t>
            </a:r>
          </a:p>
        </p:txBody>
      </p:sp>
      <p:sp>
        <p:nvSpPr>
          <p:cNvPr id="10" name="Rounded Rectangle 9"/>
          <p:cNvSpPr/>
          <p:nvPr/>
        </p:nvSpPr>
        <p:spPr>
          <a:xfrm>
            <a:off x="731520" y="2450592"/>
            <a:ext cx="10698480" cy="777240"/>
          </a:xfrm>
          <a:prstGeom prst="roundRect">
            <a:avLst>
              <a:gd name="adj" fmla="val 6000"/>
            </a:avLst>
          </a:prstGeom>
          <a:solidFill>
            <a:srgbClr val="FFFFFF"/>
          </a:solidFill>
          <a:ln w="19050">
            <a:solidFill>
              <a:srgbClr val="0E7C6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51560" y="2523744"/>
            <a:ext cx="10241280" cy="64008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Next Friday we are having a school festival — I wish you could come!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Be careful! A very common mistake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U6L6</a:t>
            </a:r>
          </a:p>
        </p:txBody>
      </p:sp>
      <p:sp>
        <p:nvSpPr>
          <p:cNvPr id="8" name="Rounded Rectangle 7"/>
          <p:cNvSpPr/>
          <p:nvPr/>
        </p:nvSpPr>
        <p:spPr>
          <a:xfrm>
            <a:off x="731520" y="1645920"/>
            <a:ext cx="10698480" cy="2377440"/>
          </a:xfrm>
          <a:prstGeom prst="roundRect">
            <a:avLst>
              <a:gd name="adj" fmla="val 6000"/>
            </a:avLst>
          </a:prstGeom>
          <a:solidFill>
            <a:srgbClr val="FC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828800"/>
            <a:ext cx="10058400" cy="2011680"/>
          </a:xfrm>
          <a:prstGeom prst="rect">
            <a:avLst/>
          </a:prstGeom>
          <a:noFill/>
        </p:spPr>
        <p:txBody>
          <a:bodyPr wrap="square" anchor="t">
            <a:spAutoFit/>
          </a:bodyPr>
          <a:lstStyle/>
          <a:p>
            <a:pPr algn="l">
              <a:lnSpc>
                <a:spcPct val="100000"/>
              </a:lnSpc>
              <a:spcAft>
                <a:spcPts val="600"/>
              </a:spcAft>
            </a:pPr>
            <a:r>
              <a:rPr sz="2100" b="0" i="0">
                <a:solidFill>
                  <a:srgbClr val="1B1B1B"/>
                </a:solidFill>
                <a:latin typeface="Calibri"/>
              </a:rPr>
              <a:t>Students write a list of facts with no paragraphs and no question at the end. An email is a conversation: always ask something back.</a:t>
            </a:r>
          </a:p>
        </p:txBody>
      </p:sp>
      <p:sp>
        <p:nvSpPr>
          <p:cNvPr id="10" name="TextBox 9"/>
          <p:cNvSpPr txBox="1"/>
          <p:nvPr/>
        </p:nvSpPr>
        <p:spPr>
          <a:xfrm>
            <a:off x="1097280" y="4389120"/>
            <a:ext cx="10058400" cy="1280160"/>
          </a:xfrm>
          <a:prstGeom prst="rect">
            <a:avLst/>
          </a:prstGeom>
          <a:noFill/>
        </p:spPr>
        <p:txBody>
          <a:bodyPr wrap="square" anchor="t">
            <a:spAutoFit/>
          </a:bodyPr>
          <a:lstStyle/>
          <a:p>
            <a:pPr algn="l">
              <a:lnSpc>
                <a:spcPct val="100000"/>
              </a:lnSpc>
              <a:spcAft>
                <a:spcPts val="600"/>
              </a:spcAft>
            </a:pPr>
            <a:r>
              <a:rPr sz="2200" b="1" i="0">
                <a:solidFill>
                  <a:srgbClr val="2E7D32"/>
                </a:solidFill>
                <a:latin typeface="Calibri"/>
              </a:rPr>
              <a:t>👍 Say it like this:  My school isn't very modern, but the teachers are friendly.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Pronunciation: Reading an announcement clearly</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U6L6</a:t>
            </a:r>
          </a:p>
        </p:txBody>
      </p:sp>
      <p:sp>
        <p:nvSpPr>
          <p:cNvPr id="8" name="Rounded Rectangle 7"/>
          <p:cNvSpPr/>
          <p:nvPr/>
        </p:nvSpPr>
        <p:spPr>
          <a:xfrm>
            <a:off x="640080" y="1417320"/>
            <a:ext cx="10881360" cy="1234440"/>
          </a:xfrm>
          <a:prstGeom prst="roundRect">
            <a:avLst>
              <a:gd name="adj" fmla="val 6000"/>
            </a:avLst>
          </a:prstGeom>
          <a:solidFill>
            <a:srgbClr val="F1EA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60120" y="1508760"/>
            <a:ext cx="10332720" cy="1097280"/>
          </a:xfrm>
          <a:prstGeom prst="rect">
            <a:avLst/>
          </a:prstGeom>
          <a:noFill/>
        </p:spPr>
        <p:txBody>
          <a:bodyPr wrap="square" anchor="ctr">
            <a:spAutoFit/>
          </a:bodyPr>
          <a:lstStyle/>
          <a:p>
            <a:pPr algn="l">
              <a:lnSpc>
                <a:spcPct val="100000"/>
              </a:lnSpc>
              <a:spcAft>
                <a:spcPts val="600"/>
              </a:spcAft>
            </a:pPr>
            <a:r>
              <a:rPr sz="1800" b="0" i="0">
                <a:solidFill>
                  <a:srgbClr val="1B1B1B"/>
                </a:solidFill>
                <a:latin typeface="Calibri"/>
              </a:rPr>
              <a:t>Announcements need a strong, slow voice, clear final consonants and a pause after each piece of information.</a:t>
            </a:r>
          </a:p>
        </p:txBody>
      </p:sp>
      <p:sp>
        <p:nvSpPr>
          <p:cNvPr id="10" name="Rounded Rectangle 9"/>
          <p:cNvSpPr/>
          <p:nvPr/>
        </p:nvSpPr>
        <p:spPr>
          <a:xfrm>
            <a:off x="731520" y="2880360"/>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05840" y="2926080"/>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Attention, please! /əˈtenʃn pliːz/</a:t>
            </a:r>
          </a:p>
        </p:txBody>
      </p:sp>
      <p:sp>
        <p:nvSpPr>
          <p:cNvPr id="12" name="Rounded Rectangle 11"/>
          <p:cNvSpPr/>
          <p:nvPr/>
        </p:nvSpPr>
        <p:spPr>
          <a:xfrm>
            <a:off x="731520" y="3593592"/>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05840" y="3639312"/>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All students / must attend /</a:t>
            </a:r>
          </a:p>
        </p:txBody>
      </p:sp>
      <p:sp>
        <p:nvSpPr>
          <p:cNvPr id="14" name="Rounded Rectangle 13"/>
          <p:cNvSpPr/>
          <p:nvPr/>
        </p:nvSpPr>
        <p:spPr>
          <a:xfrm>
            <a:off x="731520" y="4306824"/>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05840" y="4352544"/>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The trip / is cancelled.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Repeat after me — three times each!</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U6L6</a:t>
            </a:r>
          </a:p>
        </p:txBody>
      </p:sp>
      <p:sp>
        <p:nvSpPr>
          <p:cNvPr id="8" name="Rounded Rectangle 7"/>
          <p:cNvSpPr/>
          <p:nvPr/>
        </p:nvSpPr>
        <p:spPr>
          <a:xfrm>
            <a:off x="731520" y="1737360"/>
            <a:ext cx="10698480" cy="914400"/>
          </a:xfrm>
          <a:prstGeom prst="roundRect">
            <a:avLst>
              <a:gd name="adj" fmla="val 6000"/>
            </a:avLst>
          </a:prstGeom>
          <a:solidFill>
            <a:srgbClr val="F1EA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51560" y="1828800"/>
            <a:ext cx="10241280" cy="77724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 Attention, please! / There will be an assembly / at half past six / on Monday.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300" b="1" i="0">
                <a:solidFill>
                  <a:srgbClr val="FFFFFF"/>
                </a:solidFill>
                <a:latin typeface="Calibri"/>
              </a:rPr>
              <a:t>Listening: When do you start and finish your day?</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U6L6</a:t>
            </a:r>
          </a:p>
        </p:txBody>
      </p:sp>
      <p:sp>
        <p:nvSpPr>
          <p:cNvPr id="8" name="Rounded Rectangle 7"/>
          <p:cNvSpPr/>
          <p:nvPr/>
        </p:nvSpPr>
        <p:spPr>
          <a:xfrm>
            <a:off x="731520" y="1737360"/>
            <a:ext cx="10698480" cy="182880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920240"/>
            <a:ext cx="10058400" cy="155448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You will hear a real recording: when one person starts and finishes the day. Single speaker — Nerissa / The Philippines. It lasts 1:20.</a:t>
            </a:r>
          </a:p>
        </p:txBody>
      </p:sp>
      <p:sp>
        <p:nvSpPr>
          <p:cNvPr id="10" name="TextBox 9"/>
          <p:cNvSpPr txBox="1"/>
          <p:nvPr/>
        </p:nvSpPr>
        <p:spPr>
          <a:xfrm>
            <a:off x="731520" y="4023360"/>
            <a:ext cx="10698480" cy="1463040"/>
          </a:xfrm>
          <a:prstGeom prst="rect">
            <a:avLst/>
          </a:prstGeom>
          <a:noFill/>
        </p:spPr>
        <p:txBody>
          <a:bodyPr wrap="square" anchor="t">
            <a:spAutoFit/>
          </a:bodyPr>
          <a:lstStyle/>
          <a:p>
            <a:pPr algn="l">
              <a:lnSpc>
                <a:spcPct val="100000"/>
              </a:lnSpc>
              <a:spcAft>
                <a:spcPts val="600"/>
              </a:spcAft>
            </a:pPr>
            <a:r>
              <a:rPr sz="2000" b="0" i="0">
                <a:solidFill>
                  <a:srgbClr val="142C4F"/>
                </a:solidFill>
                <a:latin typeface="Calibri"/>
              </a:rPr>
              <a:t>🎧  Listen 1: just listen — do not write.</a:t>
            </a:r>
          </a:p>
          <a:p>
            <a:pPr algn="l">
              <a:lnSpc>
                <a:spcPct val="100000"/>
              </a:lnSpc>
              <a:spcAft>
                <a:spcPts val="600"/>
              </a:spcAft>
            </a:pPr>
            <a:r>
              <a:rPr sz="2000" b="0" i="0">
                <a:solidFill>
                  <a:srgbClr val="142C4F"/>
                </a:solidFill>
                <a:latin typeface="Calibri"/>
              </a:rPr>
              <a:t>🎧  Listen 2: write your answers.</a:t>
            </a:r>
          </a:p>
          <a:p>
            <a:pPr algn="l">
              <a:lnSpc>
                <a:spcPct val="100000"/>
              </a:lnSpc>
              <a:spcAft>
                <a:spcPts val="600"/>
              </a:spcAft>
            </a:pPr>
            <a:r>
              <a:rPr sz="2000" b="0" i="0">
                <a:solidFill>
                  <a:srgbClr val="142C4F"/>
                </a:solidFill>
                <a:latin typeface="Calibri"/>
              </a:rPr>
              <a:t>🎧  Listen 3: check with your partner.</a:t>
            </a:r>
          </a:p>
        </p:txBody>
      </p:sp>
      <p:sp>
        <p:nvSpPr>
          <p:cNvPr id="11" name="TextBox 10"/>
          <p:cNvSpPr txBox="1"/>
          <p:nvPr/>
        </p:nvSpPr>
        <p:spPr>
          <a:xfrm>
            <a:off x="731520" y="5577840"/>
            <a:ext cx="10698480" cy="822960"/>
          </a:xfrm>
          <a:prstGeom prst="rect">
            <a:avLst/>
          </a:prstGeom>
          <a:noFill/>
        </p:spPr>
        <p:txBody>
          <a:bodyPr wrap="square" anchor="t">
            <a:spAutoFit/>
          </a:bodyPr>
          <a:lstStyle/>
          <a:p>
            <a:pPr algn="l">
              <a:lnSpc>
                <a:spcPct val="100000"/>
              </a:lnSpc>
              <a:spcAft>
                <a:spcPts val="600"/>
              </a:spcAft>
            </a:pPr>
            <a:r>
              <a:rPr sz="1200" b="0" i="0">
                <a:solidFill>
                  <a:srgbClr val="6B7280"/>
                </a:solidFill>
                <a:latin typeface="Calibri"/>
              </a:rPr>
              <a:t>ELLLO — One Minute English · 1:20 · Single speaker — Nerissa / The Philippines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U6.6-L1</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Listen once. Choose the best answer.</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What is the recording mainly about?</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A. what people did last night and last weekend B. asking for everyday objects C. when one person starts and finishes the day</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U6.6-L2</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Listen again. Write T (true) or F (false).</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My work starts at six o'clock, so I have an hour to prepare.</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I wash my face, I make coffee, and then I check my schedule on the computer.</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In the afternoon, I take a nap and a shower before working again at 8:00 PM.</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Hi, my name's Nerrisa, and I'm from the Philippines.</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When do you start and finish your day?</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U6.6-L3</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Listen once more and write the missing word.</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My question is, when do you _____ and finish your day?</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My _____ starts at seven o'clock in the morning.</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I work from home, so I don't need to rush in the _____.</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I _____ work at 9:00 PM, and then I do my routine afterwards, my night routine.</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My _____ usually finishes at around 11 in the evening.</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Reading: Model email</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U6L6</a:t>
            </a:r>
          </a:p>
        </p:txBody>
      </p:sp>
      <p:sp>
        <p:nvSpPr>
          <p:cNvPr id="8" name="Rounded Rectangle 7"/>
          <p:cNvSpPr/>
          <p:nvPr/>
        </p:nvSpPr>
        <p:spPr>
          <a:xfrm>
            <a:off x="640080" y="1371600"/>
            <a:ext cx="10881360" cy="4846320"/>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60120" y="1554480"/>
            <a:ext cx="10332720" cy="4480560"/>
          </a:xfrm>
          <a:prstGeom prst="rect">
            <a:avLst/>
          </a:prstGeom>
          <a:noFill/>
        </p:spPr>
        <p:txBody>
          <a:bodyPr wrap="square" anchor="t">
            <a:spAutoFit/>
          </a:bodyPr>
          <a:lstStyle/>
          <a:p>
            <a:pPr algn="l">
              <a:lnSpc>
                <a:spcPct val="115000"/>
              </a:lnSpc>
              <a:spcAft>
                <a:spcPts val="600"/>
              </a:spcAft>
            </a:pPr>
            <a:r>
              <a:rPr sz="1500" b="0" i="0">
                <a:solidFill>
                  <a:srgbClr val="1B1B1B"/>
                </a:solidFill>
                <a:latin typeface="Calibri"/>
              </a:rPr>
              <a:t>Hi Kevin, Thanks for your email! You asked about my school, so here it is. My school is called Le Loi Secondary School and it is in the centre of our town. There are about 900 students and 46 teachers. We start at seven o'clock — I know that sounds very early to you! — and we finish at half past eleven. The school isn't very modern, but it has everything we need: 24 classrooms, a library with 4,000 books, a science laboratory, a gym and a big playground. My favourite place is the library, because it is the only quiet place in the school. We have five lessons a day and we wear a white uniform. This week we aren't having normal lessons in the afternoon, because we are practising for the sports day on Friday. My class is doing the relay race and we are practising every day after school. What's your school like? Do you have to wear a uniform? Write soon! Nam</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Reading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U6.6-R1</a:t>
            </a:r>
          </a:p>
        </p:txBody>
      </p:sp>
      <p:sp>
        <p:nvSpPr>
          <p:cNvPr id="8" name="Rounded Rectangle 7"/>
          <p:cNvSpPr/>
          <p:nvPr/>
        </p:nvSpPr>
        <p:spPr>
          <a:xfrm>
            <a:off x="640080" y="1371600"/>
            <a:ext cx="10881360" cy="777240"/>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Answer the questions.</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How many paragraphs are there (not counting the greeting)?</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What information is in paragraph 1?</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Find two sentences with 'There is / There are'.</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Find two present continuous sentences and say why they are used.</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How does Nam finish the email?</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Guided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U6.6-G1</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Complete the sentences.</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______ 24 classrooms in my school.</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______ a big library.</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______ five lessons a day.</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______ two science laboratories.</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______ a new computer room.</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Guided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U6.6-G2</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Complete the email extract.</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We usually (start) ______ at seven.</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This week we (practise) ______ for the sports day.</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My school (have) ______ 900 students.</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Right now I (write) ______ in the library.</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We (wear) ______ a white uniform every day.</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Your turn — independent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U6.6-I1</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Do U6.6-W1 and W2.</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Your turn — independent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U6.6-I1</a:t>
            </a:r>
          </a:p>
        </p:txBody>
      </p:sp>
      <p:sp>
        <p:nvSpPr>
          <p:cNvPr id="8" name="Rounded Rectangle 7"/>
          <p:cNvSpPr/>
          <p:nvPr/>
        </p:nvSpPr>
        <p:spPr>
          <a:xfrm>
            <a:off x="731520" y="1828800"/>
            <a:ext cx="10698480" cy="219456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2011680"/>
            <a:ext cx="10058400" cy="1828800"/>
          </a:xfrm>
          <a:prstGeom prst="rect">
            <a:avLst/>
          </a:prstGeom>
          <a:noFill/>
        </p:spPr>
        <p:txBody>
          <a:bodyPr wrap="square" anchor="ctr">
            <a:spAutoFit/>
          </a:bodyPr>
          <a:lstStyle/>
          <a:p>
            <a:pPr algn="l">
              <a:lnSpc>
                <a:spcPct val="100000"/>
              </a:lnSpc>
              <a:spcAft>
                <a:spcPts val="600"/>
              </a:spcAft>
            </a:pPr>
            <a:r>
              <a:rPr sz="2200" b="0" i="0">
                <a:solidFill>
                  <a:srgbClr val="1B1B1B"/>
                </a:solidFill>
                <a:latin typeface="Calibri"/>
              </a:rPr>
              <a:t>Do U6.6-W1 and W2.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Your turn — independent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U6.6-I2</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Write and read a 40-second announcement.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Your turn — independent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U6.6-I2</a:t>
            </a:r>
          </a:p>
        </p:txBody>
      </p:sp>
      <p:sp>
        <p:nvSpPr>
          <p:cNvPr id="8" name="Rounded Rectangle 7"/>
          <p:cNvSpPr/>
          <p:nvPr/>
        </p:nvSpPr>
        <p:spPr>
          <a:xfrm>
            <a:off x="731520" y="1828800"/>
            <a:ext cx="10698480" cy="219456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2011680"/>
            <a:ext cx="10058400" cy="1828800"/>
          </a:xfrm>
          <a:prstGeom prst="rect">
            <a:avLst/>
          </a:prstGeom>
          <a:noFill/>
        </p:spPr>
        <p:txBody>
          <a:bodyPr wrap="square" anchor="ctr">
            <a:spAutoFit/>
          </a:bodyPr>
          <a:lstStyle/>
          <a:p>
            <a:pPr algn="l">
              <a:lnSpc>
                <a:spcPct val="100000"/>
              </a:lnSpc>
              <a:spcAft>
                <a:spcPts val="600"/>
              </a:spcAft>
            </a:pPr>
            <a:r>
              <a:rPr sz="2200" b="0" i="0">
                <a:solidFill>
                  <a:srgbClr val="1B1B1B"/>
                </a:solidFill>
                <a:latin typeface="Calibri"/>
              </a:rPr>
              <a:t>Write and read a 40-second announcement.</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Speaking</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U6.6-S1</a:t>
            </a:r>
          </a:p>
        </p:txBody>
      </p:sp>
      <p:sp>
        <p:nvSpPr>
          <p:cNvPr id="8" name="Rounded Rectangle 7"/>
          <p:cNvSpPr/>
          <p:nvPr/>
        </p:nvSpPr>
        <p:spPr>
          <a:xfrm>
            <a:off x="640080" y="1371600"/>
            <a:ext cx="10881360" cy="777240"/>
          </a:xfrm>
          <a:prstGeom prst="roundRect">
            <a:avLst>
              <a:gd name="adj" fmla="val 6000"/>
            </a:avLst>
          </a:prstGeom>
          <a:solidFill>
            <a:srgbClr val="FC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Tell your partner four facts about your school before you write them.</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Name and place / size / facilities / what is happening this week</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300" b="1" i="0">
                <a:solidFill>
                  <a:srgbClr val="FFFFFF"/>
                </a:solidFill>
                <a:latin typeface="Calibri"/>
              </a:rPr>
              <a:t>Real-life English: Making and understanding announcements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U6L6</a:t>
            </a:r>
          </a:p>
        </p:txBody>
      </p:sp>
      <p:sp>
        <p:nvSpPr>
          <p:cNvPr id="8" name="Rounded Rectangle 7"/>
          <p:cNvSpPr/>
          <p:nvPr/>
        </p:nvSpPr>
        <p:spPr>
          <a:xfrm>
            <a:off x="822960" y="1463040"/>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508760"/>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Attention, please!</a:t>
            </a:r>
          </a:p>
        </p:txBody>
      </p:sp>
      <p:sp>
        <p:nvSpPr>
          <p:cNvPr id="10" name="Rounded Rectangle 9"/>
          <p:cNvSpPr/>
          <p:nvPr/>
        </p:nvSpPr>
        <p:spPr>
          <a:xfrm>
            <a:off x="822960" y="2212848"/>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97280" y="2258568"/>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There will be…</a:t>
            </a:r>
          </a:p>
        </p:txBody>
      </p:sp>
      <p:sp>
        <p:nvSpPr>
          <p:cNvPr id="12" name="Rounded Rectangle 11"/>
          <p:cNvSpPr/>
          <p:nvPr/>
        </p:nvSpPr>
        <p:spPr>
          <a:xfrm>
            <a:off x="822960" y="2962656"/>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97280" y="3008376"/>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All students must…</a:t>
            </a:r>
          </a:p>
        </p:txBody>
      </p:sp>
      <p:sp>
        <p:nvSpPr>
          <p:cNvPr id="14" name="Rounded Rectangle 13"/>
          <p:cNvSpPr/>
          <p:nvPr/>
        </p:nvSpPr>
        <p:spPr>
          <a:xfrm>
            <a:off x="822960" y="3712464"/>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97280" y="3758184"/>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…is cancelled.</a:t>
            </a:r>
          </a:p>
        </p:txBody>
      </p:sp>
      <p:sp>
        <p:nvSpPr>
          <p:cNvPr id="16" name="Rounded Rectangle 15"/>
          <p:cNvSpPr/>
          <p:nvPr/>
        </p:nvSpPr>
        <p:spPr>
          <a:xfrm>
            <a:off x="822960" y="4462272"/>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1097280" y="4507992"/>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Please bring…</a:t>
            </a:r>
          </a:p>
        </p:txBody>
      </p:sp>
      <p:sp>
        <p:nvSpPr>
          <p:cNvPr id="18" name="Rounded Rectangle 17"/>
          <p:cNvSpPr/>
          <p:nvPr/>
        </p:nvSpPr>
        <p:spPr>
          <a:xfrm>
            <a:off x="822960" y="5212080"/>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1097280" y="5257800"/>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Thank you.</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Role play — in pairs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U6L6</a:t>
            </a:r>
          </a:p>
        </p:txBody>
      </p:sp>
      <p:sp>
        <p:nvSpPr>
          <p:cNvPr id="8" name="Rounded Rectangle 7"/>
          <p:cNvSpPr/>
          <p:nvPr/>
        </p:nvSpPr>
        <p:spPr>
          <a:xfrm>
            <a:off x="731520" y="1737360"/>
            <a:ext cx="10698480" cy="2560320"/>
          </a:xfrm>
          <a:prstGeom prst="roundRect">
            <a:avLst>
              <a:gd name="adj" fmla="val 6000"/>
            </a:avLst>
          </a:prstGeom>
          <a:solidFill>
            <a:srgbClr val="FC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920240"/>
            <a:ext cx="10058400" cy="219456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In pairs, write and read a 40-second school announcement with three pieces of information. The class listens and notes them.</a:t>
            </a:r>
          </a:p>
        </p:txBody>
      </p:sp>
      <p:sp>
        <p:nvSpPr>
          <p:cNvPr id="10" name="TextBox 9"/>
          <p:cNvSpPr txBox="1"/>
          <p:nvPr/>
        </p:nvSpPr>
        <p:spPr>
          <a:xfrm>
            <a:off x="822960" y="4663440"/>
            <a:ext cx="10515600" cy="1280160"/>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 2 minutes to prepare  ·  2 minutes to perform  ·  then swap roles</a:t>
            </a:r>
          </a:p>
          <a:p>
            <a:pPr algn="l">
              <a:lnSpc>
                <a:spcPct val="100000"/>
              </a:lnSpc>
              <a:spcAft>
                <a:spcPts val="600"/>
              </a:spcAft>
            </a:pPr>
            <a:r>
              <a:rPr sz="1900" b="1" i="0">
                <a:solidFill>
                  <a:srgbClr val="142C4F"/>
                </a:solidFill>
                <a:latin typeface="Calibri"/>
              </a:rPr>
              <a:t>Do not read! Look at your partner.</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Writing  (1/2)</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U6.6-W1</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Complete the plan.</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Greeting: ______</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Opening line: ______</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Paragraph 1 – facts (name, place, size, times): ______</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Paragraph 2 – facilities + favourite place and why: ______</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Paragraph 3 – routine + something happening this week: ______</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Writing  (2/2)</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U6.6-W1</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Complete the plan.</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Closing – two questions + goodbye: ______</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Writing</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U6.6-W2</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Write 90–110 words to a foreign pen friend describing your school.</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Use: There is/are, at least four present simple sentences and two present continuous sentences.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Writing  (1/2)</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U6.6-W3</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Swap and tick the checklist.</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 greeting and closing</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 three paragraphs</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 'There is / There are' used correctly</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 present simple for routines</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 present continuous for this week</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Writing  (2/2)</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U6.6-W3</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Swap and tick the checklist.</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 two questions at the end</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 90–110 words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Let's remember today's English</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U6L6</a:t>
            </a:r>
          </a:p>
        </p:txBody>
      </p:sp>
      <p:sp>
        <p:nvSpPr>
          <p:cNvPr id="8" name="Rounded Rectangle 7"/>
          <p:cNvSpPr/>
          <p:nvPr/>
        </p:nvSpPr>
        <p:spPr>
          <a:xfrm>
            <a:off x="731520" y="1600200"/>
            <a:ext cx="10698480" cy="841248"/>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51560" y="1673352"/>
            <a:ext cx="10241280" cy="713232"/>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Listening for a schedule: times, days, places</a:t>
            </a:r>
          </a:p>
        </p:txBody>
      </p:sp>
      <p:sp>
        <p:nvSpPr>
          <p:cNvPr id="10" name="Rounded Rectangle 9"/>
          <p:cNvSpPr/>
          <p:nvPr/>
        </p:nvSpPr>
        <p:spPr>
          <a:xfrm>
            <a:off x="731520" y="2560320"/>
            <a:ext cx="10698480" cy="841248"/>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51560" y="2633472"/>
            <a:ext cx="10241280" cy="713232"/>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Email about a place: facts – facilities – this week – questions</a:t>
            </a:r>
          </a:p>
        </p:txBody>
      </p:sp>
      <p:sp>
        <p:nvSpPr>
          <p:cNvPr id="12" name="Rounded Rectangle 11"/>
          <p:cNvSpPr/>
          <p:nvPr/>
        </p:nvSpPr>
        <p:spPr>
          <a:xfrm>
            <a:off x="731520" y="3520440"/>
            <a:ext cx="10698480" cy="841248"/>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51560" y="3593592"/>
            <a:ext cx="10241280" cy="713232"/>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There is / There are</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Homework — write it in your notebook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U6L6</a:t>
            </a:r>
          </a:p>
        </p:txBody>
      </p:sp>
      <p:sp>
        <p:nvSpPr>
          <p:cNvPr id="8" name="Rounded Rectangle 7"/>
          <p:cNvSpPr/>
          <p:nvPr/>
        </p:nvSpPr>
        <p:spPr>
          <a:xfrm>
            <a:off x="731520" y="1554480"/>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05840" y="1609344"/>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U6.6-H1</a:t>
            </a:r>
          </a:p>
        </p:txBody>
      </p:sp>
      <p:sp>
        <p:nvSpPr>
          <p:cNvPr id="10" name="TextBox 9"/>
          <p:cNvSpPr txBox="1"/>
          <p:nvPr/>
        </p:nvSpPr>
        <p:spPr>
          <a:xfrm>
            <a:off x="2743200" y="1609344"/>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Listening / vocabulary — Complete from the announcement.</a:t>
            </a:r>
          </a:p>
        </p:txBody>
      </p:sp>
      <p:sp>
        <p:nvSpPr>
          <p:cNvPr id="11" name="Rounded Rectangle 10"/>
          <p:cNvSpPr/>
          <p:nvPr/>
        </p:nvSpPr>
        <p:spPr>
          <a:xfrm>
            <a:off x="731520" y="2523744"/>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1005840" y="2578608"/>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U6.6-H2</a:t>
            </a:r>
          </a:p>
        </p:txBody>
      </p:sp>
      <p:sp>
        <p:nvSpPr>
          <p:cNvPr id="13" name="TextBox 12"/>
          <p:cNvSpPr txBox="1"/>
          <p:nvPr/>
        </p:nvSpPr>
        <p:spPr>
          <a:xfrm>
            <a:off x="2743200" y="2578608"/>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Vocabulary — Complete with announcement, schedule, assembly, cancel, attend, facilities.</a:t>
            </a:r>
          </a:p>
        </p:txBody>
      </p:sp>
      <p:sp>
        <p:nvSpPr>
          <p:cNvPr id="14" name="Rounded Rectangle 13"/>
          <p:cNvSpPr/>
          <p:nvPr/>
        </p:nvSpPr>
        <p:spPr>
          <a:xfrm>
            <a:off x="731520" y="3493008"/>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05840" y="3547872"/>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U6.6-H3</a:t>
            </a:r>
          </a:p>
        </p:txBody>
      </p:sp>
      <p:sp>
        <p:nvSpPr>
          <p:cNvPr id="16" name="TextBox 15"/>
          <p:cNvSpPr txBox="1"/>
          <p:nvPr/>
        </p:nvSpPr>
        <p:spPr>
          <a:xfrm>
            <a:off x="2743200" y="3547872"/>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Writing — Rewrite your email neatly after correction and hand it in.</a:t>
            </a:r>
          </a:p>
        </p:txBody>
      </p:sp>
      <p:sp>
        <p:nvSpPr>
          <p:cNvPr id="17" name="Rounded Rectangle 16"/>
          <p:cNvSpPr/>
          <p:nvPr/>
        </p:nvSpPr>
        <p:spPr>
          <a:xfrm>
            <a:off x="731520" y="4462272"/>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1005840" y="4517136"/>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U6.6-H4</a:t>
            </a:r>
          </a:p>
        </p:txBody>
      </p:sp>
      <p:sp>
        <p:nvSpPr>
          <p:cNvPr id="19" name="TextBox 18"/>
          <p:cNvSpPr txBox="1"/>
          <p:nvPr/>
        </p:nvSpPr>
        <p:spPr>
          <a:xfrm>
            <a:off x="2743200" y="4517136"/>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Speaking — Read your email aloud twice with clear final consonants.</a:t>
            </a:r>
          </a:p>
        </p:txBody>
      </p:sp>
      <p:sp>
        <p:nvSpPr>
          <p:cNvPr id="20" name="TextBox 19"/>
          <p:cNvSpPr txBox="1"/>
          <p:nvPr/>
        </p:nvSpPr>
        <p:spPr>
          <a:xfrm>
            <a:off x="731520" y="5989320"/>
            <a:ext cx="10698480" cy="640080"/>
          </a:xfrm>
          <a:prstGeom prst="rect">
            <a:avLst/>
          </a:prstGeom>
          <a:noFill/>
        </p:spPr>
        <p:txBody>
          <a:bodyPr wrap="square" anchor="t">
            <a:spAutoFit/>
          </a:bodyPr>
          <a:lstStyle/>
          <a:p>
            <a:pPr algn="ctr">
              <a:lnSpc>
                <a:spcPct val="100000"/>
              </a:lnSpc>
              <a:spcAft>
                <a:spcPts val="600"/>
              </a:spcAft>
            </a:pPr>
            <a:r>
              <a:rPr sz="1800" b="0" i="0">
                <a:solidFill>
                  <a:srgbClr val="6B7280"/>
                </a:solidFill>
                <a:latin typeface="Calibri"/>
              </a:rPr>
              <a:t>Homework Book, section U6L6   ·   See you next lesson!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