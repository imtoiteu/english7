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6L6_1_A2-036-NERISSA-WHEN-START-AND-FINISH-DAY.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6  ·  PERIOD 45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school announcement + Writing: An email about my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 announcement and complete a schedule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an informal email describing a school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an email of 90–110 words to a pen friend</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Announcement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a three-line announcement at normal speed; students note the key information; compare in pairs.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announcement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/əˈnaʊnsmənt/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báo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Listen to the morning announcement.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schedule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/ˈʃedjuːl/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lịch trình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the schedule for Friday.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assembly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/əˈsembli/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chào cờ, tập trung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Assembly is at 6.45 on Monday.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cancel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/ˈkænsl/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hủy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trip is cancelled because of the rain.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attend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/əˈtend/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tham dự</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All students must attend the meeting.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facilities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/fəˈsɪlətiz/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cơ sở vật chất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school has good sports facilities.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will be…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students must…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cancelled / postponed</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bring…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Informal email describing a place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Greeting + thank you for the last message.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1: the basic facts (where, how big, when it starts).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2: what it looks like and what facilities it has.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3: what you do there (present simple) and something happening now or next week (present continuous).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Greeting</a:t>
                      </a:r>
                    </a:p>
                  </a:txBody>
                  <a:tcPr>
                    <a:solidFill>
                      <a:srgbClr val="E3F3EE"/>
                    </a:solidFill>
                  </a:tcPr>
                </a:tc>
                <a:tc>
                  <a:txBody>
                    <a:bodyPr/>
                    <a:lstStyle/>
                    <a:p>
                      <a:r>
                        <a:rPr sz="1600" b="0">
                          <a:solidFill>
                            <a:srgbClr val="1B1B1B"/>
                          </a:solidFill>
                          <a:latin typeface="Calibri"/>
                        </a:rPr>
                        <a:t>Hi Kevin,</a:t>
                      </a:r>
                    </a:p>
                  </a:txBody>
                  <a:tcPr>
                    <a:solidFill>
                      <a:srgbClr val="E3F3EE"/>
                    </a:solidFill>
                  </a:tcPr>
                </a:tc>
              </a:tr>
              <a:tr h="566928">
                <a:tc>
                  <a:txBody>
                    <a:bodyPr/>
                    <a:lstStyle/>
                    <a:p>
                      <a:r>
                        <a:rPr sz="1600" b="0">
                          <a:solidFill>
                            <a:srgbClr val="1B1B1B"/>
                          </a:solidFill>
                          <a:latin typeface="Calibri"/>
                        </a:rPr>
                        <a:t>Opening</a:t>
                      </a:r>
                    </a:p>
                  </a:txBody>
                  <a:tcPr>
                    <a:solidFill>
                      <a:srgbClr val="FFFFFF"/>
                    </a:solidFill>
                  </a:tcPr>
                </a:tc>
                <a:tc>
                  <a:txBody>
                    <a:bodyPr/>
                    <a:lstStyle/>
                    <a:p>
                      <a:r>
                        <a:rPr sz="1600" b="0">
                          <a:solidFill>
                            <a:srgbClr val="1B1B1B"/>
                          </a:solidFill>
                          <a:latin typeface="Calibri"/>
                        </a:rPr>
                        <a:t>Thanks for your email. You asked about my school, so here it is.</a:t>
                      </a:r>
                    </a:p>
                  </a:txBody>
                  <a:tcPr>
                    <a:solidFill>
                      <a:srgbClr val="FFFFFF"/>
                    </a:solidFill>
                  </a:tcPr>
                </a:tc>
              </a:tr>
              <a:tr h="566928">
                <a:tc>
                  <a:txBody>
                    <a:bodyPr/>
                    <a:lstStyle/>
                    <a:p>
                      <a:r>
                        <a:rPr sz="1600" b="0">
                          <a:solidFill>
                            <a:srgbClr val="1B1B1B"/>
                          </a:solidFill>
                          <a:latin typeface="Calibri"/>
                        </a:rPr>
                        <a:t>Facts</a:t>
                      </a:r>
                    </a:p>
                  </a:txBody>
                  <a:tcPr>
                    <a:solidFill>
                      <a:srgbClr val="E3F3EE"/>
                    </a:solidFill>
                  </a:tcPr>
                </a:tc>
                <a:tc>
                  <a:txBody>
                    <a:bodyPr/>
                    <a:lstStyle/>
                    <a:p>
                      <a:r>
                        <a:rPr sz="1600" b="0">
                          <a:solidFill>
                            <a:srgbClr val="1B1B1B"/>
                          </a:solidFill>
                          <a:latin typeface="Calibri"/>
                        </a:rPr>
                        <a:t>My school is called Le Loi Secondary School. It has about 900 students.</a:t>
                      </a:r>
                    </a:p>
                  </a:txBody>
                  <a:tcPr>
                    <a:solidFill>
                      <a:srgbClr val="E3F3EE"/>
                    </a:solidFill>
                  </a:tcPr>
                </a:tc>
              </a:tr>
              <a:tr h="566928">
                <a:tc>
                  <a:txBody>
                    <a:bodyPr/>
                    <a:lstStyle/>
                    <a:p>
                      <a:r>
                        <a:rPr sz="1600" b="0">
                          <a:solidFill>
                            <a:srgbClr val="1B1B1B"/>
                          </a:solidFill>
                          <a:latin typeface="Calibri"/>
                        </a:rPr>
                        <a:t>Description</a:t>
                      </a:r>
                    </a:p>
                  </a:txBody>
                  <a:tcPr>
                    <a:solidFill>
                      <a:srgbClr val="FFFFFF"/>
                    </a:solidFill>
                  </a:tcPr>
                </a:tc>
                <a:tc>
                  <a:txBody>
                    <a:bodyPr/>
                    <a:lstStyle/>
                    <a:p>
                      <a:r>
                        <a:rPr sz="1600" b="0">
                          <a:solidFill>
                            <a:srgbClr val="1B1B1B"/>
                          </a:solidFill>
                          <a:latin typeface="Calibri"/>
                        </a:rPr>
                        <a:t>There is a big playground, a library and a science lab.</a:t>
                      </a:r>
                    </a:p>
                  </a:txBody>
                  <a:tcPr>
                    <a:solidFill>
                      <a:srgbClr val="FFFFFF"/>
                    </a:solidFill>
                  </a:tcPr>
                </a:tc>
              </a:tr>
              <a:tr h="566928">
                <a:tc>
                  <a:txBody>
                    <a:bodyPr/>
                    <a:lstStyle/>
                    <a:p>
                      <a:r>
                        <a:rPr sz="1600" b="0">
                          <a:solidFill>
                            <a:srgbClr val="1B1B1B"/>
                          </a:solidFill>
                          <a:latin typeface="Calibri"/>
                        </a:rPr>
                        <a:t>Routine + now</a:t>
                      </a:r>
                    </a:p>
                  </a:txBody>
                  <a:tcPr>
                    <a:solidFill>
                      <a:srgbClr val="E3F3EE"/>
                    </a:solidFill>
                  </a:tcPr>
                </a:tc>
                <a:tc>
                  <a:txBody>
                    <a:bodyPr/>
                    <a:lstStyle/>
                    <a:p>
                      <a:r>
                        <a:rPr sz="1600" b="0">
                          <a:solidFill>
                            <a:srgbClr val="1B1B1B"/>
                          </a:solidFill>
                          <a:latin typeface="Calibri"/>
                        </a:rPr>
                        <a:t>We start at seven. This week we are practising for the sports day.</a:t>
                      </a:r>
                    </a:p>
                  </a:txBody>
                  <a:tcPr>
                    <a:solidFill>
                      <a:srgbClr val="E3F3EE"/>
                    </a:solidFill>
                  </a:tcPr>
                </a:tc>
              </a:tr>
              <a:tr h="566928">
                <a:tc>
                  <a:txBody>
                    <a:bodyPr/>
                    <a:lstStyle/>
                    <a:p>
                      <a:r>
                        <a:rPr sz="1600" b="0">
                          <a:solidFill>
                            <a:srgbClr val="1B1B1B"/>
                          </a:solidFill>
                          <a:latin typeface="Calibri"/>
                        </a:rPr>
                        <a:t>Closing</a:t>
                      </a:r>
                    </a:p>
                  </a:txBody>
                  <a:tcPr>
                    <a:solidFill>
                      <a:srgbClr val="FFFFFF"/>
                    </a:solidFill>
                  </a:tcPr>
                </a:tc>
                <a:tc>
                  <a:txBody>
                    <a:bodyPr/>
                    <a:lstStyle/>
                    <a:p>
                      <a:r>
                        <a:rPr sz="1600" b="0">
                          <a:solidFill>
                            <a:srgbClr val="1B1B1B"/>
                          </a:solidFill>
                          <a:latin typeface="Calibri"/>
                        </a:rPr>
                        <a:t>What's your school like? Write soon. Nam</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My school isn't very modern, but the teachers are friendly.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Next Friday we are having a school festival — I wish you could come!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a list of facts with no paragraphs and no question at the end. An email is a conversation: always ask something back.</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My school isn't very modern, but the teachers are friendly.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Reading an announcement clearly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Announcements need a strong, slow voice, clear final consonants and a pause after each piece of information.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Attention, please! /əˈtenʃn pliːz/</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All students / must attend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trip / is cancelled.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Attention, please! / There will be an assembly / at half past six / on Monday.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When do you start and finish your day?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when one person starts and finishes the day. Single speaker — Nerissa / The Philippines. It lasts 1:20.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One Minute English · 1:20 · Single speaker — Nerissa / The Philippines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did last night and last weekend B. asking for everyday objects C. when one person starts and finishes the 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work starts at six o'clock, so I have an hour to prepare.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wash my face, I make coffee, and then I check my schedule on the computer.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the afternoon, I take a nap and a shower before working again at 8:00 PM.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Hi, my name's Nerrisa, and I'm from the Philippines.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When do you start and finish your 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when do you _____ and finish your 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_____ starts at seven o'clock in the morning.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work from home, so I don't need to rush in the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_____ work at 9:00 PM, and then I do my routine afterwards, my night routine.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_____ usually finishes at around 11 in the evening.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email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Kevin, Thanks for your email! You asked about my school, so here it is. My school is called Le Loi Secondary School and it is in the centre of our town. There are about 900 students and 46 teachers. We start at seven o'clock — I know that sounds very early to you! — and we finish at half past eleven. The school isn't very modern, but it has everything we need: 24 classrooms, a library with 4,000 books, a science laboratory, a gym and a big playground. My favourite place is the library, because it is the only quiet place in the school. We have five lessons a day and we wear a white uniform. This week we aren't having normal lessons in the afternoon, because we are practising for the sports day on Friday. My class is doing the relay race and we are practising every day after school. What's your school like? Do you have to wear a uniform? Write soon! Nam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paragraphs are there (not counting the greeting)?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information is in paragraph 1?</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two sentences with 'There is / There are'.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two present continuous sentences and say why they are used.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does Nam finish the email?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24 classrooms in my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a big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five lessons a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two science laboratories.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a new computer room.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email extract.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 usually (start) ______ at seven.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This week we (practise) ______ for the sports 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My school (have) ______ 900 students.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Right now I (write) ______ in the library.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(wear) ______ a white uniform every 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U6.6-W1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U6.6-W1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and read a 40-second announcement.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and read a 40-second announcement.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four facts about your school before you write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and place / size / facilities / what is happening this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Making and understanding announcements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will be…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students must…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cancelled.</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bring…</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In pairs, write and read a 40-second school announcement with three pieces of information. The class listens and notes them.</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Greeting: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Opening line: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Paragraph 1 – facts (name, place, size, times):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Paragraph 2 – facilities + favourite place and why: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Paragraph 3 – routine + something happening this week: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Closing – two questions + goodbye: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90–110 words to a foreign pen friend describing your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There is/are, at least four present simple sentences and two present continuous sentences.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greeting and closing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paragraphs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'There is / There are' used correctly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present simple for routines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present continuous for this week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questions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90–110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Listening for a schedule: times, days, places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Email about a place: facts – facilities – this week – questions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 / There are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announcement.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announcement, schedule, assembly, cancel, attend, facilities.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email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email aloud twice with clear final consonants.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