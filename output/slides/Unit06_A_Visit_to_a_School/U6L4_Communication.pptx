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4  ·  PERIOD 41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school life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questions about school life in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polite question openers and follow-up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for a visitor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word; students shout the tense and make a sentence.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tense and produce a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compulsory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/kəmˈpʌlsəri/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bắt buộc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compulsory in our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optional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/ˈɒpʃənl/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chọn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Music is optional after Grade 9.</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kỳ</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two terms in a school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khối lớp; điểm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Grade 7. I got a good grade.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club</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/klʌb/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lạc bộ</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the chess club.</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strict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/strɪkt/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nghiêm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maths teacher is strict but fair.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Here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Question forms review: yes/no, Wh- and 'What's it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DO: Do you wear a uniform? – Yes, we do.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BE: Are your teachers strict? – Yes, they are.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questions: What time…? How many…? Where…? Why…?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it like?' asks for a description: What's your school like? – It's big and modern.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 (do)</a:t>
                      </a:r>
                    </a:p>
                  </a:txBody>
                  <a:tcPr>
                    <a:solidFill>
                      <a:srgbClr val="E3F3EE"/>
                    </a:solidFill>
                  </a:tcPr>
                </a:tc>
                <a:tc>
                  <a:txBody>
                    <a:bodyPr/>
                    <a:lstStyle/>
                    <a:p>
                      <a:r>
                        <a:rPr sz="1600" b="0">
                          <a:solidFill>
                            <a:srgbClr val="1B1B1B"/>
                          </a:solidFill>
                          <a:latin typeface="Calibri"/>
                        </a:rPr>
                        <a:t>Do you have homework every day?</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r h="566928">
                <a:tc>
                  <a:txBody>
                    <a:bodyPr/>
                    <a:lstStyle/>
                    <a:p>
                      <a:r>
                        <a:rPr sz="1600" b="0">
                          <a:solidFill>
                            <a:srgbClr val="1B1B1B"/>
                          </a:solidFill>
                          <a:latin typeface="Calibri"/>
                        </a:rPr>
                        <a:t>Yes/no (be)</a:t>
                      </a:r>
                    </a:p>
                  </a:txBody>
                  <a:tcPr>
                    <a:solidFill>
                      <a:srgbClr val="FFFFFF"/>
                    </a:solidFill>
                  </a:tcPr>
                </a:tc>
                <a:tc>
                  <a:txBody>
                    <a:bodyPr/>
                    <a:lstStyle/>
                    <a:p>
                      <a:r>
                        <a:rPr sz="1600" b="0">
                          <a:solidFill>
                            <a:srgbClr val="1B1B1B"/>
                          </a:solidFill>
                          <a:latin typeface="Calibri"/>
                        </a:rPr>
                        <a:t>Is your school big?</a:t>
                      </a:r>
                    </a:p>
                  </a:txBody>
                  <a:tcPr>
                    <a:solidFill>
                      <a:srgbClr val="FFFFFF"/>
                    </a:solidFill>
                  </a:tcPr>
                </a:tc>
                <a:tc>
                  <a:txBody>
                    <a:bodyPr/>
                    <a:lstStyle/>
                    <a:p>
                      <a:r>
                        <a:rPr sz="1600" b="0">
                          <a:solidFill>
                            <a:srgbClr val="1B1B1B"/>
                          </a:solidFill>
                          <a:latin typeface="Calibri"/>
                        </a:rPr>
                        <a:t>No, it isn't.</a:t>
                      </a:r>
                    </a:p>
                  </a:txBody>
                  <a:tcPr>
                    <a:solidFill>
                      <a:srgbClr val="FFFFFF"/>
                    </a:solidFill>
                  </a:tcPr>
                </a:tc>
              </a:tr>
              <a:tr h="566928">
                <a:tc>
                  <a:txBody>
                    <a:bodyPr/>
                    <a:lstStyle/>
                    <a:p>
                      <a:r>
                        <a:rPr sz="1600" b="0">
                          <a:solidFill>
                            <a:srgbClr val="1B1B1B"/>
                          </a:solidFill>
                          <a:latin typeface="Calibri"/>
                        </a:rPr>
                        <a:t>Wh-</a:t>
                      </a:r>
                    </a:p>
                  </a:txBody>
                  <a:tcPr>
                    <a:solidFill>
                      <a:srgbClr val="E3F3EE"/>
                    </a:solidFill>
                  </a:tcPr>
                </a:tc>
                <a:tc>
                  <a:txBody>
                    <a:bodyPr/>
                    <a:lstStyle/>
                    <a:p>
                      <a:r>
                        <a:rPr sz="1600" b="0">
                          <a:solidFill>
                            <a:srgbClr val="1B1B1B"/>
                          </a:solidFill>
                          <a:latin typeface="Calibri"/>
                        </a:rPr>
                        <a:t>How many lessons do you have?</a:t>
                      </a:r>
                    </a:p>
                  </a:txBody>
                  <a:tcPr>
                    <a:solidFill>
                      <a:srgbClr val="E3F3EE"/>
                    </a:solidFill>
                  </a:tcPr>
                </a:tc>
                <a:tc>
                  <a:txBody>
                    <a:bodyPr/>
                    <a:lstStyle/>
                    <a:p>
                      <a:r>
                        <a:rPr sz="1600" b="0">
                          <a:solidFill>
                            <a:srgbClr val="1B1B1B"/>
                          </a:solidFill>
                          <a:latin typeface="Calibri"/>
                        </a:rPr>
                        <a:t>Five.</a:t>
                      </a:r>
                    </a:p>
                  </a:txBody>
                  <a:tcPr>
                    <a:solidFill>
                      <a:srgbClr val="E3F3EE"/>
                    </a:solidFill>
                  </a:tcPr>
                </a:tc>
              </a:tr>
              <a:tr h="566928">
                <a:tc>
                  <a:txBody>
                    <a:bodyPr/>
                    <a:lstStyle/>
                    <a:p>
                      <a:r>
                        <a:rPr sz="1600" b="0">
                          <a:solidFill>
                            <a:srgbClr val="1B1B1B"/>
                          </a:solidFill>
                          <a:latin typeface="Calibri"/>
                        </a:rPr>
                        <a:t>What's … like?</a:t>
                      </a:r>
                    </a:p>
                  </a:txBody>
                  <a:tcPr>
                    <a:solidFill>
                      <a:srgbClr val="FFFFFF"/>
                    </a:solidFill>
                  </a:tcPr>
                </a:tc>
                <a:tc>
                  <a:txBody>
                    <a:bodyPr/>
                    <a:lstStyle/>
                    <a:p>
                      <a:r>
                        <a:rPr sz="1600" b="0">
                          <a:solidFill>
                            <a:srgbClr val="1B1B1B"/>
                          </a:solidFill>
                          <a:latin typeface="Calibri"/>
                        </a:rPr>
                        <a:t>What's your school like?</a:t>
                      </a:r>
                    </a:p>
                  </a:txBody>
                  <a:tcPr>
                    <a:solidFill>
                      <a:srgbClr val="FFFFFF"/>
                    </a:solidFill>
                  </a:tcPr>
                </a:tc>
                <a:tc>
                  <a:txBody>
                    <a:bodyPr/>
                    <a:lstStyle/>
                    <a:p>
                      <a:r>
                        <a:rPr sz="1600" b="0">
                          <a:solidFill>
                            <a:srgbClr val="1B1B1B"/>
                          </a:solidFill>
                          <a:latin typeface="Calibri"/>
                        </a:rPr>
                        <a:t>It's small but friendly.</a:t>
                      </a:r>
                    </a:p>
                  </a:txBody>
                  <a:tcPr>
                    <a:solidFill>
                      <a:srgbClr val="FFFFFF"/>
                    </a:solidFill>
                  </a:tcPr>
                </a:tc>
              </a:tr>
              <a:tr h="566928">
                <a:tc>
                  <a:txBody>
                    <a:bodyPr/>
                    <a:lstStyle/>
                    <a:p>
                      <a:r>
                        <a:rPr sz="1600" b="0">
                          <a:solidFill>
                            <a:srgbClr val="1B1B1B"/>
                          </a:solidFill>
                          <a:latin typeface="Calibri"/>
                        </a:rPr>
                        <a:t>have to (rules)</a:t>
                      </a:r>
                    </a:p>
                  </a:txBody>
                  <a:tcPr>
                    <a:solidFill>
                      <a:srgbClr val="E3F3EE"/>
                    </a:solidFill>
                  </a:tcPr>
                </a:tc>
                <a:tc>
                  <a:txBody>
                    <a:bodyPr/>
                    <a:lstStyle/>
                    <a:p>
                      <a:r>
                        <a:rPr sz="1600" b="0">
                          <a:solidFill>
                            <a:srgbClr val="1B1B1B"/>
                          </a:solidFill>
                          <a:latin typeface="Calibri"/>
                        </a:rPr>
                        <a:t>Do you have to wear a uniform?</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English teacher like? – She's strict but very funny.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 clean the classroom? – Yes, every Friday.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is your school like?* — the correct form is WHAT'S your school LIKE? Also *You have homework?* without 'do'.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What's your English teacher like? – She's strict but very funny.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Question intonation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go UP at the end. Wh- questions go DOWN. This is one of the most useful rules in spoken English.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wear a uniform?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your school big?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time does school start?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your school like?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 you have homework every day? ↗</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many students are in your class? ↘</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Are your teachers strict? ↗</a:t>
            </a:r>
          </a:p>
        </p:txBody>
      </p:sp>
      <p:sp>
        <p:nvSpPr>
          <p:cNvPr id="14" name="Rounded Rectangle 13"/>
          <p:cNvSpPr/>
          <p:nvPr/>
        </p:nvSpPr>
        <p:spPr>
          <a:xfrm>
            <a:off x="731520" y="489204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98348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What's your favourite subject?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19: When Do I Start?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getting to work and asking when things start. American English — VOA’s professional actors (Anna, Pete, Marsha, Ms. Weaver…), slowed learner delivery. It lasts 2:50.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2:50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getting to work and asking when things start B. the things people can do at work C. making plans with a friend for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19: When Do I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are firing me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important news to tell you.</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boss has news for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important thing is to know what you are good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always ride the Metro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So, I am walking to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_____ you arrive, please come to my office.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Caty: Which do you want to hear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Caty: _____ thinking of ideas for the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 students always 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year our school welcomes visitors from other countries. These are the five questions they ask most often — and our answers. 1. 'Why do you start so early?' Because it is cooler in the morning, and because many schools have two shifts. 2. 'Do you really have school on Saturday?' Some schools do, especially for extra lessons. Most students also go to evening classes. 3. 'What is the ao dai?' It is the traditional Vietnamese dress. In many schools girls wear a white ao dai on Monday for the flag ceremony. 4. 'Do you stand up when the teacher comes in?' Yes, the whole class stands and says good morning. Visitors are always surprised. 5. 'Is the homework really that hard?' Honestly — yes. But we help each other.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Vietnamese schools start early? (two reasons)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 girls wear the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students do when the teacher comes 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answer surprises visitors most, do you think?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 wear a uniform?)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 school / finish?)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teachers / strict?)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lessons / you / have?)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 your school / like?)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He's friendly and funny.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He likes football and computer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It's big, old and quite noisy.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She likes chemistry best.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Can I ______ you something? B: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time does your school start? B: At half past eight.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 have to wear a uniform? B: No, we don't.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your teachers like? B: They're quite friendly.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many students are in your class? B: About thirty.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exchange conversation with three different partners.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exchange conversation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school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to wear a uniform?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lessons do you have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your teachers like?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What's your school like?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(your own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Vietnamese student, B is a visitor from another country. Ask and answer at least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opener ('Can I ask you something?') □ 3 questions each □ one 'What's … like?' □ one follow-up question □ a reaction □ a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Starting a conversation with someone new and keeping 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nice talking to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Speed-friending: two rows facing each other; three minutes per pair, then one row moves along.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good questions to ask a visitor about their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question, two Wh- questions, one 'What's … like?', and one about rules with 'Do you have to…?'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do/be, Wh-, What's … like?, Do you have to…?</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Follow-up questions keep a conversation alive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compulsory, optional, term, grade, strict.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five questions for a visitor and your own answers (10 lines).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questions with the correct intonation: yes/no UP, Wh- DOWN.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