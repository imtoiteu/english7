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6L4_1_11279270-a48f-4bca-851e-e6477329717b_hq.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4  ·  PERIOD 43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COMMUNICATION</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Everyday English: asking about school life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and answer questions about school life in another country</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polite question openers and follow-up questions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an 8-turn exchange conversation</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five good questions for a visitor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Tense race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says a time word; students shout the tense and make a sentence. Recycles Lesson 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Identify the tense and produce a sentence.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compulsory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/kəmˈpʌlsəri/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bắt buộc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English is compulsory in our school.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optional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/ˈɒpʃənl/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tự chọn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Music is optional after Grade 9.</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term</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/tɜːm/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học kỳ</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are two terms in a school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grade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/ɡreɪd/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khối lớp; điểm</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I'm in Grade 7. I got a good grade.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club</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/klʌb/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câu lạc bộ</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I'm in the chess club.</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strict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/strɪkt/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nghiêm khắc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maths teacher is strict but fair.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ask you something?</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What's it like…?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Do you have to…?</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about in your country?</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interesting!</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 Here we…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Question forms review: yes/no, Wh- and 'What's it like?'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Yes/no with DO: Do you wear a uniform? – Yes, we do.</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Yes/no with BE: Are your teachers strict? – Yes, they are.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 questions: What time…? How many…? Where…? Why…?</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'What's it like?' asks for a description: What's your school like? – It's big and modern.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Type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Answer</a:t>
                      </a:r>
                    </a:p>
                  </a:txBody>
                  <a:tcPr>
                    <a:solidFill>
                      <a:srgbClr val="0E7C66"/>
                    </a:solidFill>
                  </a:tcPr>
                </a:tc>
              </a:tr>
              <a:tr h="566928">
                <a:tc>
                  <a:txBody>
                    <a:bodyPr/>
                    <a:lstStyle/>
                    <a:p>
                      <a:r>
                        <a:rPr sz="1600" b="0">
                          <a:solidFill>
                            <a:srgbClr val="1B1B1B"/>
                          </a:solidFill>
                          <a:latin typeface="Calibri"/>
                        </a:rPr>
                        <a:t>Yes/no (do)</a:t>
                      </a:r>
                    </a:p>
                  </a:txBody>
                  <a:tcPr>
                    <a:solidFill>
                      <a:srgbClr val="E3F3EE"/>
                    </a:solidFill>
                  </a:tcPr>
                </a:tc>
                <a:tc>
                  <a:txBody>
                    <a:bodyPr/>
                    <a:lstStyle/>
                    <a:p>
                      <a:r>
                        <a:rPr sz="1600" b="0">
                          <a:solidFill>
                            <a:srgbClr val="1B1B1B"/>
                          </a:solidFill>
                          <a:latin typeface="Calibri"/>
                        </a:rPr>
                        <a:t>Do you have homework every day?</a:t>
                      </a:r>
                    </a:p>
                  </a:txBody>
                  <a:tcPr>
                    <a:solidFill>
                      <a:srgbClr val="E3F3EE"/>
                    </a:solidFill>
                  </a:tcPr>
                </a:tc>
                <a:tc>
                  <a:txBody>
                    <a:bodyPr/>
                    <a:lstStyle/>
                    <a:p>
                      <a:r>
                        <a:rPr sz="1600" b="0">
                          <a:solidFill>
                            <a:srgbClr val="1B1B1B"/>
                          </a:solidFill>
                          <a:latin typeface="Calibri"/>
                        </a:rPr>
                        <a:t>Yes, we do.</a:t>
                      </a:r>
                    </a:p>
                  </a:txBody>
                  <a:tcPr>
                    <a:solidFill>
                      <a:srgbClr val="E3F3EE"/>
                    </a:solidFill>
                  </a:tcPr>
                </a:tc>
              </a:tr>
              <a:tr h="566928">
                <a:tc>
                  <a:txBody>
                    <a:bodyPr/>
                    <a:lstStyle/>
                    <a:p>
                      <a:r>
                        <a:rPr sz="1600" b="0">
                          <a:solidFill>
                            <a:srgbClr val="1B1B1B"/>
                          </a:solidFill>
                          <a:latin typeface="Calibri"/>
                        </a:rPr>
                        <a:t>Yes/no (be)</a:t>
                      </a:r>
                    </a:p>
                  </a:txBody>
                  <a:tcPr>
                    <a:solidFill>
                      <a:srgbClr val="FFFFFF"/>
                    </a:solidFill>
                  </a:tcPr>
                </a:tc>
                <a:tc>
                  <a:txBody>
                    <a:bodyPr/>
                    <a:lstStyle/>
                    <a:p>
                      <a:r>
                        <a:rPr sz="1600" b="0">
                          <a:solidFill>
                            <a:srgbClr val="1B1B1B"/>
                          </a:solidFill>
                          <a:latin typeface="Calibri"/>
                        </a:rPr>
                        <a:t>Is your school big?</a:t>
                      </a:r>
                    </a:p>
                  </a:txBody>
                  <a:tcPr>
                    <a:solidFill>
                      <a:srgbClr val="FFFFFF"/>
                    </a:solidFill>
                  </a:tcPr>
                </a:tc>
                <a:tc>
                  <a:txBody>
                    <a:bodyPr/>
                    <a:lstStyle/>
                    <a:p>
                      <a:r>
                        <a:rPr sz="1600" b="0">
                          <a:solidFill>
                            <a:srgbClr val="1B1B1B"/>
                          </a:solidFill>
                          <a:latin typeface="Calibri"/>
                        </a:rPr>
                        <a:t>No, it isn't.</a:t>
                      </a:r>
                    </a:p>
                  </a:txBody>
                  <a:tcPr>
                    <a:solidFill>
                      <a:srgbClr val="FFFFFF"/>
                    </a:solidFill>
                  </a:tcPr>
                </a:tc>
              </a:tr>
              <a:tr h="566928">
                <a:tc>
                  <a:txBody>
                    <a:bodyPr/>
                    <a:lstStyle/>
                    <a:p>
                      <a:r>
                        <a:rPr sz="1600" b="0">
                          <a:solidFill>
                            <a:srgbClr val="1B1B1B"/>
                          </a:solidFill>
                          <a:latin typeface="Calibri"/>
                        </a:rPr>
                        <a:t>Wh-</a:t>
                      </a:r>
                    </a:p>
                  </a:txBody>
                  <a:tcPr>
                    <a:solidFill>
                      <a:srgbClr val="E3F3EE"/>
                    </a:solidFill>
                  </a:tcPr>
                </a:tc>
                <a:tc>
                  <a:txBody>
                    <a:bodyPr/>
                    <a:lstStyle/>
                    <a:p>
                      <a:r>
                        <a:rPr sz="1600" b="0">
                          <a:solidFill>
                            <a:srgbClr val="1B1B1B"/>
                          </a:solidFill>
                          <a:latin typeface="Calibri"/>
                        </a:rPr>
                        <a:t>How many lessons do you have?</a:t>
                      </a:r>
                    </a:p>
                  </a:txBody>
                  <a:tcPr>
                    <a:solidFill>
                      <a:srgbClr val="E3F3EE"/>
                    </a:solidFill>
                  </a:tcPr>
                </a:tc>
                <a:tc>
                  <a:txBody>
                    <a:bodyPr/>
                    <a:lstStyle/>
                    <a:p>
                      <a:r>
                        <a:rPr sz="1600" b="0">
                          <a:solidFill>
                            <a:srgbClr val="1B1B1B"/>
                          </a:solidFill>
                          <a:latin typeface="Calibri"/>
                        </a:rPr>
                        <a:t>Five.</a:t>
                      </a:r>
                    </a:p>
                  </a:txBody>
                  <a:tcPr>
                    <a:solidFill>
                      <a:srgbClr val="E3F3EE"/>
                    </a:solidFill>
                  </a:tcPr>
                </a:tc>
              </a:tr>
              <a:tr h="566928">
                <a:tc>
                  <a:txBody>
                    <a:bodyPr/>
                    <a:lstStyle/>
                    <a:p>
                      <a:r>
                        <a:rPr sz="1600" b="0">
                          <a:solidFill>
                            <a:srgbClr val="1B1B1B"/>
                          </a:solidFill>
                          <a:latin typeface="Calibri"/>
                        </a:rPr>
                        <a:t>What's … like?</a:t>
                      </a:r>
                    </a:p>
                  </a:txBody>
                  <a:tcPr>
                    <a:solidFill>
                      <a:srgbClr val="FFFFFF"/>
                    </a:solidFill>
                  </a:tcPr>
                </a:tc>
                <a:tc>
                  <a:txBody>
                    <a:bodyPr/>
                    <a:lstStyle/>
                    <a:p>
                      <a:r>
                        <a:rPr sz="1600" b="0">
                          <a:solidFill>
                            <a:srgbClr val="1B1B1B"/>
                          </a:solidFill>
                          <a:latin typeface="Calibri"/>
                        </a:rPr>
                        <a:t>What's your school like?</a:t>
                      </a:r>
                    </a:p>
                  </a:txBody>
                  <a:tcPr>
                    <a:solidFill>
                      <a:srgbClr val="FFFFFF"/>
                    </a:solidFill>
                  </a:tcPr>
                </a:tc>
                <a:tc>
                  <a:txBody>
                    <a:bodyPr/>
                    <a:lstStyle/>
                    <a:p>
                      <a:r>
                        <a:rPr sz="1600" b="0">
                          <a:solidFill>
                            <a:srgbClr val="1B1B1B"/>
                          </a:solidFill>
                          <a:latin typeface="Calibri"/>
                        </a:rPr>
                        <a:t>It's small but friendly.</a:t>
                      </a:r>
                    </a:p>
                  </a:txBody>
                  <a:tcPr>
                    <a:solidFill>
                      <a:srgbClr val="FFFFFF"/>
                    </a:solidFill>
                  </a:tcPr>
                </a:tc>
              </a:tr>
              <a:tr h="566928">
                <a:tc>
                  <a:txBody>
                    <a:bodyPr/>
                    <a:lstStyle/>
                    <a:p>
                      <a:r>
                        <a:rPr sz="1600" b="0">
                          <a:solidFill>
                            <a:srgbClr val="1B1B1B"/>
                          </a:solidFill>
                          <a:latin typeface="Calibri"/>
                        </a:rPr>
                        <a:t>have to (rules)</a:t>
                      </a:r>
                    </a:p>
                  </a:txBody>
                  <a:tcPr>
                    <a:solidFill>
                      <a:srgbClr val="E3F3EE"/>
                    </a:solidFill>
                  </a:tcPr>
                </a:tc>
                <a:tc>
                  <a:txBody>
                    <a:bodyPr/>
                    <a:lstStyle/>
                    <a:p>
                      <a:r>
                        <a:rPr sz="1600" b="0">
                          <a:solidFill>
                            <a:srgbClr val="1B1B1B"/>
                          </a:solidFill>
                          <a:latin typeface="Calibri"/>
                        </a:rPr>
                        <a:t>Do you have to wear a uniform?</a:t>
                      </a:r>
                    </a:p>
                  </a:txBody>
                  <a:tcPr>
                    <a:solidFill>
                      <a:srgbClr val="E3F3EE"/>
                    </a:solidFill>
                  </a:tcPr>
                </a:tc>
                <a:tc>
                  <a:txBody>
                    <a:bodyPr/>
                    <a:lstStyle/>
                    <a:p>
                      <a:r>
                        <a:rPr sz="1600" b="0">
                          <a:solidFill>
                            <a:srgbClr val="1B1B1B"/>
                          </a:solidFill>
                          <a:latin typeface="Calibri"/>
                        </a:rPr>
                        <a:t>Yes, we do.</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What's your English teacher like? – She's strict but very funny.</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Do you have to clean the classroom? – Yes, every Friday.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*How is your school like?* — the correct form is WHAT'S your school LIKE? Also *You have homework?* without 'do'.</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What's your English teacher like? – She's strict but very funny.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Question intonation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Yes/no questions go UP at the end. Wh- questions go DOWN. This is one of the most useful rules in spoken English.</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Do you wear a uniform? ↗</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Is your school big? ↗</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What time does school start? ↘</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What's your school like?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Do you have homework every day? ↗</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How many students are in your class? ↘</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Are your teachers strict? ↗</a:t>
            </a:r>
          </a:p>
        </p:txBody>
      </p:sp>
      <p:sp>
        <p:nvSpPr>
          <p:cNvPr id="14" name="Rounded Rectangle 13"/>
          <p:cNvSpPr/>
          <p:nvPr/>
        </p:nvSpPr>
        <p:spPr>
          <a:xfrm>
            <a:off x="731520" y="489204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98348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What's your favourite subject?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19: When Do I Start?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getting to work and asking when things start. American English — VOA’s professional actors (Anna, Pete, Marsha, Ms. Weaver…), slowed learner delivery. It lasts 2:50.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2:50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getting to work and asking when things start B. the things people can do at work C. making plans with a friend for the weekend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Let’s Learn English - Level 4 - Lesson 19: When Do I Start?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are firing me in March.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have important news to tell you.</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My boss has news for me.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important thing is to know what you are good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 always ride the Metro to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So, I am walking to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Caty: _____ you arrive, please come to my office.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Caty: Which do you want to hear 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Caty: _____ thinking of ideas for the show.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Five questions foreign students always 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Every year our school welcomes visitors from other countries. These are the five questions they ask most often — and our answers. 1. 'Why do you start so early?' Because it is cooler in the morning, and because many schools have two shifts. 2. 'Do you really have school on Saturday?' Some schools do, especially for extra lessons. Most students also go to evening classes. 3. 'What is the ao dai?' It is the traditional Vietnamese dress. In many schools girls wear a white ao dai on Monday for the flag ceremony. 4. 'Do you stand up when the teacher comes in?' Yes, the whole class stands and says good morning. Visitors are always surprised. 5. 'Is the homework really that hard?' Honestly — yes. But we help each other.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 Vietnamese schools start early? (two reasons)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When do girls wear the ao dai?</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do students do when the teacher comes in?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answer surprises visitors most, do you think? Why?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question.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(you / wear a uniform?)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time / school / finish?)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(your teachers / strict?)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many lessons / you / have?)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 your school / like?) 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question.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 He's friendly and funny.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 – He likes football and computer games.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 – It's big, old and quite noisy.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 – She likes chemistry best.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missing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Can I ______ you something? B: Sure.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time does your school start? B: At half past eight.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you have to wear a uniform? B: No, we don't.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your teachers like? B: They're quite friendly.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many students are in your class? B: About thirty.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exchange conversation with three different partners.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exchange conversation with three different partners.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your partner these questions and add one of your own.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time does school start?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 you have to wear a uniform?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many lessons do you have a 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are your teachers like?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What's your school like?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your partner these questions and add one of your own.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(your own question)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 is a Vietnamese student, B is a visitor from another country. Ask and answer at least eight turns.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Checklist: □ opener ('Can I ask you something?') □ 3 questions each □ one 'What's … like?' □ one follow-up question □ a reaction □ a polite ending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Real-life English: Starting a conversation with someone new and keeping i…</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ask you something?</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What's it like…?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about in your country?</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 That's interesting!</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Here we…</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was nice talking to you.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Speed-friending: two rows facing each other; three minutes per pair, then one row moves along.</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U6.4-W1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five good questions to ask a visitor about their school.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Include: one yes/no question, two Wh- questions, one 'What's … like?', and one about rules with 'Do you have to…?'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Question forms: do/be, Wh-, What's … like?, Do you have to…?</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Yes/no ↗ and Wh- ↘ intonation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Follow-up questions keep a conversation alive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U6L4</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U6.4-H1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the questions.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U6.4-H2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compulsory, optional, term, grade, strict.</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U6.4-H3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five questions for a visitor and your own answers (10 lines).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U6.4-H4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the questions with the correct intonation: yes/no UP, Wh- DOWN. Five times each.</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U6L4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