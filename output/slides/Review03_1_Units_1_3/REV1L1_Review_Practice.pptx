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1L1_1_d1527ef7-587d-45b5-b3cc-fecbe37167ab_hq.mp3" TargetMode="External"/><Relationship Id="rId3" Type="http://schemas.openxmlformats.org/officeDocument/2006/relationships/hyperlink" Target="https://learningenglish.voanews.com/a/lets-learn-english-lesson-12-meet-my-family/3301733.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1  ·  PERIOD 24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1 (Units 1–3):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1–3 (about 70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simple, verbs of liking + V-ing, should/shouldn't and the past simple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collected on the classroom wall list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45-minute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60-second vocabulary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columns: HOBBIES / HEALTH / COMMUNITY. Teams have 60 seconds to write as many words as they can. One point per correct word, minus one per wrong spelling.</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Three tenses and two modals — when do I use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and facts → every day, usually,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 OF LIKING + V-ING: feelings about activities → I enjoy reading.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advice → You should rest.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instructions and signs → Wash your hands!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Time words</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I play / He plays</a:t>
                      </a:r>
                    </a:p>
                  </a:txBody>
                  <a:tcPr>
                    <a:solidFill>
                      <a:srgbClr val="E3F3EE"/>
                    </a:solidFill>
                  </a:tcPr>
                </a:tc>
                <a:tc>
                  <a:txBody>
                    <a:bodyPr/>
                    <a:lstStyle/>
                    <a:p>
                      <a:r>
                        <a:rPr sz="1600" b="0">
                          <a:solidFill>
                            <a:srgbClr val="1B1B1B"/>
                          </a:solidFill>
                          <a:latin typeface="Calibri"/>
                        </a:rPr>
                        <a:t>always, often, every day</a:t>
                      </a:r>
                    </a:p>
                  </a:txBody>
                  <a:tcPr>
                    <a:solidFill>
                      <a:srgbClr val="E3F3EE"/>
                    </a:solidFill>
                  </a:tcPr>
                </a:tc>
              </a:tr>
              <a:tr h="566928">
                <a:tc>
                  <a:txBody>
                    <a:bodyPr/>
                    <a:lstStyle/>
                    <a:p>
                      <a:r>
                        <a:rPr sz="1600" b="0">
                          <a:solidFill>
                            <a:srgbClr val="1B1B1B"/>
                          </a:solidFill>
                          <a:latin typeface="Calibri"/>
                        </a:rPr>
                        <a:t>feeling about an activity</a:t>
                      </a:r>
                    </a:p>
                  </a:txBody>
                  <a:tcPr>
                    <a:solidFill>
                      <a:srgbClr val="FFFFFF"/>
                    </a:solidFill>
                  </a:tcPr>
                </a:tc>
                <a:tc>
                  <a:txBody>
                    <a:bodyPr/>
                    <a:lstStyle/>
                    <a:p>
                      <a:r>
                        <a:rPr sz="1600" b="0">
                          <a:solidFill>
                            <a:srgbClr val="1B1B1B"/>
                          </a:solidFill>
                          <a:latin typeface="Calibri"/>
                        </a:rPr>
                        <a:t>I love playing</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advice</a:t>
                      </a:r>
                    </a:p>
                  </a:txBody>
                  <a:tcPr>
                    <a:solidFill>
                      <a:srgbClr val="E3F3EE"/>
                    </a:solidFill>
                  </a:tcPr>
                </a:tc>
                <a:tc>
                  <a:txBody>
                    <a:bodyPr/>
                    <a:lstStyle/>
                    <a:p>
                      <a:r>
                        <a:rPr sz="1600" b="0">
                          <a:solidFill>
                            <a:srgbClr val="1B1B1B"/>
                          </a:solidFill>
                          <a:latin typeface="Calibri"/>
                        </a:rPr>
                        <a:t>You should play</a:t>
                      </a:r>
                    </a:p>
                  </a:txBody>
                  <a:tcPr>
                    <a:solidFill>
                      <a:srgbClr val="E3F3EE"/>
                    </a:solidFill>
                  </a:tcPr>
                </a:tc>
                <a:tc>
                  <a:txBody>
                    <a:bodyPr/>
                    <a:lstStyle/>
                    <a:p>
                      <a:r>
                        <a:rPr sz="1600" b="0">
                          <a:solidFill>
                            <a:srgbClr val="1B1B1B"/>
                          </a:solidFill>
                          <a:latin typeface="Calibri"/>
                        </a:rPr>
                        <a:t>—</a:t>
                      </a:r>
                    </a:p>
                  </a:txBody>
                  <a:tcPr>
                    <a:solidFill>
                      <a:srgbClr val="E3F3EE"/>
                    </a:solidFill>
                  </a:tcPr>
                </a:tc>
              </a:tr>
              <a:tr h="566928">
                <a:tc>
                  <a:txBody>
                    <a:bodyPr/>
                    <a:lstStyle/>
                    <a:p>
                      <a:r>
                        <a:rPr sz="1600" b="0">
                          <a:solidFill>
                            <a:srgbClr val="1B1B1B"/>
                          </a:solidFill>
                          <a:latin typeface="Calibri"/>
                        </a:rPr>
                        <a:t>instruction</a:t>
                      </a:r>
                    </a:p>
                  </a:txBody>
                  <a:tcPr>
                    <a:solidFill>
                      <a:srgbClr val="FFFFFF"/>
                    </a:solidFill>
                  </a:tcPr>
                </a:tc>
                <a:tc>
                  <a:txBody>
                    <a:bodyPr/>
                    <a:lstStyle/>
                    <a:p>
                      <a:r>
                        <a:rPr sz="1600" b="0">
                          <a:solidFill>
                            <a:srgbClr val="1B1B1B"/>
                          </a:solidFill>
                          <a:latin typeface="Calibri"/>
                        </a:rPr>
                        <a:t>Play!</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finished past</a:t>
                      </a:r>
                    </a:p>
                  </a:txBody>
                  <a:tcPr>
                    <a:solidFill>
                      <a:srgbClr val="E3F3EE"/>
                    </a:solidFill>
                  </a:tcPr>
                </a:tc>
                <a:tc>
                  <a:txBody>
                    <a:bodyPr/>
                    <a:lstStyle/>
                    <a:p>
                      <a:r>
                        <a:rPr sz="1600" b="0">
                          <a:solidFill>
                            <a:srgbClr val="1B1B1B"/>
                          </a:solidFill>
                          <a:latin typeface="Calibri"/>
                        </a:rPr>
                        <a:t>I played / I went</a:t>
                      </a:r>
                    </a:p>
                  </a:txBody>
                  <a:tcPr>
                    <a:solidFill>
                      <a:srgbClr val="E3F3EE"/>
                    </a:solidFill>
                  </a:tcPr>
                </a:tc>
                <a:tc>
                  <a:txBody>
                    <a:bodyPr/>
                    <a:lstStyle/>
                    <a:p>
                      <a:r>
                        <a:rPr sz="1600" b="0">
                          <a:solidFill>
                            <a:srgbClr val="1B1B1B"/>
                          </a:solidFill>
                          <a:latin typeface="Calibri"/>
                        </a:rPr>
                        <a:t>yesterday, last week, ago</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play badminton after school. I love playing with my sister. You should play outside more. Play outside! Yeste…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commonest mix-up is present vs past when a past time word is present in the sentence: *Yesterday I go.* Always check: is there a past time word? Then the verb must be past too.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play badminton after school. I love playing with my sister. You should play outside more. Play outs…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/ə/ vs /ɜː/, final -s, /f/ vs /v/, and the three -ed endings.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 /ɜː/ bird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likes /s/ – plays /z/ – watches /ɪz/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fan – van, five very fresh</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helped /t/ – cleaned /d/ – visited /ɪd/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likes bird-watching and she visited the park on Sunday.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helped him and he cleaned the kitchen.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12: Meet My Family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introducing the people in a family. American English — VOA’s professional actors (Anna, Pete, Marsha, Ms. Weaver…), slowed learner delivery. It lasts 3:09.</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3:09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two people who have different opinions C. introducing the people in a family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Anna tells Marsha about her parents.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I like remembering my old home, too.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This is a family tree.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have many more photos!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Washington, DC is my new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thinking about my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is my _____ and this is my father.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She is my mom's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He is my _____'s brother.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Marsha: Thanks for showing me your _____ photos.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Minh, Thanks for your last email! You asked about my free time, so here it is. My hobby is photography. I started three years ago when my uncle gave me his old camera. I take photos twice a week, usually early in the morning near the lake. I love it because every morning is different. I also try to live healthily, but it isn't easy. I get up at six and I do exercise for twenty minutes, but I eat too much junk food at break time and I don't get enough sleep. My mother says I shouldn't use my phone in bed. She is probably right! Last month my class did something special. We collected 300 old books and gave them to a village school. First we asked every class in our school, then we packed the books in boxes, and finally we travelled to the village by bus. The children sang for us. I'll never forget it. What about you? Write soon! Trang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Trang's hobby and how often does she do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she like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Name one healthy and one unhealthy habit she has.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advice does her mother give?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her class do last month? Give three steps in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verb of liking + 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'too much / too many' phrase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piece of advice with shouldn't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three past simple verbs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sequence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free-time activity you love: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food with much fat and sugar: j______ f______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pain in your head: a h______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rubbish on the ground: l______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person who helps for free: a v______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give money or things: d______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eating the right amount of everything: a b______ d______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hours in front of a phone: s______ t______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enjoy (read / reading) English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(clean / cleaned) the beach.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(didn't go / didn't went) to the meeting.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(Did / Do) you help your neighbour yesterday?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She (is / has) a fever.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(are / were) very tired after the trip.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(Don't / Not) drop litter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 like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go often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enjoy play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very like photography.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Because it is cheap so I like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headache.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He drinks too many milk.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You should to rest.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Not eat street food!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My sister don't get enough sleep.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Yesterday we clean the park.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They goed to the village.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I didn't finished my work.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Did you went to the meeting?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It did be very hot.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She visit her grandmother last week.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He never is 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REV1-S1 with two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REV1-S1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Your hobby (what, when you started, how often, why you like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Your health habits (good, bad, one thing you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Something good you or your class did (when, where, what, how you felt)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Using everything from the last three units together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repeat that,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Speaking test practice in pairs: three minutes, two topics from the last three units.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 (topic sentence – details –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is always tired.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 helped someone.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past simple: check the time word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Verbs of liking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 + bare verb</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didn't / Did + bare verb</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20 words from Units 1–3 with Vietnamese meanings, 5 from each area: hobbies, health, community, feelings.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REV1-W1 (80–100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