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3  ·  LESSON 1  ·  PERIOD 22</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REVIEW &amp; PRACTICE</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Review 1 (Units 1–3): language consolidation</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revise the key vocabulary of Units 1–3 (about 70 items)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the present simple, verbs of liking + V-ing, should/shouldn't and the past simple correctly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correct the 18 typical errors collected on the classroom wall list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prepare for the 45-minute progress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60-second vocabulary storm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Three columns: HOBBIES / HEALTH / COMMUNITY. Teams have 60 seconds to write as many words as they can. One point per correct word, minus one per wrong spelling.</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Write words in teams.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Three tenses and two modals — when do I use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SIMPLE: habits and facts → every day, usually, never.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VERB OF LIKING + V-ING: feelings about activities → I enjoy reading.</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SHOULD / SHOULDN'T: advice → You should rest.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IMPERATIVE: instructions and signs → Wash your hands!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Meaning</a:t>
                      </a:r>
                    </a:p>
                  </a:txBody>
                  <a:tcPr>
                    <a:solidFill>
                      <a:srgbClr val="0E7C66"/>
                    </a:solidFill>
                  </a:tcPr>
                </a:tc>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Time words</a:t>
                      </a:r>
                    </a:p>
                  </a:txBody>
                  <a:tcPr>
                    <a:solidFill>
                      <a:srgbClr val="0E7C66"/>
                    </a:solidFill>
                  </a:tcPr>
                </a:tc>
              </a:tr>
              <a:tr h="566928">
                <a:tc>
                  <a:txBody>
                    <a:bodyPr/>
                    <a:lstStyle/>
                    <a:p>
                      <a:r>
                        <a:rPr sz="1600" b="0">
                          <a:solidFill>
                            <a:srgbClr val="1B1B1B"/>
                          </a:solidFill>
                          <a:latin typeface="Calibri"/>
                        </a:rPr>
                        <a:t>habit</a:t>
                      </a:r>
                    </a:p>
                  </a:txBody>
                  <a:tcPr>
                    <a:solidFill>
                      <a:srgbClr val="E3F3EE"/>
                    </a:solidFill>
                  </a:tcPr>
                </a:tc>
                <a:tc>
                  <a:txBody>
                    <a:bodyPr/>
                    <a:lstStyle/>
                    <a:p>
                      <a:r>
                        <a:rPr sz="1600" b="0">
                          <a:solidFill>
                            <a:srgbClr val="1B1B1B"/>
                          </a:solidFill>
                          <a:latin typeface="Calibri"/>
                        </a:rPr>
                        <a:t>I play / He plays</a:t>
                      </a:r>
                    </a:p>
                  </a:txBody>
                  <a:tcPr>
                    <a:solidFill>
                      <a:srgbClr val="E3F3EE"/>
                    </a:solidFill>
                  </a:tcPr>
                </a:tc>
                <a:tc>
                  <a:txBody>
                    <a:bodyPr/>
                    <a:lstStyle/>
                    <a:p>
                      <a:r>
                        <a:rPr sz="1600" b="0">
                          <a:solidFill>
                            <a:srgbClr val="1B1B1B"/>
                          </a:solidFill>
                          <a:latin typeface="Calibri"/>
                        </a:rPr>
                        <a:t>always, often, every day</a:t>
                      </a:r>
                    </a:p>
                  </a:txBody>
                  <a:tcPr>
                    <a:solidFill>
                      <a:srgbClr val="E3F3EE"/>
                    </a:solidFill>
                  </a:tcPr>
                </a:tc>
              </a:tr>
              <a:tr h="566928">
                <a:tc>
                  <a:txBody>
                    <a:bodyPr/>
                    <a:lstStyle/>
                    <a:p>
                      <a:r>
                        <a:rPr sz="1600" b="0">
                          <a:solidFill>
                            <a:srgbClr val="1B1B1B"/>
                          </a:solidFill>
                          <a:latin typeface="Calibri"/>
                        </a:rPr>
                        <a:t>feeling about an activity</a:t>
                      </a:r>
                    </a:p>
                  </a:txBody>
                  <a:tcPr>
                    <a:solidFill>
                      <a:srgbClr val="FFFFFF"/>
                    </a:solidFill>
                  </a:tcPr>
                </a:tc>
                <a:tc>
                  <a:txBody>
                    <a:bodyPr/>
                    <a:lstStyle/>
                    <a:p>
                      <a:r>
                        <a:rPr sz="1600" b="0">
                          <a:solidFill>
                            <a:srgbClr val="1B1B1B"/>
                          </a:solidFill>
                          <a:latin typeface="Calibri"/>
                        </a:rPr>
                        <a:t>I love playing</a:t>
                      </a:r>
                    </a:p>
                  </a:txBody>
                  <a:tcPr>
                    <a:solidFill>
                      <a:srgbClr val="FFFFFF"/>
                    </a:solidFill>
                  </a:tcPr>
                </a:tc>
                <a:tc>
                  <a:txBody>
                    <a:bodyPr/>
                    <a:lstStyle/>
                    <a:p>
                      <a:r>
                        <a:rPr sz="1600" b="0">
                          <a:solidFill>
                            <a:srgbClr val="1B1B1B"/>
                          </a:solidFill>
                          <a:latin typeface="Calibri"/>
                        </a:rPr>
                        <a:t>—</a:t>
                      </a:r>
                    </a:p>
                  </a:txBody>
                  <a:tcPr>
                    <a:solidFill>
                      <a:srgbClr val="FFFFFF"/>
                    </a:solidFill>
                  </a:tcPr>
                </a:tc>
              </a:tr>
              <a:tr h="566928">
                <a:tc>
                  <a:txBody>
                    <a:bodyPr/>
                    <a:lstStyle/>
                    <a:p>
                      <a:r>
                        <a:rPr sz="1600" b="0">
                          <a:solidFill>
                            <a:srgbClr val="1B1B1B"/>
                          </a:solidFill>
                          <a:latin typeface="Calibri"/>
                        </a:rPr>
                        <a:t>advice</a:t>
                      </a:r>
                    </a:p>
                  </a:txBody>
                  <a:tcPr>
                    <a:solidFill>
                      <a:srgbClr val="E3F3EE"/>
                    </a:solidFill>
                  </a:tcPr>
                </a:tc>
                <a:tc>
                  <a:txBody>
                    <a:bodyPr/>
                    <a:lstStyle/>
                    <a:p>
                      <a:r>
                        <a:rPr sz="1600" b="0">
                          <a:solidFill>
                            <a:srgbClr val="1B1B1B"/>
                          </a:solidFill>
                          <a:latin typeface="Calibri"/>
                        </a:rPr>
                        <a:t>You should play</a:t>
                      </a:r>
                    </a:p>
                  </a:txBody>
                  <a:tcPr>
                    <a:solidFill>
                      <a:srgbClr val="E3F3EE"/>
                    </a:solidFill>
                  </a:tcPr>
                </a:tc>
                <a:tc>
                  <a:txBody>
                    <a:bodyPr/>
                    <a:lstStyle/>
                    <a:p>
                      <a:r>
                        <a:rPr sz="1600" b="0">
                          <a:solidFill>
                            <a:srgbClr val="1B1B1B"/>
                          </a:solidFill>
                          <a:latin typeface="Calibri"/>
                        </a:rPr>
                        <a:t>—</a:t>
                      </a:r>
                    </a:p>
                  </a:txBody>
                  <a:tcPr>
                    <a:solidFill>
                      <a:srgbClr val="E3F3EE"/>
                    </a:solidFill>
                  </a:tcPr>
                </a:tc>
              </a:tr>
              <a:tr h="566928">
                <a:tc>
                  <a:txBody>
                    <a:bodyPr/>
                    <a:lstStyle/>
                    <a:p>
                      <a:r>
                        <a:rPr sz="1600" b="0">
                          <a:solidFill>
                            <a:srgbClr val="1B1B1B"/>
                          </a:solidFill>
                          <a:latin typeface="Calibri"/>
                        </a:rPr>
                        <a:t>instruction</a:t>
                      </a:r>
                    </a:p>
                  </a:txBody>
                  <a:tcPr>
                    <a:solidFill>
                      <a:srgbClr val="FFFFFF"/>
                    </a:solidFill>
                  </a:tcPr>
                </a:tc>
                <a:tc>
                  <a:txBody>
                    <a:bodyPr/>
                    <a:lstStyle/>
                    <a:p>
                      <a:r>
                        <a:rPr sz="1600" b="0">
                          <a:solidFill>
                            <a:srgbClr val="1B1B1B"/>
                          </a:solidFill>
                          <a:latin typeface="Calibri"/>
                        </a:rPr>
                        <a:t>Play!</a:t>
                      </a:r>
                    </a:p>
                  </a:txBody>
                  <a:tcPr>
                    <a:solidFill>
                      <a:srgbClr val="FFFFFF"/>
                    </a:solidFill>
                  </a:tcPr>
                </a:tc>
                <a:tc>
                  <a:txBody>
                    <a:bodyPr/>
                    <a:lstStyle/>
                    <a:p>
                      <a:r>
                        <a:rPr sz="1600" b="0">
                          <a:solidFill>
                            <a:srgbClr val="1B1B1B"/>
                          </a:solidFill>
                          <a:latin typeface="Calibri"/>
                        </a:rPr>
                        <a:t>—</a:t>
                      </a:r>
                    </a:p>
                  </a:txBody>
                  <a:tcPr>
                    <a:solidFill>
                      <a:srgbClr val="FFFFFF"/>
                    </a:solidFill>
                  </a:tcPr>
                </a:tc>
              </a:tr>
              <a:tr h="566928">
                <a:tc>
                  <a:txBody>
                    <a:bodyPr/>
                    <a:lstStyle/>
                    <a:p>
                      <a:r>
                        <a:rPr sz="1600" b="0">
                          <a:solidFill>
                            <a:srgbClr val="1B1B1B"/>
                          </a:solidFill>
                          <a:latin typeface="Calibri"/>
                        </a:rPr>
                        <a:t>finished past</a:t>
                      </a:r>
                    </a:p>
                  </a:txBody>
                  <a:tcPr>
                    <a:solidFill>
                      <a:srgbClr val="E3F3EE"/>
                    </a:solidFill>
                  </a:tcPr>
                </a:tc>
                <a:tc>
                  <a:txBody>
                    <a:bodyPr/>
                    <a:lstStyle/>
                    <a:p>
                      <a:r>
                        <a:rPr sz="1600" b="0">
                          <a:solidFill>
                            <a:srgbClr val="1B1B1B"/>
                          </a:solidFill>
                          <a:latin typeface="Calibri"/>
                        </a:rPr>
                        <a:t>I played / I went</a:t>
                      </a:r>
                    </a:p>
                  </a:txBody>
                  <a:tcPr>
                    <a:solidFill>
                      <a:srgbClr val="E3F3EE"/>
                    </a:solidFill>
                  </a:tcPr>
                </a:tc>
                <a:tc>
                  <a:txBody>
                    <a:bodyPr/>
                    <a:lstStyle/>
                    <a:p>
                      <a:r>
                        <a:rPr sz="1600" b="0">
                          <a:solidFill>
                            <a:srgbClr val="1B1B1B"/>
                          </a:solidFill>
                          <a:latin typeface="Calibri"/>
                        </a:rPr>
                        <a:t>yesterday, last week, ago</a:t>
                      </a:r>
                    </a:p>
                  </a:txBody>
                  <a:tcPr>
                    <a:solidFill>
                      <a:srgbClr val="E3F3EE"/>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usually play badminton after school. I love playing with my sister. You should play outside more. Play outside! Yeste…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The commonest mix-up is present vs past when a past time word is present in the sentence: *Yesterday I go.* Always check: is there a past time word? Then the verb must be past too.</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 usually play badminton after school. I love playing with my sister. You should play outside more. Play outs…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Sounds of Units 1–3</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Four checks that will be tested: /ə/ vs /ɜː/, final -s, /f/ vs /v/, and the three -ed endings.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/ə/ teacher – /ɜː/ bird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likes /s/ – plays /z/ – watches /ɪz/</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fan – van, five very fresh</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helped /t/ – cleaned /d/ – visited /ɪd/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My teacher likes bird-watching and she visited the park on Sunday.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Five very healthy vegetables helped him and he cleaned the kitchen.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12: Meet My Family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introducing the people in a family. American English — VOA’s professional actors (Anna, Pete, Marsha, Ms. Weaver…), slowed learner delivery. It lasts 3:09.</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3:09 · American English — VOA’s professional actors (Anna, Pete, Marsha, Ms. Weaver…), slowed learner delivery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the places in a neighbourhood B. two people who have different opinions C. introducing the people in a family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Anna tells Marsha about her parents.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But I like remembering my old home, too.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This is a family tree.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I have many more photos!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Washington, DC is my new home.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I'm thinking about my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This is my _____ and this is my father.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She is my mom's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He is my _____'s brother.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Marsha: Thanks for showing me your _____ photos.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Review reading: A letter from a pen friend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Minh, Thanks for your last email! You asked about my free time, so here it is. My hobby is photography. I started three years ago when my uncle gave me his old camera. I take photos twice a week, usually early in the morning near the lake. I love it because every morning is different. I also try to live healthily, but it isn't easy. I get up at six and I do exercise for twenty minutes, but I eat too much junk food at break time and I don't get enough sleep. My mother says I shouldn't use my phone in bed. She is probably right! Last month my class did something special. We collected 300 old books and gave them to a village school. First we asked every class in our school, then we packed the books in boxes, and finally we travelled to the village by bus. The children sang for us. I'll never forget it. What about you? Write soon! Trang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 in full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Trang's hobby and how often does she do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does she like it?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Name one healthy and one unhealthy habit she has.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advice does her mother give?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did her class do last month? Give three steps in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in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one verb of liking + V-ing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one 'too much / too many' phrase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piece of advice with shouldn't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three past simple verbs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two sequence words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1–3.</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free-time activity you love: h______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food with much fat and sugar: j______ f______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pain in your head: a h______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rubbish on the ground: l______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person who helps for free: a v______</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 from Units 1–3.</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to give money or things: d______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eating the right amount of everything: a b______ d______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hours in front of a phone: s______ t______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brother (collect / collects) coins.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enjoy (read / reading) English books.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 (should / should to) drink more water.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He eats too (much / many) sweets.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Last Sunday we (clean / cleaned) the beach.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Circle the correct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They (didn't go / didn't went) to the meeting.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(Did / Do) you help your neighbour yesterday?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She (is / has) a fever.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We (are / were) very tired after the trip.</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(Don't / Not) drop litter here!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He like football.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go often cycling.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enjoy play chess.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 very like photography.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Because it is cheap so I like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She is headache.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7. He drinks too many milk.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8. You should to rest.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9. We not should stay up late.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10. Not eat street food!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(3/4)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11. My sister don't get enough sleep.</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12. Yesterday we clean the park.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13. They goed to the village.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14. I didn't finished my work.</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15. Did you went to the meeting?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(4/4)</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16. It did be very hot.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17. She visit her grandmother last week.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18. He never is late.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REV1-S1 with two different partners.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REV1-S1 with two different partners.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Work in pairs. Talk for two minutes on ONE topic card. Your partner asks two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A: Your hobby (what, when you started, how often, why you like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B: Your health habits (good, bad, one thing you should change)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Card C: Something good you or your class did (when, where, what, how you felt)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Real-life English: Using everything from the last three units together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think…</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do you say … in English?</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Can you repeat that, please?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but I think…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Speaking test practice in pairs: three minutes, two topics from the last three units.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ONE and write 80–100 words.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paragraph about your hobby (topic sentence – details – closing).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An email of advice to a friend who is always tired.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A diary entry about a day when you helped someone.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simple vs past simple: check the time word</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Verbs of liking + V-ing</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should / shouldn't + bare verb</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didn't / Did + bare verb</a:t>
            </a:r>
          </a:p>
        </p:txBody>
      </p:sp>
      <p:sp>
        <p:nvSpPr>
          <p:cNvPr id="16" name="Rounded Rectangle 15"/>
          <p:cNvSpPr/>
          <p:nvPr/>
        </p:nvSpPr>
        <p:spPr>
          <a:xfrm>
            <a:off x="731520" y="544068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51560" y="551383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four pronunciation checks of Units 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REV1L1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Revision — Learn the 18 wall-list corrections. Write each correct sentence twice.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20 words from Units 1–3 with Vietnamese meanings, 5 from each area: hobbies, health, community, feelings.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chosen text from REV1-W1 (80–100 words) and hand it in.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REV1-H4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Prepare all three speaking cards. Practise each for two minutes.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REV1L1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