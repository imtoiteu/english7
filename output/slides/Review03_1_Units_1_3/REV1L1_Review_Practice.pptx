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audio/FREV1L1_1_d1527ef7-587d-45b5-b3cc-fecbe37167ab_hq.mp3"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685800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Oval 3"/>
          <p:cNvSpPr/>
          <p:nvPr/>
        </p:nvSpPr>
        <p:spPr>
          <a:xfrm>
            <a:off x="-1097280" y="4389120"/>
            <a:ext cx="6858000" cy="4114800"/>
          </a:xfrm>
          <a:prstGeom prst="ellipse">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Oval 4"/>
          <p:cNvSpPr/>
          <p:nvPr/>
        </p:nvSpPr>
        <p:spPr>
          <a:xfrm>
            <a:off x="8778240" y="-1828800"/>
            <a:ext cx="5486400" cy="4572000"/>
          </a:xfrm>
          <a:prstGeom prst="ellipse">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6" name="TextBox 5"/>
          <p:cNvSpPr txBox="1"/>
          <p:nvPr/>
        </p:nvSpPr>
        <p:spPr>
          <a:xfrm>
            <a:off x="822960" y="1371600"/>
            <a:ext cx="10515600" cy="548640"/>
          </a:xfrm>
          <a:prstGeom prst="rect">
            <a:avLst/>
          </a:prstGeom>
          <a:noFill/>
        </p:spPr>
        <p:txBody>
          <a:bodyPr wrap="square" anchor="t">
            <a:spAutoFit/>
          </a:bodyPr>
          <a:lstStyle/>
          <a:p>
            <a:pPr algn="l">
              <a:lnSpc>
                <a:spcPct val="100000"/>
              </a:lnSpc>
              <a:spcAft>
                <a:spcPts val="600"/>
              </a:spcAft>
            </a:pPr>
            <a:r>
              <a:rPr sz="2000" b="1" i="0">
                <a:solidFill>
                  <a:srgbClr val="FFFFFF"/>
                </a:solidFill>
                <a:latin typeface="Calibri"/>
              </a:rPr>
              <a:t>UNIT 3  ·  LESSON 1  ·  PERIOD 24</a:t>
            </a:r>
          </a:p>
        </p:txBody>
      </p:sp>
      <p:sp>
        <p:nvSpPr>
          <p:cNvPr id="7" name="TextBox 6"/>
          <p:cNvSpPr txBox="1"/>
          <p:nvPr/>
        </p:nvSpPr>
        <p:spPr>
          <a:xfrm>
            <a:off x="822960" y="2011680"/>
            <a:ext cx="10515600" cy="1463040"/>
          </a:xfrm>
          <a:prstGeom prst="rect">
            <a:avLst/>
          </a:prstGeom>
          <a:noFill/>
        </p:spPr>
        <p:txBody>
          <a:bodyPr wrap="square" anchor="t">
            <a:spAutoFit/>
          </a:bodyPr>
          <a:lstStyle/>
          <a:p>
            <a:pPr algn="l">
              <a:lnSpc>
                <a:spcPct val="100000"/>
              </a:lnSpc>
              <a:spcAft>
                <a:spcPts val="600"/>
              </a:spcAft>
            </a:pPr>
            <a:r>
              <a:rPr sz="3000" b="1" i="0">
                <a:solidFill>
                  <a:srgbClr val="E7F1FA"/>
                </a:solidFill>
                <a:latin typeface="Calibri"/>
              </a:rPr>
              <a:t>REVIEW &amp; PRACTICE</a:t>
            </a:r>
          </a:p>
        </p:txBody>
      </p:sp>
      <p:sp>
        <p:nvSpPr>
          <p:cNvPr id="8" name="TextBox 7"/>
          <p:cNvSpPr txBox="1"/>
          <p:nvPr/>
        </p:nvSpPr>
        <p:spPr>
          <a:xfrm>
            <a:off x="822960" y="2926080"/>
            <a:ext cx="10515600" cy="2011680"/>
          </a:xfrm>
          <a:prstGeom prst="rect">
            <a:avLst/>
          </a:prstGeom>
          <a:noFill/>
        </p:spPr>
        <p:txBody>
          <a:bodyPr wrap="square" anchor="t">
            <a:spAutoFit/>
          </a:bodyPr>
          <a:lstStyle/>
          <a:p>
            <a:pPr algn="l">
              <a:lnSpc>
                <a:spcPct val="100000"/>
              </a:lnSpc>
              <a:spcAft>
                <a:spcPts val="600"/>
              </a:spcAft>
            </a:pPr>
            <a:r>
              <a:rPr sz="4400" b="1" i="0">
                <a:solidFill>
                  <a:srgbClr val="FFFFFF"/>
                </a:solidFill>
                <a:latin typeface="Calibri"/>
              </a:rPr>
              <a:t>Review 1 (Units 1–3): language consolidation</a:t>
            </a:r>
          </a:p>
        </p:txBody>
      </p:sp>
      <p:sp>
        <p:nvSpPr>
          <p:cNvPr id="9" name="TextBox 8"/>
          <p:cNvSpPr txBox="1"/>
          <p:nvPr/>
        </p:nvSpPr>
        <p:spPr>
          <a:xfrm>
            <a:off x="822960" y="5303520"/>
            <a:ext cx="10515600" cy="731520"/>
          </a:xfrm>
          <a:prstGeom prst="rect">
            <a:avLst/>
          </a:prstGeom>
          <a:noFill/>
        </p:spPr>
        <p:txBody>
          <a:bodyPr wrap="square" anchor="t">
            <a:spAutoFit/>
          </a:bodyPr>
          <a:lstStyle/>
          <a:p>
            <a:pPr algn="l">
              <a:lnSpc>
                <a:spcPct val="100000"/>
              </a:lnSpc>
              <a:spcAft>
                <a:spcPts val="600"/>
              </a:spcAft>
            </a:pPr>
            <a:r>
              <a:rPr sz="2000" b="0" i="0">
                <a:solidFill>
                  <a:srgbClr val="E7F1FA"/>
                </a:solidFill>
                <a:latin typeface="Calibri"/>
              </a:rPr>
              <a:t>English 7  ·  Let's start! 👋</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Today we will learn to…</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63040"/>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Rectangle 8"/>
          <p:cNvSpPr/>
          <p:nvPr/>
        </p:nvSpPr>
        <p:spPr>
          <a:xfrm>
            <a:off x="640080" y="1463040"/>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0" name="TextBox 9"/>
          <p:cNvSpPr txBox="1"/>
          <p:nvPr/>
        </p:nvSpPr>
        <p:spPr>
          <a:xfrm>
            <a:off x="960120" y="1508760"/>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1</a:t>
            </a:r>
          </a:p>
        </p:txBody>
      </p:sp>
      <p:sp>
        <p:nvSpPr>
          <p:cNvPr id="11" name="TextBox 10"/>
          <p:cNvSpPr txBox="1"/>
          <p:nvPr/>
        </p:nvSpPr>
        <p:spPr>
          <a:xfrm>
            <a:off x="1737360" y="1508760"/>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revise the key vocabulary of Units 1–3 (about 70 items)</a:t>
            </a:r>
          </a:p>
        </p:txBody>
      </p:sp>
      <p:sp>
        <p:nvSpPr>
          <p:cNvPr id="12" name="Rounded Rectangle 11"/>
          <p:cNvSpPr/>
          <p:nvPr/>
        </p:nvSpPr>
        <p:spPr>
          <a:xfrm>
            <a:off x="640080" y="2450592"/>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Rectangle 12"/>
          <p:cNvSpPr/>
          <p:nvPr/>
        </p:nvSpPr>
        <p:spPr>
          <a:xfrm>
            <a:off x="640080" y="2450592"/>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4" name="TextBox 13"/>
          <p:cNvSpPr txBox="1"/>
          <p:nvPr/>
        </p:nvSpPr>
        <p:spPr>
          <a:xfrm>
            <a:off x="960120" y="2496312"/>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2</a:t>
            </a:r>
          </a:p>
        </p:txBody>
      </p:sp>
      <p:sp>
        <p:nvSpPr>
          <p:cNvPr id="15" name="TextBox 14"/>
          <p:cNvSpPr txBox="1"/>
          <p:nvPr/>
        </p:nvSpPr>
        <p:spPr>
          <a:xfrm>
            <a:off x="1737360" y="2496312"/>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use the present simple, verbs of liking + V-ing, should/shouldn't and the past simple correctly</a:t>
            </a:r>
          </a:p>
        </p:txBody>
      </p:sp>
      <p:sp>
        <p:nvSpPr>
          <p:cNvPr id="16" name="Rounded Rectangle 15"/>
          <p:cNvSpPr/>
          <p:nvPr/>
        </p:nvSpPr>
        <p:spPr>
          <a:xfrm>
            <a:off x="640080" y="3438144"/>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Rectangle 16"/>
          <p:cNvSpPr/>
          <p:nvPr/>
        </p:nvSpPr>
        <p:spPr>
          <a:xfrm>
            <a:off x="640080" y="3438144"/>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960120" y="3483864"/>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3</a:t>
            </a:r>
          </a:p>
        </p:txBody>
      </p:sp>
      <p:sp>
        <p:nvSpPr>
          <p:cNvPr id="19" name="TextBox 18"/>
          <p:cNvSpPr txBox="1"/>
          <p:nvPr/>
        </p:nvSpPr>
        <p:spPr>
          <a:xfrm>
            <a:off x="1737360" y="3483864"/>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correct the 18 typical errors collected on the classroom wall list</a:t>
            </a:r>
          </a:p>
        </p:txBody>
      </p:sp>
      <p:sp>
        <p:nvSpPr>
          <p:cNvPr id="20" name="Rounded Rectangle 19"/>
          <p:cNvSpPr/>
          <p:nvPr/>
        </p:nvSpPr>
        <p:spPr>
          <a:xfrm>
            <a:off x="640080" y="4425696"/>
            <a:ext cx="1088136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1" name="Rectangle 20"/>
          <p:cNvSpPr/>
          <p:nvPr/>
        </p:nvSpPr>
        <p:spPr>
          <a:xfrm>
            <a:off x="640080" y="4425696"/>
            <a:ext cx="128016" cy="86868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22" name="TextBox 21"/>
          <p:cNvSpPr txBox="1"/>
          <p:nvPr/>
        </p:nvSpPr>
        <p:spPr>
          <a:xfrm>
            <a:off x="960120" y="4471416"/>
            <a:ext cx="914400" cy="777240"/>
          </a:xfrm>
          <a:prstGeom prst="rect">
            <a:avLst/>
          </a:prstGeom>
          <a:noFill/>
        </p:spPr>
        <p:txBody>
          <a:bodyPr wrap="square" anchor="ctr">
            <a:spAutoFit/>
          </a:bodyPr>
          <a:lstStyle/>
          <a:p>
            <a:pPr algn="l">
              <a:lnSpc>
                <a:spcPct val="100000"/>
              </a:lnSpc>
              <a:spcAft>
                <a:spcPts val="600"/>
              </a:spcAft>
            </a:pPr>
            <a:r>
              <a:rPr sz="2600" b="1" i="0">
                <a:solidFill>
                  <a:srgbClr val="1E6FB8"/>
                </a:solidFill>
                <a:latin typeface="Calibri"/>
              </a:rPr>
              <a:t>4</a:t>
            </a:r>
          </a:p>
        </p:txBody>
      </p:sp>
      <p:sp>
        <p:nvSpPr>
          <p:cNvPr id="23" name="TextBox 22"/>
          <p:cNvSpPr txBox="1"/>
          <p:nvPr/>
        </p:nvSpPr>
        <p:spPr>
          <a:xfrm>
            <a:off x="1737360" y="4471416"/>
            <a:ext cx="950976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prepare for the 45-minute progress test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E07A1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Warm-up: 60-second vocabulary storm  (5')</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63040"/>
            <a:ext cx="10881360" cy="4206240"/>
          </a:xfrm>
          <a:prstGeom prst="roundRect">
            <a:avLst>
              <a:gd name="adj" fmla="val 6000"/>
            </a:avLst>
          </a:prstGeom>
          <a:solidFill>
            <a:srgbClr val="FDF2E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737360"/>
            <a:ext cx="10149840" cy="82296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 Three columns: HOBBIES / HEALTH / COMMUNITY. Teams have 60 seconds to write as many words as they can. One point per correct word, minus one per wrong spelling.</a:t>
            </a:r>
          </a:p>
        </p:txBody>
      </p:sp>
      <p:sp>
        <p:nvSpPr>
          <p:cNvPr id="10" name="TextBox 9"/>
          <p:cNvSpPr txBox="1"/>
          <p:nvPr/>
        </p:nvSpPr>
        <p:spPr>
          <a:xfrm>
            <a:off x="1005840" y="5852160"/>
            <a:ext cx="10149840" cy="640080"/>
          </a:xfrm>
          <a:prstGeom prst="rect">
            <a:avLst/>
          </a:prstGeom>
          <a:noFill/>
        </p:spPr>
        <p:txBody>
          <a:bodyPr wrap="square" anchor="t">
            <a:spAutoFit/>
          </a:bodyPr>
          <a:lstStyle/>
          <a:p>
            <a:pPr algn="l">
              <a:lnSpc>
                <a:spcPct val="100000"/>
              </a:lnSpc>
              <a:spcAft>
                <a:spcPts val="600"/>
              </a:spcAft>
            </a:pPr>
            <a:r>
              <a:rPr sz="1800" b="0" i="1">
                <a:solidFill>
                  <a:srgbClr val="6B7280"/>
                </a:solidFill>
                <a:latin typeface="Calibri"/>
              </a:rPr>
              <a:t>👉 You: Write words in teams.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Grammar: Three tenses and two modals — when do I use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63040"/>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36192"/>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PRESENT SIMPLE: habits and facts → every day, usually, never.</a:t>
            </a:r>
          </a:p>
        </p:txBody>
      </p:sp>
      <p:sp>
        <p:nvSpPr>
          <p:cNvPr id="10" name="Rounded Rectangle 9"/>
          <p:cNvSpPr/>
          <p:nvPr/>
        </p:nvSpPr>
        <p:spPr>
          <a:xfrm>
            <a:off x="640080" y="2487168"/>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960120" y="2560320"/>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VERB OF LIKING + V-ING: feelings about activities → I enjoy reading.</a:t>
            </a:r>
          </a:p>
        </p:txBody>
      </p:sp>
      <p:sp>
        <p:nvSpPr>
          <p:cNvPr id="12" name="Rounded Rectangle 11"/>
          <p:cNvSpPr/>
          <p:nvPr/>
        </p:nvSpPr>
        <p:spPr>
          <a:xfrm>
            <a:off x="640080" y="3511296"/>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960120" y="3584448"/>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SHOULD / SHOULDN'T: advice → You should rest.</a:t>
            </a:r>
          </a:p>
        </p:txBody>
      </p:sp>
      <p:sp>
        <p:nvSpPr>
          <p:cNvPr id="14" name="Rounded Rectangle 13"/>
          <p:cNvSpPr/>
          <p:nvPr/>
        </p:nvSpPr>
        <p:spPr>
          <a:xfrm>
            <a:off x="640080" y="4535424"/>
            <a:ext cx="10881360" cy="91440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960120" y="4608576"/>
            <a:ext cx="10332720" cy="7772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IMPERATIVE: instructions and signs → Wash your hands!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The form</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graphicFrame>
        <p:nvGraphicFramePr>
          <p:cNvPr id="8" name="Table 7"/>
          <p:cNvGraphicFramePr>
            <a:graphicFrameLocks noGrp="1"/>
          </p:cNvGraphicFramePr>
          <p:nvPr/>
        </p:nvGraphicFramePr>
        <p:xfrm>
          <a:off x="548640" y="1463040"/>
          <a:ext cx="11064240" cy="3401568"/>
        </p:xfrm>
        <a:graphic>
          <a:graphicData uri="http://schemas.openxmlformats.org/drawingml/2006/table">
            <a:tbl>
              <a:tblPr firstRow="1" bandRow="1">
                <a:tableStyleId>{5C22544A-7EE6-4342-B048-85BDC9FD1C3A}</a:tableStyleId>
              </a:tblPr>
              <a:tblGrid>
                <a:gridCol w="3688080"/>
                <a:gridCol w="3688080"/>
                <a:gridCol w="3688080"/>
              </a:tblGrid>
              <a:tr h="566928">
                <a:tc>
                  <a:txBody>
                    <a:bodyPr/>
                    <a:lstStyle/>
                    <a:p>
                      <a:r>
                        <a:rPr sz="1600" b="1">
                          <a:solidFill>
                            <a:srgbClr val="FFFFFF"/>
                          </a:solidFill>
                          <a:latin typeface="Calibri"/>
                        </a:rPr>
                        <a:t>Meaning</a:t>
                      </a:r>
                    </a:p>
                  </a:txBody>
                  <a:tcPr>
                    <a:solidFill>
                      <a:srgbClr val="0E7C66"/>
                    </a:solidFill>
                  </a:tcPr>
                </a:tc>
                <a:tc>
                  <a:txBody>
                    <a:bodyPr/>
                    <a:lstStyle/>
                    <a:p>
                      <a:r>
                        <a:rPr sz="1600" b="1">
                          <a:solidFill>
                            <a:srgbClr val="FFFFFF"/>
                          </a:solidFill>
                          <a:latin typeface="Calibri"/>
                        </a:rPr>
                        <a:t>Structure</a:t>
                      </a:r>
                    </a:p>
                  </a:txBody>
                  <a:tcPr>
                    <a:solidFill>
                      <a:srgbClr val="0E7C66"/>
                    </a:solidFill>
                  </a:tcPr>
                </a:tc>
                <a:tc>
                  <a:txBody>
                    <a:bodyPr/>
                    <a:lstStyle/>
                    <a:p>
                      <a:r>
                        <a:rPr sz="1600" b="1">
                          <a:solidFill>
                            <a:srgbClr val="FFFFFF"/>
                          </a:solidFill>
                          <a:latin typeface="Calibri"/>
                        </a:rPr>
                        <a:t>Time words</a:t>
                      </a:r>
                    </a:p>
                  </a:txBody>
                  <a:tcPr>
                    <a:solidFill>
                      <a:srgbClr val="0E7C66"/>
                    </a:solidFill>
                  </a:tcPr>
                </a:tc>
              </a:tr>
              <a:tr h="566928">
                <a:tc>
                  <a:txBody>
                    <a:bodyPr/>
                    <a:lstStyle/>
                    <a:p>
                      <a:r>
                        <a:rPr sz="1600" b="0">
                          <a:solidFill>
                            <a:srgbClr val="1B1B1B"/>
                          </a:solidFill>
                          <a:latin typeface="Calibri"/>
                        </a:rPr>
                        <a:t>habit</a:t>
                      </a:r>
                    </a:p>
                  </a:txBody>
                  <a:tcPr>
                    <a:solidFill>
                      <a:srgbClr val="E3F3EE"/>
                    </a:solidFill>
                  </a:tcPr>
                </a:tc>
                <a:tc>
                  <a:txBody>
                    <a:bodyPr/>
                    <a:lstStyle/>
                    <a:p>
                      <a:r>
                        <a:rPr sz="1600" b="0">
                          <a:solidFill>
                            <a:srgbClr val="1B1B1B"/>
                          </a:solidFill>
                          <a:latin typeface="Calibri"/>
                        </a:rPr>
                        <a:t>I play / He plays</a:t>
                      </a:r>
                    </a:p>
                  </a:txBody>
                  <a:tcPr>
                    <a:solidFill>
                      <a:srgbClr val="E3F3EE"/>
                    </a:solidFill>
                  </a:tcPr>
                </a:tc>
                <a:tc>
                  <a:txBody>
                    <a:bodyPr/>
                    <a:lstStyle/>
                    <a:p>
                      <a:r>
                        <a:rPr sz="1600" b="0">
                          <a:solidFill>
                            <a:srgbClr val="1B1B1B"/>
                          </a:solidFill>
                          <a:latin typeface="Calibri"/>
                        </a:rPr>
                        <a:t>always, often, every day</a:t>
                      </a:r>
                    </a:p>
                  </a:txBody>
                  <a:tcPr>
                    <a:solidFill>
                      <a:srgbClr val="E3F3EE"/>
                    </a:solidFill>
                  </a:tcPr>
                </a:tc>
              </a:tr>
              <a:tr h="566928">
                <a:tc>
                  <a:txBody>
                    <a:bodyPr/>
                    <a:lstStyle/>
                    <a:p>
                      <a:r>
                        <a:rPr sz="1600" b="0">
                          <a:solidFill>
                            <a:srgbClr val="1B1B1B"/>
                          </a:solidFill>
                          <a:latin typeface="Calibri"/>
                        </a:rPr>
                        <a:t>feeling about an activity</a:t>
                      </a:r>
                    </a:p>
                  </a:txBody>
                  <a:tcPr>
                    <a:solidFill>
                      <a:srgbClr val="FFFFFF"/>
                    </a:solidFill>
                  </a:tcPr>
                </a:tc>
                <a:tc>
                  <a:txBody>
                    <a:bodyPr/>
                    <a:lstStyle/>
                    <a:p>
                      <a:r>
                        <a:rPr sz="1600" b="0">
                          <a:solidFill>
                            <a:srgbClr val="1B1B1B"/>
                          </a:solidFill>
                          <a:latin typeface="Calibri"/>
                        </a:rPr>
                        <a:t>I love playing</a:t>
                      </a:r>
                    </a:p>
                  </a:txBody>
                  <a:tcPr>
                    <a:solidFill>
                      <a:srgbClr val="FFFFFF"/>
                    </a:solidFill>
                  </a:tcPr>
                </a:tc>
                <a:tc>
                  <a:txBody>
                    <a:bodyPr/>
                    <a:lstStyle/>
                    <a:p>
                      <a:r>
                        <a:rPr sz="1600" b="0">
                          <a:solidFill>
                            <a:srgbClr val="1B1B1B"/>
                          </a:solidFill>
                          <a:latin typeface="Calibri"/>
                        </a:rPr>
                        <a:t>—</a:t>
                      </a:r>
                    </a:p>
                  </a:txBody>
                  <a:tcPr>
                    <a:solidFill>
                      <a:srgbClr val="FFFFFF"/>
                    </a:solidFill>
                  </a:tcPr>
                </a:tc>
              </a:tr>
              <a:tr h="566928">
                <a:tc>
                  <a:txBody>
                    <a:bodyPr/>
                    <a:lstStyle/>
                    <a:p>
                      <a:r>
                        <a:rPr sz="1600" b="0">
                          <a:solidFill>
                            <a:srgbClr val="1B1B1B"/>
                          </a:solidFill>
                          <a:latin typeface="Calibri"/>
                        </a:rPr>
                        <a:t>advice</a:t>
                      </a:r>
                    </a:p>
                  </a:txBody>
                  <a:tcPr>
                    <a:solidFill>
                      <a:srgbClr val="E3F3EE"/>
                    </a:solidFill>
                  </a:tcPr>
                </a:tc>
                <a:tc>
                  <a:txBody>
                    <a:bodyPr/>
                    <a:lstStyle/>
                    <a:p>
                      <a:r>
                        <a:rPr sz="1600" b="0">
                          <a:solidFill>
                            <a:srgbClr val="1B1B1B"/>
                          </a:solidFill>
                          <a:latin typeface="Calibri"/>
                        </a:rPr>
                        <a:t>You should play</a:t>
                      </a:r>
                    </a:p>
                  </a:txBody>
                  <a:tcPr>
                    <a:solidFill>
                      <a:srgbClr val="E3F3EE"/>
                    </a:solidFill>
                  </a:tcPr>
                </a:tc>
                <a:tc>
                  <a:txBody>
                    <a:bodyPr/>
                    <a:lstStyle/>
                    <a:p>
                      <a:r>
                        <a:rPr sz="1600" b="0">
                          <a:solidFill>
                            <a:srgbClr val="1B1B1B"/>
                          </a:solidFill>
                          <a:latin typeface="Calibri"/>
                        </a:rPr>
                        <a:t>—</a:t>
                      </a:r>
                    </a:p>
                  </a:txBody>
                  <a:tcPr>
                    <a:solidFill>
                      <a:srgbClr val="E3F3EE"/>
                    </a:solidFill>
                  </a:tcPr>
                </a:tc>
              </a:tr>
              <a:tr h="566928">
                <a:tc>
                  <a:txBody>
                    <a:bodyPr/>
                    <a:lstStyle/>
                    <a:p>
                      <a:r>
                        <a:rPr sz="1600" b="0">
                          <a:solidFill>
                            <a:srgbClr val="1B1B1B"/>
                          </a:solidFill>
                          <a:latin typeface="Calibri"/>
                        </a:rPr>
                        <a:t>instruction</a:t>
                      </a:r>
                    </a:p>
                  </a:txBody>
                  <a:tcPr>
                    <a:solidFill>
                      <a:srgbClr val="FFFFFF"/>
                    </a:solidFill>
                  </a:tcPr>
                </a:tc>
                <a:tc>
                  <a:txBody>
                    <a:bodyPr/>
                    <a:lstStyle/>
                    <a:p>
                      <a:r>
                        <a:rPr sz="1600" b="0">
                          <a:solidFill>
                            <a:srgbClr val="1B1B1B"/>
                          </a:solidFill>
                          <a:latin typeface="Calibri"/>
                        </a:rPr>
                        <a:t>Play!</a:t>
                      </a:r>
                    </a:p>
                  </a:txBody>
                  <a:tcPr>
                    <a:solidFill>
                      <a:srgbClr val="FFFFFF"/>
                    </a:solidFill>
                  </a:tcPr>
                </a:tc>
                <a:tc>
                  <a:txBody>
                    <a:bodyPr/>
                    <a:lstStyle/>
                    <a:p>
                      <a:r>
                        <a:rPr sz="1600" b="0">
                          <a:solidFill>
                            <a:srgbClr val="1B1B1B"/>
                          </a:solidFill>
                          <a:latin typeface="Calibri"/>
                        </a:rPr>
                        <a:t>—</a:t>
                      </a:r>
                    </a:p>
                  </a:txBody>
                  <a:tcPr>
                    <a:solidFill>
                      <a:srgbClr val="FFFFFF"/>
                    </a:solidFill>
                  </a:tcPr>
                </a:tc>
              </a:tr>
              <a:tr h="566928">
                <a:tc>
                  <a:txBody>
                    <a:bodyPr/>
                    <a:lstStyle/>
                    <a:p>
                      <a:r>
                        <a:rPr sz="1600" b="0">
                          <a:solidFill>
                            <a:srgbClr val="1B1B1B"/>
                          </a:solidFill>
                          <a:latin typeface="Calibri"/>
                        </a:rPr>
                        <a:t>finished past</a:t>
                      </a:r>
                    </a:p>
                  </a:txBody>
                  <a:tcPr>
                    <a:solidFill>
                      <a:srgbClr val="E3F3EE"/>
                    </a:solidFill>
                  </a:tcPr>
                </a:tc>
                <a:tc>
                  <a:txBody>
                    <a:bodyPr/>
                    <a:lstStyle/>
                    <a:p>
                      <a:r>
                        <a:rPr sz="1600" b="0">
                          <a:solidFill>
                            <a:srgbClr val="1B1B1B"/>
                          </a:solidFill>
                          <a:latin typeface="Calibri"/>
                        </a:rPr>
                        <a:t>I played / I went</a:t>
                      </a:r>
                    </a:p>
                  </a:txBody>
                  <a:tcPr>
                    <a:solidFill>
                      <a:srgbClr val="E3F3EE"/>
                    </a:solidFill>
                  </a:tcPr>
                </a:tc>
                <a:tc>
                  <a:txBody>
                    <a:bodyPr/>
                    <a:lstStyle/>
                    <a:p>
                      <a:r>
                        <a:rPr sz="1600" b="0">
                          <a:solidFill>
                            <a:srgbClr val="1B1B1B"/>
                          </a:solidFill>
                          <a:latin typeface="Calibri"/>
                        </a:rPr>
                        <a:t>yesterday, last week, ago</a:t>
                      </a:r>
                    </a:p>
                  </a:txBody>
                  <a:tcPr>
                    <a:solidFill>
                      <a:srgbClr val="E3F3EE"/>
                    </a:solidFill>
                  </a:tcPr>
                </a:tc>
              </a:tr>
            </a:tbl>
          </a:graphicData>
        </a:graphic>
      </p:graphicFrame>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Look at the examples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554480"/>
            <a:ext cx="10698480" cy="777240"/>
          </a:xfrm>
          <a:prstGeom prst="roundRect">
            <a:avLst>
              <a:gd name="adj" fmla="val 6000"/>
            </a:avLst>
          </a:prstGeom>
          <a:solidFill>
            <a:srgbClr val="FFFFFF"/>
          </a:solidFill>
          <a:ln w="19050">
            <a:solidFill>
              <a:srgbClr val="0E7C66"/>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27632"/>
            <a:ext cx="10241280" cy="640080"/>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 usually play badminton after school. I love playing with my sister. You should play outside more. Play outside! Yeste…</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Be careful! A very common mistake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645920"/>
            <a:ext cx="10698480" cy="23774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828800"/>
            <a:ext cx="10058400" cy="2011680"/>
          </a:xfrm>
          <a:prstGeom prst="rect">
            <a:avLst/>
          </a:prstGeom>
          <a:noFill/>
        </p:spPr>
        <p:txBody>
          <a:bodyPr wrap="square" anchor="t">
            <a:spAutoFit/>
          </a:bodyPr>
          <a:lstStyle/>
          <a:p>
            <a:pPr algn="l">
              <a:lnSpc>
                <a:spcPct val="100000"/>
              </a:lnSpc>
              <a:spcAft>
                <a:spcPts val="600"/>
              </a:spcAft>
            </a:pPr>
            <a:r>
              <a:rPr sz="2100" b="0" i="0">
                <a:solidFill>
                  <a:srgbClr val="1B1B1B"/>
                </a:solidFill>
                <a:latin typeface="Calibri"/>
              </a:rPr>
              <a:t>The commonest mix-up is present vs past when a past time word is present in the sentence: *Yesterday I go.* Always check: is there a past time word? Then the verb must be past too.</a:t>
            </a:r>
          </a:p>
        </p:txBody>
      </p:sp>
      <p:sp>
        <p:nvSpPr>
          <p:cNvPr id="10" name="TextBox 9"/>
          <p:cNvSpPr txBox="1"/>
          <p:nvPr/>
        </p:nvSpPr>
        <p:spPr>
          <a:xfrm>
            <a:off x="1097280" y="4389120"/>
            <a:ext cx="10058400" cy="1280160"/>
          </a:xfrm>
          <a:prstGeom prst="rect">
            <a:avLst/>
          </a:prstGeom>
          <a:noFill/>
        </p:spPr>
        <p:txBody>
          <a:bodyPr wrap="square" anchor="t">
            <a:spAutoFit/>
          </a:bodyPr>
          <a:lstStyle/>
          <a:p>
            <a:pPr algn="l">
              <a:lnSpc>
                <a:spcPct val="100000"/>
              </a:lnSpc>
              <a:spcAft>
                <a:spcPts val="600"/>
              </a:spcAft>
            </a:pPr>
            <a:r>
              <a:rPr sz="2200" b="1" i="0">
                <a:solidFill>
                  <a:srgbClr val="2E7D32"/>
                </a:solidFill>
                <a:latin typeface="Calibri"/>
              </a:rPr>
              <a:t>👍 Say it like this:  I usually play badminton after school. I love playing with my sister. You should play outside more. Play outs…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Pronunciation: Sounds of Units 1–3</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417320"/>
            <a:ext cx="10881360" cy="123444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08760"/>
            <a:ext cx="10332720" cy="1097280"/>
          </a:xfrm>
          <a:prstGeom prst="rect">
            <a:avLst/>
          </a:prstGeom>
          <a:noFill/>
        </p:spPr>
        <p:txBody>
          <a:bodyPr wrap="square" anchor="ctr">
            <a:spAutoFit/>
          </a:bodyPr>
          <a:lstStyle/>
          <a:p>
            <a:pPr algn="l">
              <a:lnSpc>
                <a:spcPct val="100000"/>
              </a:lnSpc>
              <a:spcAft>
                <a:spcPts val="600"/>
              </a:spcAft>
            </a:pPr>
            <a:r>
              <a:rPr sz="1800" b="0" i="0">
                <a:solidFill>
                  <a:srgbClr val="1B1B1B"/>
                </a:solidFill>
                <a:latin typeface="Calibri"/>
              </a:rPr>
              <a:t>Four checks that will be tested: /ə/ vs /ɜː/, final -s, /f/ vs /v/, and the three -ed endings.</a:t>
            </a:r>
          </a:p>
        </p:txBody>
      </p:sp>
      <p:sp>
        <p:nvSpPr>
          <p:cNvPr id="10" name="Rounded Rectangle 9"/>
          <p:cNvSpPr/>
          <p:nvPr/>
        </p:nvSpPr>
        <p:spPr>
          <a:xfrm>
            <a:off x="731520" y="2880360"/>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05840" y="2926080"/>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/ə/ teacher – /ɜː/ bird</a:t>
            </a:r>
          </a:p>
        </p:txBody>
      </p:sp>
      <p:sp>
        <p:nvSpPr>
          <p:cNvPr id="12" name="Rounded Rectangle 11"/>
          <p:cNvSpPr/>
          <p:nvPr/>
        </p:nvSpPr>
        <p:spPr>
          <a:xfrm>
            <a:off x="731520" y="3593592"/>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05840" y="3639312"/>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likes /s/ – plays /z/ – watches /ɪz/</a:t>
            </a:r>
          </a:p>
        </p:txBody>
      </p:sp>
      <p:sp>
        <p:nvSpPr>
          <p:cNvPr id="14" name="Rounded Rectangle 13"/>
          <p:cNvSpPr/>
          <p:nvPr/>
        </p:nvSpPr>
        <p:spPr>
          <a:xfrm>
            <a:off x="731520" y="4306824"/>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4352544"/>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fan – van, five very fresh</a:t>
            </a:r>
          </a:p>
        </p:txBody>
      </p:sp>
      <p:sp>
        <p:nvSpPr>
          <p:cNvPr id="16" name="Rounded Rectangle 15"/>
          <p:cNvSpPr/>
          <p:nvPr/>
        </p:nvSpPr>
        <p:spPr>
          <a:xfrm>
            <a:off x="731520" y="5020056"/>
            <a:ext cx="10698480" cy="621792"/>
          </a:xfrm>
          <a:prstGeom prst="roundRect">
            <a:avLst>
              <a:gd name="adj" fmla="val 6000"/>
            </a:avLst>
          </a:prstGeom>
          <a:solidFill>
            <a:srgbClr val="FFFFFF"/>
          </a:solidFill>
          <a:ln w="19050">
            <a:solidFill>
              <a:srgbClr val="6B3FA0"/>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05840" y="5065776"/>
            <a:ext cx="10241280" cy="548640"/>
          </a:xfrm>
          <a:prstGeom prst="rect">
            <a:avLst/>
          </a:prstGeom>
          <a:noFill/>
        </p:spPr>
        <p:txBody>
          <a:bodyPr wrap="square" anchor="ctr">
            <a:spAutoFit/>
          </a:bodyPr>
          <a:lstStyle/>
          <a:p>
            <a:pPr algn="l">
              <a:lnSpc>
                <a:spcPct val="100000"/>
              </a:lnSpc>
              <a:spcAft>
                <a:spcPts val="600"/>
              </a:spcAft>
            </a:pPr>
            <a:r>
              <a:rPr sz="1900" b="0" i="0">
                <a:solidFill>
                  <a:srgbClr val="1B1B1B"/>
                </a:solidFill>
                <a:latin typeface="Calibri"/>
              </a:rPr>
              <a:t>🔊 helped /t/ – cleaned /d/ – visited /ɪd/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6B3FA0"/>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Repeat after me — three times each!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73736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82880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My teacher likes bird-watching and she visited the park on Sunday.</a:t>
            </a:r>
          </a:p>
        </p:txBody>
      </p:sp>
      <p:sp>
        <p:nvSpPr>
          <p:cNvPr id="10" name="Rounded Rectangle 9"/>
          <p:cNvSpPr/>
          <p:nvPr/>
        </p:nvSpPr>
        <p:spPr>
          <a:xfrm>
            <a:off x="731520" y="2788920"/>
            <a:ext cx="10698480" cy="914400"/>
          </a:xfrm>
          <a:prstGeom prst="roundRect">
            <a:avLst>
              <a:gd name="adj" fmla="val 6000"/>
            </a:avLst>
          </a:prstGeom>
          <a:solidFill>
            <a:srgbClr val="F1EAF9"/>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880360"/>
            <a:ext cx="10241280" cy="77724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 Five very healthy vegetables helped him and he cleaned the kitchen.</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Lesson 12: Meet My Family</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737360"/>
            <a:ext cx="10698480" cy="182880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155448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You will hear a real recording: introducing the people in a family. American English — VOA’s professional actors (Anna, Pete, Marsha, Ms. Weaver…), slowed learner delivery. It lasts 3:09.</a:t>
            </a:r>
          </a:p>
        </p:txBody>
      </p:sp>
      <p:sp>
        <p:nvSpPr>
          <p:cNvPr id="10" name="TextBox 9"/>
          <p:cNvSpPr txBox="1"/>
          <p:nvPr/>
        </p:nvSpPr>
        <p:spPr>
          <a:xfrm>
            <a:off x="731520" y="4023360"/>
            <a:ext cx="10698480" cy="1463040"/>
          </a:xfrm>
          <a:prstGeom prst="rect">
            <a:avLst/>
          </a:prstGeom>
          <a:noFill/>
        </p:spPr>
        <p:txBody>
          <a:bodyPr wrap="square" anchor="t">
            <a:spAutoFit/>
          </a:bodyPr>
          <a:lstStyle/>
          <a:p>
            <a:pPr algn="l">
              <a:lnSpc>
                <a:spcPct val="100000"/>
              </a:lnSpc>
              <a:spcAft>
                <a:spcPts val="600"/>
              </a:spcAft>
            </a:pPr>
            <a:r>
              <a:rPr sz="2000" b="0" i="0">
                <a:solidFill>
                  <a:srgbClr val="142C4F"/>
                </a:solidFill>
                <a:latin typeface="Calibri"/>
              </a:rPr>
              <a:t>🎧  Listen 1: just listen — do not write.</a:t>
            </a:r>
          </a:p>
          <a:p>
            <a:pPr algn="l">
              <a:lnSpc>
                <a:spcPct val="100000"/>
              </a:lnSpc>
              <a:spcAft>
                <a:spcPts val="600"/>
              </a:spcAft>
            </a:pPr>
            <a:r>
              <a:rPr sz="2000" b="0" i="0">
                <a:solidFill>
                  <a:srgbClr val="142C4F"/>
                </a:solidFill>
                <a:latin typeface="Calibri"/>
              </a:rPr>
              <a:t>🎧  Listen 2: write your answers.</a:t>
            </a:r>
          </a:p>
          <a:p>
            <a:pPr algn="l">
              <a:lnSpc>
                <a:spcPct val="100000"/>
              </a:lnSpc>
              <a:spcAft>
                <a:spcPts val="600"/>
              </a:spcAft>
            </a:pPr>
            <a:r>
              <a:rPr sz="2000" b="0" i="0">
                <a:solidFill>
                  <a:srgbClr val="142C4F"/>
                </a:solidFill>
                <a:latin typeface="Calibri"/>
              </a:rPr>
              <a:t>🎧  Listen 3: check with your partner.</a:t>
            </a:r>
          </a:p>
        </p:txBody>
      </p:sp>
      <p:sp>
        <p:nvSpPr>
          <p:cNvPr id="11" name="Rounded Rectangle 10"/>
          <p:cNvSpPr/>
          <p:nvPr/>
        </p:nvSpPr>
        <p:spPr>
          <a:xfrm>
            <a:off x="731520" y="5440680"/>
            <a:ext cx="10698480" cy="530352"/>
          </a:xfrm>
          <a:prstGeom prst="roundRect">
            <a:avLst>
              <a:gd name="adj" fmla="val 6000"/>
            </a:avLst>
          </a:prstGeom>
          <a:solidFill>
            <a:srgbClr val="E7F1FA"/>
          </a:solidFill>
          <a:ln w="19050">
            <a:solidFill>
              <a:srgbClr val="1E6FB8"/>
            </a:solid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a:lstStyle/>
          <a:p>
            <a:pPr algn="ctr"/>
            <a:r>
              <a:rPr sz="1500" b="1">
                <a:solidFill>
                  <a:srgbClr val="142C4F"/>
                </a:solidFill>
                <a:hlinkClick r:id="rId2"/>
              </a:rPr>
              <a:t>▶ Play audio</a:t>
            </a:r>
          </a:p>
        </p:txBody>
      </p:sp>
      <p:sp>
        <p:nvSpPr>
          <p:cNvPr id="12" name="TextBox 11"/>
          <p:cNvSpPr txBox="1"/>
          <p:nvPr/>
        </p:nvSpPr>
        <p:spPr>
          <a:xfrm>
            <a:off x="731520" y="6062472"/>
            <a:ext cx="10698480" cy="502920"/>
          </a:xfrm>
          <a:prstGeom prst="rect">
            <a:avLst/>
          </a:prstGeom>
          <a:noFill/>
        </p:spPr>
        <p:txBody>
          <a:bodyPr wrap="square" anchor="t">
            <a:spAutoFit/>
          </a:bodyPr>
          <a:lstStyle/>
          <a:p>
            <a:pPr algn="l">
              <a:lnSpc>
                <a:spcPct val="100000"/>
              </a:lnSpc>
              <a:spcAft>
                <a:spcPts val="600"/>
              </a:spcAft>
            </a:pPr>
            <a:r>
              <a:rPr sz="1100" b="0" i="0">
                <a:solidFill>
                  <a:srgbClr val="6B7280"/>
                </a:solidFill>
                <a:latin typeface="Calibri"/>
              </a:rPr>
              <a:t>VOA Learning English — Let’s Learn English, Level 1 · 3:09 · American English — VOA’s professional actors (Anna, Pete, Marsha, Ms. Weaver…), slowed learner delivery</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REV1L1-L1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Choose the best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the recording mainly about?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the places in a neighbourhood B. two people who have different opinions C. introducing the people in a family</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REV1L1-L2</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again. Number the lines 1-5 in the order you hear them.</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Anna tells Marsha about her parents.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But I like remembering my old home, too.</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This is a family tree.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d. I have many more photos!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e. Washington, DC is my new home.</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E6FB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Listening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REV1L1-L3</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Listen once more and write the missing word.</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Anna: I'm thinking about my 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Anna: This is my _____ and this is my father.</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Anna: She is my mom's 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Anna: He is my _____'s brother.</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Marsha: Thanks for showing me your _____ photos.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300" b="1" i="0">
                <a:solidFill>
                  <a:srgbClr val="FFFFFF"/>
                </a:solidFill>
                <a:latin typeface="Calibri"/>
              </a:rPr>
              <a:t>Reading: Review reading: A letter from a pen friend</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640080" y="1371600"/>
            <a:ext cx="10881360" cy="484632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60120" y="1554480"/>
            <a:ext cx="10332720" cy="4480560"/>
          </a:xfrm>
          <a:prstGeom prst="rect">
            <a:avLst/>
          </a:prstGeom>
          <a:noFill/>
        </p:spPr>
        <p:txBody>
          <a:bodyPr wrap="square" anchor="t">
            <a:spAutoFit/>
          </a:bodyPr>
          <a:lstStyle/>
          <a:p>
            <a:pPr algn="l">
              <a:lnSpc>
                <a:spcPct val="115000"/>
              </a:lnSpc>
              <a:spcAft>
                <a:spcPts val="600"/>
              </a:spcAft>
            </a:pPr>
            <a:r>
              <a:rPr sz="1500" b="0" i="0">
                <a:solidFill>
                  <a:srgbClr val="1B1B1B"/>
                </a:solidFill>
                <a:latin typeface="Calibri"/>
              </a:rPr>
              <a:t>Hi Minh, Thanks for your last email! You asked about my free time, so here it is. My hobby is photography. I started three years ago when my uncle gave me his old camera. I take photos twice a week, usually early in the morning near the lake. I love it because every morning is different. I also try to live healthily, but it isn't easy. I get up at six and I do exercise for twenty minutes, but I eat too much junk food at break time and I don't get enough sleep. My mother says I shouldn't use my phone in bed. She is probably right! Last month my class did something special. We collected 300 old books and gave them to a village school. First we asked every class in our school, then we packed the books in boxes, and finally we travelled to the village by bus. The children sang for us. I'll never forget it. What about you? Write soon! Trang</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REV1-R1</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Answer the questions in full sentences.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What is Trang's hobby and how often does she do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Why does she like it?</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Name one healthy and one unhealthy habit she has.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What advice does her mother give?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What did her class do last month? Give three steps in order.</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Reading task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REV1-R2</a:t>
            </a:r>
          </a:p>
        </p:txBody>
      </p:sp>
      <p:sp>
        <p:nvSpPr>
          <p:cNvPr id="8" name="Rounded Rectangle 7"/>
          <p:cNvSpPr/>
          <p:nvPr/>
        </p:nvSpPr>
        <p:spPr>
          <a:xfrm>
            <a:off x="640080" y="1371600"/>
            <a:ext cx="10881360" cy="777240"/>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Find in the letter: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one verb of liking + V-ing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one 'too much / too many' phrase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one piece of advice with shouldn't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three past simple verbs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two sequence words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1–3.</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a free-time activity you love: h______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food with much fat and sugar: j______ f______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a pain in your head: a h______</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rubbish on the ground: l______</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a person who helps for free: a v______</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Write the word from Units 1–3.</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to give money or things: d______</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eating the right amount of everything: a b______ d______</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hours in front of a phone: s______ t______</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(1/2)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My brother (collect / collects) coins.</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enjoy (read / reading) English books.</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You (should / should to) drink more water.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He eats too (much / many) sweets.</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Last Sunday we (clean / cleaned) the beach.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Guided practice  (2/2)</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REV1-G2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Circle the correct answer.</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They (didn't go / didn't went) to the meeting.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(Did / Do) you help your neighbour yesterday?</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She (is / has) a fever.</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We (are / were) very tired after the trip.</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(Don't / Not) drop litter here!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(1/4)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 He like football.</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2. I go often cycling.</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3. We enjoy play chess.</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4. I very like photography.</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5. Because it is cheap so I like it.</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(2/4)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6. She is headache.</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7. He drinks too many milk.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8. You should to rest.</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9. We not should stay up late.</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10. Not eat street food!</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(3/4)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11. My sister don't get enough sleep.</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12. Yesterday we clean the park.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13. They goed to the village.</a:t>
            </a:r>
          </a:p>
        </p:txBody>
      </p:sp>
      <p:sp>
        <p:nvSpPr>
          <p:cNvPr id="13" name="TextBox 12"/>
          <p:cNvSpPr txBox="1"/>
          <p:nvPr/>
        </p:nvSpPr>
        <p:spPr>
          <a:xfrm>
            <a:off x="1005840" y="4352544"/>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14. I didn't finished my work.</a:t>
            </a:r>
          </a:p>
        </p:txBody>
      </p:sp>
      <p:sp>
        <p:nvSpPr>
          <p:cNvPr id="14" name="TextBox 13"/>
          <p:cNvSpPr txBox="1"/>
          <p:nvPr/>
        </p:nvSpPr>
        <p:spPr>
          <a:xfrm>
            <a:off x="1005840" y="5010912"/>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15. Did you went to the meeting?</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  (4/4)</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REV1-I1</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Correct one mistake in each sentence.</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16. It did be very hot.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17. She visit her grandmother last week.</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18. He never is late.</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REV1-I2</a:t>
            </a:r>
          </a:p>
        </p:txBody>
      </p:sp>
      <p:sp>
        <p:nvSpPr>
          <p:cNvPr id="8" name="Rounded Rectangle 7"/>
          <p:cNvSpPr/>
          <p:nvPr/>
        </p:nvSpPr>
        <p:spPr>
          <a:xfrm>
            <a:off x="640080" y="1371600"/>
            <a:ext cx="10881360" cy="77724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Do REV1-S1 with two different partners.</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0E7C66"/>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Your turn — independent practice</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REV1-I2</a:t>
            </a:r>
          </a:p>
        </p:txBody>
      </p:sp>
      <p:sp>
        <p:nvSpPr>
          <p:cNvPr id="8" name="Rounded Rectangle 7"/>
          <p:cNvSpPr/>
          <p:nvPr/>
        </p:nvSpPr>
        <p:spPr>
          <a:xfrm>
            <a:off x="731520" y="1828800"/>
            <a:ext cx="10698480" cy="2194560"/>
          </a:xfrm>
          <a:prstGeom prst="roundRect">
            <a:avLst>
              <a:gd name="adj" fmla="val 6000"/>
            </a:avLst>
          </a:prstGeom>
          <a:solidFill>
            <a:srgbClr val="E3F3E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2011680"/>
            <a:ext cx="10058400" cy="1828800"/>
          </a:xfrm>
          <a:prstGeom prst="rect">
            <a:avLst/>
          </a:prstGeom>
          <a:noFill/>
        </p:spPr>
        <p:txBody>
          <a:bodyPr wrap="square" anchor="ctr">
            <a:spAutoFit/>
          </a:bodyPr>
          <a:lstStyle/>
          <a:p>
            <a:pPr algn="l">
              <a:lnSpc>
                <a:spcPct val="100000"/>
              </a:lnSpc>
              <a:spcAft>
                <a:spcPts val="600"/>
              </a:spcAft>
            </a:pPr>
            <a:r>
              <a:rPr sz="2200" b="0" i="0">
                <a:solidFill>
                  <a:srgbClr val="1B1B1B"/>
                </a:solidFill>
                <a:latin typeface="Calibri"/>
              </a:rPr>
              <a:t>Do REV1-S1 with two different partners.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Speaking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REV1-S1</a:t>
            </a:r>
          </a:p>
        </p:txBody>
      </p:sp>
      <p:sp>
        <p:nvSpPr>
          <p:cNvPr id="8" name="Rounded Rectangle 7"/>
          <p:cNvSpPr/>
          <p:nvPr/>
        </p:nvSpPr>
        <p:spPr>
          <a:xfrm>
            <a:off x="640080" y="1371600"/>
            <a:ext cx="10881360" cy="77724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Work in pairs. Talk for two minutes on ONE topic card. Your partner asks two questions.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A: Your hobby (what, when you started, how often, why you like it)</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B: Your health habits (good, bad, one thing you should change)</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Card C: Something good you or your class did (when, where, what, how you felt)</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000" b="1" i="0">
                <a:solidFill>
                  <a:srgbClr val="FFFFFF"/>
                </a:solidFill>
                <a:latin typeface="Calibri"/>
              </a:rPr>
              <a:t>Real-life English: Using everything from the last three units together</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822960" y="1463040"/>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508760"/>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Let me think…</a:t>
            </a:r>
          </a:p>
        </p:txBody>
      </p:sp>
      <p:sp>
        <p:nvSpPr>
          <p:cNvPr id="10" name="Rounded Rectangle 9"/>
          <p:cNvSpPr/>
          <p:nvPr/>
        </p:nvSpPr>
        <p:spPr>
          <a:xfrm>
            <a:off x="822960" y="2212848"/>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97280" y="2258568"/>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How do you say … in English?</a:t>
            </a:r>
          </a:p>
        </p:txBody>
      </p:sp>
      <p:sp>
        <p:nvSpPr>
          <p:cNvPr id="12" name="Rounded Rectangle 11"/>
          <p:cNvSpPr/>
          <p:nvPr/>
        </p:nvSpPr>
        <p:spPr>
          <a:xfrm>
            <a:off x="822960" y="2962656"/>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97280" y="3008376"/>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Can you repeat that, please?</a:t>
            </a:r>
          </a:p>
        </p:txBody>
      </p:sp>
      <p:sp>
        <p:nvSpPr>
          <p:cNvPr id="14" name="Rounded Rectangle 13"/>
          <p:cNvSpPr/>
          <p:nvPr/>
        </p:nvSpPr>
        <p:spPr>
          <a:xfrm>
            <a:off x="822960" y="3712464"/>
            <a:ext cx="10515600" cy="658368"/>
          </a:xfrm>
          <a:prstGeom prst="roundRect">
            <a:avLst>
              <a:gd name="adj" fmla="val 6000"/>
            </a:avLst>
          </a:prstGeom>
          <a:solidFill>
            <a:srgbClr val="FFFFFF"/>
          </a:solidFill>
          <a:ln w="19050">
            <a:solidFill>
              <a:srgbClr val="C0392B"/>
            </a:solid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97280" y="3758184"/>
            <a:ext cx="10058400" cy="566928"/>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I'm not sure, but I think…</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C0392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Role play — in pairs</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737360"/>
            <a:ext cx="10698480" cy="2560320"/>
          </a:xfrm>
          <a:prstGeom prst="roundRect">
            <a:avLst>
              <a:gd name="adj" fmla="val 6000"/>
            </a:avLst>
          </a:prstGeom>
          <a:solidFill>
            <a:srgbClr val="FCEAE8"/>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97280" y="1920240"/>
            <a:ext cx="10058400" cy="2194560"/>
          </a:xfrm>
          <a:prstGeom prst="rect">
            <a:avLst/>
          </a:prstGeom>
          <a:noFill/>
        </p:spPr>
        <p:txBody>
          <a:bodyPr wrap="square" anchor="ctr">
            <a:spAutoFit/>
          </a:bodyPr>
          <a:lstStyle/>
          <a:p>
            <a:pPr algn="l">
              <a:lnSpc>
                <a:spcPct val="100000"/>
              </a:lnSpc>
              <a:spcAft>
                <a:spcPts val="600"/>
              </a:spcAft>
            </a:pPr>
            <a:r>
              <a:rPr sz="2100" b="0" i="0">
                <a:solidFill>
                  <a:srgbClr val="1B1B1B"/>
                </a:solidFill>
                <a:latin typeface="Calibri"/>
              </a:rPr>
              <a:t>Speaking test practice in pairs: three minutes, two topics from the last three units.</a:t>
            </a:r>
          </a:p>
        </p:txBody>
      </p:sp>
      <p:sp>
        <p:nvSpPr>
          <p:cNvPr id="10" name="TextBox 9"/>
          <p:cNvSpPr txBox="1"/>
          <p:nvPr/>
        </p:nvSpPr>
        <p:spPr>
          <a:xfrm>
            <a:off x="822960" y="4663440"/>
            <a:ext cx="10515600" cy="1280160"/>
          </a:xfrm>
          <a:prstGeom prst="rect">
            <a:avLst/>
          </a:prstGeom>
          <a:noFill/>
        </p:spPr>
        <p:txBody>
          <a:bodyPr wrap="square" anchor="t">
            <a:spAutoFit/>
          </a:bodyPr>
          <a:lstStyle/>
          <a:p>
            <a:pPr algn="l">
              <a:lnSpc>
                <a:spcPct val="100000"/>
              </a:lnSpc>
              <a:spcAft>
                <a:spcPts val="600"/>
              </a:spcAft>
            </a:pPr>
            <a:r>
              <a:rPr sz="1900" b="1" i="0">
                <a:solidFill>
                  <a:srgbClr val="142C4F"/>
                </a:solidFill>
                <a:latin typeface="Calibri"/>
              </a:rPr>
              <a:t>⏱ 2 minutes to prepare  ·  2 minutes to perform  ·  then swap roles</a:t>
            </a:r>
          </a:p>
          <a:p>
            <a:pPr algn="l">
              <a:lnSpc>
                <a:spcPct val="100000"/>
              </a:lnSpc>
              <a:spcAft>
                <a:spcPts val="600"/>
              </a:spcAft>
            </a:pPr>
            <a:r>
              <a:rPr sz="1900" b="1" i="0">
                <a:solidFill>
                  <a:srgbClr val="142C4F"/>
                </a:solidFill>
                <a:latin typeface="Calibri"/>
              </a:rPr>
              <a:t>Do not read! Look at your partner.</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Writing</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REV1-W1</a:t>
            </a:r>
          </a:p>
        </p:txBody>
      </p:sp>
      <p:sp>
        <p:nvSpPr>
          <p:cNvPr id="8" name="Rounded Rectangle 7"/>
          <p:cNvSpPr/>
          <p:nvPr/>
        </p:nvSpPr>
        <p:spPr>
          <a:xfrm>
            <a:off x="640080" y="1371600"/>
            <a:ext cx="10881360" cy="77724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914400" y="1444752"/>
            <a:ext cx="10332720" cy="685800"/>
          </a:xfrm>
          <a:prstGeom prst="rect">
            <a:avLst/>
          </a:prstGeom>
          <a:noFill/>
        </p:spPr>
        <p:txBody>
          <a:bodyPr wrap="square" anchor="ctr">
            <a:spAutoFit/>
          </a:bodyPr>
          <a:lstStyle/>
          <a:p>
            <a:pPr algn="l">
              <a:lnSpc>
                <a:spcPct val="100000"/>
              </a:lnSpc>
              <a:spcAft>
                <a:spcPts val="600"/>
              </a:spcAft>
            </a:pPr>
            <a:r>
              <a:rPr sz="1900" b="1" i="0">
                <a:solidFill>
                  <a:srgbClr val="1B1B1B"/>
                </a:solidFill>
                <a:latin typeface="Calibri"/>
              </a:rPr>
              <a:t>Choose ONE and write 80–100 words.</a:t>
            </a:r>
          </a:p>
        </p:txBody>
      </p:sp>
      <p:sp>
        <p:nvSpPr>
          <p:cNvPr id="10" name="TextBox 9"/>
          <p:cNvSpPr txBox="1"/>
          <p:nvPr/>
        </p:nvSpPr>
        <p:spPr>
          <a:xfrm>
            <a:off x="1005840" y="2377440"/>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A. A paragraph about your hobby (topic sentence – details – closing).</a:t>
            </a:r>
          </a:p>
        </p:txBody>
      </p:sp>
      <p:sp>
        <p:nvSpPr>
          <p:cNvPr id="11" name="TextBox 10"/>
          <p:cNvSpPr txBox="1"/>
          <p:nvPr/>
        </p:nvSpPr>
        <p:spPr>
          <a:xfrm>
            <a:off x="1005840" y="3035808"/>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B. An email of advice to a friend who is always tired.</a:t>
            </a:r>
          </a:p>
        </p:txBody>
      </p:sp>
      <p:sp>
        <p:nvSpPr>
          <p:cNvPr id="12" name="TextBox 11"/>
          <p:cNvSpPr txBox="1"/>
          <p:nvPr/>
        </p:nvSpPr>
        <p:spPr>
          <a:xfrm>
            <a:off x="1005840" y="3694176"/>
            <a:ext cx="10241280" cy="640080"/>
          </a:xfrm>
          <a:prstGeom prst="rect">
            <a:avLst/>
          </a:prstGeom>
          <a:noFill/>
        </p:spPr>
        <p:txBody>
          <a:bodyPr wrap="square" anchor="t">
            <a:spAutoFit/>
          </a:bodyPr>
          <a:lstStyle/>
          <a:p>
            <a:pPr algn="l">
              <a:lnSpc>
                <a:spcPct val="100000"/>
              </a:lnSpc>
              <a:spcAft>
                <a:spcPts val="600"/>
              </a:spcAft>
            </a:pPr>
            <a:r>
              <a:rPr sz="1900" b="0" i="0">
                <a:solidFill>
                  <a:srgbClr val="1B1B1B"/>
                </a:solidFill>
                <a:latin typeface="Calibri"/>
              </a:rPr>
              <a:t>C. A diary entry about a day when you helped someone.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2E7D32"/>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Let's remember today's English</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60020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51560" y="167335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Present simple vs past simple: check the time word</a:t>
            </a:r>
          </a:p>
        </p:txBody>
      </p:sp>
      <p:sp>
        <p:nvSpPr>
          <p:cNvPr id="10" name="Rounded Rectangle 9"/>
          <p:cNvSpPr/>
          <p:nvPr/>
        </p:nvSpPr>
        <p:spPr>
          <a:xfrm>
            <a:off x="731520" y="256032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1" name="TextBox 10"/>
          <p:cNvSpPr txBox="1"/>
          <p:nvPr/>
        </p:nvSpPr>
        <p:spPr>
          <a:xfrm>
            <a:off x="1051560" y="263347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Verbs of liking + V-ing</a:t>
            </a:r>
          </a:p>
        </p:txBody>
      </p:sp>
      <p:sp>
        <p:nvSpPr>
          <p:cNvPr id="12" name="Rounded Rectangle 11"/>
          <p:cNvSpPr/>
          <p:nvPr/>
        </p:nvSpPr>
        <p:spPr>
          <a:xfrm>
            <a:off x="731520" y="352044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3" name="TextBox 12"/>
          <p:cNvSpPr txBox="1"/>
          <p:nvPr/>
        </p:nvSpPr>
        <p:spPr>
          <a:xfrm>
            <a:off x="1051560" y="359359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should / shouldn't + bare verb</a:t>
            </a:r>
          </a:p>
        </p:txBody>
      </p:sp>
      <p:sp>
        <p:nvSpPr>
          <p:cNvPr id="14" name="Rounded Rectangle 13"/>
          <p:cNvSpPr/>
          <p:nvPr/>
        </p:nvSpPr>
        <p:spPr>
          <a:xfrm>
            <a:off x="731520" y="448056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51560" y="455371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didn't / Did + bare verb</a:t>
            </a:r>
          </a:p>
        </p:txBody>
      </p:sp>
      <p:sp>
        <p:nvSpPr>
          <p:cNvPr id="16" name="Rounded Rectangle 15"/>
          <p:cNvSpPr/>
          <p:nvPr/>
        </p:nvSpPr>
        <p:spPr>
          <a:xfrm>
            <a:off x="731520" y="5440680"/>
            <a:ext cx="10698480" cy="841248"/>
          </a:xfrm>
          <a:prstGeom prst="roundRect">
            <a:avLst>
              <a:gd name="adj" fmla="val 6000"/>
            </a:avLst>
          </a:prstGeom>
          <a:solidFill>
            <a:srgbClr val="EAF5E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7" name="TextBox 16"/>
          <p:cNvSpPr txBox="1"/>
          <p:nvPr/>
        </p:nvSpPr>
        <p:spPr>
          <a:xfrm>
            <a:off x="1051560" y="5513832"/>
            <a:ext cx="10241280" cy="713232"/>
          </a:xfrm>
          <a:prstGeom prst="rect">
            <a:avLst/>
          </a:prstGeom>
          <a:noFill/>
        </p:spPr>
        <p:txBody>
          <a:bodyPr wrap="square" anchor="ctr">
            <a:spAutoFit/>
          </a:bodyPr>
          <a:lstStyle/>
          <a:p>
            <a:pPr algn="l">
              <a:lnSpc>
                <a:spcPct val="100000"/>
              </a:lnSpc>
              <a:spcAft>
                <a:spcPts val="600"/>
              </a:spcAft>
            </a:pPr>
            <a:r>
              <a:rPr sz="2000" b="0" i="0">
                <a:solidFill>
                  <a:srgbClr val="1B1B1B"/>
                </a:solidFill>
                <a:latin typeface="Calibri"/>
              </a:rPr>
              <a:t>✓ The four pronunciation checks of Units 1–3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AFBFC"/>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3" name="Rectangle 2"/>
          <p:cNvSpPr/>
          <p:nvPr/>
        </p:nvSpPr>
        <p:spPr>
          <a:xfrm>
            <a:off x="0" y="0"/>
            <a:ext cx="12191695" cy="1051560"/>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4" name="Rectangle 3"/>
          <p:cNvSpPr/>
          <p:nvPr/>
        </p:nvSpPr>
        <p:spPr>
          <a:xfrm>
            <a:off x="0" y="1051560"/>
            <a:ext cx="12191695" cy="54864"/>
          </a:xfrm>
          <a:prstGeom prst="rect">
            <a:avLst/>
          </a:prstGeom>
          <a:solidFill>
            <a:srgbClr val="142C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5" name="TextBox 4"/>
          <p:cNvSpPr txBox="1"/>
          <p:nvPr/>
        </p:nvSpPr>
        <p:spPr>
          <a:xfrm>
            <a:off x="411480" y="146304"/>
            <a:ext cx="914400" cy="777240"/>
          </a:xfrm>
          <a:prstGeom prst="rect">
            <a:avLst/>
          </a:prstGeom>
          <a:noFill/>
        </p:spPr>
        <p:txBody>
          <a:bodyPr wrap="square" anchor="ctr">
            <a:spAutoFit/>
          </a:bodyPr>
          <a:lstStyle/>
          <a:p>
            <a:pPr algn="ctr">
              <a:lnSpc>
                <a:spcPct val="100000"/>
              </a:lnSpc>
              <a:spcAft>
                <a:spcPts val="600"/>
              </a:spcAft>
            </a:pPr>
            <a:r>
              <a:rPr sz="3400" b="0" i="0">
                <a:solidFill>
                  <a:srgbClr val="FFFFFF"/>
                </a:solidFill>
                <a:latin typeface="Calibri"/>
              </a:rPr>
              <a:t>🏠</a:t>
            </a:r>
          </a:p>
        </p:txBody>
      </p:sp>
      <p:sp>
        <p:nvSpPr>
          <p:cNvPr id="6" name="TextBox 5"/>
          <p:cNvSpPr txBox="1"/>
          <p:nvPr/>
        </p:nvSpPr>
        <p:spPr>
          <a:xfrm>
            <a:off x="1325880" y="146304"/>
            <a:ext cx="8961120" cy="777240"/>
          </a:xfrm>
          <a:prstGeom prst="rect">
            <a:avLst/>
          </a:prstGeom>
          <a:noFill/>
        </p:spPr>
        <p:txBody>
          <a:bodyPr wrap="square" anchor="ctr">
            <a:spAutoFit/>
          </a:bodyPr>
          <a:lstStyle/>
          <a:p>
            <a:pPr algn="l">
              <a:lnSpc>
                <a:spcPct val="100000"/>
              </a:lnSpc>
              <a:spcAft>
                <a:spcPts val="600"/>
              </a:spcAft>
            </a:pPr>
            <a:r>
              <a:rPr sz="2800" b="1" i="0">
                <a:solidFill>
                  <a:srgbClr val="FFFFFF"/>
                </a:solidFill>
                <a:latin typeface="Calibri"/>
              </a:rPr>
              <a:t>Homework — write it in your notebook</a:t>
            </a:r>
          </a:p>
        </p:txBody>
      </p:sp>
      <p:sp>
        <p:nvSpPr>
          <p:cNvPr id="7" name="TextBox 6"/>
          <p:cNvSpPr txBox="1"/>
          <p:nvPr/>
        </p:nvSpPr>
        <p:spPr>
          <a:xfrm>
            <a:off x="10424160" y="274320"/>
            <a:ext cx="1463040" cy="548640"/>
          </a:xfrm>
          <a:prstGeom prst="rect">
            <a:avLst/>
          </a:prstGeom>
          <a:noFill/>
        </p:spPr>
        <p:txBody>
          <a:bodyPr wrap="square" anchor="ctr">
            <a:spAutoFit/>
          </a:bodyPr>
          <a:lstStyle/>
          <a:p>
            <a:pPr algn="r">
              <a:lnSpc>
                <a:spcPct val="100000"/>
              </a:lnSpc>
              <a:spcAft>
                <a:spcPts val="600"/>
              </a:spcAft>
            </a:pPr>
            <a:r>
              <a:rPr sz="1200" b="0" i="0">
                <a:solidFill>
                  <a:srgbClr val="FFFFFF"/>
                </a:solidFill>
                <a:latin typeface="Calibri"/>
              </a:rPr>
              <a:t>REV1L1</a:t>
            </a:r>
          </a:p>
        </p:txBody>
      </p:sp>
      <p:sp>
        <p:nvSpPr>
          <p:cNvPr id="8" name="Rounded Rectangle 7"/>
          <p:cNvSpPr/>
          <p:nvPr/>
        </p:nvSpPr>
        <p:spPr>
          <a:xfrm>
            <a:off x="731520" y="1554480"/>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9" name="TextBox 8"/>
          <p:cNvSpPr txBox="1"/>
          <p:nvPr/>
        </p:nvSpPr>
        <p:spPr>
          <a:xfrm>
            <a:off x="1005840" y="1609344"/>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REV1-H1</a:t>
            </a:r>
          </a:p>
        </p:txBody>
      </p:sp>
      <p:sp>
        <p:nvSpPr>
          <p:cNvPr id="10" name="TextBox 9"/>
          <p:cNvSpPr txBox="1"/>
          <p:nvPr/>
        </p:nvSpPr>
        <p:spPr>
          <a:xfrm>
            <a:off x="2743200" y="1609344"/>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Revision — Learn the 18 wall-list corrections. Write each correct sentence twice.</a:t>
            </a:r>
          </a:p>
        </p:txBody>
      </p:sp>
      <p:sp>
        <p:nvSpPr>
          <p:cNvPr id="11" name="Rounded Rectangle 10"/>
          <p:cNvSpPr/>
          <p:nvPr/>
        </p:nvSpPr>
        <p:spPr>
          <a:xfrm>
            <a:off x="731520" y="2523744"/>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2" name="TextBox 11"/>
          <p:cNvSpPr txBox="1"/>
          <p:nvPr/>
        </p:nvSpPr>
        <p:spPr>
          <a:xfrm>
            <a:off x="1005840" y="2578608"/>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REV1-H2</a:t>
            </a:r>
          </a:p>
        </p:txBody>
      </p:sp>
      <p:sp>
        <p:nvSpPr>
          <p:cNvPr id="13" name="TextBox 12"/>
          <p:cNvSpPr txBox="1"/>
          <p:nvPr/>
        </p:nvSpPr>
        <p:spPr>
          <a:xfrm>
            <a:off x="2743200" y="2578608"/>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Vocabulary — Write 20 words from Units 1–3 with Vietnamese meanings, 5 from each area: hobbies, health, community, feelings.</a:t>
            </a:r>
          </a:p>
        </p:txBody>
      </p:sp>
      <p:sp>
        <p:nvSpPr>
          <p:cNvPr id="14" name="Rounded Rectangle 13"/>
          <p:cNvSpPr/>
          <p:nvPr/>
        </p:nvSpPr>
        <p:spPr>
          <a:xfrm>
            <a:off x="731520" y="3493008"/>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5" name="TextBox 14"/>
          <p:cNvSpPr txBox="1"/>
          <p:nvPr/>
        </p:nvSpPr>
        <p:spPr>
          <a:xfrm>
            <a:off x="1005840" y="3547872"/>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REV1-H3</a:t>
            </a:r>
          </a:p>
        </p:txBody>
      </p:sp>
      <p:sp>
        <p:nvSpPr>
          <p:cNvPr id="16" name="TextBox 15"/>
          <p:cNvSpPr txBox="1"/>
          <p:nvPr/>
        </p:nvSpPr>
        <p:spPr>
          <a:xfrm>
            <a:off x="2743200" y="3547872"/>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Writing — Write your chosen text from REV1-W1 (80–100 words) and hand it in.</a:t>
            </a:r>
          </a:p>
        </p:txBody>
      </p:sp>
      <p:sp>
        <p:nvSpPr>
          <p:cNvPr id="17" name="Rounded Rectangle 16"/>
          <p:cNvSpPr/>
          <p:nvPr/>
        </p:nvSpPr>
        <p:spPr>
          <a:xfrm>
            <a:off x="731520" y="4462272"/>
            <a:ext cx="10698480" cy="868680"/>
          </a:xfrm>
          <a:prstGeom prst="roundRect">
            <a:avLst>
              <a:gd name="adj" fmla="val 6000"/>
            </a:avLst>
          </a:prstGeom>
          <a:solidFill>
            <a:srgbClr val="E7F1FA"/>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a:lstStyle/>
          <a:p>
            <a:pPr algn="ctr"/>
          </a:p>
        </p:txBody>
      </p:sp>
      <p:sp>
        <p:nvSpPr>
          <p:cNvPr id="18" name="TextBox 17"/>
          <p:cNvSpPr txBox="1"/>
          <p:nvPr/>
        </p:nvSpPr>
        <p:spPr>
          <a:xfrm>
            <a:off x="1005840" y="4517136"/>
            <a:ext cx="1828800" cy="777240"/>
          </a:xfrm>
          <a:prstGeom prst="rect">
            <a:avLst/>
          </a:prstGeom>
          <a:noFill/>
        </p:spPr>
        <p:txBody>
          <a:bodyPr wrap="square" anchor="ctr">
            <a:spAutoFit/>
          </a:bodyPr>
          <a:lstStyle/>
          <a:p>
            <a:pPr algn="l">
              <a:lnSpc>
                <a:spcPct val="100000"/>
              </a:lnSpc>
              <a:spcAft>
                <a:spcPts val="600"/>
              </a:spcAft>
            </a:pPr>
            <a:r>
              <a:rPr sz="1900" b="1" i="0">
                <a:solidFill>
                  <a:srgbClr val="142C4F"/>
                </a:solidFill>
                <a:latin typeface="Calibri"/>
              </a:rPr>
              <a:t>REV1-H4</a:t>
            </a:r>
          </a:p>
        </p:txBody>
      </p:sp>
      <p:sp>
        <p:nvSpPr>
          <p:cNvPr id="19" name="TextBox 18"/>
          <p:cNvSpPr txBox="1"/>
          <p:nvPr/>
        </p:nvSpPr>
        <p:spPr>
          <a:xfrm>
            <a:off x="2743200" y="4517136"/>
            <a:ext cx="8503920" cy="777240"/>
          </a:xfrm>
          <a:prstGeom prst="rect">
            <a:avLst/>
          </a:prstGeom>
          <a:noFill/>
        </p:spPr>
        <p:txBody>
          <a:bodyPr wrap="square" anchor="ctr">
            <a:spAutoFit/>
          </a:bodyPr>
          <a:lstStyle/>
          <a:p>
            <a:pPr algn="l">
              <a:lnSpc>
                <a:spcPct val="100000"/>
              </a:lnSpc>
              <a:spcAft>
                <a:spcPts val="600"/>
              </a:spcAft>
            </a:pPr>
            <a:r>
              <a:rPr sz="1700" b="0" i="0">
                <a:solidFill>
                  <a:srgbClr val="1B1B1B"/>
                </a:solidFill>
                <a:latin typeface="Calibri"/>
              </a:rPr>
              <a:t>Speaking — Prepare all three speaking cards. Practise each for two minutes.</a:t>
            </a:r>
          </a:p>
        </p:txBody>
      </p:sp>
      <p:sp>
        <p:nvSpPr>
          <p:cNvPr id="20" name="TextBox 19"/>
          <p:cNvSpPr txBox="1"/>
          <p:nvPr/>
        </p:nvSpPr>
        <p:spPr>
          <a:xfrm>
            <a:off x="731520" y="5989320"/>
            <a:ext cx="10698480" cy="640080"/>
          </a:xfrm>
          <a:prstGeom prst="rect">
            <a:avLst/>
          </a:prstGeom>
          <a:noFill/>
        </p:spPr>
        <p:txBody>
          <a:bodyPr wrap="square" anchor="t">
            <a:spAutoFit/>
          </a:bodyPr>
          <a:lstStyle/>
          <a:p>
            <a:pPr algn="ctr">
              <a:lnSpc>
                <a:spcPct val="100000"/>
              </a:lnSpc>
              <a:spcAft>
                <a:spcPts val="600"/>
              </a:spcAft>
            </a:pPr>
            <a:r>
              <a:rPr sz="1800" b="0" i="0">
                <a:solidFill>
                  <a:srgbClr val="6B7280"/>
                </a:solidFill>
                <a:latin typeface="Calibri"/>
              </a:rPr>
              <a:t>Homework Book, section REV1L1   ·   See you next lesson!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