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REV1L2_1_7202578e-98dd-4e93-8a9b-166c72f520ea_hq.mp3" TargetMode="External"/><Relationship Id="rId3" Type="http://schemas.openxmlformats.org/officeDocument/2006/relationships/hyperlink" Target="https://learningenglish.voanews.com/a/lets-learn-english-lesson-24-yesterday-was-amazing/3439164.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3  ·  LESSON 2  ·  PERIOD 25</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PROGRESS TEST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Progress Test 1 (Units 1–3) — 45 minutes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show what they can do in listening, language, reading and writing</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complete a 45-minute test under exam conditions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take part in a 3-minute paired speaking assessment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their result and set one goal for Units 4–6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Setting up  (3')</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Desks apart, phones away, one pen and one pencil. Write the four parts and the timing on the board.</a:t>
            </a:r>
          </a:p>
        </p:txBody>
      </p:sp>
      <p:sp>
        <p:nvSpPr>
          <p:cNvPr id="10" name="TextBox 9"/>
          <p:cNvSpPr txBox="1"/>
          <p:nvPr/>
        </p:nvSpPr>
        <p:spPr>
          <a:xfrm>
            <a:off x="1005840" y="260604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Say: 'Part 4 writing is 2.5 marks — do NOT leave it until the last two minutes.'</a:t>
            </a:r>
          </a:p>
        </p:txBody>
      </p:sp>
      <p:sp>
        <p:nvSpPr>
          <p:cNvPr id="11" name="TextBox 10"/>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Prepare the desk and read the instructions.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Test format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Part 1 Listening (2 marks) – 5 questions, the recording is played twice.</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Part 2 Language focus (3 marks) – vocabulary, grammar and pronunciation.</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Part 3 Reading (2.5 marks) – one text, 5 questions.</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Part 4 Writing (2.5 marks) – one paragraph, 80–100 words.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Marks</a:t>
                      </a:r>
                    </a:p>
                  </a:txBody>
                  <a:tcPr>
                    <a:solidFill>
                      <a:srgbClr val="0E7C66"/>
                    </a:solidFill>
                  </a:tcPr>
                </a:tc>
                <a:tc>
                  <a:txBody>
                    <a:bodyPr/>
                    <a:lstStyle/>
                    <a:p>
                      <a:r>
                        <a:rPr sz="1600" b="1">
                          <a:solidFill>
                            <a:srgbClr val="FFFFFF"/>
                          </a:solidFill>
                          <a:latin typeface="Calibri"/>
                        </a:rPr>
                        <a:t>Time</a:t>
                      </a:r>
                    </a:p>
                  </a:txBody>
                  <a:tcPr>
                    <a:solidFill>
                      <a:srgbClr val="0E7C66"/>
                    </a:solidFill>
                  </a:tcPr>
                </a:tc>
              </a:tr>
              <a:tr h="566928">
                <a:tc>
                  <a:txBody>
                    <a:bodyPr/>
                    <a:lstStyle/>
                    <a:p>
                      <a:r>
                        <a:rPr sz="1600" b="0">
                          <a:solidFill>
                            <a:srgbClr val="1B1B1B"/>
                          </a:solidFill>
                          <a:latin typeface="Calibri"/>
                        </a:rPr>
                        <a:t>Listening</a:t>
                      </a:r>
                    </a:p>
                  </a:txBody>
                  <a:tcPr>
                    <a:solidFill>
                      <a:srgbClr val="E3F3EE"/>
                    </a:solidFill>
                  </a:tcPr>
                </a:tc>
                <a:tc>
                  <a:txBody>
                    <a:bodyPr/>
                    <a:lstStyle/>
                    <a:p>
                      <a:r>
                        <a:rPr sz="1600" b="0">
                          <a:solidFill>
                            <a:srgbClr val="1B1B1B"/>
                          </a:solidFill>
                          <a:latin typeface="Calibri"/>
                        </a:rPr>
                        <a:t>2.0</a:t>
                      </a:r>
                    </a:p>
                  </a:txBody>
                  <a:tcPr>
                    <a:solidFill>
                      <a:srgbClr val="E3F3EE"/>
                    </a:solidFill>
                  </a:tcPr>
                </a:tc>
                <a:tc>
                  <a:txBody>
                    <a:bodyPr/>
                    <a:lstStyle/>
                    <a:p>
                      <a:r>
                        <a:rPr sz="1600" b="0">
                          <a:solidFill>
                            <a:srgbClr val="1B1B1B"/>
                          </a:solidFill>
                          <a:latin typeface="Calibri"/>
                        </a:rPr>
                        <a:t>8 minutes</a:t>
                      </a:r>
                    </a:p>
                  </a:txBody>
                  <a:tcPr>
                    <a:solidFill>
                      <a:srgbClr val="E3F3EE"/>
                    </a:solidFill>
                  </a:tcPr>
                </a:tc>
              </a:tr>
              <a:tr h="566928">
                <a:tc>
                  <a:txBody>
                    <a:bodyPr/>
                    <a:lstStyle/>
                    <a:p>
                      <a:r>
                        <a:rPr sz="1600" b="0">
                          <a:solidFill>
                            <a:srgbClr val="1B1B1B"/>
                          </a:solidFill>
                          <a:latin typeface="Calibri"/>
                        </a:rPr>
                        <a:t>Language focus</a:t>
                      </a:r>
                    </a:p>
                  </a:txBody>
                  <a:tcPr>
                    <a:solidFill>
                      <a:srgbClr val="FFFFFF"/>
                    </a:solidFill>
                  </a:tcPr>
                </a:tc>
                <a:tc>
                  <a:txBody>
                    <a:bodyPr/>
                    <a:lstStyle/>
                    <a:p>
                      <a:r>
                        <a:rPr sz="1600" b="0">
                          <a:solidFill>
                            <a:srgbClr val="1B1B1B"/>
                          </a:solidFill>
                          <a:latin typeface="Calibri"/>
                        </a:rPr>
                        <a:t>3.0</a:t>
                      </a:r>
                    </a:p>
                  </a:txBody>
                  <a:tcPr>
                    <a:solidFill>
                      <a:srgbClr val="FFFFFF"/>
                    </a:solidFill>
                  </a:tcPr>
                </a:tc>
                <a:tc>
                  <a:txBody>
                    <a:bodyPr/>
                    <a:lstStyle/>
                    <a:p>
                      <a:r>
                        <a:rPr sz="1600" b="0">
                          <a:solidFill>
                            <a:srgbClr val="1B1B1B"/>
                          </a:solidFill>
                          <a:latin typeface="Calibri"/>
                        </a:rPr>
                        <a:t>12 minutes</a:t>
                      </a:r>
                    </a:p>
                  </a:txBody>
                  <a:tcPr>
                    <a:solidFill>
                      <a:srgbClr val="FFFFFF"/>
                    </a:solidFill>
                  </a:tcPr>
                </a:tc>
              </a:tr>
              <a:tr h="566928">
                <a:tc>
                  <a:txBody>
                    <a:bodyPr/>
                    <a:lstStyle/>
                    <a:p>
                      <a:r>
                        <a:rPr sz="1600" b="0">
                          <a:solidFill>
                            <a:srgbClr val="1B1B1B"/>
                          </a:solidFill>
                          <a:latin typeface="Calibri"/>
                        </a:rPr>
                        <a:t>Reading</a:t>
                      </a:r>
                    </a:p>
                  </a:txBody>
                  <a:tcPr>
                    <a:solidFill>
                      <a:srgbClr val="E3F3EE"/>
                    </a:solidFill>
                  </a:tcPr>
                </a:tc>
                <a:tc>
                  <a:txBody>
                    <a:bodyPr/>
                    <a:lstStyle/>
                    <a:p>
                      <a:r>
                        <a:rPr sz="1600" b="0">
                          <a:solidFill>
                            <a:srgbClr val="1B1B1B"/>
                          </a:solidFill>
                          <a:latin typeface="Calibri"/>
                        </a:rPr>
                        <a:t>2.5</a:t>
                      </a:r>
                    </a:p>
                  </a:txBody>
                  <a:tcPr>
                    <a:solidFill>
                      <a:srgbClr val="E3F3EE"/>
                    </a:solidFill>
                  </a:tcPr>
                </a:tc>
                <a:tc>
                  <a:txBody>
                    <a:bodyPr/>
                    <a:lstStyle/>
                    <a:p>
                      <a:r>
                        <a:rPr sz="1600" b="0">
                          <a:solidFill>
                            <a:srgbClr val="1B1B1B"/>
                          </a:solidFill>
                          <a:latin typeface="Calibri"/>
                        </a:rPr>
                        <a:t>12 minutes</a:t>
                      </a:r>
                    </a:p>
                  </a:txBody>
                  <a:tcPr>
                    <a:solidFill>
                      <a:srgbClr val="E3F3EE"/>
                    </a:solidFill>
                  </a:tcPr>
                </a:tc>
              </a:tr>
              <a:tr h="566928">
                <a:tc>
                  <a:txBody>
                    <a:bodyPr/>
                    <a:lstStyle/>
                    <a:p>
                      <a:r>
                        <a:rPr sz="1600" b="0">
                          <a:solidFill>
                            <a:srgbClr val="1B1B1B"/>
                          </a:solidFill>
                          <a:latin typeface="Calibri"/>
                        </a:rPr>
                        <a:t>Writing</a:t>
                      </a:r>
                    </a:p>
                  </a:txBody>
                  <a:tcPr>
                    <a:solidFill>
                      <a:srgbClr val="FFFFFF"/>
                    </a:solidFill>
                  </a:tcPr>
                </a:tc>
                <a:tc>
                  <a:txBody>
                    <a:bodyPr/>
                    <a:lstStyle/>
                    <a:p>
                      <a:r>
                        <a:rPr sz="1600" b="0">
                          <a:solidFill>
                            <a:srgbClr val="1B1B1B"/>
                          </a:solidFill>
                          <a:latin typeface="Calibri"/>
                        </a:rPr>
                        <a:t>2.5</a:t>
                      </a:r>
                    </a:p>
                  </a:txBody>
                  <a:tcPr>
                    <a:solidFill>
                      <a:srgbClr val="FFFFFF"/>
                    </a:solidFill>
                  </a:tcPr>
                </a:tc>
                <a:tc>
                  <a:txBody>
                    <a:bodyPr/>
                    <a:lstStyle/>
                    <a:p>
                      <a:r>
                        <a:rPr sz="1600" b="0">
                          <a:solidFill>
                            <a:srgbClr val="1B1B1B"/>
                          </a:solidFill>
                          <a:latin typeface="Calibri"/>
                        </a:rPr>
                        <a:t>13 minutes</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 every instruction twice before you write.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lose marks by leaving writing until the last two minutes. Write the timing on the board and announce the halfway point.</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Read every instruction twice before you write.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Speaking assessment criteria</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Fluency (2.5): keep going, don't stop. Pronunciation (2.5): endings, stress, /f/ /v/, -ed. Accuracy (2): correct tense. Task (3): answer the question fully.</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Keep talking — silence scores zero.</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Finish your words: likeS, cleanED, booK.</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'because' at least once.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My hobby is… I started… I do it… I like it because…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24: Yesterday Was Amazing!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what somebody did yesterday. American English — VOA’s professional actors (Anna, Pete, Marsha, Ms. Weaver…), slowed learner delivery. It lasts 2:38.</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10698480"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142C4F"/>
                </a:solidFill>
                <a:hlinkClick r:id="rId2"/>
              </a:rPr>
              <a:t>▶ Play audio</a:t>
            </a:r>
          </a:p>
        </p:txBody>
      </p:sp>
      <p:sp>
        <p:nvSpPr>
          <p:cNvPr id="12" name="Rounded Rectangle 11"/>
          <p:cNvSpPr/>
          <p:nvPr/>
        </p:nvSpPr>
        <p:spPr>
          <a:xfrm>
            <a:off x="731520" y="5824728"/>
            <a:ext cx="10698480"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0E7C66"/>
                </a:solidFill>
                <a:hlinkClick r:id="rId3"/>
              </a:rPr>
              <a:t>🌐 Listen online</a:t>
            </a:r>
          </a:p>
        </p:txBody>
      </p:sp>
      <p:sp>
        <p:nvSpPr>
          <p:cNvPr id="13" name="TextBox 12"/>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VOA Learning English — Let’s Learn English, Level 1 · 2:38 · American English — VOA’s professional actors (Anna, Pete, Marsha, Ms. Weaver…), slowed learner delivery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saying that two things are the same B. what somebody did yesterday C. asking to borrow things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Terms of Use and Privacy Notice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Let's Learn English - Level 4</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Let’s Learn English - Level 4 - Lesson 24: Yesterday Was Amazing!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want to write my friends and tell them about my day!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whole day was a lot of fun!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Yesterday _____ the most amazing day.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see something new every day -- like 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 started like a usual work day.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Anna's voice: It _____ a festival -- a big festival!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Progress Test 1 – Reading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The Saturday Kitchen Every Saturday morning, twelve students from a school in Hai Phong meet at seven o'clock in a small kitchen behind the market. By nine they have cooked 200 meals. The project started in 2022 with four students and one big pot. They wanted to help the people who sleep near the station. At first, some parents were worried and said the students were too young. Then a local restaurant offered free rice every week, and everything changed. Today the group cooks every Saturday, and two mothers come to help. The students do the shopping on Friday afternoon, wash the vegetables, cook, and carry the food to the station in three baskets. 'The hardest thing is not the cooking,' says Anh, 14. 'It is getting up at six on a Saturday. But when you see somebody eat a hot meal, you forget that you are sleepy.'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TEST1-R</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time do the students meet, and how many meals do they cook?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When and how did the project start?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Why did some parents worry at first?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did the local restaurant do?</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According to Anh, what is the hardest thing? Why does she forget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TEST1-P2A</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ONE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h______ is collecting stamps.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Chips and sweets are j______ food.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have a bad h______ and I can't concentrate.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Please don't drop l______ in the park.</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 v______ works without money.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TEST1-P2B</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sister (collect / collects) coins.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They enjoy (play / playing) board games.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You (should / should to) drink more water.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He eats too (much / many) sweets.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Last Sunday we (go / went) to the beach.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TEST1-P2B</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She (didn't finish / didn't finished) her homework.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TEST1-P2C</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Circle the word with a DIFFERENT sound.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helped / washed / cleaned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visited / painted / worked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likes / plays / opens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fan / van / five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TEST1-S</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In pairs. Choose a card, think for one minute, speak for two minutes. The examiner asks two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A: My hobby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B: My health habits and what I should change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C: A day when I helped someone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Test-taking strategies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Could you repeat that, please?</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Can I start again?</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not sure, but I think…</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 me think for a second.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Paired speaking assessment.</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TEST1-W</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ONE task and write 80–100 words.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 paragraph about your hobby.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An email of advice to a friend who never does exercise.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A diary entry about a day when your class helped other people.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test covers Units 1–3 only.</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Return the papers in the next lesson with one personal goal per student.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REV1L2</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TEST1-H1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After the test — Write your test result and ONE goal for Units 4–6.</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TEST1-H2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Correction — Correct all your test mistakes in your notebook. For each mistake write the rule.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TEST1-H3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Prepare for Unit 4 — Write five kinds of music or art you know, in English or Vietnamese.</a:t>
            </a:r>
          </a:p>
        </p:txBody>
      </p:sp>
      <p:sp>
        <p:nvSpPr>
          <p:cNvPr id="17" name="TextBox 16"/>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REV1L2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