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4  ·  PERIOD 64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COMMUNICATION</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Everyday English: asking about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ask a range of questions about a festival</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answer questions about a Vietnamese festival</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take part in an 8-turn cultural exchange conversation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five good questions and answers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Article race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Teacher says a noun phrase without the article; students shout a/an/the/–.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Supply the correct article.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public holiday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/ˌpʌblɪk ˈhɒlədeɪ/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ngày nghỉ lễ</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Tet is a public holiday.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lunar calendar</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/ˈluːnə ˈkælɪndə/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âm lịch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date follows the lunar calendar.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relative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/ˈrelətɪv/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họ hàng</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We visit our relatives at Tet.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lucky money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/ˈlʌki ˈmʌni/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tiền lì xì</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Children receive lucky money.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greeting</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/ˈɡriːtɪŋ/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lời chúc</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usual greeting is 'Chuc mung nam moi'.</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superstition</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/ˌsuːpəˈstɪʃn/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điều mê tín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There are many superstitions at Tet.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about…?</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does it mean?</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the same in your country?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Grammar: Question forms for asking about culture (review and extend)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Yes/no: Do you get a holiday? Is it a public holiday?</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 When is it? Where do people go? What do they eat? Why do they do that?</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 adjective/adverb: How long does it last? How often is it? How many days do you get?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exactly is…?' asks for a definition. 'What does it mean?' asks for meaning.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Question type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c>
                  <a:txBody>
                    <a:bodyPr/>
                    <a:lstStyle/>
                    <a:p>
                      <a:r>
                        <a:rPr sz="1600" b="1">
                          <a:solidFill>
                            <a:srgbClr val="FFFFFF"/>
                          </a:solidFill>
                          <a:latin typeface="Calibri"/>
                        </a:rPr>
                        <a:t>Answer</a:t>
                      </a:r>
                    </a:p>
                  </a:txBody>
                  <a:tcPr>
                    <a:solidFill>
                      <a:srgbClr val="0E7C66"/>
                    </a:solidFill>
                  </a:tcPr>
                </a:tc>
              </a:tr>
              <a:tr h="566928">
                <a:tc>
                  <a:txBody>
                    <a:bodyPr/>
                    <a:lstStyle/>
                    <a:p>
                      <a:r>
                        <a:rPr sz="1600" b="0">
                          <a:solidFill>
                            <a:srgbClr val="1B1B1B"/>
                          </a:solidFill>
                          <a:latin typeface="Calibri"/>
                        </a:rPr>
                        <a:t>yes/no</a:t>
                      </a:r>
                    </a:p>
                  </a:txBody>
                  <a:tcPr>
                    <a:solidFill>
                      <a:srgbClr val="E3F3EE"/>
                    </a:solidFill>
                  </a:tcPr>
                </a:tc>
                <a:tc>
                  <a:txBody>
                    <a:bodyPr/>
                    <a:lstStyle/>
                    <a:p>
                      <a:r>
                        <a:rPr sz="1600" b="0">
                          <a:solidFill>
                            <a:srgbClr val="1B1B1B"/>
                          </a:solidFill>
                          <a:latin typeface="Calibri"/>
                        </a:rPr>
                        <a:t>Is Tet a public holiday?</a:t>
                      </a:r>
                    </a:p>
                  </a:txBody>
                  <a:tcPr>
                    <a:solidFill>
                      <a:srgbClr val="E3F3EE"/>
                    </a:solidFill>
                  </a:tcPr>
                </a:tc>
                <a:tc>
                  <a:txBody>
                    <a:bodyPr/>
                    <a:lstStyle/>
                    <a:p>
                      <a:r>
                        <a:rPr sz="1600" b="0">
                          <a:solidFill>
                            <a:srgbClr val="1B1B1B"/>
                          </a:solidFill>
                          <a:latin typeface="Calibri"/>
                        </a:rPr>
                        <a:t>Yes, it is — for several days.</a:t>
                      </a:r>
                    </a:p>
                  </a:txBody>
                  <a:tcPr>
                    <a:solidFill>
                      <a:srgbClr val="E3F3EE"/>
                    </a:solidFill>
                  </a:tcPr>
                </a:tc>
              </a:tr>
              <a:tr h="566928">
                <a:tc>
                  <a:txBody>
                    <a:bodyPr/>
                    <a:lstStyle/>
                    <a:p>
                      <a:r>
                        <a:rPr sz="1600" b="0">
                          <a:solidFill>
                            <a:srgbClr val="1B1B1B"/>
                          </a:solidFill>
                          <a:latin typeface="Calibri"/>
                        </a:rPr>
                        <a:t>Wh-</a:t>
                      </a:r>
                    </a:p>
                  </a:txBody>
                  <a:tcPr>
                    <a:solidFill>
                      <a:srgbClr val="FFFFFF"/>
                    </a:solidFill>
                  </a:tcPr>
                </a:tc>
                <a:tc>
                  <a:txBody>
                    <a:bodyPr/>
                    <a:lstStyle/>
                    <a:p>
                      <a:r>
                        <a:rPr sz="1600" b="0">
                          <a:solidFill>
                            <a:srgbClr val="1B1B1B"/>
                          </a:solidFill>
                          <a:latin typeface="Calibri"/>
                        </a:rPr>
                        <a:t>Why do people clean the house?</a:t>
                      </a:r>
                    </a:p>
                  </a:txBody>
                  <a:tcPr>
                    <a:solidFill>
                      <a:srgbClr val="FFFFFF"/>
                    </a:solidFill>
                  </a:tcPr>
                </a:tc>
                <a:tc>
                  <a:txBody>
                    <a:bodyPr/>
                    <a:lstStyle/>
                    <a:p>
                      <a:r>
                        <a:rPr sz="1600" b="0">
                          <a:solidFill>
                            <a:srgbClr val="1B1B1B"/>
                          </a:solidFill>
                          <a:latin typeface="Calibri"/>
                        </a:rPr>
                        <a:t>To sweep away the bad luck of last year.</a:t>
                      </a:r>
                    </a:p>
                  </a:txBody>
                  <a:tcPr>
                    <a:solidFill>
                      <a:srgbClr val="FFFFFF"/>
                    </a:solidFill>
                  </a:tcPr>
                </a:tc>
              </a:tr>
              <a:tr h="566928">
                <a:tc>
                  <a:txBody>
                    <a:bodyPr/>
                    <a:lstStyle/>
                    <a:p>
                      <a:r>
                        <a:rPr sz="1600" b="0">
                          <a:solidFill>
                            <a:srgbClr val="1B1B1B"/>
                          </a:solidFill>
                          <a:latin typeface="Calibri"/>
                        </a:rPr>
                        <a:t>How long</a:t>
                      </a:r>
                    </a:p>
                  </a:txBody>
                  <a:tcPr>
                    <a:solidFill>
                      <a:srgbClr val="E3F3EE"/>
                    </a:solidFill>
                  </a:tcPr>
                </a:tc>
                <a:tc>
                  <a:txBody>
                    <a:bodyPr/>
                    <a:lstStyle/>
                    <a:p>
                      <a:r>
                        <a:rPr sz="1600" b="0">
                          <a:solidFill>
                            <a:srgbClr val="1B1B1B"/>
                          </a:solidFill>
                          <a:latin typeface="Calibri"/>
                        </a:rPr>
                        <a:t>How long does it last?</a:t>
                      </a:r>
                    </a:p>
                  </a:txBody>
                  <a:tcPr>
                    <a:solidFill>
                      <a:srgbClr val="E3F3EE"/>
                    </a:solidFill>
                  </a:tcPr>
                </a:tc>
                <a:tc>
                  <a:txBody>
                    <a:bodyPr/>
                    <a:lstStyle/>
                    <a:p>
                      <a:r>
                        <a:rPr sz="1600" b="0">
                          <a:solidFill>
                            <a:srgbClr val="1B1B1B"/>
                          </a:solidFill>
                          <a:latin typeface="Calibri"/>
                        </a:rPr>
                        <a:t>Officially five days.</a:t>
                      </a:r>
                    </a:p>
                  </a:txBody>
                  <a:tcPr>
                    <a:solidFill>
                      <a:srgbClr val="E3F3EE"/>
                    </a:solidFill>
                  </a:tcPr>
                </a:tc>
              </a:tr>
              <a:tr h="566928">
                <a:tc>
                  <a:txBody>
                    <a:bodyPr/>
                    <a:lstStyle/>
                    <a:p>
                      <a:r>
                        <a:rPr sz="1600" b="0">
                          <a:solidFill>
                            <a:srgbClr val="1B1B1B"/>
                          </a:solidFill>
                          <a:latin typeface="Calibri"/>
                        </a:rPr>
                        <a:t>definition</a:t>
                      </a:r>
                    </a:p>
                  </a:txBody>
                  <a:tcPr>
                    <a:solidFill>
                      <a:srgbClr val="FFFFFF"/>
                    </a:solidFill>
                  </a:tcPr>
                </a:tc>
                <a:tc>
                  <a:txBody>
                    <a:bodyPr/>
                    <a:lstStyle/>
                    <a:p>
                      <a:r>
                        <a:rPr sz="1600" b="0">
                          <a:solidFill>
                            <a:srgbClr val="1B1B1B"/>
                          </a:solidFill>
                          <a:latin typeface="Calibri"/>
                        </a:rPr>
                        <a:t>What exactly is banh chung?</a:t>
                      </a:r>
                    </a:p>
                  </a:txBody>
                  <a:tcPr>
                    <a:solidFill>
                      <a:srgbClr val="FFFFFF"/>
                    </a:solidFill>
                  </a:tcPr>
                </a:tc>
                <a:tc>
                  <a:txBody>
                    <a:bodyPr/>
                    <a:lstStyle/>
                    <a:p>
                      <a:r>
                        <a:rPr sz="1600" b="0">
                          <a:solidFill>
                            <a:srgbClr val="1B1B1B"/>
                          </a:solidFill>
                          <a:latin typeface="Calibri"/>
                        </a:rPr>
                        <a:t>It's a square rice cake with pork and beans.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many days of holiday do you get? – Usually five to seven.</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 give lucky money? – Because it brings good luck for the year.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*How long does it lasts?* and *Why people clean the house?* — remember the auxiliary: does it LAST, why DO people clean.</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How many days of holiday do you get? – Usually five to seven.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Question intonation and the /θ/ /ð/ sounds in questions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Yes/no questions rise; Wh- questions fall. Watch the sounds in 'What's the third day?' and 'Do they think…?'</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Is it a public holiday? ↗</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How long does it last? ↘</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What does it mean? ↘</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Do they think it's important?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Is Tet a public holiday? ↗ – Yes, it is.</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Why do people clean the house? ↘ – To sweep away bad luck.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Lesson 31: Take Me Out to the Ball Game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going to a baseball game. American English — VOA’s professional actors (Anna, Pete, Marsha, Ms. Weaver…), slowed learner delivery. It lasts 3:30.</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VOA Learning English — Let’s Learn English, Level 1 · 3:30 · American English — VOA’s professional actors (Anna, Pete, Marsha, Ms. Weaver…), slowed learner delivery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choosing a Halloween costume for a party B. plans for a trip next summer C. going to a baseball game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 (true) or F (false).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And right now, there is a lot of traffic.</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run to first base, second base, third base, then home plate.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So many people like to watch baseball.</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really want to learn how to ride three.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Anna, you should go a lot earlier than 10 o’clock.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It is home to Washington, D.C.’s baseball _____ -- the Washington Nationals!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I am taking a bus to a Nationals baseball 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Jonathan: Have fun at the _____, Anna.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Look at all these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Five questions foreigners ask about Tet</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1. 'Is it like Christmas?' A little — family, food, presents for children — but Tet is not religious in the same way, and the date changes every year. 2. 'Why is everything closed?' Because almost everybody goes home to their family. For three or four days, cities become empty and villages become full. 3. 'How much lucky money should I give?' A small amount is fine. The envelope matters more than the money. 4. 'Can I visit a Vietnamese family?' Yes — but the first visitor on the first morning is special, so wait until the second day unless you are invited. 5. 'What should I say?' 'Chuc mung nam moi' — Happy New Year. Add a wish: health for old people, good marks for students, money for everybody else.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Give one similarity and one difference between Tet and Christmas.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everything close?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How much lucky money should a visitor give?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When should a visitor come, and why?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wish is suitable for an old person? And for a student?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question.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(when / Tet / be?)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(how long / the holiday / last?)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 people / clean the house?)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 children / receive?)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(be / it / a public holiday?) ______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long does it last?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What exactly is banh chung?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Why do people give lucky money?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Is it a public holiday?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It's a square rice cake with pork and beans.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Match the question with the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Yes, for several days.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Officially five days.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Because it is a wish for a good year.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missing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It's in September, on the fifteenth day of the eighth lunar month.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Children carry lanterns and families eat mooncakes.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Because it celebrates the full moon.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No, it isn't a public holiday — we still go to school.</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______ ? B: About one night, but the shops start selling cakes a month before.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U9.4-S2 with three different partners.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U9.4-S2 with three different partners.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questions about a festival, then ask your partner.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Include: one yes/no, two Wh-, one 'How long/many', one 'Why…?'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 is a foreign student, B is Vietnamese. A asks about a Vietnamese festival; B answers and asks one question back. Eight turns.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Checklist: □ polite opener □ four questions □ one 'Why?' □ one reaction □ one question back □ polite ending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Cultural exchange: asking and explaining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I ask you about…?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Why do people…?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interesting!</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Is it the same in your country?</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Thanks for explaining.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Speed cultural exchange: three-minute conversations with three different partners.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five questions a foreign visitor might ask about a Vietnamese festival, with your answers.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U9.4-W1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Write five questions a foreign visitor might ask about a Vietnamese festival, with your answers.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Question forms about culture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exactly is…? / Why do people…?</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Yes/no ↗ and Wh- ↘ intonation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U9L4</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public holiday, lunar calendar, relatives, lucky money, greeting, superstition.</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Write the questions.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five questions and answers (U9.4-W1) neatly.</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U9.4-H4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answering the five questions about Tet aloud, three times.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U9L4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