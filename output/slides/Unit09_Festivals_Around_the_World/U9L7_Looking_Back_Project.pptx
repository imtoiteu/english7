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9L2_1_A1-13-Months.mp3" TargetMode="External"/><Relationship Id="rId3" Type="http://schemas.openxmlformats.org/officeDocument/2006/relationships/hyperlink" Target="../../../audio/FU9L3_1_A1-24-Articles.mp3"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9  ·  LESSON 7  ·  PERIOD 69</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LOOKING BACK &amp; PROJECT</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Unit 9 review and the Festival Fair</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U9L7</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recall the festival vocabulary of Unit 9</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articles and question forms accurately</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correct the six typical mistakes of the unit</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present a festival stand and answer visitors'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Article bingo  (6')</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U9L7</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Students write nine nouns; teacher reads phrases; students cross out if the article is correct.</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Play bingo with articles.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U9L7</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stand</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/stænd/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gian trưng bày</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Each group has a stand.</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visitor</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/ˈvɪzɪtə/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khách tham quan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Visitors ask questions at each stand.</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quiz</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/kwɪz/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câu đố</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prepared a five-question quiz.</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U9L7</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Welcome to our stand.</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Would you like to know about…?</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Any questions?</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Thank you for visiting.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Unit 9 grammar in one page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U9L7</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a/an for first mention (a lantern, an altar)</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the for something specific, unique or superlative</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no article for general plurals and uncountables</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Question forms: yes/no, Wh-, How long, What exactly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U9L7</a:t>
            </a:r>
          </a:p>
        </p:txBody>
      </p:sp>
      <p:graphicFrame>
        <p:nvGraphicFramePr>
          <p:cNvPr id="8" name="Table 7"/>
          <p:cNvGraphicFramePr>
            <a:graphicFrameLocks noGrp="1"/>
          </p:cNvGraphicFramePr>
          <p:nvPr/>
        </p:nvGraphicFramePr>
        <p:xfrm>
          <a:off x="548640" y="1463040"/>
          <a:ext cx="11064240" cy="3968496"/>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Structure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c>
                  <a:txBody>
                    <a:bodyPr/>
                    <a:lstStyle/>
                    <a:p>
                      <a:r>
                        <a:rPr sz="1600" b="1">
                          <a:solidFill>
                            <a:srgbClr val="FFFFFF"/>
                          </a:solidFill>
                          <a:latin typeface="Calibri"/>
                        </a:rPr>
                        <a:t>Common mistake</a:t>
                      </a:r>
                    </a:p>
                  </a:txBody>
                  <a:tcPr>
                    <a:solidFill>
                      <a:srgbClr val="0E7C66"/>
                    </a:solidFill>
                  </a:tcPr>
                </a:tc>
              </a:tr>
              <a:tr h="566928">
                <a:tc>
                  <a:txBody>
                    <a:bodyPr/>
                    <a:lstStyle/>
                    <a:p>
                      <a:r>
                        <a:rPr sz="1600" b="0">
                          <a:solidFill>
                            <a:srgbClr val="1B1B1B"/>
                          </a:solidFill>
                          <a:latin typeface="Calibri"/>
                        </a:rPr>
                        <a:t>a/an first mention</a:t>
                      </a:r>
                    </a:p>
                  </a:txBody>
                  <a:tcPr>
                    <a:solidFill>
                      <a:srgbClr val="E3F3EE"/>
                    </a:solidFill>
                  </a:tcPr>
                </a:tc>
                <a:tc>
                  <a:txBody>
                    <a:bodyPr/>
                    <a:lstStyle/>
                    <a:p>
                      <a:r>
                        <a:rPr sz="1600" b="0">
                          <a:solidFill>
                            <a:srgbClr val="1B1B1B"/>
                          </a:solidFill>
                          <a:latin typeface="Calibri"/>
                        </a:rPr>
                        <a:t>I saw a temple.</a:t>
                      </a:r>
                    </a:p>
                  </a:txBody>
                  <a:tcPr>
                    <a:solidFill>
                      <a:srgbClr val="E3F3EE"/>
                    </a:solidFill>
                  </a:tcPr>
                </a:tc>
                <a:tc>
                  <a:txBody>
                    <a:bodyPr/>
                    <a:lstStyle/>
                    <a:p>
                      <a:r>
                        <a:rPr sz="1600" b="0">
                          <a:solidFill>
                            <a:srgbClr val="1B1B1B"/>
                          </a:solidFill>
                          <a:latin typeface="Calibri"/>
                        </a:rPr>
                        <a:t>*I saw temple.</a:t>
                      </a:r>
                    </a:p>
                  </a:txBody>
                  <a:tcPr>
                    <a:solidFill>
                      <a:srgbClr val="E3F3EE"/>
                    </a:solidFill>
                  </a:tcPr>
                </a:tc>
              </a:tr>
              <a:tr h="566928">
                <a:tc>
                  <a:txBody>
                    <a:bodyPr/>
                    <a:lstStyle/>
                    <a:p>
                      <a:r>
                        <a:rPr sz="1600" b="0">
                          <a:solidFill>
                            <a:srgbClr val="1B1B1B"/>
                          </a:solidFill>
                          <a:latin typeface="Calibri"/>
                        </a:rPr>
                        <a:t>an + vowel sound</a:t>
                      </a:r>
                    </a:p>
                  </a:txBody>
                  <a:tcPr>
                    <a:solidFill>
                      <a:srgbClr val="FFFFFF"/>
                    </a:solidFill>
                  </a:tcPr>
                </a:tc>
                <a:tc>
                  <a:txBody>
                    <a:bodyPr/>
                    <a:lstStyle/>
                    <a:p>
                      <a:r>
                        <a:rPr sz="1600" b="0">
                          <a:solidFill>
                            <a:srgbClr val="1B1B1B"/>
                          </a:solidFill>
                          <a:latin typeface="Calibri"/>
                        </a:rPr>
                        <a:t>an ao dai, an hour</a:t>
                      </a:r>
                    </a:p>
                  </a:txBody>
                  <a:tcPr>
                    <a:solidFill>
                      <a:srgbClr val="FFFFFF"/>
                    </a:solidFill>
                  </a:tcPr>
                </a:tc>
                <a:tc>
                  <a:txBody>
                    <a:bodyPr/>
                    <a:lstStyle/>
                    <a:p>
                      <a:r>
                        <a:rPr sz="1600" b="0">
                          <a:solidFill>
                            <a:srgbClr val="1B1B1B"/>
                          </a:solidFill>
                          <a:latin typeface="Calibri"/>
                        </a:rPr>
                        <a:t>*a ao dai</a:t>
                      </a:r>
                    </a:p>
                  </a:txBody>
                  <a:tcPr>
                    <a:solidFill>
                      <a:srgbClr val="FFFFFF"/>
                    </a:solidFill>
                  </a:tcPr>
                </a:tc>
              </a:tr>
              <a:tr h="566928">
                <a:tc>
                  <a:txBody>
                    <a:bodyPr/>
                    <a:lstStyle/>
                    <a:p>
                      <a:r>
                        <a:rPr sz="1600" b="0">
                          <a:solidFill>
                            <a:srgbClr val="1B1B1B"/>
                          </a:solidFill>
                          <a:latin typeface="Calibri"/>
                        </a:rPr>
                        <a:t>the + specific</a:t>
                      </a:r>
                    </a:p>
                  </a:txBody>
                  <a:tcPr>
                    <a:solidFill>
                      <a:srgbClr val="E3F3EE"/>
                    </a:solidFill>
                  </a:tcPr>
                </a:tc>
                <a:tc>
                  <a:txBody>
                    <a:bodyPr/>
                    <a:lstStyle/>
                    <a:p>
                      <a:r>
                        <a:rPr sz="1600" b="0">
                          <a:solidFill>
                            <a:srgbClr val="1B1B1B"/>
                          </a:solidFill>
                          <a:latin typeface="Calibri"/>
                        </a:rPr>
                        <a:t>The temple is old.</a:t>
                      </a:r>
                    </a:p>
                  </a:txBody>
                  <a:tcPr>
                    <a:solidFill>
                      <a:srgbClr val="E3F3EE"/>
                    </a:solidFill>
                  </a:tcPr>
                </a:tc>
                <a:tc>
                  <a:txBody>
                    <a:bodyPr/>
                    <a:lstStyle/>
                    <a:p>
                      <a:r>
                        <a:rPr sz="1600" b="0">
                          <a:solidFill>
                            <a:srgbClr val="1B1B1B"/>
                          </a:solidFill>
                          <a:latin typeface="Calibri"/>
                        </a:rPr>
                        <a:t>*Temple is old.</a:t>
                      </a:r>
                    </a:p>
                  </a:txBody>
                  <a:tcPr>
                    <a:solidFill>
                      <a:srgbClr val="E3F3EE"/>
                    </a:solidFill>
                  </a:tcPr>
                </a:tc>
              </a:tr>
              <a:tr h="566928">
                <a:tc>
                  <a:txBody>
                    <a:bodyPr/>
                    <a:lstStyle/>
                    <a:p>
                      <a:r>
                        <a:rPr sz="1600" b="0">
                          <a:solidFill>
                            <a:srgbClr val="1B1B1B"/>
                          </a:solidFill>
                          <a:latin typeface="Calibri"/>
                        </a:rPr>
                        <a:t>no article general</a:t>
                      </a:r>
                    </a:p>
                  </a:txBody>
                  <a:tcPr>
                    <a:solidFill>
                      <a:srgbClr val="FFFFFF"/>
                    </a:solidFill>
                  </a:tcPr>
                </a:tc>
                <a:tc>
                  <a:txBody>
                    <a:bodyPr/>
                    <a:lstStyle/>
                    <a:p>
                      <a:r>
                        <a:rPr sz="1600" b="0">
                          <a:solidFill>
                            <a:srgbClr val="1B1B1B"/>
                          </a:solidFill>
                          <a:latin typeface="Calibri"/>
                        </a:rPr>
                        <a:t>Children love festivals.</a:t>
                      </a:r>
                    </a:p>
                  </a:txBody>
                  <a:tcPr>
                    <a:solidFill>
                      <a:srgbClr val="FFFFFF"/>
                    </a:solidFill>
                  </a:tcPr>
                </a:tc>
                <a:tc>
                  <a:txBody>
                    <a:bodyPr/>
                    <a:lstStyle/>
                    <a:p>
                      <a:r>
                        <a:rPr sz="1600" b="0">
                          <a:solidFill>
                            <a:srgbClr val="1B1B1B"/>
                          </a:solidFill>
                          <a:latin typeface="Calibri"/>
                        </a:rPr>
                        <a:t>*The children love the festivals.</a:t>
                      </a:r>
                    </a:p>
                  </a:txBody>
                  <a:tcPr>
                    <a:solidFill>
                      <a:srgbClr val="FFFFFF"/>
                    </a:solidFill>
                  </a:tcPr>
                </a:tc>
              </a:tr>
              <a:tr h="566928">
                <a:tc>
                  <a:txBody>
                    <a:bodyPr/>
                    <a:lstStyle/>
                    <a:p>
                      <a:r>
                        <a:rPr sz="1600" b="0">
                          <a:solidFill>
                            <a:srgbClr val="1B1B1B"/>
                          </a:solidFill>
                          <a:latin typeface="Calibri"/>
                        </a:rPr>
                        <a:t>question with do</a:t>
                      </a:r>
                    </a:p>
                  </a:txBody>
                  <a:tcPr>
                    <a:solidFill>
                      <a:srgbClr val="E3F3EE"/>
                    </a:solidFill>
                  </a:tcPr>
                </a:tc>
                <a:tc>
                  <a:txBody>
                    <a:bodyPr/>
                    <a:lstStyle/>
                    <a:p>
                      <a:r>
                        <a:rPr sz="1600" b="0">
                          <a:solidFill>
                            <a:srgbClr val="1B1B1B"/>
                          </a:solidFill>
                          <a:latin typeface="Calibri"/>
                        </a:rPr>
                        <a:t>Why do people clean?</a:t>
                      </a:r>
                    </a:p>
                  </a:txBody>
                  <a:tcPr>
                    <a:solidFill>
                      <a:srgbClr val="E3F3EE"/>
                    </a:solidFill>
                  </a:tcPr>
                </a:tc>
                <a:tc>
                  <a:txBody>
                    <a:bodyPr/>
                    <a:lstStyle/>
                    <a:p>
                      <a:r>
                        <a:rPr sz="1600" b="0">
                          <a:solidFill>
                            <a:srgbClr val="1B1B1B"/>
                          </a:solidFill>
                          <a:latin typeface="Calibri"/>
                        </a:rPr>
                        <a:t>*Why people clean?</a:t>
                      </a:r>
                    </a:p>
                  </a:txBody>
                  <a:tcPr>
                    <a:solidFill>
                      <a:srgbClr val="E3F3EE"/>
                    </a:solidFill>
                  </a:tcPr>
                </a:tc>
              </a:tr>
              <a:tr h="566928">
                <a:tc>
                  <a:txBody>
                    <a:bodyPr/>
                    <a:lstStyle/>
                    <a:p>
                      <a:r>
                        <a:rPr sz="1600" b="0">
                          <a:solidFill>
                            <a:srgbClr val="1B1B1B"/>
                          </a:solidFill>
                          <a:latin typeface="Calibri"/>
                        </a:rPr>
                        <a:t>celebrate by + V-ing</a:t>
                      </a:r>
                    </a:p>
                  </a:txBody>
                  <a:tcPr>
                    <a:solidFill>
                      <a:srgbClr val="FFFFFF"/>
                    </a:solidFill>
                  </a:tcPr>
                </a:tc>
                <a:tc>
                  <a:txBody>
                    <a:bodyPr/>
                    <a:lstStyle/>
                    <a:p>
                      <a:r>
                        <a:rPr sz="1600" b="0">
                          <a:solidFill>
                            <a:srgbClr val="1B1B1B"/>
                          </a:solidFill>
                          <a:latin typeface="Calibri"/>
                        </a:rPr>
                        <a:t>They celebrate by singing.</a:t>
                      </a:r>
                    </a:p>
                  </a:txBody>
                  <a:tcPr>
                    <a:solidFill>
                      <a:srgbClr val="FFFFFF"/>
                    </a:solidFill>
                  </a:tcPr>
                </a:tc>
                <a:tc>
                  <a:txBody>
                    <a:bodyPr/>
                    <a:lstStyle/>
                    <a:p>
                      <a:r>
                        <a:rPr sz="1600" b="0">
                          <a:solidFill>
                            <a:srgbClr val="1B1B1B"/>
                          </a:solidFill>
                          <a:latin typeface="Calibri"/>
                        </a:rPr>
                        <a:t>*by sing</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U9L7</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At Tet, children receive lucky money in a red envelope. The envelope is more important than the money.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U9L7</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Add these six to the classroom wall list.</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At Tet, children receive lucky money in a red envelope. The envelope is more important than the money.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Unit 9 sounds review: /θ/ /ð/ and weak articles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U9L7</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Three checks: is the tongue between the teeth? is the final /θ/ in 'month' audible? are the articles weak?</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think – this</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month, fourth, eighth</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 lantern, an altar, the temple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U9L7</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They think this is the third month, and the festival is on the eighth.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Looking Back — listen again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U9L7</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No new recording. You hear this unit’s own recordings again: Months of the year · Articles: a / an / the.</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440680"/>
            <a:ext cx="5294376" cy="530352"/>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42C4F"/>
                </a:solidFill>
                <a:hlinkClick r:id="rId2"/>
              </a:rPr>
              <a:t>▶ U9L2</a:t>
            </a:r>
          </a:p>
        </p:txBody>
      </p:sp>
      <p:sp>
        <p:nvSpPr>
          <p:cNvPr id="12" name="Rounded Rectangle 11"/>
          <p:cNvSpPr/>
          <p:nvPr/>
        </p:nvSpPr>
        <p:spPr>
          <a:xfrm>
            <a:off x="6135624" y="5440680"/>
            <a:ext cx="5294376" cy="530352"/>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42C4F"/>
                </a:solidFill>
                <a:hlinkClick r:id="rId3"/>
              </a:rPr>
              <a:t>▶ U9L3</a:t>
            </a:r>
          </a:p>
        </p:txBody>
      </p:sp>
      <p:sp>
        <p:nvSpPr>
          <p:cNvPr id="13" name="TextBox 12"/>
          <p:cNvSpPr txBox="1"/>
          <p:nvPr/>
        </p:nvSpPr>
        <p:spPr>
          <a:xfrm>
            <a:off x="731520" y="6062472"/>
            <a:ext cx="10698480" cy="502920"/>
          </a:xfrm>
          <a:prstGeom prst="rect">
            <a:avLst/>
          </a:prstGeom>
          <a:noFill/>
        </p:spPr>
        <p:txBody>
          <a:bodyPr wrap="square" anchor="t">
            <a:spAutoFit/>
          </a:bodyPr>
          <a:lstStyle/>
          <a:p>
            <a:pPr algn="l">
              <a:lnSpc>
                <a:spcPct val="100000"/>
              </a:lnSpc>
              <a:spcAft>
                <a:spcPts val="600"/>
              </a:spcAft>
            </a:pPr>
            <a:r>
              <a:rPr sz="1100" b="0" i="0">
                <a:solidFill>
                  <a:srgbClr val="6B7280"/>
                </a:solidFill>
                <a:latin typeface="Calibri"/>
              </a:rPr>
              <a:t>Recycled — this unit’s own verified recordings · replayed extracts · As in the original recordings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U9.7-L1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teacher plays six lines from this unit’s recordings. Write each line.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____________________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____________________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____________________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____________________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____________________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U9.7-L1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teacher plays six lines from this unit’s recordings. Write each line.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____________________</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The festival that came back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U9L7</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For nearly fifty years, the village of Dong Ky did not hold its firework festival. The old men remembered it; the young people had only heard about it. Then, in the 1990s, three old men decided to write down everything they could remember: the songs, the order of the procession, even the exact words the leader says before the fire is lit. It took them two years. The first new festival was small and, everybody agrees, not very good. The second was better. Today it attracts thousands of visitors and the village makes and sells traditional furniture all year because of the people who first came for the festival. 'A tradition does not die when the old people die,' one of the three men said before he died in 2011. 'It dies when nobody writes it down.'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U9.7-R1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long did the village not hold the festival?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did the three old men do, and how long did it take?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was the first new festival like?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is the economic result today?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Explain the last sentence in your own words.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U9.7-G1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 light children carry: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people walking together in the street: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special clothes: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 traditional way of doing something: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 very old story: ______</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U9.7-G1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people who visit a country: ______</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U9.7-G2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saw temple on the hill.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She wore a ao dai.</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children love the festivals.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Tet is most important festival.</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Why people clean the house?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U9.7-G2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People celebrate by eat special food.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U9.7-I1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text with one word in each gap.</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Write the seven words.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U9.7-I2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Finish your stand and practise answering questions.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U9.7-I2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Finish your stand and practise answering questions.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U9.7-S1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Present your stand for two minutes and answer visitors'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Frame: 'Welcome to our stand. This is… It takes place… People celebrate by… It is important because… Any questions?'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Hosting a stand and answering questions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U9L7</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Welcome to our stand.</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Would you like to know about…?</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That's a good question.</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Try our quiz!</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Thank you for visiting.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U9L7</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Half the class hosts while the other half visits; then swap.</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U9.7-W1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your six sentences and your five quiz questions with answers.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Six sentences: when/where, three activities, food, why it matters.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Five quiz questions for visitors, with answers on the back.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U9L7</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Festival vocabulary (26 items)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Articles a/an/the/–</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Question forms</a:t>
            </a:r>
          </a:p>
        </p:txBody>
      </p:sp>
      <p:sp>
        <p:nvSpPr>
          <p:cNvPr id="14" name="Rounded Rectangle 13"/>
          <p:cNvSpPr/>
          <p:nvPr/>
        </p:nvSpPr>
        <p:spPr>
          <a:xfrm>
            <a:off x="731520" y="448056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51560" y="455371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celebrate by + V-ing</a:t>
            </a:r>
          </a:p>
        </p:txBody>
      </p:sp>
      <p:sp>
        <p:nvSpPr>
          <p:cNvPr id="16" name="Rounded Rectangle 15"/>
          <p:cNvSpPr/>
          <p:nvPr/>
        </p:nvSpPr>
        <p:spPr>
          <a:xfrm>
            <a:off x="731520" y="544068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51560" y="551383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Four-paragraph description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U9L7</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U9.7-H1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10 words from Unit 9 with Vietnamese meanings.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U9.7-H2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Choose the correct answer.</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U9.7-H3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a description (110–120 words) of a festival for the class festival book.</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U9.7-H4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Prepare for Unit 10 — Write five sources of energy you know (electricity, solar…), in English or Vietnamese.</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U9L7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