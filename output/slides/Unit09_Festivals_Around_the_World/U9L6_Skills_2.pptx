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6  ·  PERIOD 68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festival report + Writing: Describe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fact file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festival description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description of 100–120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Fact-file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six festival facts; students note them in a mini fact file.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fact file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/ˈfækt faɪl/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tin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Complete the fact file.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sặc sỡ</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costumes are very colourful.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crowded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/ˈkraʊdɪd/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đông đúc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streets are crowded all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noisy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/ˈnɔɪzi/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ồn 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noisy but everybody is happy.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atmosphere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/ˈætməsfɪə/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khí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atmosphere is wonderful.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unforgettable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/ˌʌnfəˈɡetəbl/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thể quên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unforgettable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atmosphere is…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full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 smell / hear /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will never forget…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Festival description: four paragraphs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 FACTS: name, when, where, how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 HISTORY: dates back to / according to legend.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 WHAT HAPPENS: sequence words + present simple + food and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4 — FEELING: the atmosphere, and why it matters to people.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Paragraph</a:t>
                      </a:r>
                    </a:p>
                  </a:txBody>
                  <a:tcPr>
                    <a:solidFill>
                      <a:srgbClr val="0E7C66"/>
                    </a:solidFill>
                  </a:tcPr>
                </a:tc>
                <a:tc>
                  <a:txBody>
                    <a:bodyPr/>
                    <a:lstStyle/>
                    <a:p>
                      <a:r>
                        <a:rPr sz="1600" b="1">
                          <a:solidFill>
                            <a:srgbClr val="FFFFFF"/>
                          </a:solidFill>
                          <a:latin typeface="Calibri"/>
                        </a:rPr>
                        <a:t>Content</a:t>
                      </a:r>
                    </a:p>
                  </a:txBody>
                  <a:tcPr>
                    <a:solidFill>
                      <a:srgbClr val="0E7C66"/>
                    </a:solidFill>
                  </a:tcPr>
                </a:tc>
                <a:tc>
                  <a:txBody>
                    <a:bodyPr/>
                    <a:lstStyle/>
                    <a:p>
                      <a:r>
                        <a:rPr sz="1600" b="1">
                          <a:solidFill>
                            <a:srgbClr val="FFFFFF"/>
                          </a:solidFill>
                          <a:latin typeface="Calibri"/>
                        </a:rPr>
                        <a:t>Useful language</a:t>
                      </a:r>
                    </a:p>
                  </a:txBody>
                  <a:tcPr>
                    <a:solidFill>
                      <a:srgbClr val="0E7C66"/>
                    </a:solidFill>
                  </a:tcPr>
                </a:tc>
              </a:tr>
              <a:tr h="566928">
                <a:tc>
                  <a:txBody>
                    <a:bodyPr/>
                    <a:lstStyle/>
                    <a:p>
                      <a:r>
                        <a:rPr sz="1600" b="0">
                          <a:solidFill>
                            <a:srgbClr val="1B1B1B"/>
                          </a:solidFill>
                          <a:latin typeface="Calibri"/>
                        </a:rPr>
                        <a:t>1 Facts</a:t>
                      </a:r>
                    </a:p>
                  </a:txBody>
                  <a:tcPr>
                    <a:solidFill>
                      <a:srgbClr val="E3F3EE"/>
                    </a:solidFill>
                  </a:tcPr>
                </a:tc>
                <a:tc>
                  <a:txBody>
                    <a:bodyPr/>
                    <a:lstStyle/>
                    <a:p>
                      <a:r>
                        <a:rPr sz="1600" b="0">
                          <a:solidFill>
                            <a:srgbClr val="1B1B1B"/>
                          </a:solidFill>
                          <a:latin typeface="Calibri"/>
                        </a:rPr>
                        <a:t>name, when, where</a:t>
                      </a:r>
                    </a:p>
                  </a:txBody>
                  <a:tcPr>
                    <a:solidFill>
                      <a:srgbClr val="E3F3EE"/>
                    </a:solidFill>
                  </a:tcPr>
                </a:tc>
                <a:tc>
                  <a:txBody>
                    <a:bodyPr/>
                    <a:lstStyle/>
                    <a:p>
                      <a:r>
                        <a:rPr sz="1600" b="0">
                          <a:solidFill>
                            <a:srgbClr val="1B1B1B"/>
                          </a:solidFill>
                          <a:latin typeface="Calibri"/>
                        </a:rPr>
                        <a:t>…takes place in… It lasts…</a:t>
                      </a:r>
                    </a:p>
                  </a:txBody>
                  <a:tcPr>
                    <a:solidFill>
                      <a:srgbClr val="E3F3EE"/>
                    </a:solidFill>
                  </a:tcPr>
                </a:tc>
              </a:tr>
              <a:tr h="566928">
                <a:tc>
                  <a:txBody>
                    <a:bodyPr/>
                    <a:lstStyle/>
                    <a:p>
                      <a:r>
                        <a:rPr sz="1600" b="0">
                          <a:solidFill>
                            <a:srgbClr val="1B1B1B"/>
                          </a:solidFill>
                          <a:latin typeface="Calibri"/>
                        </a:rPr>
                        <a:t>2 History</a:t>
                      </a:r>
                    </a:p>
                  </a:txBody>
                  <a:tcPr>
                    <a:solidFill>
                      <a:srgbClr val="FFFFFF"/>
                    </a:solidFill>
                  </a:tcPr>
                </a:tc>
                <a:tc>
                  <a:txBody>
                    <a:bodyPr/>
                    <a:lstStyle/>
                    <a:p>
                      <a:r>
                        <a:rPr sz="1600" b="0">
                          <a:solidFill>
                            <a:srgbClr val="1B1B1B"/>
                          </a:solidFill>
                          <a:latin typeface="Calibri"/>
                        </a:rPr>
                        <a:t>origin, legend</a:t>
                      </a:r>
                    </a:p>
                  </a:txBody>
                  <a:tcPr>
                    <a:solidFill>
                      <a:srgbClr val="FFFFFF"/>
                    </a:solidFill>
                  </a:tcPr>
                </a:tc>
                <a:tc>
                  <a:txBody>
                    <a:bodyPr/>
                    <a:lstStyle/>
                    <a:p>
                      <a:r>
                        <a:rPr sz="1600" b="0">
                          <a:solidFill>
                            <a:srgbClr val="1B1B1B"/>
                          </a:solidFill>
                          <a:latin typeface="Calibri"/>
                        </a:rPr>
                        <a:t>It dates back to… According to legend,…</a:t>
                      </a:r>
                    </a:p>
                  </a:txBody>
                  <a:tcPr>
                    <a:solidFill>
                      <a:srgbClr val="FFFFFF"/>
                    </a:solidFill>
                  </a:tcPr>
                </a:tc>
              </a:tr>
              <a:tr h="566928">
                <a:tc>
                  <a:txBody>
                    <a:bodyPr/>
                    <a:lstStyle/>
                    <a:p>
                      <a:r>
                        <a:rPr sz="1600" b="0">
                          <a:solidFill>
                            <a:srgbClr val="1B1B1B"/>
                          </a:solidFill>
                          <a:latin typeface="Calibri"/>
                        </a:rPr>
                        <a:t>3 Events</a:t>
                      </a:r>
                    </a:p>
                  </a:txBody>
                  <a:tcPr>
                    <a:solidFill>
                      <a:srgbClr val="E3F3EE"/>
                    </a:solidFill>
                  </a:tcPr>
                </a:tc>
                <a:tc>
                  <a:txBody>
                    <a:bodyPr/>
                    <a:lstStyle/>
                    <a:p>
                      <a:r>
                        <a:rPr sz="1600" b="0">
                          <a:solidFill>
                            <a:srgbClr val="1B1B1B"/>
                          </a:solidFill>
                          <a:latin typeface="Calibri"/>
                        </a:rPr>
                        <a:t>what people do</a:t>
                      </a:r>
                    </a:p>
                  </a:txBody>
                  <a:tcPr>
                    <a:solidFill>
                      <a:srgbClr val="E3F3EE"/>
                    </a:solidFill>
                  </a:tcPr>
                </a:tc>
                <a:tc>
                  <a:txBody>
                    <a:bodyPr/>
                    <a:lstStyle/>
                    <a:p>
                      <a:r>
                        <a:rPr sz="1600" b="0">
                          <a:solidFill>
                            <a:srgbClr val="1B1B1B"/>
                          </a:solidFill>
                          <a:latin typeface="Calibri"/>
                        </a:rPr>
                        <a:t>First,… Then,… In the evening,…</a:t>
                      </a:r>
                    </a:p>
                  </a:txBody>
                  <a:tcPr>
                    <a:solidFill>
                      <a:srgbClr val="E3F3EE"/>
                    </a:solidFill>
                  </a:tcPr>
                </a:tc>
              </a:tr>
              <a:tr h="566928">
                <a:tc>
                  <a:txBody>
                    <a:bodyPr/>
                    <a:lstStyle/>
                    <a:p>
                      <a:r>
                        <a:rPr sz="1600" b="0">
                          <a:solidFill>
                            <a:srgbClr val="1B1B1B"/>
                          </a:solidFill>
                          <a:latin typeface="Calibri"/>
                        </a:rPr>
                        <a:t>4 Feeling</a:t>
                      </a:r>
                    </a:p>
                  </a:txBody>
                  <a:tcPr>
                    <a:solidFill>
                      <a:srgbClr val="FFFFFF"/>
                    </a:solidFill>
                  </a:tcPr>
                </a:tc>
                <a:tc>
                  <a:txBody>
                    <a:bodyPr/>
                    <a:lstStyle/>
                    <a:p>
                      <a:r>
                        <a:rPr sz="1600" b="0">
                          <a:solidFill>
                            <a:srgbClr val="1B1B1B"/>
                          </a:solidFill>
                          <a:latin typeface="Calibri"/>
                        </a:rPr>
                        <a:t>atmosphere, importance</a:t>
                      </a:r>
                    </a:p>
                  </a:txBody>
                  <a:tcPr>
                    <a:solidFill>
                      <a:srgbClr val="FFFFFF"/>
                    </a:solidFill>
                  </a:tcPr>
                </a:tc>
                <a:tc>
                  <a:txBody>
                    <a:bodyPr/>
                    <a:lstStyle/>
                    <a:p>
                      <a:r>
                        <a:rPr sz="1600" b="0">
                          <a:solidFill>
                            <a:srgbClr val="1B1B1B"/>
                          </a:solidFill>
                          <a:latin typeface="Calibri"/>
                        </a:rPr>
                        <a:t>The atmosphere is… It matters because…</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crowded and noisy, and you can smell grilled meat everywhere.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moment is when all the lanterns are lit at the same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paragraph 3 (a list of activities). The FEELING paragraph is what makes a description worth reading.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streets are crowded and noisy, and you can smell grilled meat everywhere.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description aloud with feeling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your words, pause at the commas, and let your voice rise a little on the exciting parts. A description read flatly sounds like a timetable.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streets / are crowded and noisy, / and you can smell grilled meat / everywhere.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will NEVER forget / the moment / when all the lanterns / were lit.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atmosphere is wonderful. / You can hear the drums / from the other side of the village.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Who visits you on the holidays?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visits at holiday times. Single speaker — Elisabeth / USA. It lasts 1:08.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1:08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plans for a trip next summer C. who visits at holiday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She likes to hold the baby.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She visits with my friends.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 has a wife and a baby.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She drives to see my brother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She dances with me at parties.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America, and my question is, who _____ you on the holidays?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_____ me on the holidays.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my younger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_____ at my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_____ at restaurants with 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HOI AN LANTERN FESTIVAL The Lantern Festival takes place in the old town of Hoi An on the fourteenth day of every lunar month — the night before the full moon. It lasts about four hours, from six until ten in the evening. Hoi An has made silk lanterns for centuries, but the festival as we know it began only in 1998, when the town decided to protect its old buildings and attract visitors. It is believed that lanterns bring good luck to a house. At six o'clock, all the electric lights in the old town are turned off and the lanterns are lit. There are no motorbikes: everybody walks. Musicians play traditional music on the corners, and people play bai choi, which is half singing and half cards. On the river, visitors buy small paper lanterns with candles, make a wish and put them on the water. The atmosphere is difficult to describe. The streets are crowded and noisy, but the river is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the two 'history' chunks in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sequence markers are used in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sentences using the senses.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sentence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takes place in April.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According to legend, a dragon…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First, families clean the house.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atmosphere is wonderful.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three days.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will never forget it.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sentences with a sense verb (see / hear / smell).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is a lot of noise.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 is grilled meat everywhere.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many lights on the river.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description to your partner. Your partner says which sentence they liked best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description to your partner. Your partner says which sentence they liked best and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four paragraphs in six sentences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history → what happens → feeling.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Sharing a personal memory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moment was…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have to be there.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Photographs don't show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Tell your partner about the best festival night you remember, in one minute.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P1 Facts (name, when, where,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P2 History (dates back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P3 What happens (three things in order + food/music):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P4 Atmosphere and why it matters (one sense sentence):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a festival (four paragraphs).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 present simple, sequence words, one history chunk and one sense sentence.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facts: when, where, how long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history chunk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activities in order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using the senses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articles checked (a/an/the/–)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Fact-file listening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festival description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Using the senses to describe atmosphere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colourful, crowded, noisy, atmosphere, unforgettable.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Add a picture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description aloud twice with feeling, pausing at the commas.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