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9L6_1_A1-024-ELISABETH-WHO-VISITS-HOLIDAYS.mp3" TargetMode="External"/><Relationship Id="rId3" Type="http://schemas.openxmlformats.org/officeDocument/2006/relationships/hyperlink" Target="https://elllo.org/video/A1BEG/A1-024-ELISABETH-WHO-VISITS-HOLIDAY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6  ·  PERIOD 68</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festival report + Writing: Describe a festival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report and complete a fact file</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organise a festival description in four paragraphs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description of 100–120 words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work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Fact-file dictation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Read six festival facts; students note them in a mini fact file.</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Listen and 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fact file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/ˈfækt faɪl/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bảng thông tin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Complete the fact file.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colourful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/ˈkʌləfl/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sặc sỡ</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costumes are very colourful.</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crowded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/ˈkraʊdɪd/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đông đúc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streets are crowded all night.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noisy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/ˈnɔɪzi/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ồn ào</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is noisy but everybody is happy.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atmosphere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/ˈætməsfɪə/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không khí</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atmosphere is wonderful.</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unforgettable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/ˌʌnfəˈɡetəbl/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không thể quên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was an unforgettable night.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atmosphere is…</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streets are full of…</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can smell / hear / see…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will never forget…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Festival description: four paragraphs (writing focus)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1 — FACTS: name, when, where, how long.</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2 — HISTORY: dates back to / according to legend.</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3 — WHAT HAPPENS: sequence words + present simple + food and music.</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Paragraph 4 — FEELING: the atmosphere, and why it matters to people.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Paragraph</a:t>
                      </a:r>
                    </a:p>
                  </a:txBody>
                  <a:tcPr>
                    <a:solidFill>
                      <a:srgbClr val="0E7C66"/>
                    </a:solidFill>
                  </a:tcPr>
                </a:tc>
                <a:tc>
                  <a:txBody>
                    <a:bodyPr/>
                    <a:lstStyle/>
                    <a:p>
                      <a:r>
                        <a:rPr sz="1600" b="1">
                          <a:solidFill>
                            <a:srgbClr val="FFFFFF"/>
                          </a:solidFill>
                          <a:latin typeface="Calibri"/>
                        </a:rPr>
                        <a:t>Content</a:t>
                      </a:r>
                    </a:p>
                  </a:txBody>
                  <a:tcPr>
                    <a:solidFill>
                      <a:srgbClr val="0E7C66"/>
                    </a:solidFill>
                  </a:tcPr>
                </a:tc>
                <a:tc>
                  <a:txBody>
                    <a:bodyPr/>
                    <a:lstStyle/>
                    <a:p>
                      <a:r>
                        <a:rPr sz="1600" b="1">
                          <a:solidFill>
                            <a:srgbClr val="FFFFFF"/>
                          </a:solidFill>
                          <a:latin typeface="Calibri"/>
                        </a:rPr>
                        <a:t>Useful language</a:t>
                      </a:r>
                    </a:p>
                  </a:txBody>
                  <a:tcPr>
                    <a:solidFill>
                      <a:srgbClr val="0E7C66"/>
                    </a:solidFill>
                  </a:tcPr>
                </a:tc>
              </a:tr>
              <a:tr h="566928">
                <a:tc>
                  <a:txBody>
                    <a:bodyPr/>
                    <a:lstStyle/>
                    <a:p>
                      <a:r>
                        <a:rPr sz="1600" b="0">
                          <a:solidFill>
                            <a:srgbClr val="1B1B1B"/>
                          </a:solidFill>
                          <a:latin typeface="Calibri"/>
                        </a:rPr>
                        <a:t>1 Facts</a:t>
                      </a:r>
                    </a:p>
                  </a:txBody>
                  <a:tcPr>
                    <a:solidFill>
                      <a:srgbClr val="E3F3EE"/>
                    </a:solidFill>
                  </a:tcPr>
                </a:tc>
                <a:tc>
                  <a:txBody>
                    <a:bodyPr/>
                    <a:lstStyle/>
                    <a:p>
                      <a:r>
                        <a:rPr sz="1600" b="0">
                          <a:solidFill>
                            <a:srgbClr val="1B1B1B"/>
                          </a:solidFill>
                          <a:latin typeface="Calibri"/>
                        </a:rPr>
                        <a:t>name, when, where</a:t>
                      </a:r>
                    </a:p>
                  </a:txBody>
                  <a:tcPr>
                    <a:solidFill>
                      <a:srgbClr val="E3F3EE"/>
                    </a:solidFill>
                  </a:tcPr>
                </a:tc>
                <a:tc>
                  <a:txBody>
                    <a:bodyPr/>
                    <a:lstStyle/>
                    <a:p>
                      <a:r>
                        <a:rPr sz="1600" b="0">
                          <a:solidFill>
                            <a:srgbClr val="1B1B1B"/>
                          </a:solidFill>
                          <a:latin typeface="Calibri"/>
                        </a:rPr>
                        <a:t>…takes place in… It lasts…</a:t>
                      </a:r>
                    </a:p>
                  </a:txBody>
                  <a:tcPr>
                    <a:solidFill>
                      <a:srgbClr val="E3F3EE"/>
                    </a:solidFill>
                  </a:tcPr>
                </a:tc>
              </a:tr>
              <a:tr h="566928">
                <a:tc>
                  <a:txBody>
                    <a:bodyPr/>
                    <a:lstStyle/>
                    <a:p>
                      <a:r>
                        <a:rPr sz="1600" b="0">
                          <a:solidFill>
                            <a:srgbClr val="1B1B1B"/>
                          </a:solidFill>
                          <a:latin typeface="Calibri"/>
                        </a:rPr>
                        <a:t>2 History</a:t>
                      </a:r>
                    </a:p>
                  </a:txBody>
                  <a:tcPr>
                    <a:solidFill>
                      <a:srgbClr val="FFFFFF"/>
                    </a:solidFill>
                  </a:tcPr>
                </a:tc>
                <a:tc>
                  <a:txBody>
                    <a:bodyPr/>
                    <a:lstStyle/>
                    <a:p>
                      <a:r>
                        <a:rPr sz="1600" b="0">
                          <a:solidFill>
                            <a:srgbClr val="1B1B1B"/>
                          </a:solidFill>
                          <a:latin typeface="Calibri"/>
                        </a:rPr>
                        <a:t>origin, legend</a:t>
                      </a:r>
                    </a:p>
                  </a:txBody>
                  <a:tcPr>
                    <a:solidFill>
                      <a:srgbClr val="FFFFFF"/>
                    </a:solidFill>
                  </a:tcPr>
                </a:tc>
                <a:tc>
                  <a:txBody>
                    <a:bodyPr/>
                    <a:lstStyle/>
                    <a:p>
                      <a:r>
                        <a:rPr sz="1600" b="0">
                          <a:solidFill>
                            <a:srgbClr val="1B1B1B"/>
                          </a:solidFill>
                          <a:latin typeface="Calibri"/>
                        </a:rPr>
                        <a:t>It dates back to… According to legend,…</a:t>
                      </a:r>
                    </a:p>
                  </a:txBody>
                  <a:tcPr>
                    <a:solidFill>
                      <a:srgbClr val="FFFFFF"/>
                    </a:solidFill>
                  </a:tcPr>
                </a:tc>
              </a:tr>
              <a:tr h="566928">
                <a:tc>
                  <a:txBody>
                    <a:bodyPr/>
                    <a:lstStyle/>
                    <a:p>
                      <a:r>
                        <a:rPr sz="1600" b="0">
                          <a:solidFill>
                            <a:srgbClr val="1B1B1B"/>
                          </a:solidFill>
                          <a:latin typeface="Calibri"/>
                        </a:rPr>
                        <a:t>3 Events</a:t>
                      </a:r>
                    </a:p>
                  </a:txBody>
                  <a:tcPr>
                    <a:solidFill>
                      <a:srgbClr val="E3F3EE"/>
                    </a:solidFill>
                  </a:tcPr>
                </a:tc>
                <a:tc>
                  <a:txBody>
                    <a:bodyPr/>
                    <a:lstStyle/>
                    <a:p>
                      <a:r>
                        <a:rPr sz="1600" b="0">
                          <a:solidFill>
                            <a:srgbClr val="1B1B1B"/>
                          </a:solidFill>
                          <a:latin typeface="Calibri"/>
                        </a:rPr>
                        <a:t>what people do</a:t>
                      </a:r>
                    </a:p>
                  </a:txBody>
                  <a:tcPr>
                    <a:solidFill>
                      <a:srgbClr val="E3F3EE"/>
                    </a:solidFill>
                  </a:tcPr>
                </a:tc>
                <a:tc>
                  <a:txBody>
                    <a:bodyPr/>
                    <a:lstStyle/>
                    <a:p>
                      <a:r>
                        <a:rPr sz="1600" b="0">
                          <a:solidFill>
                            <a:srgbClr val="1B1B1B"/>
                          </a:solidFill>
                          <a:latin typeface="Calibri"/>
                        </a:rPr>
                        <a:t>First,… Then,… In the evening,…</a:t>
                      </a:r>
                    </a:p>
                  </a:txBody>
                  <a:tcPr>
                    <a:solidFill>
                      <a:srgbClr val="E3F3EE"/>
                    </a:solidFill>
                  </a:tcPr>
                </a:tc>
              </a:tr>
              <a:tr h="566928">
                <a:tc>
                  <a:txBody>
                    <a:bodyPr/>
                    <a:lstStyle/>
                    <a:p>
                      <a:r>
                        <a:rPr sz="1600" b="0">
                          <a:solidFill>
                            <a:srgbClr val="1B1B1B"/>
                          </a:solidFill>
                          <a:latin typeface="Calibri"/>
                        </a:rPr>
                        <a:t>4 Feeling</a:t>
                      </a:r>
                    </a:p>
                  </a:txBody>
                  <a:tcPr>
                    <a:solidFill>
                      <a:srgbClr val="FFFFFF"/>
                    </a:solidFill>
                  </a:tcPr>
                </a:tc>
                <a:tc>
                  <a:txBody>
                    <a:bodyPr/>
                    <a:lstStyle/>
                    <a:p>
                      <a:r>
                        <a:rPr sz="1600" b="0">
                          <a:solidFill>
                            <a:srgbClr val="1B1B1B"/>
                          </a:solidFill>
                          <a:latin typeface="Calibri"/>
                        </a:rPr>
                        <a:t>atmosphere, importance</a:t>
                      </a:r>
                    </a:p>
                  </a:txBody>
                  <a:tcPr>
                    <a:solidFill>
                      <a:srgbClr val="FFFFFF"/>
                    </a:solidFill>
                  </a:tcPr>
                </a:tc>
                <a:tc>
                  <a:txBody>
                    <a:bodyPr/>
                    <a:lstStyle/>
                    <a:p>
                      <a:r>
                        <a:rPr sz="1600" b="0">
                          <a:solidFill>
                            <a:srgbClr val="1B1B1B"/>
                          </a:solidFill>
                          <a:latin typeface="Calibri"/>
                        </a:rPr>
                        <a:t>The atmosphere is… It matters because…</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streets are crowded and noisy, and you can smell grilled meat everywhere.</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For me, the best moment is when all the lanterns are lit at the same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only paragraph 3 (a list of activities). The FEELING paragraph is what makes a description worth reading.</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 streets are crowded and noisy, and you can smell grilled meat everywhere.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Reading a description aloud with feeling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Group your words, pause at the commas, and let your voice rise a little on the exciting parts. A description read flatly sounds like a timetable.</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 streets / are crowded and noisy, / and you can smell grilled meat / everywhere.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 will NEVER forget / the moment / when all the lanterns / were lit.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atmosphere is wonderful. / You can hear the drums / from the other side of the village.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Who visits you on the holidays?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who visits at holiday times. Single speaker — Elisabeth / USA. It lasts 1:08.</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ELLLO — One Minute English · 1:08 · Single speaker — Elisabeth / USA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television advertisement for a hair product B. plans for a trip next summer C. who visits at holiday times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She likes to hold the baby.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She visits with my friends.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He has a wife and a baby.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She drives to see my brother here.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She dances with me at parties.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am from America, and my question is, who _____ you on the holidays?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My sister _____ me on the holidays.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She is my younger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She _____ at my house.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She _____ at restaurants with 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Model description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HOI AN LANTERN FESTIVAL The Lantern Festival takes place in the old town of Hoi An on the fourteenth day of every lunar month — the night before the full moon. It lasts about four hours, from six until ten in the evening. Hoi An has made silk lanterns for centuries, but the festival as we know it began only in 1998, when the town decided to protect its old buildings and attract visitors. It is believed that lanterns bring good luck to a house. At six o'clock, all the electric lights in the old town are turned off and the lanterns are lit. There are no motorbikes: everybody walks. Musicians play traditional music on the corners, and people play bai choi, which is half singing and half cards. On the river, visitors buy small paper lanterns with candles, make a wish and put them on the water. The atmosphere is difficult to describe. The streets are crowded and noisy, but the river is 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in each of the four paragraphs?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Find the two 'history' chunks in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sequence markers are used in paragraph 3?</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Find two sentences using the senses.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is the last sentence effective?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P1, P2, P3 or P4.</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It takes place in April.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According to legend, a dragon…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First, families clean the house.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atmosphere is wonderful.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It lasts three days. ___</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P1, P2, P3 or P4.</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I will never forget it. 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Rewrite the sentences with a sense verb (see / hear / smell).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There is a lot of noise.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There is grilled meat everywhere.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There are many lights on the river.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U9.6-W1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U9.6-W1 and W2.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your description to your partner. Your partner says which sentence they liked best and why.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Read your description to your partner. Your partner says which sentence they liked best and why.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your four paragraphs in six sentences before you write.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Facts → history → what happens → feeling.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Sharing a personal memory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I'll never forget…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best moment was…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reminds me of…</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have to be there.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Photographs don't show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Tell your partner about the best festival night you remember, in one minute.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P1 Facts (name, when, where, how long):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P2 History (dates back / legend):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P3 What happens (three things in order + food/music):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P4 Atmosphere and why it matters (one sense sentence):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100–120 words about a festival (four paragraphs).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the present simple, sequence words, one history chunk and one sense sentence.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four paragraphs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facts: when, where, how long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history chunk</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three activities in order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sentence using the senses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articles checked (a/an/the/–)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100–120 words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Fact-file listening</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Four-paragraph festival description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Using the senses to describe atmosphere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report.</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colourful, crowded, noisy, atmosphere, unforgettable.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description neatly after correction. Add a picture for the class festival book.</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description aloud twice with feeling, pausing at the commas.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U9L6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