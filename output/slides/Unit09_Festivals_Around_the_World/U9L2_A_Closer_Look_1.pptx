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../../audio/FU9L2_1_A1-13-Months.mp3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097280" y="4389120"/>
            <a:ext cx="6858000" cy="4114800"/>
          </a:xfrm>
          <a:prstGeom prst="ellipse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778240" y="-1828800"/>
            <a:ext cx="5486400" cy="4572000"/>
          </a:xfrm>
          <a:prstGeom prst="ellipse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UNIT 9  ·  LESSON 2  ·  PERIOD 64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1168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7F1FA"/>
                </a:solidFill>
                <a:latin typeface="Calibri"/>
              </a:rPr>
              <a:t>A CLOSER LOOK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926080"/>
            <a:ext cx="105156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4400" b="1" i="0">
                <a:solidFill>
                  <a:srgbClr val="FFFFFF"/>
                </a:solidFill>
                <a:latin typeface="Calibri"/>
              </a:rPr>
              <a:t>Festival activities and the sounds /θ/ and /ð/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3035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E7F1FA"/>
                </a:solidFill>
                <a:latin typeface="Calibri"/>
              </a:rPr>
              <a:t>English 7  ·  Let's start! 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Today we will learn to…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U9L2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463040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1508760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1508760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use eight verbs and phrases for festival activities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450592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2450592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2496312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37360" y="2496312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pronounce /θ/ and /ð/ correctly in words and sentences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438144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3438144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348386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37360" y="3483864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describe what happens at a festival in sequence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425696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" y="4425696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4471416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37360" y="4471416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ask three questions about a festival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Warm-up: /θ/ /ð/ minimal pairs  (5')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U9L2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4206240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737360"/>
            <a:ext cx="101498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• Teacher says a word; students point left (/θ/) or right (/ð/). Recycles Lesson 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5852160"/>
            <a:ext cx="101498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1">
                <a:solidFill>
                  <a:srgbClr val="6B7280"/>
                </a:solidFill>
                <a:latin typeface="Calibri"/>
              </a:rPr>
              <a:t>👉 You: Identify the sounds.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New words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U9L2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270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take part 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671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/teɪk pɑːt ɪn/   (v phr)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15270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tham gia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21945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Thousands take part in the parade.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0175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1272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perform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7673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/pəˈfɔːm/   (v)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31272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biểu diễn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7947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Dancers perform in the square.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177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7274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offer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3675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/ˈɒfə/   (v)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47274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dâng, cúng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53949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People offer fruit and flowers at the temple.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New words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U9L2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270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gather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671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/ˈɡæðə/   (v)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15270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tụ họp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21945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Families gather at the grandparents' house.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0175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1272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light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7673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/laɪt/   (v)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31272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thắp sáng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7947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At eight o'clock they light the lanterns.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177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7274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worship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3675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/ˈwɜːʃɪp/   (v)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47274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thờ cúng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53949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People worship their ancestors.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New words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U9L2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270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ancestor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671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/ˈænsestə/   (n)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15270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tổ tiên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21945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We remember our ancestors at Tet.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0175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1272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harvest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7673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/ˈhɑːvɪst/   (n)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31272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vụ mùa thu hoạch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7947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The festival celebrates the harvest.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Useful phrases — learn them as one block!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U9L2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554480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609344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take part in a parade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267712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322576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gather at…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980944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3035808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light the lanterns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694176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749040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worship the ancestors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407408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462272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give thanks for the harvest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FFFFFF"/>
                </a:solidFill>
                <a:latin typeface="Calibri"/>
              </a:rPr>
              <a:t>Grammar: Describing a festival in sequence (recycling Unit 3)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U9L2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36192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Use the present simple for what happens every year.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487168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560320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Use sequence words: First, Then, After that, In the evening, Finally.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511296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584448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Use time phrases: at midnight, on the first morning, for three days.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535424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608576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Passive-like meaning without the passive: 'The streets are full of…' / 'There are lion dances in every street.'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The 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U9L2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463040"/>
          <a:ext cx="1106424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566928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Stage</a:t>
                      </a:r>
                    </a:p>
                  </a:txBody>
                  <a:tcPr>
                    <a:solidFill>
                      <a:srgbClr val="0E7C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Language</a:t>
                      </a:r>
                    </a:p>
                  </a:txBody>
                  <a:tcPr>
                    <a:solidFill>
                      <a:srgbClr val="0E7C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Example</a:t>
                      </a:r>
                    </a:p>
                  </a:txBody>
                  <a:tcPr>
                    <a:solidFill>
                      <a:srgbClr val="0E7C6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before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A few days before, people…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A few days before, people clean the house.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first day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On the first morning, 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On the first morning, families gather.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evening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In the evening, …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In the evening, children light lanterns.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end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Finally / At the end, 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Finally, everybody watches the fireworks.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Look at the examples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U9L2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54480"/>
            <a:ext cx="1069848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627632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✅ A few days before Tet, families clean and decorate their houses. On the first morning, they visit their grandparents. I…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Be careful! A very common mistake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U9L2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10698480" cy="23774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828800"/>
            <a:ext cx="100584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Students switch between present and past when describing a yearly festival. Choose the PRESENT SIMPLE and keep it all the way through.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3891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1" i="0">
                <a:solidFill>
                  <a:srgbClr val="2E7D32"/>
                </a:solidFill>
                <a:latin typeface="Calibri"/>
              </a:rPr>
              <a:t>👍 Say it like this:  A few days before Tet, families clean and decorate their houses. On the first morning, they visit their grand…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FFFFFF"/>
                </a:solidFill>
                <a:latin typeface="Calibri"/>
              </a:rPr>
              <a:t>Pronunciation: /θ/ and /ð/ in sentences; 'the' before vowels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U9L2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17320"/>
            <a:ext cx="10881360" cy="123444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08760"/>
            <a:ext cx="103327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1B1B1B"/>
                </a:solidFill>
                <a:latin typeface="Calibri"/>
              </a:rPr>
              <a:t>/θ/ think, three, month. /ð/ this, they, the, gather, weather. Note: 'the' is /ðə/ before a consonant and /ði/ before a vowel: the moon /ðə/, the eighth /ði/.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880360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926080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/θ/: think, three, thank, month, birthday, thousands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593592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639312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/ð/: this, that, they, the, gather, together, weather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306824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352544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the moon /ðə muːn/ – the eighth /ði eɪtθ/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Repeat after me — three times each!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U9L2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91440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82880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🗣 They gather together on the third day of the month.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788920"/>
            <a:ext cx="10698480" cy="91440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88036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🗣 Thousands of people think this is the best festival.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840480"/>
            <a:ext cx="10698480" cy="91440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93192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🗣 The eighth month and the third day.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Listening: Months of the year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U9L2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182880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20240"/>
            <a:ext cx="1005840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You will hear a real recording: months of the year and when things happen. Two speakers, scripted dialogue, native English. It lasts 2:01.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02336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1: just listen — do not write.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2: write your answers.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3: check with your partner.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440680"/>
            <a:ext cx="10698480" cy="530352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 w="19050">
            <a:solidFill>
              <a:srgbClr val="1E6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500" b="1">
                <a:solidFill>
                  <a:srgbClr val="142C4F"/>
                </a:solidFill>
                <a:hlinkClick r:id="rId2"/>
              </a:rPr>
              <a:t>▶ Play audio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062472"/>
            <a:ext cx="10698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0" i="0">
                <a:solidFill>
                  <a:srgbClr val="6B7280"/>
                </a:solidFill>
                <a:latin typeface="Calibri"/>
              </a:rPr>
              <a:t>ELLLO — Sound Grammar · 2:01 · Two speakers, scripted dialogue, native English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U9.2-L1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once. Choose the best answer.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What is the recording mainly about?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A. ordering and choosing food B. inviting friends to a party C. months of the year and when things happen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U9.2-L2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again. Write T (true) or F (false).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I want to go to New Zealand then.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In your country, what month is hot?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Both September and October have cool weather.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So, when is summer in America?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It is very wet in November.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U9.2-L3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once more and write the missing word.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Man: It is in _____, October, November and December.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Woman: It is in _____, April, May and June!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Man: It is from _____, July, August and September.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Woman: _____ to September is winter in New Zealand.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Woman: Summer is December, _____, February and March.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Reading: Thanksgiving in the United States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U9L2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4846320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54480"/>
            <a:ext cx="1033272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 i="0">
                <a:solidFill>
                  <a:srgbClr val="1B1B1B"/>
                </a:solidFill>
                <a:latin typeface="Calibri"/>
              </a:rPr>
              <a:t>Thanksgiving takes place on the fourth Thursday of November. It is not a religious festival and it is not about presents: it is about food and family. The story goes back to 1621, when English settlers and Native Americans shared a meal after the harvest. Today, families travel long distances to be together — the days around Thanksgiving are the busiest travel days of the whole American year. The meal is almost always the same: turkey, potatoes, vegetables and pumpkin pie. Many families go round the table and each person says one thing they are thankful for. Vietnamese students often notice how similar this is to a Vietnamese family meal at Tet or at the death anniversary of an ancestor: the same idea of gathering, the same special food, the same feeling that being together matters more than the food.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Reading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U9.2-R1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Answer the questions.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When exactly does Thanksgiving take place?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What happened in 1621?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Why are those days the busiest travel days?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What do many families do around the table?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What similarity does the writer point out?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  (1/2)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U9.2-G1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Complete with take part in, perform, offer, gather, light, worship.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People ______ fruit and flowers at the temple.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Families ______ at the grandparents' house.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Dancers ______ in the square.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Thousands ______ the parade.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At eight they ______ the lanterns.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  (2/2)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U9.2-G1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Complete with take part in, perform, offer, gather, light, worship.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6. People ______ their ancestors.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U9.2-G2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Sort the words.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377440"/>
            <a:ext cx="10515600" cy="640080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423160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1" i="0">
                <a:solidFill>
                  <a:srgbClr val="E07A1F"/>
                </a:solidFill>
                <a:latin typeface="Calibri"/>
              </a:rPr>
              <a:t>think   this   three   they   month   gather   birthday   the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20040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/θ/ (no voice): ______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85876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/ð/ (voice, buzz): ______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U9.2-I1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Use the correct form.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Write the seven verbs.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U9.2-I2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Do U9.2-S2 and report one answer.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U9.2-I2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828800"/>
            <a:ext cx="10698480" cy="219456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011680"/>
            <a:ext cx="1005840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0" i="0">
                <a:solidFill>
                  <a:srgbClr val="1B1B1B"/>
                </a:solidFill>
                <a:latin typeface="Calibri"/>
              </a:rPr>
              <a:t>Do U9.2-S2 and report one answer.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Speaking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U9.2-S1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Describe a festival day in order using First, Then, In the afternoon, In the evening.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Choose: Tet / the Mid-Autumn Festival / a local temple festival.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Speaking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U9.2-S2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Ask your partner five questions about a festival they know.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When? Where? What do people do? What do people eat? Why do you like it?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FFFFFF"/>
                </a:solidFill>
                <a:latin typeface="Calibri"/>
              </a:rPr>
              <a:t>Real-life English: Asking about customs politely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U9L2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463040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508760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Can I ask you something about…?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212848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258568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Why do people…?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962656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3008376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What does it mean?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712464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758184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Is it the same everywhere?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462272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507992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That's interesting — we do something similar.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Role play — in pairs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U9L2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256032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20240"/>
            <a:ext cx="1005840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A foreign student asks about three Vietnamese customs; you explain and ask about one custom in their country.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66344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⏱ 2 minutes to prepare  ·  2 minutes to perform  ·  then swap roles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Do not read! Look at your partner.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✍️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Writing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U9.2-W1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Put the sentences in order and add sequence words.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a. families eat a big meal together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b. people clean and decorate the house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c. children receive lucky money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d. everybody visits the grandparents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Let's remember today's English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U9L2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0020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67335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8 festival activity verbs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56032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63347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Present simple + sequence words for a festival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52044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59359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/θ/ and /ð/ in words and sentences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Homework — write it in your notebook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U9L2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54480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609344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U9.2-H1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1609344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Vocabulary — Complete with take part in, perform, offer, gather, worship, harvest.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523744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2578608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U9.2-H2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578608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Grammar — Write four sentences about a festival using First, Then, In the afternoon, In the evening.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493008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3547872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U9.2-H3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0" y="3547872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Writing — Write 5 sentences describing what happens at a festival in your area.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462272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4517136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U9.2-H4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4517136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Pronunciation — Say these sentences five times: 'They gather together on the third day of the month.' 'Thousands think this is the best festival.'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989320"/>
            <a:ext cx="1069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6B7280"/>
                </a:solidFill>
                <a:latin typeface="Calibri"/>
              </a:rPr>
              <a:t>Homework Book, section U9L2   ·   See you next lesson! 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