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9  ·  LESSON 3  ·  PERIOD 65</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Articles: a, an, the and no article</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a and an correctly with singular countable nouns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the for something specific or already mentioned</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no article for general plural and uncountable nouns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commonest article mistakes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Festival word race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Teams write as many festival words as they can in 60 seconds. Recycles Lessons 1–2.</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Write words in teams.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tradition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/trəˈdɪʃn/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truyền thống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is an old tradition.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ceremony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/ˈserəməni/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buổi lễ</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ceremony starts at eight.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procession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/prəˈseʃn/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đám rước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procession goes round the village.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temple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/ˈtempl/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đền, chùa</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a temple on the hill.</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altar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/ˈɔːltə/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bàn thờ</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Fruit is placed on the altar.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incense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/ˈɪnsens/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hương, nhang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smell of incense fills the temple.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for the first time</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 the temple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the evening</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once a year</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all over the country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Articles: a / an / the / no article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 AN: one thing, not specific, the first time you mention it. A = before a consonant sound; AN = before a vowel sound (a lantern, an altar).</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(1) we both know which one; (2) you already mentioned it; (3) there is only one (the moon, the sun); (4) with superlatives (the biggest).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NO ARTICLE: plural nouns in general (Festivals are important) and uncountable nouns in general (Rice is our main food).</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Also no article with most countries, cities and days: Viet Nam, Hanoi, Monday.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Use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a / an — first mention</a:t>
                      </a:r>
                    </a:p>
                  </a:txBody>
                  <a:tcPr>
                    <a:solidFill>
                      <a:srgbClr val="E3F3EE"/>
                    </a:solidFill>
                  </a:tcPr>
                </a:tc>
                <a:tc>
                  <a:txBody>
                    <a:bodyPr/>
                    <a:lstStyle/>
                    <a:p>
                      <a:r>
                        <a:rPr sz="1600" b="0">
                          <a:solidFill>
                            <a:srgbClr val="1B1B1B"/>
                          </a:solidFill>
                          <a:latin typeface="Calibri"/>
                        </a:rPr>
                        <a:t>I bought a lantern. / She wore an ao dai.</a:t>
                      </a:r>
                    </a:p>
                  </a:txBody>
                  <a:tcPr>
                    <a:solidFill>
                      <a:srgbClr val="E3F3EE"/>
                    </a:solidFill>
                  </a:tcPr>
                </a:tc>
              </a:tr>
              <a:tr h="566928">
                <a:tc>
                  <a:txBody>
                    <a:bodyPr/>
                    <a:lstStyle/>
                    <a:p>
                      <a:r>
                        <a:rPr sz="1600" b="0">
                          <a:solidFill>
                            <a:srgbClr val="1B1B1B"/>
                          </a:solidFill>
                          <a:latin typeface="Calibri"/>
                        </a:rPr>
                        <a:t>the — second mention</a:t>
                      </a:r>
                    </a:p>
                  </a:txBody>
                  <a:tcPr>
                    <a:solidFill>
                      <a:srgbClr val="FFFFFF"/>
                    </a:solidFill>
                  </a:tcPr>
                </a:tc>
                <a:tc>
                  <a:txBody>
                    <a:bodyPr/>
                    <a:lstStyle/>
                    <a:p>
                      <a:r>
                        <a:rPr sz="1600" b="0">
                          <a:solidFill>
                            <a:srgbClr val="1B1B1B"/>
                          </a:solidFill>
                          <a:latin typeface="Calibri"/>
                        </a:rPr>
                        <a:t>The lantern was red.</a:t>
                      </a:r>
                    </a:p>
                  </a:txBody>
                  <a:tcPr>
                    <a:solidFill>
                      <a:srgbClr val="FFFFFF"/>
                    </a:solidFill>
                  </a:tcPr>
                </a:tc>
              </a:tr>
              <a:tr h="566928">
                <a:tc>
                  <a:txBody>
                    <a:bodyPr/>
                    <a:lstStyle/>
                    <a:p>
                      <a:r>
                        <a:rPr sz="1600" b="0">
                          <a:solidFill>
                            <a:srgbClr val="1B1B1B"/>
                          </a:solidFill>
                          <a:latin typeface="Calibri"/>
                        </a:rPr>
                        <a:t>the — only one</a:t>
                      </a:r>
                    </a:p>
                  </a:txBody>
                  <a:tcPr>
                    <a:solidFill>
                      <a:srgbClr val="E3F3EE"/>
                    </a:solidFill>
                  </a:tcPr>
                </a:tc>
                <a:tc>
                  <a:txBody>
                    <a:bodyPr/>
                    <a:lstStyle/>
                    <a:p>
                      <a:r>
                        <a:rPr sz="1600" b="0">
                          <a:solidFill>
                            <a:srgbClr val="1B1B1B"/>
                          </a:solidFill>
                          <a:latin typeface="Calibri"/>
                        </a:rPr>
                        <a:t>the moon, the sun, the Mekong</a:t>
                      </a:r>
                    </a:p>
                  </a:txBody>
                  <a:tcPr>
                    <a:solidFill>
                      <a:srgbClr val="E3F3EE"/>
                    </a:solidFill>
                  </a:tcPr>
                </a:tc>
              </a:tr>
              <a:tr h="566928">
                <a:tc>
                  <a:txBody>
                    <a:bodyPr/>
                    <a:lstStyle/>
                    <a:p>
                      <a:r>
                        <a:rPr sz="1600" b="0">
                          <a:solidFill>
                            <a:srgbClr val="1B1B1B"/>
                          </a:solidFill>
                          <a:latin typeface="Calibri"/>
                        </a:rPr>
                        <a:t>the — superlative</a:t>
                      </a:r>
                    </a:p>
                  </a:txBody>
                  <a:tcPr>
                    <a:solidFill>
                      <a:srgbClr val="FFFFFF"/>
                    </a:solidFill>
                  </a:tcPr>
                </a:tc>
                <a:tc>
                  <a:txBody>
                    <a:bodyPr/>
                    <a:lstStyle/>
                    <a:p>
                      <a:r>
                        <a:rPr sz="1600" b="0">
                          <a:solidFill>
                            <a:srgbClr val="1B1B1B"/>
                          </a:solidFill>
                          <a:latin typeface="Calibri"/>
                        </a:rPr>
                        <a:t>the biggest festival in the country</a:t>
                      </a:r>
                    </a:p>
                  </a:txBody>
                  <a:tcPr>
                    <a:solidFill>
                      <a:srgbClr val="FFFFFF"/>
                    </a:solidFill>
                  </a:tcPr>
                </a:tc>
              </a:tr>
              <a:tr h="566928">
                <a:tc>
                  <a:txBody>
                    <a:bodyPr/>
                    <a:lstStyle/>
                    <a:p>
                      <a:r>
                        <a:rPr sz="1600" b="0">
                          <a:solidFill>
                            <a:srgbClr val="1B1B1B"/>
                          </a:solidFill>
                          <a:latin typeface="Calibri"/>
                        </a:rPr>
                        <a:t>no article — general plural</a:t>
                      </a:r>
                    </a:p>
                  </a:txBody>
                  <a:tcPr>
                    <a:solidFill>
                      <a:srgbClr val="E3F3EE"/>
                    </a:solidFill>
                  </a:tcPr>
                </a:tc>
                <a:tc>
                  <a:txBody>
                    <a:bodyPr/>
                    <a:lstStyle/>
                    <a:p>
                      <a:r>
                        <a:rPr sz="1600" b="0">
                          <a:solidFill>
                            <a:srgbClr val="1B1B1B"/>
                          </a:solidFill>
                          <a:latin typeface="Calibri"/>
                        </a:rPr>
                        <a:t>Children love festivals.</a:t>
                      </a:r>
                    </a:p>
                  </a:txBody>
                  <a:tcPr>
                    <a:solidFill>
                      <a:srgbClr val="E3F3EE"/>
                    </a:solidFill>
                  </a:tcPr>
                </a:tc>
              </a:tr>
              <a:tr h="566928">
                <a:tc>
                  <a:txBody>
                    <a:bodyPr/>
                    <a:lstStyle/>
                    <a:p>
                      <a:r>
                        <a:rPr sz="1600" b="0">
                          <a:solidFill>
                            <a:srgbClr val="1B1B1B"/>
                          </a:solidFill>
                          <a:latin typeface="Calibri"/>
                        </a:rPr>
                        <a:t>no article — uncountable</a:t>
                      </a:r>
                    </a:p>
                  </a:txBody>
                  <a:tcPr>
                    <a:solidFill>
                      <a:srgbClr val="FFFFFF"/>
                    </a:solidFill>
                  </a:tcPr>
                </a:tc>
                <a:tc>
                  <a:txBody>
                    <a:bodyPr/>
                    <a:lstStyle/>
                    <a:p>
                      <a:r>
                        <a:rPr sz="1600" b="0">
                          <a:solidFill>
                            <a:srgbClr val="1B1B1B"/>
                          </a:solidFill>
                          <a:latin typeface="Calibri"/>
                        </a:rPr>
                        <a:t>Rice is important in Viet Nam.</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There is a temple on the hill. The temple is 300 years old.</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 Tet, people give lucky money to children.</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moon is biggest on the fifteenth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Vietnamese has NO articles, so students either leave them out (*I saw temple*) or add 'the' everywhere (*I like the festivals*). The two rules that fix most errors: first mention = a/an; general plural = no article.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There is a temple on the hill. The temple is 300 years old.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Weak articles: a /ə/, an /ən/, the /ðə/ or /ði/</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Articles are NEVER stressed. a = /ə/, an = /ən/, the = /ðə/ (before consonants) or /ði/ (before vowels). They almost disappear in fast speech.</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lantern /ə ˈlæntən/</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an altar /ən ˈɔːltə/</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temple /ðə ˈtempl/</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eighth /ði eɪtθ/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 saw a lantern and an altar at the temple.</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moon on the fifteenth is the biggest of the year.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Articles: a / an / the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asking for everyday objects. Two speakers, scripted dialogue, native English. It lasts 2:26.</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2:26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asking for everyday objects B. giving instructions and telling somebody what to do C. ordering and choosing food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It does not have a bathtub, but it has a shower.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No, but there was a DJ.</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Would you like a sandwich?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Do you have a pen? I forgot mine.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I’m OK. I have a water.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Man: Do you have _____ pen?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Woman: I don't have _____ pen, but I have a pencil.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Man: Do you have _____ eraser?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The pencil has _____ eraser.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Man: Do you want _____ water in a glass with 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A letter about a first Tet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Dear Grandma, I have just spent my first Tet in Viet Nam and I want to tell you about it. Three days before, my host family cleaned the whole house. They bought a peach tree for the living room — the tree was taller than me! They also made banh chung, a square cake made of rice, pork and beans. It takes twelve hours to cook. On the first morning, the family visited the grandparents. The grandmother gave lucky money to all the children in red envelopes. I got one too, although I am seventeen and much too old! The most surprising thing was the silence in the streets. In Viet Nam, cities are usually very noisy. But on the first day of Tet, everybody is at home with the family, so the streets are empty. It was strange and beautiful. Love, Anna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did the family buy for the living room?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is banh chung made of and how long does it take to cook?</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did the grandmother give the children?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surprised Anna most, and why?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in the letter: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two examples of 'a' with a first mention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one example of 'the' with a second mention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general plural with no article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one superlative with 'the'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lantern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altar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costume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envelope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hour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 university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______ ancestor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______ parade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festivals are important in Viet Nam.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festival in my village is in March.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rice is our main food.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rice on the altar is for the ancestors.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Mekong is the longest river in the south.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saw temple on the hill.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wore a ao dai.</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children love the festivals.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Tet is most important festival.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We eat the rice every day.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There is a moon in the sky tonight.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U9.3-S2 with a partner; your partner counts your article mistakes.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U9.3-S2 with a partner; your partner counts your article mistakes.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Describe a festival picture. Your partner listens for article mistakes.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'There is a…', 'The … is…', 'People are…'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 is a foreign visitor at a festival, B explains what they can see. Six exchanges.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What's that? B: It's a lantern. The lantern is for children.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Explaining an object or a custom to a visitor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used for…</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means…</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use it at…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 bit like 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Show and tell: describe one festival object (a lantern, a red envelope, incense) to a visitor in three sentences.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saw ______ lantern in the shop. ______ lantern was red.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children love festivals.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She wore ______ ao dai.</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moon is very bright tonight.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Tet is ______ most important festival in Viet Nam.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We eat ______ rice every day.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a/an for first mention</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for something specific or unique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no article for general plurals and uncountables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U9L3</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a, an, the or – .</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Correct the mistakes (one per sentence).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5 sentences about a festival, using a/an twice, the twice and no article once.</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U9.3-H4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five phrases quickly, with weak articles: a lantern, an altar, the temple, the eighth, an hour.</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U9L3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