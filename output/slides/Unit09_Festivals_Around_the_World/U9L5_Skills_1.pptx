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9L5_1_A2-043-ELISE-MONTHS.mp3" TargetMode="External"/><Relationship Id="rId3" Type="http://schemas.openxmlformats.org/officeDocument/2006/relationships/hyperlink" Target="https://elllo.org/video/A2BEG/A2-043-ELISE-MONTHS.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5  ·  PERIOD 67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An unusual festival + Speaking: Present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festival for 90 seconds using a five-point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questions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three festival questions along the row. Recycles Lesson 4.</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origin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/ˈɒrɪdʒɪn/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nguồn gốc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Nobody is sure about the origin of the festival.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legend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/ˈledʒənd/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truyền thuyết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legend about a dragon.</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attract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/əˈtrækt/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thu hút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attracts thousands of visitors.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tourist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/ˈtʊərɪst/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du lịch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Tourists come from all over the world.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preserve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/prɪˈzɜːv/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 gìn, bảo tồn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Festivals help to preserve traditions.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generation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/ˌdʒenəˈreɪʃn/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thế hệ</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custom passes from generation to generation.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 from generation to generation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date back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attract visitors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keep a tradition alive</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believed that…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Talking about origins: dates and 'It is believed that…'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dates back to + year/period: The festival dates back to the 15th century.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believed that + sentence: It is believed that the fire brings good luck.</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According to legend, + sentence: According to legend, a dragon lived in the lake.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These three chunks make a presentation sound much more advanced.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Chunk</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date back to</a:t>
                      </a:r>
                    </a:p>
                  </a:txBody>
                  <a:tcPr>
                    <a:solidFill>
                      <a:srgbClr val="E3F3EE"/>
                    </a:solidFill>
                  </a:tcPr>
                </a:tc>
                <a:tc>
                  <a:txBody>
                    <a:bodyPr/>
                    <a:lstStyle/>
                    <a:p>
                      <a:r>
                        <a:rPr sz="1600" b="0">
                          <a:solidFill>
                            <a:srgbClr val="1B1B1B"/>
                          </a:solidFill>
                          <a:latin typeface="Calibri"/>
                        </a:rPr>
                        <a:t>The festival dates back to 1470.</a:t>
                      </a:r>
                    </a:p>
                  </a:txBody>
                  <a:tcPr>
                    <a:solidFill>
                      <a:srgbClr val="E3F3EE"/>
                    </a:solidFill>
                  </a:tcPr>
                </a:tc>
              </a:tr>
              <a:tr h="566928">
                <a:tc>
                  <a:txBody>
                    <a:bodyPr/>
                    <a:lstStyle/>
                    <a:p>
                      <a:r>
                        <a:rPr sz="1600" b="0">
                          <a:solidFill>
                            <a:srgbClr val="1B1B1B"/>
                          </a:solidFill>
                          <a:latin typeface="Calibri"/>
                        </a:rPr>
                        <a:t>It is believed that…</a:t>
                      </a:r>
                    </a:p>
                  </a:txBody>
                  <a:tcPr>
                    <a:solidFill>
                      <a:srgbClr val="FFFFFF"/>
                    </a:solidFill>
                  </a:tcPr>
                </a:tc>
                <a:tc>
                  <a:txBody>
                    <a:bodyPr/>
                    <a:lstStyle/>
                    <a:p>
                      <a:r>
                        <a:rPr sz="1600" b="0">
                          <a:solidFill>
                            <a:srgbClr val="1B1B1B"/>
                          </a:solidFill>
                          <a:latin typeface="Calibri"/>
                        </a:rPr>
                        <a:t>It is believed that the water gives health.</a:t>
                      </a:r>
                    </a:p>
                  </a:txBody>
                  <a:tcPr>
                    <a:solidFill>
                      <a:srgbClr val="FFFFFF"/>
                    </a:solidFill>
                  </a:tcPr>
                </a:tc>
              </a:tr>
              <a:tr h="566928">
                <a:tc>
                  <a:txBody>
                    <a:bodyPr/>
                    <a:lstStyle/>
                    <a:p>
                      <a:r>
                        <a:rPr sz="1600" b="0">
                          <a:solidFill>
                            <a:srgbClr val="1B1B1B"/>
                          </a:solidFill>
                          <a:latin typeface="Calibri"/>
                        </a:rPr>
                        <a:t>According to legend,…</a:t>
                      </a:r>
                    </a:p>
                  </a:txBody>
                  <a:tcPr>
                    <a:solidFill>
                      <a:srgbClr val="E3F3EE"/>
                    </a:solidFill>
                  </a:tcPr>
                </a:tc>
                <a:tc>
                  <a:txBody>
                    <a:bodyPr/>
                    <a:lstStyle/>
                    <a:p>
                      <a:r>
                        <a:rPr sz="1600" b="0">
                          <a:solidFill>
                            <a:srgbClr val="1B1B1B"/>
                          </a:solidFill>
                          <a:latin typeface="Calibri"/>
                        </a:rPr>
                        <a:t>According to legend, a giant fish saved the village.</a:t>
                      </a:r>
                    </a:p>
                  </a:txBody>
                  <a:tcPr>
                    <a:solidFill>
                      <a:srgbClr val="E3F3EE"/>
                    </a:solidFill>
                  </a:tcPr>
                </a:tc>
              </a:tr>
              <a:tr h="566928">
                <a:tc>
                  <a:txBody>
                    <a:bodyPr/>
                    <a:lstStyle/>
                    <a:p>
                      <a:r>
                        <a:rPr sz="1600" b="0">
                          <a:solidFill>
                            <a:srgbClr val="1B1B1B"/>
                          </a:solidFill>
                          <a:latin typeface="Calibri"/>
                        </a:rPr>
                        <a:t>pass from generation to generation</a:t>
                      </a:r>
                    </a:p>
                  </a:txBody>
                  <a:tcPr>
                    <a:solidFill>
                      <a:srgbClr val="FFFFFF"/>
                    </a:solidFill>
                  </a:tcPr>
                </a:tc>
                <a:tc>
                  <a:txBody>
                    <a:bodyPr/>
                    <a:lstStyle/>
                    <a:p>
                      <a:r>
                        <a:rPr sz="1600" b="0">
                          <a:solidFill>
                            <a:srgbClr val="1B1B1B"/>
                          </a:solidFill>
                          <a:latin typeface="Calibri"/>
                        </a:rPr>
                        <a:t>The songs pass from generation to generation.</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Fire Festival dates back more than 300 years. According to legend, the fire protected the village from a tiger.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say *It is believe that…* — the correct form is 'It is believeD that'. Teach it as a fixed phrase.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Fire Festival dates back more than 300 years. According to legend, the fire protected the village from a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long words; /θ/ /ð/ in a presentation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'ORigin, 'LEgend, at'TRACT, 'TOUrist, pre'SERVE, gene'RAtion. Keep the /θ/ and /ð/ clear while you speak at normal speed.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'origin (Ooo)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'legend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at'tract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gene'ration (ooOo)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According to legend, the festival dates back three hundred years.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 attracts thousands of tourists and preserves an old tradition.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What are monthly events in your area?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festivals in different months of the year. Single speaker — Elise / The Netherlands. It lasts 1:27.</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1:27 · Single speaker — Elise / The Netherlands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who one person will meet later today B. festivals in different months of the year C. what one person does at the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August, children have two weeks of holiday again.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In April, there aren't many festivities, and winter is almost over.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April, they celebrate Easter with some really delicious special breads.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Hi, I'm Elise, and I'm going to talk about the weather and festivities in Peru.</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December, lots of tourists start coming to Peru, and it's quite cold because it's almost winter.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_____, it's summer and lots of people go to the beach at the coast.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In _____, there are a lot of religious festivities.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_____, there's a very important religious festival called Lord of the Miracles.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festival where nobody sleeps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the mountains of Ha Giang, on the twenty-seventh day of the third lunar month, a market opens that is not really a market at all. The Khau Vai Love Market dates back more than a hundred years. According to legend, a young man and a young woman from two different groups fell in love, but their families would not allow them to marry. They agreed to meet once a year, on the same day, at Khau Vai. Today, thousands of people walk for hours over the mountains to be there. Some come to sell cloth and food, and many young people come to meet somebody. But the heart of the market is older people: men and women who loved each other long ago, married other people, and now meet once a year to talk for one night. Their husbands and wives usually know, and usually come too. Nobody is angry. The custom is understood. The festival attracts more and more tourists, and this worries some people. 'When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Shopping in the mountains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festival where old friends meet once a year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How to travel in Ha Giang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and where does the market take place?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legend say?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is at the heart of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do the husbands and wives react?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one argument for and one against the tourists.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began a long time ago (paragraph 2)</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very old story that may not be true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brings people to a place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found an answer to a problem (paragraph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 you think nobody is angry?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the old woman mean by 'This night was never for photographs'?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Should tourists be allowed to come? Give your opinion and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Khau Vai market is mainly for buying and selling.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legend is about two people who could not marry.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Only young people come.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Husbands and wives are usually angry.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Tourists bring money to a poor area.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festival ______ back more than 300 years.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to legend, a dragon lived in the lake.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______ believed that the water gives health.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songs pass from ______ to ______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festival ______ thousands of visitors.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the Khau Vai Love Market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about the Khau Vai Love Market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U9.5-S2 in your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presentation of a festival.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Name, when and where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History / legend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people do (three things)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Food and music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it matters (and one problem if there is one)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chunks: 'It takes place…', 'It dates back to…', 'According to legend,…', 'People celebrate by…', 'It is important because…'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Handling a difficult question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completely sure, but…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Some people think… while others…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depends who you ask.</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find out and tell you.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presentation, one listener must ask a difficult question ('Is it good for the animals?', 'Do young people still care?').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notes into six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Chunks: dates back to / according to legend / it is believed that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Presenting a festival in five points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origin, legend, attract, tourists, preserve, generation.</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festival presentation as a paragraph (100–110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presentation three times. Time it: 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