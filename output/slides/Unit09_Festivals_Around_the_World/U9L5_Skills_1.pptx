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audio/FU9L5_1_A2-043-ELISE-MONTHS.mp3"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685800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Oval 3"/>
          <p:cNvSpPr/>
          <p:nvPr/>
        </p:nvSpPr>
        <p:spPr>
          <a:xfrm>
            <a:off x="-1097280" y="4389120"/>
            <a:ext cx="6858000" cy="4114800"/>
          </a:xfrm>
          <a:prstGeom prst="ellipse">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Oval 4"/>
          <p:cNvSpPr/>
          <p:nvPr/>
        </p:nvSpPr>
        <p:spPr>
          <a:xfrm>
            <a:off x="8778240" y="-1828800"/>
            <a:ext cx="5486400" cy="4572000"/>
          </a:xfrm>
          <a:prstGeom prst="ellipse">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822960" y="1371600"/>
            <a:ext cx="10515600" cy="548640"/>
          </a:xfrm>
          <a:prstGeom prst="rect">
            <a:avLst/>
          </a:prstGeom>
          <a:noFill/>
        </p:spPr>
        <p:txBody>
          <a:bodyPr wrap="square" anchor="t">
            <a:spAutoFit/>
          </a:bodyPr>
          <a:lstStyle/>
          <a:p>
            <a:pPr algn="l">
              <a:lnSpc>
                <a:spcPct val="100000"/>
              </a:lnSpc>
              <a:spcAft>
                <a:spcPts val="600"/>
              </a:spcAft>
            </a:pPr>
            <a:r>
              <a:rPr sz="2000" b="1" i="0">
                <a:solidFill>
                  <a:srgbClr val="FFFFFF"/>
                </a:solidFill>
                <a:latin typeface="Calibri"/>
              </a:rPr>
              <a:t>UNIT 9  ·  LESSON 5  ·  PERIOD 67</a:t>
            </a:r>
          </a:p>
        </p:txBody>
      </p:sp>
      <p:sp>
        <p:nvSpPr>
          <p:cNvPr id="7" name="TextBox 6"/>
          <p:cNvSpPr txBox="1"/>
          <p:nvPr/>
        </p:nvSpPr>
        <p:spPr>
          <a:xfrm>
            <a:off x="822960" y="2011680"/>
            <a:ext cx="10515600" cy="1463040"/>
          </a:xfrm>
          <a:prstGeom prst="rect">
            <a:avLst/>
          </a:prstGeom>
          <a:noFill/>
        </p:spPr>
        <p:txBody>
          <a:bodyPr wrap="square" anchor="t">
            <a:spAutoFit/>
          </a:bodyPr>
          <a:lstStyle/>
          <a:p>
            <a:pPr algn="l">
              <a:lnSpc>
                <a:spcPct val="100000"/>
              </a:lnSpc>
              <a:spcAft>
                <a:spcPts val="600"/>
              </a:spcAft>
            </a:pPr>
            <a:r>
              <a:rPr sz="3000" b="1" i="0">
                <a:solidFill>
                  <a:srgbClr val="E7F1FA"/>
                </a:solidFill>
                <a:latin typeface="Calibri"/>
              </a:rPr>
              <a:t>SKILLS 1</a:t>
            </a:r>
          </a:p>
        </p:txBody>
      </p:sp>
      <p:sp>
        <p:nvSpPr>
          <p:cNvPr id="8" name="TextBox 7"/>
          <p:cNvSpPr txBox="1"/>
          <p:nvPr/>
        </p:nvSpPr>
        <p:spPr>
          <a:xfrm>
            <a:off x="822960" y="2926080"/>
            <a:ext cx="10515600" cy="2011680"/>
          </a:xfrm>
          <a:prstGeom prst="rect">
            <a:avLst/>
          </a:prstGeom>
          <a:noFill/>
        </p:spPr>
        <p:txBody>
          <a:bodyPr wrap="square" anchor="t">
            <a:spAutoFit/>
          </a:bodyPr>
          <a:lstStyle/>
          <a:p>
            <a:pPr algn="l">
              <a:lnSpc>
                <a:spcPct val="100000"/>
              </a:lnSpc>
              <a:spcAft>
                <a:spcPts val="600"/>
              </a:spcAft>
            </a:pPr>
            <a:r>
              <a:rPr sz="4400" b="1" i="0">
                <a:solidFill>
                  <a:srgbClr val="FFFFFF"/>
                </a:solidFill>
                <a:latin typeface="Calibri"/>
              </a:rPr>
              <a:t>Reading: An unusual festival + Speaking: Present a festival</a:t>
            </a:r>
          </a:p>
        </p:txBody>
      </p:sp>
      <p:sp>
        <p:nvSpPr>
          <p:cNvPr id="9" name="TextBox 8"/>
          <p:cNvSpPr txBox="1"/>
          <p:nvPr/>
        </p:nvSpPr>
        <p:spPr>
          <a:xfrm>
            <a:off x="822960" y="5303520"/>
            <a:ext cx="10515600" cy="731520"/>
          </a:xfrm>
          <a:prstGeom prst="rect">
            <a:avLst/>
          </a:prstGeom>
          <a:noFill/>
        </p:spPr>
        <p:txBody>
          <a:bodyPr wrap="square" anchor="t">
            <a:spAutoFit/>
          </a:bodyPr>
          <a:lstStyle/>
          <a:p>
            <a:pPr algn="l">
              <a:lnSpc>
                <a:spcPct val="100000"/>
              </a:lnSpc>
              <a:spcAft>
                <a:spcPts val="600"/>
              </a:spcAft>
            </a:pPr>
            <a:r>
              <a:rPr sz="2000" b="0" i="0">
                <a:solidFill>
                  <a:srgbClr val="E7F1FA"/>
                </a:solidFill>
                <a:latin typeface="Calibri"/>
              </a:rPr>
              <a:t>English 7  ·  Let's start! 👋</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Today we will learn to…</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U9L5</a:t>
            </a:r>
          </a:p>
        </p:txBody>
      </p:sp>
      <p:sp>
        <p:nvSpPr>
          <p:cNvPr id="8" name="Rounded Rectangle 7"/>
          <p:cNvSpPr/>
          <p:nvPr/>
        </p:nvSpPr>
        <p:spPr>
          <a:xfrm>
            <a:off x="640080" y="1463040"/>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640080" y="1463040"/>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960120" y="1508760"/>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1</a:t>
            </a:r>
          </a:p>
        </p:txBody>
      </p:sp>
      <p:sp>
        <p:nvSpPr>
          <p:cNvPr id="11" name="TextBox 10"/>
          <p:cNvSpPr txBox="1"/>
          <p:nvPr/>
        </p:nvSpPr>
        <p:spPr>
          <a:xfrm>
            <a:off x="1737360" y="1508760"/>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read a 240-word article and answer gist, detail and inference questions</a:t>
            </a:r>
          </a:p>
        </p:txBody>
      </p:sp>
      <p:sp>
        <p:nvSpPr>
          <p:cNvPr id="12" name="Rounded Rectangle 11"/>
          <p:cNvSpPr/>
          <p:nvPr/>
        </p:nvSpPr>
        <p:spPr>
          <a:xfrm>
            <a:off x="640080" y="2450592"/>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ectangle 12"/>
          <p:cNvSpPr/>
          <p:nvPr/>
        </p:nvSpPr>
        <p:spPr>
          <a:xfrm>
            <a:off x="640080" y="2450592"/>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960120" y="2496312"/>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2</a:t>
            </a:r>
          </a:p>
        </p:txBody>
      </p:sp>
      <p:sp>
        <p:nvSpPr>
          <p:cNvPr id="15" name="TextBox 14"/>
          <p:cNvSpPr txBox="1"/>
          <p:nvPr/>
        </p:nvSpPr>
        <p:spPr>
          <a:xfrm>
            <a:off x="1737360" y="2496312"/>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guess new words from context</a:t>
            </a:r>
          </a:p>
        </p:txBody>
      </p:sp>
      <p:sp>
        <p:nvSpPr>
          <p:cNvPr id="16" name="Rounded Rectangle 15"/>
          <p:cNvSpPr/>
          <p:nvPr/>
        </p:nvSpPr>
        <p:spPr>
          <a:xfrm>
            <a:off x="640080" y="3438144"/>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ectangle 16"/>
          <p:cNvSpPr/>
          <p:nvPr/>
        </p:nvSpPr>
        <p:spPr>
          <a:xfrm>
            <a:off x="640080" y="3438144"/>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960120" y="3483864"/>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3</a:t>
            </a:r>
          </a:p>
        </p:txBody>
      </p:sp>
      <p:sp>
        <p:nvSpPr>
          <p:cNvPr id="19" name="TextBox 18"/>
          <p:cNvSpPr txBox="1"/>
          <p:nvPr/>
        </p:nvSpPr>
        <p:spPr>
          <a:xfrm>
            <a:off x="1737360" y="3483864"/>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present a festival for 90 seconds using a five-point plan</a:t>
            </a:r>
          </a:p>
        </p:txBody>
      </p:sp>
      <p:sp>
        <p:nvSpPr>
          <p:cNvPr id="20" name="Rounded Rectangle 19"/>
          <p:cNvSpPr/>
          <p:nvPr/>
        </p:nvSpPr>
        <p:spPr>
          <a:xfrm>
            <a:off x="640080" y="4425696"/>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ectangle 20"/>
          <p:cNvSpPr/>
          <p:nvPr/>
        </p:nvSpPr>
        <p:spPr>
          <a:xfrm>
            <a:off x="640080" y="4425696"/>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960120" y="4471416"/>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4</a:t>
            </a:r>
          </a:p>
        </p:txBody>
      </p:sp>
      <p:sp>
        <p:nvSpPr>
          <p:cNvPr id="23" name="TextBox 22"/>
          <p:cNvSpPr txBox="1"/>
          <p:nvPr/>
        </p:nvSpPr>
        <p:spPr>
          <a:xfrm>
            <a:off x="1737360" y="4471416"/>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ask two follow-up questions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Warm-up: Festival questions  (5')</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U9L5</a:t>
            </a:r>
          </a:p>
        </p:txBody>
      </p:sp>
      <p:sp>
        <p:nvSpPr>
          <p:cNvPr id="8" name="Rounded Rectangle 7"/>
          <p:cNvSpPr/>
          <p:nvPr/>
        </p:nvSpPr>
        <p:spPr>
          <a:xfrm>
            <a:off x="640080" y="1463040"/>
            <a:ext cx="10881360" cy="4206240"/>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05840" y="1737360"/>
            <a:ext cx="10149840" cy="82296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 Students ask each other three festival questions along the row. Recycles Lesson 4.</a:t>
            </a:r>
          </a:p>
        </p:txBody>
      </p:sp>
      <p:sp>
        <p:nvSpPr>
          <p:cNvPr id="10" name="TextBox 9"/>
          <p:cNvSpPr txBox="1"/>
          <p:nvPr/>
        </p:nvSpPr>
        <p:spPr>
          <a:xfrm>
            <a:off x="1005840" y="5852160"/>
            <a:ext cx="10149840" cy="640080"/>
          </a:xfrm>
          <a:prstGeom prst="rect">
            <a:avLst/>
          </a:prstGeom>
          <a:noFill/>
        </p:spPr>
        <p:txBody>
          <a:bodyPr wrap="square" anchor="t">
            <a:spAutoFit/>
          </a:bodyPr>
          <a:lstStyle/>
          <a:p>
            <a:pPr algn="l">
              <a:lnSpc>
                <a:spcPct val="100000"/>
              </a:lnSpc>
              <a:spcAft>
                <a:spcPts val="600"/>
              </a:spcAft>
            </a:pPr>
            <a:r>
              <a:rPr sz="1800" b="0" i="1">
                <a:solidFill>
                  <a:srgbClr val="6B7280"/>
                </a:solidFill>
                <a:latin typeface="Calibri"/>
              </a:rPr>
              <a:t>👉 You: Ask and answer.</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New words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U9L5</a:t>
            </a:r>
          </a:p>
        </p:txBody>
      </p:sp>
      <p:sp>
        <p:nvSpPr>
          <p:cNvPr id="8" name="Rounded Rectangle 7"/>
          <p:cNvSpPr/>
          <p:nvPr/>
        </p:nvSpPr>
        <p:spPr>
          <a:xfrm>
            <a:off x="548640" y="14173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868680" y="15270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origin</a:t>
            </a:r>
          </a:p>
        </p:txBody>
      </p:sp>
      <p:sp>
        <p:nvSpPr>
          <p:cNvPr id="10" name="TextBox 9"/>
          <p:cNvSpPr txBox="1"/>
          <p:nvPr/>
        </p:nvSpPr>
        <p:spPr>
          <a:xfrm>
            <a:off x="868680" y="21671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/ˈɒrɪdʒɪn/   (n)</a:t>
            </a:r>
          </a:p>
        </p:txBody>
      </p:sp>
      <p:sp>
        <p:nvSpPr>
          <p:cNvPr id="11" name="TextBox 10"/>
          <p:cNvSpPr txBox="1"/>
          <p:nvPr/>
        </p:nvSpPr>
        <p:spPr>
          <a:xfrm>
            <a:off x="5212080" y="15270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nguồn gốc</a:t>
            </a:r>
          </a:p>
        </p:txBody>
      </p:sp>
      <p:sp>
        <p:nvSpPr>
          <p:cNvPr id="12" name="TextBox 11"/>
          <p:cNvSpPr txBox="1"/>
          <p:nvPr/>
        </p:nvSpPr>
        <p:spPr>
          <a:xfrm>
            <a:off x="5212080" y="21945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Nobody is sure about the origin of the festival.</a:t>
            </a:r>
          </a:p>
        </p:txBody>
      </p:sp>
      <p:sp>
        <p:nvSpPr>
          <p:cNvPr id="13" name="Rounded Rectangle 12"/>
          <p:cNvSpPr/>
          <p:nvPr/>
        </p:nvSpPr>
        <p:spPr>
          <a:xfrm>
            <a:off x="548640" y="30175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68680" y="31272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legend</a:t>
            </a:r>
          </a:p>
        </p:txBody>
      </p:sp>
      <p:sp>
        <p:nvSpPr>
          <p:cNvPr id="15" name="TextBox 14"/>
          <p:cNvSpPr txBox="1"/>
          <p:nvPr/>
        </p:nvSpPr>
        <p:spPr>
          <a:xfrm>
            <a:off x="868680" y="37673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/ˈledʒənd/   (n)</a:t>
            </a:r>
          </a:p>
        </p:txBody>
      </p:sp>
      <p:sp>
        <p:nvSpPr>
          <p:cNvPr id="16" name="TextBox 15"/>
          <p:cNvSpPr txBox="1"/>
          <p:nvPr/>
        </p:nvSpPr>
        <p:spPr>
          <a:xfrm>
            <a:off x="5212080" y="31272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truyền thuyết</a:t>
            </a:r>
          </a:p>
        </p:txBody>
      </p:sp>
      <p:sp>
        <p:nvSpPr>
          <p:cNvPr id="17" name="TextBox 16"/>
          <p:cNvSpPr txBox="1"/>
          <p:nvPr/>
        </p:nvSpPr>
        <p:spPr>
          <a:xfrm>
            <a:off x="5212080" y="37947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There is a legend about a dragon.</a:t>
            </a:r>
          </a:p>
        </p:txBody>
      </p:sp>
      <p:sp>
        <p:nvSpPr>
          <p:cNvPr id="18" name="Rounded Rectangle 17"/>
          <p:cNvSpPr/>
          <p:nvPr/>
        </p:nvSpPr>
        <p:spPr>
          <a:xfrm>
            <a:off x="548640" y="46177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68680" y="47274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attract</a:t>
            </a:r>
          </a:p>
        </p:txBody>
      </p:sp>
      <p:sp>
        <p:nvSpPr>
          <p:cNvPr id="20" name="TextBox 19"/>
          <p:cNvSpPr txBox="1"/>
          <p:nvPr/>
        </p:nvSpPr>
        <p:spPr>
          <a:xfrm>
            <a:off x="868680" y="53675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/əˈtrækt/   (v)</a:t>
            </a:r>
          </a:p>
        </p:txBody>
      </p:sp>
      <p:sp>
        <p:nvSpPr>
          <p:cNvPr id="21" name="TextBox 20"/>
          <p:cNvSpPr txBox="1"/>
          <p:nvPr/>
        </p:nvSpPr>
        <p:spPr>
          <a:xfrm>
            <a:off x="5212080" y="47274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thu hút</a:t>
            </a:r>
          </a:p>
        </p:txBody>
      </p:sp>
      <p:sp>
        <p:nvSpPr>
          <p:cNvPr id="22" name="TextBox 21"/>
          <p:cNvSpPr txBox="1"/>
          <p:nvPr/>
        </p:nvSpPr>
        <p:spPr>
          <a:xfrm>
            <a:off x="5212080" y="53949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It attracts thousands of visitors.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New words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U9L5</a:t>
            </a:r>
          </a:p>
        </p:txBody>
      </p:sp>
      <p:sp>
        <p:nvSpPr>
          <p:cNvPr id="8" name="Rounded Rectangle 7"/>
          <p:cNvSpPr/>
          <p:nvPr/>
        </p:nvSpPr>
        <p:spPr>
          <a:xfrm>
            <a:off x="548640" y="14173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868680" y="15270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tourist</a:t>
            </a:r>
          </a:p>
        </p:txBody>
      </p:sp>
      <p:sp>
        <p:nvSpPr>
          <p:cNvPr id="10" name="TextBox 9"/>
          <p:cNvSpPr txBox="1"/>
          <p:nvPr/>
        </p:nvSpPr>
        <p:spPr>
          <a:xfrm>
            <a:off x="868680" y="21671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/ˈtʊərɪst/   (n)</a:t>
            </a:r>
          </a:p>
        </p:txBody>
      </p:sp>
      <p:sp>
        <p:nvSpPr>
          <p:cNvPr id="11" name="TextBox 10"/>
          <p:cNvSpPr txBox="1"/>
          <p:nvPr/>
        </p:nvSpPr>
        <p:spPr>
          <a:xfrm>
            <a:off x="5212080" y="15270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khách du lịch</a:t>
            </a:r>
          </a:p>
        </p:txBody>
      </p:sp>
      <p:sp>
        <p:nvSpPr>
          <p:cNvPr id="12" name="TextBox 11"/>
          <p:cNvSpPr txBox="1"/>
          <p:nvPr/>
        </p:nvSpPr>
        <p:spPr>
          <a:xfrm>
            <a:off x="5212080" y="21945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Tourists come from all over the world.</a:t>
            </a:r>
          </a:p>
        </p:txBody>
      </p:sp>
      <p:sp>
        <p:nvSpPr>
          <p:cNvPr id="13" name="Rounded Rectangle 12"/>
          <p:cNvSpPr/>
          <p:nvPr/>
        </p:nvSpPr>
        <p:spPr>
          <a:xfrm>
            <a:off x="548640" y="30175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68680" y="31272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preserve</a:t>
            </a:r>
          </a:p>
        </p:txBody>
      </p:sp>
      <p:sp>
        <p:nvSpPr>
          <p:cNvPr id="15" name="TextBox 14"/>
          <p:cNvSpPr txBox="1"/>
          <p:nvPr/>
        </p:nvSpPr>
        <p:spPr>
          <a:xfrm>
            <a:off x="868680" y="37673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/prɪˈzɜːv/   (v)</a:t>
            </a:r>
          </a:p>
        </p:txBody>
      </p:sp>
      <p:sp>
        <p:nvSpPr>
          <p:cNvPr id="16" name="TextBox 15"/>
          <p:cNvSpPr txBox="1"/>
          <p:nvPr/>
        </p:nvSpPr>
        <p:spPr>
          <a:xfrm>
            <a:off x="5212080" y="31272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giữ gìn, bảo tồn</a:t>
            </a:r>
          </a:p>
        </p:txBody>
      </p:sp>
      <p:sp>
        <p:nvSpPr>
          <p:cNvPr id="17" name="TextBox 16"/>
          <p:cNvSpPr txBox="1"/>
          <p:nvPr/>
        </p:nvSpPr>
        <p:spPr>
          <a:xfrm>
            <a:off x="5212080" y="37947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Festivals help to preserve traditions.</a:t>
            </a:r>
          </a:p>
        </p:txBody>
      </p:sp>
      <p:sp>
        <p:nvSpPr>
          <p:cNvPr id="18" name="Rounded Rectangle 17"/>
          <p:cNvSpPr/>
          <p:nvPr/>
        </p:nvSpPr>
        <p:spPr>
          <a:xfrm>
            <a:off x="548640" y="46177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68680" y="47274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generation</a:t>
            </a:r>
          </a:p>
        </p:txBody>
      </p:sp>
      <p:sp>
        <p:nvSpPr>
          <p:cNvPr id="20" name="TextBox 19"/>
          <p:cNvSpPr txBox="1"/>
          <p:nvPr/>
        </p:nvSpPr>
        <p:spPr>
          <a:xfrm>
            <a:off x="868680" y="53675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/ˌdʒenəˈreɪʃn/   (n)</a:t>
            </a:r>
          </a:p>
        </p:txBody>
      </p:sp>
      <p:sp>
        <p:nvSpPr>
          <p:cNvPr id="21" name="TextBox 20"/>
          <p:cNvSpPr txBox="1"/>
          <p:nvPr/>
        </p:nvSpPr>
        <p:spPr>
          <a:xfrm>
            <a:off x="5212080" y="47274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thế hệ</a:t>
            </a:r>
          </a:p>
        </p:txBody>
      </p:sp>
      <p:sp>
        <p:nvSpPr>
          <p:cNvPr id="22" name="TextBox 21"/>
          <p:cNvSpPr txBox="1"/>
          <p:nvPr/>
        </p:nvSpPr>
        <p:spPr>
          <a:xfrm>
            <a:off x="5212080" y="53949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The custom passes from generation to generation.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Useful phrases — learn them as one block!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U9L5</a:t>
            </a:r>
          </a:p>
        </p:txBody>
      </p:sp>
      <p:sp>
        <p:nvSpPr>
          <p:cNvPr id="8" name="Rounded Rectangle 7"/>
          <p:cNvSpPr/>
          <p:nvPr/>
        </p:nvSpPr>
        <p:spPr>
          <a:xfrm>
            <a:off x="822960" y="1554480"/>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609344"/>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pass from generation to generation</a:t>
            </a:r>
          </a:p>
        </p:txBody>
      </p:sp>
      <p:sp>
        <p:nvSpPr>
          <p:cNvPr id="10" name="Rounded Rectangle 9"/>
          <p:cNvSpPr/>
          <p:nvPr/>
        </p:nvSpPr>
        <p:spPr>
          <a:xfrm>
            <a:off x="822960" y="2267712"/>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97280" y="2322576"/>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date back to…</a:t>
            </a:r>
          </a:p>
        </p:txBody>
      </p:sp>
      <p:sp>
        <p:nvSpPr>
          <p:cNvPr id="12" name="Rounded Rectangle 11"/>
          <p:cNvSpPr/>
          <p:nvPr/>
        </p:nvSpPr>
        <p:spPr>
          <a:xfrm>
            <a:off x="822960" y="2980944"/>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97280" y="3035808"/>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attract visitors</a:t>
            </a:r>
          </a:p>
        </p:txBody>
      </p:sp>
      <p:sp>
        <p:nvSpPr>
          <p:cNvPr id="14" name="Rounded Rectangle 13"/>
          <p:cNvSpPr/>
          <p:nvPr/>
        </p:nvSpPr>
        <p:spPr>
          <a:xfrm>
            <a:off x="822960" y="3694176"/>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97280" y="3749040"/>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keep a tradition alive</a:t>
            </a:r>
          </a:p>
        </p:txBody>
      </p:sp>
      <p:sp>
        <p:nvSpPr>
          <p:cNvPr id="16" name="Rounded Rectangle 15"/>
          <p:cNvSpPr/>
          <p:nvPr/>
        </p:nvSpPr>
        <p:spPr>
          <a:xfrm>
            <a:off x="822960" y="4407408"/>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97280" y="4462272"/>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It is believed that…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300" b="1" i="0">
                <a:solidFill>
                  <a:srgbClr val="FFFFFF"/>
                </a:solidFill>
                <a:latin typeface="Calibri"/>
              </a:rPr>
              <a:t>Grammar: Talking about origins: dates and 'It is believed that…'</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U9L5</a:t>
            </a:r>
          </a:p>
        </p:txBody>
      </p:sp>
      <p:sp>
        <p:nvSpPr>
          <p:cNvPr id="8" name="Rounded Rectangle 7"/>
          <p:cNvSpPr/>
          <p:nvPr/>
        </p:nvSpPr>
        <p:spPr>
          <a:xfrm>
            <a:off x="640080" y="1463040"/>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36192"/>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dates back to + year/period: The festival dates back to the 15th century.</a:t>
            </a:r>
          </a:p>
        </p:txBody>
      </p:sp>
      <p:sp>
        <p:nvSpPr>
          <p:cNvPr id="10" name="Rounded Rectangle 9"/>
          <p:cNvSpPr/>
          <p:nvPr/>
        </p:nvSpPr>
        <p:spPr>
          <a:xfrm>
            <a:off x="640080" y="2487168"/>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960120" y="2560320"/>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It is believed that + sentence: It is believed that the fire brings good luck.</a:t>
            </a:r>
          </a:p>
        </p:txBody>
      </p:sp>
      <p:sp>
        <p:nvSpPr>
          <p:cNvPr id="12" name="Rounded Rectangle 11"/>
          <p:cNvSpPr/>
          <p:nvPr/>
        </p:nvSpPr>
        <p:spPr>
          <a:xfrm>
            <a:off x="640080" y="3511296"/>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960120" y="3584448"/>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According to legend, + sentence: According to legend, a dragon lived in the lake.</a:t>
            </a:r>
          </a:p>
        </p:txBody>
      </p:sp>
      <p:sp>
        <p:nvSpPr>
          <p:cNvPr id="14" name="Rounded Rectangle 13"/>
          <p:cNvSpPr/>
          <p:nvPr/>
        </p:nvSpPr>
        <p:spPr>
          <a:xfrm>
            <a:off x="640080" y="4535424"/>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960120" y="4608576"/>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These three chunks make a presentation sound much more advanced.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The form</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U9L5</a:t>
            </a:r>
          </a:p>
        </p:txBody>
      </p:sp>
      <p:graphicFrame>
        <p:nvGraphicFramePr>
          <p:cNvPr id="8" name="Table 7"/>
          <p:cNvGraphicFramePr>
            <a:graphicFrameLocks noGrp="1"/>
          </p:cNvGraphicFramePr>
          <p:nvPr/>
        </p:nvGraphicFramePr>
        <p:xfrm>
          <a:off x="548640" y="1463040"/>
          <a:ext cx="11064240" cy="2834640"/>
        </p:xfrm>
        <a:graphic>
          <a:graphicData uri="http://schemas.openxmlformats.org/drawingml/2006/table">
            <a:tbl>
              <a:tblPr firstRow="1" bandRow="1">
                <a:tableStyleId>{5C22544A-7EE6-4342-B048-85BDC9FD1C3A}</a:tableStyleId>
              </a:tblPr>
              <a:tblGrid>
                <a:gridCol w="5532120"/>
                <a:gridCol w="5532120"/>
              </a:tblGrid>
              <a:tr h="566928">
                <a:tc>
                  <a:txBody>
                    <a:bodyPr/>
                    <a:lstStyle/>
                    <a:p>
                      <a:r>
                        <a:rPr sz="1600" b="1">
                          <a:solidFill>
                            <a:srgbClr val="FFFFFF"/>
                          </a:solidFill>
                          <a:latin typeface="Calibri"/>
                        </a:rPr>
                        <a:t>Chunk</a:t>
                      </a:r>
                    </a:p>
                  </a:txBody>
                  <a:tcPr>
                    <a:solidFill>
                      <a:srgbClr val="0E7C66"/>
                    </a:solidFill>
                  </a:tcPr>
                </a:tc>
                <a:tc>
                  <a:txBody>
                    <a:bodyPr/>
                    <a:lstStyle/>
                    <a:p>
                      <a:r>
                        <a:rPr sz="1600" b="1">
                          <a:solidFill>
                            <a:srgbClr val="FFFFFF"/>
                          </a:solidFill>
                          <a:latin typeface="Calibri"/>
                        </a:rPr>
                        <a:t>Example</a:t>
                      </a:r>
                    </a:p>
                  </a:txBody>
                  <a:tcPr>
                    <a:solidFill>
                      <a:srgbClr val="0E7C66"/>
                    </a:solidFill>
                  </a:tcPr>
                </a:tc>
              </a:tr>
              <a:tr h="566928">
                <a:tc>
                  <a:txBody>
                    <a:bodyPr/>
                    <a:lstStyle/>
                    <a:p>
                      <a:r>
                        <a:rPr sz="1600" b="0">
                          <a:solidFill>
                            <a:srgbClr val="1B1B1B"/>
                          </a:solidFill>
                          <a:latin typeface="Calibri"/>
                        </a:rPr>
                        <a:t>date back to</a:t>
                      </a:r>
                    </a:p>
                  </a:txBody>
                  <a:tcPr>
                    <a:solidFill>
                      <a:srgbClr val="E3F3EE"/>
                    </a:solidFill>
                  </a:tcPr>
                </a:tc>
                <a:tc>
                  <a:txBody>
                    <a:bodyPr/>
                    <a:lstStyle/>
                    <a:p>
                      <a:r>
                        <a:rPr sz="1600" b="0">
                          <a:solidFill>
                            <a:srgbClr val="1B1B1B"/>
                          </a:solidFill>
                          <a:latin typeface="Calibri"/>
                        </a:rPr>
                        <a:t>The festival dates back to 1470.</a:t>
                      </a:r>
                    </a:p>
                  </a:txBody>
                  <a:tcPr>
                    <a:solidFill>
                      <a:srgbClr val="E3F3EE"/>
                    </a:solidFill>
                  </a:tcPr>
                </a:tc>
              </a:tr>
              <a:tr h="566928">
                <a:tc>
                  <a:txBody>
                    <a:bodyPr/>
                    <a:lstStyle/>
                    <a:p>
                      <a:r>
                        <a:rPr sz="1600" b="0">
                          <a:solidFill>
                            <a:srgbClr val="1B1B1B"/>
                          </a:solidFill>
                          <a:latin typeface="Calibri"/>
                        </a:rPr>
                        <a:t>It is believed that…</a:t>
                      </a:r>
                    </a:p>
                  </a:txBody>
                  <a:tcPr>
                    <a:solidFill>
                      <a:srgbClr val="FFFFFF"/>
                    </a:solidFill>
                  </a:tcPr>
                </a:tc>
                <a:tc>
                  <a:txBody>
                    <a:bodyPr/>
                    <a:lstStyle/>
                    <a:p>
                      <a:r>
                        <a:rPr sz="1600" b="0">
                          <a:solidFill>
                            <a:srgbClr val="1B1B1B"/>
                          </a:solidFill>
                          <a:latin typeface="Calibri"/>
                        </a:rPr>
                        <a:t>It is believed that the water gives health.</a:t>
                      </a:r>
                    </a:p>
                  </a:txBody>
                  <a:tcPr>
                    <a:solidFill>
                      <a:srgbClr val="FFFFFF"/>
                    </a:solidFill>
                  </a:tcPr>
                </a:tc>
              </a:tr>
              <a:tr h="566928">
                <a:tc>
                  <a:txBody>
                    <a:bodyPr/>
                    <a:lstStyle/>
                    <a:p>
                      <a:r>
                        <a:rPr sz="1600" b="0">
                          <a:solidFill>
                            <a:srgbClr val="1B1B1B"/>
                          </a:solidFill>
                          <a:latin typeface="Calibri"/>
                        </a:rPr>
                        <a:t>According to legend,…</a:t>
                      </a:r>
                    </a:p>
                  </a:txBody>
                  <a:tcPr>
                    <a:solidFill>
                      <a:srgbClr val="E3F3EE"/>
                    </a:solidFill>
                  </a:tcPr>
                </a:tc>
                <a:tc>
                  <a:txBody>
                    <a:bodyPr/>
                    <a:lstStyle/>
                    <a:p>
                      <a:r>
                        <a:rPr sz="1600" b="0">
                          <a:solidFill>
                            <a:srgbClr val="1B1B1B"/>
                          </a:solidFill>
                          <a:latin typeface="Calibri"/>
                        </a:rPr>
                        <a:t>According to legend, a giant fish saved the village.</a:t>
                      </a:r>
                    </a:p>
                  </a:txBody>
                  <a:tcPr>
                    <a:solidFill>
                      <a:srgbClr val="E3F3EE"/>
                    </a:solidFill>
                  </a:tcPr>
                </a:tc>
              </a:tr>
              <a:tr h="566928">
                <a:tc>
                  <a:txBody>
                    <a:bodyPr/>
                    <a:lstStyle/>
                    <a:p>
                      <a:r>
                        <a:rPr sz="1600" b="0">
                          <a:solidFill>
                            <a:srgbClr val="1B1B1B"/>
                          </a:solidFill>
                          <a:latin typeface="Calibri"/>
                        </a:rPr>
                        <a:t>pass from generation to generation</a:t>
                      </a:r>
                    </a:p>
                  </a:txBody>
                  <a:tcPr>
                    <a:solidFill>
                      <a:srgbClr val="FFFFFF"/>
                    </a:solidFill>
                  </a:tcPr>
                </a:tc>
                <a:tc>
                  <a:txBody>
                    <a:bodyPr/>
                    <a:lstStyle/>
                    <a:p>
                      <a:r>
                        <a:rPr sz="1600" b="0">
                          <a:solidFill>
                            <a:srgbClr val="1B1B1B"/>
                          </a:solidFill>
                          <a:latin typeface="Calibri"/>
                        </a:rPr>
                        <a:t>The songs pass from generation to generation.</a:t>
                      </a:r>
                    </a:p>
                  </a:txBody>
                  <a:tcPr>
                    <a:solidFill>
                      <a:srgbClr val="FFFFFF"/>
                    </a:solidFill>
                  </a:tcPr>
                </a:tc>
              </a:tr>
            </a:tbl>
          </a:graphicData>
        </a:graphic>
      </p:graphicFrame>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Look at the examples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U9L5</a:t>
            </a:r>
          </a:p>
        </p:txBody>
      </p:sp>
      <p:sp>
        <p:nvSpPr>
          <p:cNvPr id="8" name="Rounded Rectangle 7"/>
          <p:cNvSpPr/>
          <p:nvPr/>
        </p:nvSpPr>
        <p:spPr>
          <a:xfrm>
            <a:off x="731520" y="1554480"/>
            <a:ext cx="10698480" cy="777240"/>
          </a:xfrm>
          <a:prstGeom prst="roundRect">
            <a:avLst>
              <a:gd name="adj" fmla="val 6000"/>
            </a:avLst>
          </a:prstGeom>
          <a:solidFill>
            <a:srgbClr val="FFFFFF"/>
          </a:solidFill>
          <a:ln w="19050">
            <a:solidFill>
              <a:srgbClr val="0E7C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627632"/>
            <a:ext cx="10241280" cy="64008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The Fire Festival dates back more than 300 years. According to legend, the fire protected the village from a tiger.</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Be careful! A very common mistake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U9L5</a:t>
            </a:r>
          </a:p>
        </p:txBody>
      </p:sp>
      <p:sp>
        <p:nvSpPr>
          <p:cNvPr id="8" name="Rounded Rectangle 7"/>
          <p:cNvSpPr/>
          <p:nvPr/>
        </p:nvSpPr>
        <p:spPr>
          <a:xfrm>
            <a:off x="731520" y="1645920"/>
            <a:ext cx="10698480" cy="23774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828800"/>
            <a:ext cx="10058400" cy="2011680"/>
          </a:xfrm>
          <a:prstGeom prst="rect">
            <a:avLst/>
          </a:prstGeom>
          <a:noFill/>
        </p:spPr>
        <p:txBody>
          <a:bodyPr wrap="square" anchor="t">
            <a:spAutoFit/>
          </a:bodyPr>
          <a:lstStyle/>
          <a:p>
            <a:pPr algn="l">
              <a:lnSpc>
                <a:spcPct val="100000"/>
              </a:lnSpc>
              <a:spcAft>
                <a:spcPts val="600"/>
              </a:spcAft>
            </a:pPr>
            <a:r>
              <a:rPr sz="2100" b="0" i="0">
                <a:solidFill>
                  <a:srgbClr val="1B1B1B"/>
                </a:solidFill>
                <a:latin typeface="Calibri"/>
              </a:rPr>
              <a:t>Students say *It is believe that…* — the correct form is 'It is believeD that'. Teach it as a fixed phrase.</a:t>
            </a:r>
          </a:p>
        </p:txBody>
      </p:sp>
      <p:sp>
        <p:nvSpPr>
          <p:cNvPr id="10" name="TextBox 9"/>
          <p:cNvSpPr txBox="1"/>
          <p:nvPr/>
        </p:nvSpPr>
        <p:spPr>
          <a:xfrm>
            <a:off x="1097280" y="4389120"/>
            <a:ext cx="10058400" cy="1280160"/>
          </a:xfrm>
          <a:prstGeom prst="rect">
            <a:avLst/>
          </a:prstGeom>
          <a:noFill/>
        </p:spPr>
        <p:txBody>
          <a:bodyPr wrap="square" anchor="t">
            <a:spAutoFit/>
          </a:bodyPr>
          <a:lstStyle/>
          <a:p>
            <a:pPr algn="l">
              <a:lnSpc>
                <a:spcPct val="100000"/>
              </a:lnSpc>
              <a:spcAft>
                <a:spcPts val="600"/>
              </a:spcAft>
            </a:pPr>
            <a:r>
              <a:rPr sz="2200" b="1" i="0">
                <a:solidFill>
                  <a:srgbClr val="2E7D32"/>
                </a:solidFill>
                <a:latin typeface="Calibri"/>
              </a:rPr>
              <a:t>👍 Say it like this:  The Fire Festival dates back more than 300 years. According to legend, the fire protected the village from a …</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300" b="1" i="0">
                <a:solidFill>
                  <a:srgbClr val="FFFFFF"/>
                </a:solidFill>
                <a:latin typeface="Calibri"/>
              </a:rPr>
              <a:t>Pronunciation: Stress in long words; /θ/ /ð/ in a presentation</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U9L5</a:t>
            </a:r>
          </a:p>
        </p:txBody>
      </p:sp>
      <p:sp>
        <p:nvSpPr>
          <p:cNvPr id="8" name="Rounded Rectangle 7"/>
          <p:cNvSpPr/>
          <p:nvPr/>
        </p:nvSpPr>
        <p:spPr>
          <a:xfrm>
            <a:off x="640080" y="1417320"/>
            <a:ext cx="10881360" cy="123444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08760"/>
            <a:ext cx="10332720" cy="1097280"/>
          </a:xfrm>
          <a:prstGeom prst="rect">
            <a:avLst/>
          </a:prstGeom>
          <a:noFill/>
        </p:spPr>
        <p:txBody>
          <a:bodyPr wrap="square" anchor="ctr">
            <a:spAutoFit/>
          </a:bodyPr>
          <a:lstStyle/>
          <a:p>
            <a:pPr algn="l">
              <a:lnSpc>
                <a:spcPct val="100000"/>
              </a:lnSpc>
              <a:spcAft>
                <a:spcPts val="600"/>
              </a:spcAft>
            </a:pPr>
            <a:r>
              <a:rPr sz="1800" b="0" i="0">
                <a:solidFill>
                  <a:srgbClr val="1B1B1B"/>
                </a:solidFill>
                <a:latin typeface="Calibri"/>
              </a:rPr>
              <a:t>'ORigin, 'LEgend, at'TRACT, 'TOUrist, pre'SERVE, gene'RAtion. Keep the /θ/ and /ð/ clear while you speak at normal speed.</a:t>
            </a:r>
          </a:p>
        </p:txBody>
      </p:sp>
      <p:sp>
        <p:nvSpPr>
          <p:cNvPr id="10" name="Rounded Rectangle 9"/>
          <p:cNvSpPr/>
          <p:nvPr/>
        </p:nvSpPr>
        <p:spPr>
          <a:xfrm>
            <a:off x="731520" y="2880360"/>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05840" y="2926080"/>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'origin (Ooo)</a:t>
            </a:r>
          </a:p>
        </p:txBody>
      </p:sp>
      <p:sp>
        <p:nvSpPr>
          <p:cNvPr id="12" name="Rounded Rectangle 11"/>
          <p:cNvSpPr/>
          <p:nvPr/>
        </p:nvSpPr>
        <p:spPr>
          <a:xfrm>
            <a:off x="731520" y="3593592"/>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05840" y="3639312"/>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'legend (Oo)</a:t>
            </a:r>
          </a:p>
        </p:txBody>
      </p:sp>
      <p:sp>
        <p:nvSpPr>
          <p:cNvPr id="14" name="Rounded Rectangle 13"/>
          <p:cNvSpPr/>
          <p:nvPr/>
        </p:nvSpPr>
        <p:spPr>
          <a:xfrm>
            <a:off x="731520" y="4306824"/>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05840" y="4352544"/>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at'tract (oO)</a:t>
            </a:r>
          </a:p>
        </p:txBody>
      </p:sp>
      <p:sp>
        <p:nvSpPr>
          <p:cNvPr id="16" name="Rounded Rectangle 15"/>
          <p:cNvSpPr/>
          <p:nvPr/>
        </p:nvSpPr>
        <p:spPr>
          <a:xfrm>
            <a:off x="731520" y="5020056"/>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05840" y="5065776"/>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gene'ration (ooOo)</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Repeat after me — three times each!</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U9L5</a:t>
            </a:r>
          </a:p>
        </p:txBody>
      </p:sp>
      <p:sp>
        <p:nvSpPr>
          <p:cNvPr id="8" name="Rounded Rectangle 7"/>
          <p:cNvSpPr/>
          <p:nvPr/>
        </p:nvSpPr>
        <p:spPr>
          <a:xfrm>
            <a:off x="731520" y="1737360"/>
            <a:ext cx="10698480" cy="91440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828800"/>
            <a:ext cx="10241280" cy="77724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 According to legend, the festival dates back three hundred years.</a:t>
            </a:r>
          </a:p>
        </p:txBody>
      </p:sp>
      <p:sp>
        <p:nvSpPr>
          <p:cNvPr id="10" name="Rounded Rectangle 9"/>
          <p:cNvSpPr/>
          <p:nvPr/>
        </p:nvSpPr>
        <p:spPr>
          <a:xfrm>
            <a:off x="731520" y="2788920"/>
            <a:ext cx="10698480" cy="91440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51560" y="2880360"/>
            <a:ext cx="10241280" cy="77724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 It attracts thousands of tourists and preserves an old tradition.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300" b="1" i="0">
                <a:solidFill>
                  <a:srgbClr val="FFFFFF"/>
                </a:solidFill>
                <a:latin typeface="Calibri"/>
              </a:rPr>
              <a:t>Listening: What are monthly events in your area?</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U9L5</a:t>
            </a:r>
          </a:p>
        </p:txBody>
      </p:sp>
      <p:sp>
        <p:nvSpPr>
          <p:cNvPr id="8" name="Rounded Rectangle 7"/>
          <p:cNvSpPr/>
          <p:nvPr/>
        </p:nvSpPr>
        <p:spPr>
          <a:xfrm>
            <a:off x="731520" y="1737360"/>
            <a:ext cx="10698480" cy="182880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920240"/>
            <a:ext cx="10058400" cy="155448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You will hear a real recording: festivals in different months of the year. Single speaker — Elise / The Netherlands. It lasts 1:27.</a:t>
            </a:r>
          </a:p>
        </p:txBody>
      </p:sp>
      <p:sp>
        <p:nvSpPr>
          <p:cNvPr id="10" name="TextBox 9"/>
          <p:cNvSpPr txBox="1"/>
          <p:nvPr/>
        </p:nvSpPr>
        <p:spPr>
          <a:xfrm>
            <a:off x="731520" y="4023360"/>
            <a:ext cx="10698480" cy="1463040"/>
          </a:xfrm>
          <a:prstGeom prst="rect">
            <a:avLst/>
          </a:prstGeom>
          <a:noFill/>
        </p:spPr>
        <p:txBody>
          <a:bodyPr wrap="square" anchor="t">
            <a:spAutoFit/>
          </a:bodyPr>
          <a:lstStyle/>
          <a:p>
            <a:pPr algn="l">
              <a:lnSpc>
                <a:spcPct val="100000"/>
              </a:lnSpc>
              <a:spcAft>
                <a:spcPts val="600"/>
              </a:spcAft>
            </a:pPr>
            <a:r>
              <a:rPr sz="2000" b="0" i="0">
                <a:solidFill>
                  <a:srgbClr val="142C4F"/>
                </a:solidFill>
                <a:latin typeface="Calibri"/>
              </a:rPr>
              <a:t>🎧  Listen 1: just listen — do not write.</a:t>
            </a:r>
          </a:p>
          <a:p>
            <a:pPr algn="l">
              <a:lnSpc>
                <a:spcPct val="100000"/>
              </a:lnSpc>
              <a:spcAft>
                <a:spcPts val="600"/>
              </a:spcAft>
            </a:pPr>
            <a:r>
              <a:rPr sz="2000" b="0" i="0">
                <a:solidFill>
                  <a:srgbClr val="142C4F"/>
                </a:solidFill>
                <a:latin typeface="Calibri"/>
              </a:rPr>
              <a:t>🎧  Listen 2: write your answers.</a:t>
            </a:r>
          </a:p>
          <a:p>
            <a:pPr algn="l">
              <a:lnSpc>
                <a:spcPct val="100000"/>
              </a:lnSpc>
              <a:spcAft>
                <a:spcPts val="600"/>
              </a:spcAft>
            </a:pPr>
            <a:r>
              <a:rPr sz="2000" b="0" i="0">
                <a:solidFill>
                  <a:srgbClr val="142C4F"/>
                </a:solidFill>
                <a:latin typeface="Calibri"/>
              </a:rPr>
              <a:t>🎧  Listen 3: check with your partner.</a:t>
            </a:r>
          </a:p>
        </p:txBody>
      </p:sp>
      <p:sp>
        <p:nvSpPr>
          <p:cNvPr id="11" name="Rounded Rectangle 10"/>
          <p:cNvSpPr/>
          <p:nvPr/>
        </p:nvSpPr>
        <p:spPr>
          <a:xfrm>
            <a:off x="731520" y="5440680"/>
            <a:ext cx="10698480" cy="530352"/>
          </a:xfrm>
          <a:prstGeom prst="roundRect">
            <a:avLst>
              <a:gd name="adj" fmla="val 6000"/>
            </a:avLst>
          </a:prstGeom>
          <a:solidFill>
            <a:srgbClr val="E7F1FA"/>
          </a:solidFill>
          <a:ln w="19050">
            <a:solidFill>
              <a:srgbClr val="1E6FB8"/>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lstStyle/>
          <a:p>
            <a:pPr algn="ctr"/>
            <a:r>
              <a:rPr sz="1500" b="1">
                <a:solidFill>
                  <a:srgbClr val="142C4F"/>
                </a:solidFill>
                <a:hlinkClick r:id="rId2"/>
              </a:rPr>
              <a:t>▶ Play audio</a:t>
            </a:r>
          </a:p>
        </p:txBody>
      </p:sp>
      <p:sp>
        <p:nvSpPr>
          <p:cNvPr id="12" name="TextBox 11"/>
          <p:cNvSpPr txBox="1"/>
          <p:nvPr/>
        </p:nvSpPr>
        <p:spPr>
          <a:xfrm>
            <a:off x="731520" y="6062472"/>
            <a:ext cx="10698480" cy="502920"/>
          </a:xfrm>
          <a:prstGeom prst="rect">
            <a:avLst/>
          </a:prstGeom>
          <a:noFill/>
        </p:spPr>
        <p:txBody>
          <a:bodyPr wrap="square" anchor="t">
            <a:spAutoFit/>
          </a:bodyPr>
          <a:lstStyle/>
          <a:p>
            <a:pPr algn="l">
              <a:lnSpc>
                <a:spcPct val="100000"/>
              </a:lnSpc>
              <a:spcAft>
                <a:spcPts val="600"/>
              </a:spcAft>
            </a:pPr>
            <a:r>
              <a:rPr sz="1100" b="0" i="0">
                <a:solidFill>
                  <a:srgbClr val="6B7280"/>
                </a:solidFill>
                <a:latin typeface="Calibri"/>
              </a:rPr>
              <a:t>ELLLO — One Minute English · 1:27 · Single speaker — Elise / The Netherlands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U9.5-L1</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once. Choose the best answer.</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What is the recording mainly about?</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A. who one person will meet later today B. festivals in different months of the year C. what one person does at the weekend</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U9.5-L2</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again. Write T (true) or F (false).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In August, children have two weeks of holiday again.</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In April, there aren't many festivities, and winter is almost over.</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In April, they celebrate Easter with some really delicious special breads.</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Hi, I'm Elise, and I'm going to talk about the weather and festivities in Peru.</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In December, lots of tourists start coming to Peru, and it's quite cold because it's almost winter.</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U9.5-L3</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once more and write the missing word.</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In _____, it's summer and lots of people go to the beach at the coast.</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In _____, there are a lot of religious festivities.</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In _____, there's a very important religious festival called Lord of the Miracles.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The festival where nobody sleeps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U9L5</a:t>
            </a:r>
          </a:p>
        </p:txBody>
      </p:sp>
      <p:sp>
        <p:nvSpPr>
          <p:cNvPr id="8" name="Rounded Rectangle 7"/>
          <p:cNvSpPr/>
          <p:nvPr/>
        </p:nvSpPr>
        <p:spPr>
          <a:xfrm>
            <a:off x="640080" y="1371600"/>
            <a:ext cx="10881360" cy="484632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54480"/>
            <a:ext cx="10332720" cy="4480560"/>
          </a:xfrm>
          <a:prstGeom prst="rect">
            <a:avLst/>
          </a:prstGeom>
          <a:noFill/>
        </p:spPr>
        <p:txBody>
          <a:bodyPr wrap="square" anchor="t">
            <a:spAutoFit/>
          </a:bodyPr>
          <a:lstStyle/>
          <a:p>
            <a:pPr algn="l">
              <a:lnSpc>
                <a:spcPct val="115000"/>
              </a:lnSpc>
              <a:spcAft>
                <a:spcPts val="600"/>
              </a:spcAft>
            </a:pPr>
            <a:r>
              <a:rPr sz="1500" b="0" i="0">
                <a:solidFill>
                  <a:srgbClr val="1B1B1B"/>
                </a:solidFill>
                <a:latin typeface="Calibri"/>
              </a:rPr>
              <a:t>In the mountains of Ha Giang, on the twenty-seventh day of the third lunar month, a market opens that is not really a market at all. The Khau Vai Love Market dates back more than a hundred years. According to legend, a young man and a young woman from two different groups fell in love, but their families would not allow them to marry. They agreed to meet once a year, on the same day, at Khau Vai. Today, thousands of people walk for hours over the mountains to be there. Some come to sell cloth and food, and many young people come to meet somebody. But the heart of the market is older people: men and women who loved each other long ago, married other people, and now meet once a year to talk for one night. Their husbands and wives usually know, and usually come too. Nobody is angry. The custom is understood. The festival attracts more and more tourists, and this worries some people. 'When …</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U9.5-R1</a:t>
            </a:r>
          </a:p>
        </p:txBody>
      </p:sp>
      <p:sp>
        <p:nvSpPr>
          <p:cNvPr id="8" name="Rounded Rectangle 7"/>
          <p:cNvSpPr/>
          <p:nvPr/>
        </p:nvSpPr>
        <p:spPr>
          <a:xfrm>
            <a:off x="640080" y="1371600"/>
            <a:ext cx="10881360" cy="77724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Choose the best title.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A. Shopping in the mountains</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B. A festival where old friends meet once a year</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C. How to travel in Ha Giang</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U9.5-R2</a:t>
            </a:r>
          </a:p>
        </p:txBody>
      </p:sp>
      <p:sp>
        <p:nvSpPr>
          <p:cNvPr id="8" name="Rounded Rectangle 7"/>
          <p:cNvSpPr/>
          <p:nvPr/>
        </p:nvSpPr>
        <p:spPr>
          <a:xfrm>
            <a:off x="640080" y="1371600"/>
            <a:ext cx="10881360" cy="77724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Answer the questions.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When and where does the market take place?</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What does the legend say?</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Who is at the heart of the market?</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How do the husbands and wives react?</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Give one argument for and one against the tourists.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U9.5-R3</a:t>
            </a:r>
          </a:p>
        </p:txBody>
      </p:sp>
      <p:sp>
        <p:nvSpPr>
          <p:cNvPr id="8" name="Rounded Rectangle 7"/>
          <p:cNvSpPr/>
          <p:nvPr/>
        </p:nvSpPr>
        <p:spPr>
          <a:xfrm>
            <a:off x="640080" y="1371600"/>
            <a:ext cx="10881360" cy="77724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Find a word or phrase that means: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began a long time ago (paragraph 2)</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a very old story that may not be true (paragraph 2)</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brings people to a place (paragraph 5)</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found an answer to a problem (paragraph 6)</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U9.5-R4</a:t>
            </a:r>
          </a:p>
        </p:txBody>
      </p:sp>
      <p:sp>
        <p:nvSpPr>
          <p:cNvPr id="8" name="Rounded Rectangle 7"/>
          <p:cNvSpPr/>
          <p:nvPr/>
        </p:nvSpPr>
        <p:spPr>
          <a:xfrm>
            <a:off x="640080" y="1371600"/>
            <a:ext cx="10881360" cy="77724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Answer with your own ideas.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Why do you think nobody is angry?</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What does the old woman mean by 'This night was never for photographs'?</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Should tourists be allowed to come? Give your opinion and a reason.</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U9.5-G1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Read the text again and write T or F.</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The Khau Vai market is mainly for buying and selling.</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The legend is about two people who could not marry.</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Only young people come.</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Husbands and wives are usually angry.</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Tourists bring money to a poor area.</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U9.5-G2</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Complete the sentences.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The festival ______ back more than 300 years.</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______ to legend, a dragon lived in the lake.</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It ______ believed that the water gives health.</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The songs pass from ______ to ______ .</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The festival ______ thousands of visitors.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U9.5-I1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Close the book. Tell your partner about the Khau Vai Love Market in five sentences.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U9.5-I1</a:t>
            </a:r>
          </a:p>
        </p:txBody>
      </p:sp>
      <p:sp>
        <p:nvSpPr>
          <p:cNvPr id="8" name="Rounded Rectangle 7"/>
          <p:cNvSpPr/>
          <p:nvPr/>
        </p:nvSpPr>
        <p:spPr>
          <a:xfrm>
            <a:off x="731520" y="1828800"/>
            <a:ext cx="10698480" cy="219456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2011680"/>
            <a:ext cx="10058400" cy="1828800"/>
          </a:xfrm>
          <a:prstGeom prst="rect">
            <a:avLst/>
          </a:prstGeom>
          <a:noFill/>
        </p:spPr>
        <p:txBody>
          <a:bodyPr wrap="square" anchor="ctr">
            <a:spAutoFit/>
          </a:bodyPr>
          <a:lstStyle/>
          <a:p>
            <a:pPr algn="l">
              <a:lnSpc>
                <a:spcPct val="100000"/>
              </a:lnSpc>
              <a:spcAft>
                <a:spcPts val="600"/>
              </a:spcAft>
            </a:pPr>
            <a:r>
              <a:rPr sz="2200" b="0" i="0">
                <a:solidFill>
                  <a:srgbClr val="1B1B1B"/>
                </a:solidFill>
                <a:latin typeface="Calibri"/>
              </a:rPr>
              <a:t>Close the book. Tell your partner about the Khau Vai Love Market in five sentences.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U9.5-I2</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Do U9.5-S2 in your group.</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U9.5-I2</a:t>
            </a:r>
          </a:p>
        </p:txBody>
      </p:sp>
      <p:sp>
        <p:nvSpPr>
          <p:cNvPr id="8" name="Rounded Rectangle 7"/>
          <p:cNvSpPr/>
          <p:nvPr/>
        </p:nvSpPr>
        <p:spPr>
          <a:xfrm>
            <a:off x="731520" y="1828800"/>
            <a:ext cx="10698480" cy="219456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2011680"/>
            <a:ext cx="10058400" cy="1828800"/>
          </a:xfrm>
          <a:prstGeom prst="rect">
            <a:avLst/>
          </a:prstGeom>
          <a:noFill/>
        </p:spPr>
        <p:txBody>
          <a:bodyPr wrap="square" anchor="ctr">
            <a:spAutoFit/>
          </a:bodyPr>
          <a:lstStyle/>
          <a:p>
            <a:pPr algn="l">
              <a:lnSpc>
                <a:spcPct val="100000"/>
              </a:lnSpc>
              <a:spcAft>
                <a:spcPts val="600"/>
              </a:spcAft>
            </a:pPr>
            <a:r>
              <a:rPr sz="2200" b="0" i="0">
                <a:solidFill>
                  <a:srgbClr val="1B1B1B"/>
                </a:solidFill>
                <a:latin typeface="Calibri"/>
              </a:rPr>
              <a:t>Do U9.5-S2 in your group.</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Speaking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U9.5-S1</a:t>
            </a:r>
          </a:p>
        </p:txBody>
      </p:sp>
      <p:sp>
        <p:nvSpPr>
          <p:cNvPr id="8" name="Rounded Rectangle 7"/>
          <p:cNvSpPr/>
          <p:nvPr/>
        </p:nvSpPr>
        <p:spPr>
          <a:xfrm>
            <a:off x="640080" y="1371600"/>
            <a:ext cx="10881360" cy="7772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Make notes for a 90-second presentation of a festival.</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Name, when and where ______</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History / legend ______</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What people do (three things) ______</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Food and music ______</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Why it matters (and one problem if there is one) ______</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Speaking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U9.5-S2</a:t>
            </a:r>
          </a:p>
        </p:txBody>
      </p:sp>
      <p:sp>
        <p:nvSpPr>
          <p:cNvPr id="8" name="Rounded Rectangle 7"/>
          <p:cNvSpPr/>
          <p:nvPr/>
        </p:nvSpPr>
        <p:spPr>
          <a:xfrm>
            <a:off x="640080" y="1371600"/>
            <a:ext cx="10881360" cy="7772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Speak for 90 seconds in a group of four. Listeners ask one question each.</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Useful chunks: 'It takes place…', 'It dates back to…', 'According to legend,…', 'People celebrate by…', 'It is important because…'</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300" b="1" i="0">
                <a:solidFill>
                  <a:srgbClr val="FFFFFF"/>
                </a:solidFill>
                <a:latin typeface="Calibri"/>
              </a:rPr>
              <a:t>Real-life English: Handling a difficult question</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U9L5</a:t>
            </a:r>
          </a:p>
        </p:txBody>
      </p:sp>
      <p:sp>
        <p:nvSpPr>
          <p:cNvPr id="8" name="Rounded Rectangle 7"/>
          <p:cNvSpPr/>
          <p:nvPr/>
        </p:nvSpPr>
        <p:spPr>
          <a:xfrm>
            <a:off x="822960" y="1463040"/>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508760"/>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That's a good question.</a:t>
            </a:r>
          </a:p>
        </p:txBody>
      </p:sp>
      <p:sp>
        <p:nvSpPr>
          <p:cNvPr id="10" name="Rounded Rectangle 9"/>
          <p:cNvSpPr/>
          <p:nvPr/>
        </p:nvSpPr>
        <p:spPr>
          <a:xfrm>
            <a:off x="822960" y="2212848"/>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97280" y="2258568"/>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I'm not completely sure, but…</a:t>
            </a:r>
          </a:p>
        </p:txBody>
      </p:sp>
      <p:sp>
        <p:nvSpPr>
          <p:cNvPr id="12" name="Rounded Rectangle 11"/>
          <p:cNvSpPr/>
          <p:nvPr/>
        </p:nvSpPr>
        <p:spPr>
          <a:xfrm>
            <a:off x="822960" y="2962656"/>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97280" y="3008376"/>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Some people think… while others…</a:t>
            </a:r>
          </a:p>
        </p:txBody>
      </p:sp>
      <p:sp>
        <p:nvSpPr>
          <p:cNvPr id="14" name="Rounded Rectangle 13"/>
          <p:cNvSpPr/>
          <p:nvPr/>
        </p:nvSpPr>
        <p:spPr>
          <a:xfrm>
            <a:off x="822960" y="3712464"/>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97280" y="3758184"/>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It depends who you ask.</a:t>
            </a:r>
          </a:p>
        </p:txBody>
      </p:sp>
      <p:sp>
        <p:nvSpPr>
          <p:cNvPr id="16" name="Rounded Rectangle 15"/>
          <p:cNvSpPr/>
          <p:nvPr/>
        </p:nvSpPr>
        <p:spPr>
          <a:xfrm>
            <a:off x="822960" y="4462272"/>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97280" y="4507992"/>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I'll find out and tell you.</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Role play — in pairs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U9L5</a:t>
            </a:r>
          </a:p>
        </p:txBody>
      </p:sp>
      <p:sp>
        <p:nvSpPr>
          <p:cNvPr id="8" name="Rounded Rectangle 7"/>
          <p:cNvSpPr/>
          <p:nvPr/>
        </p:nvSpPr>
        <p:spPr>
          <a:xfrm>
            <a:off x="731520" y="1737360"/>
            <a:ext cx="10698480" cy="256032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920240"/>
            <a:ext cx="10058400" cy="219456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After each presentation, one listener must ask a difficult question ('Is it good for the animals?', 'Do young people still care?').</a:t>
            </a:r>
          </a:p>
        </p:txBody>
      </p:sp>
      <p:sp>
        <p:nvSpPr>
          <p:cNvPr id="10" name="TextBox 9"/>
          <p:cNvSpPr txBox="1"/>
          <p:nvPr/>
        </p:nvSpPr>
        <p:spPr>
          <a:xfrm>
            <a:off x="822960" y="4663440"/>
            <a:ext cx="10515600" cy="1280160"/>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 2 minutes to prepare  ·  2 minutes to perform  ·  then swap roles</a:t>
            </a:r>
          </a:p>
          <a:p>
            <a:pPr algn="l">
              <a:lnSpc>
                <a:spcPct val="100000"/>
              </a:lnSpc>
              <a:spcAft>
                <a:spcPts val="600"/>
              </a:spcAft>
            </a:pPr>
            <a:r>
              <a:rPr sz="1900" b="1" i="0">
                <a:solidFill>
                  <a:srgbClr val="142C4F"/>
                </a:solidFill>
                <a:latin typeface="Calibri"/>
              </a:rPr>
              <a:t>Do not read! Look at your partner.</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Writing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U9.5-W1</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Turn your notes into six sentences.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Writing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U9.5-W1</a:t>
            </a:r>
          </a:p>
        </p:txBody>
      </p:sp>
      <p:sp>
        <p:nvSpPr>
          <p:cNvPr id="8" name="Rounded Rectangle 7"/>
          <p:cNvSpPr/>
          <p:nvPr/>
        </p:nvSpPr>
        <p:spPr>
          <a:xfrm>
            <a:off x="731520" y="1828800"/>
            <a:ext cx="10698480" cy="219456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2011680"/>
            <a:ext cx="10058400" cy="1828800"/>
          </a:xfrm>
          <a:prstGeom prst="rect">
            <a:avLst/>
          </a:prstGeom>
          <a:noFill/>
        </p:spPr>
        <p:txBody>
          <a:bodyPr wrap="square" anchor="ctr">
            <a:spAutoFit/>
          </a:bodyPr>
          <a:lstStyle/>
          <a:p>
            <a:pPr algn="l">
              <a:lnSpc>
                <a:spcPct val="100000"/>
              </a:lnSpc>
              <a:spcAft>
                <a:spcPts val="600"/>
              </a:spcAft>
            </a:pPr>
            <a:r>
              <a:rPr sz="2200" b="0" i="0">
                <a:solidFill>
                  <a:srgbClr val="1B1B1B"/>
                </a:solidFill>
                <a:latin typeface="Calibri"/>
              </a:rPr>
              <a:t>Turn your notes into six sentences.</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Let's remember today's English</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U9L5</a:t>
            </a:r>
          </a:p>
        </p:txBody>
      </p:sp>
      <p:sp>
        <p:nvSpPr>
          <p:cNvPr id="8" name="Rounded Rectangle 7"/>
          <p:cNvSpPr/>
          <p:nvPr/>
        </p:nvSpPr>
        <p:spPr>
          <a:xfrm>
            <a:off x="731520" y="160020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67335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Reading: gist → detail → inference</a:t>
            </a:r>
          </a:p>
        </p:txBody>
      </p:sp>
      <p:sp>
        <p:nvSpPr>
          <p:cNvPr id="10" name="Rounded Rectangle 9"/>
          <p:cNvSpPr/>
          <p:nvPr/>
        </p:nvSpPr>
        <p:spPr>
          <a:xfrm>
            <a:off x="731520" y="256032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51560" y="263347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Chunks: dates back to / according to legend / it is believed that</a:t>
            </a:r>
          </a:p>
        </p:txBody>
      </p:sp>
      <p:sp>
        <p:nvSpPr>
          <p:cNvPr id="12" name="Rounded Rectangle 11"/>
          <p:cNvSpPr/>
          <p:nvPr/>
        </p:nvSpPr>
        <p:spPr>
          <a:xfrm>
            <a:off x="731520" y="352044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51560" y="359359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Presenting a festival in five points</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Homework — write it in your notebook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U9L5</a:t>
            </a:r>
          </a:p>
        </p:txBody>
      </p:sp>
      <p:sp>
        <p:nvSpPr>
          <p:cNvPr id="8" name="Rounded Rectangle 7"/>
          <p:cNvSpPr/>
          <p:nvPr/>
        </p:nvSpPr>
        <p:spPr>
          <a:xfrm>
            <a:off x="731520" y="1554480"/>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05840" y="1609344"/>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U9.5-H1</a:t>
            </a:r>
          </a:p>
        </p:txBody>
      </p:sp>
      <p:sp>
        <p:nvSpPr>
          <p:cNvPr id="10" name="TextBox 9"/>
          <p:cNvSpPr txBox="1"/>
          <p:nvPr/>
        </p:nvSpPr>
        <p:spPr>
          <a:xfrm>
            <a:off x="2743200" y="1609344"/>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Reading — Answer in full sentences.</a:t>
            </a:r>
          </a:p>
        </p:txBody>
      </p:sp>
      <p:sp>
        <p:nvSpPr>
          <p:cNvPr id="11" name="Rounded Rectangle 10"/>
          <p:cNvSpPr/>
          <p:nvPr/>
        </p:nvSpPr>
        <p:spPr>
          <a:xfrm>
            <a:off x="731520" y="2523744"/>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1005840" y="2578608"/>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U9.5-H2</a:t>
            </a:r>
          </a:p>
        </p:txBody>
      </p:sp>
      <p:sp>
        <p:nvSpPr>
          <p:cNvPr id="13" name="TextBox 12"/>
          <p:cNvSpPr txBox="1"/>
          <p:nvPr/>
        </p:nvSpPr>
        <p:spPr>
          <a:xfrm>
            <a:off x="2743200" y="2578608"/>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Vocabulary — Complete with origin, legend, attract, tourists, preserve, generation.</a:t>
            </a:r>
          </a:p>
        </p:txBody>
      </p:sp>
      <p:sp>
        <p:nvSpPr>
          <p:cNvPr id="14" name="Rounded Rectangle 13"/>
          <p:cNvSpPr/>
          <p:nvPr/>
        </p:nvSpPr>
        <p:spPr>
          <a:xfrm>
            <a:off x="731520" y="3493008"/>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05840" y="3547872"/>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U9.5-H3</a:t>
            </a:r>
          </a:p>
        </p:txBody>
      </p:sp>
      <p:sp>
        <p:nvSpPr>
          <p:cNvPr id="16" name="TextBox 15"/>
          <p:cNvSpPr txBox="1"/>
          <p:nvPr/>
        </p:nvSpPr>
        <p:spPr>
          <a:xfrm>
            <a:off x="2743200" y="3547872"/>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Writing — Write your festival presentation as a paragraph (100–110 words).</a:t>
            </a:r>
          </a:p>
        </p:txBody>
      </p:sp>
      <p:sp>
        <p:nvSpPr>
          <p:cNvPr id="17" name="Rounded Rectangle 16"/>
          <p:cNvSpPr/>
          <p:nvPr/>
        </p:nvSpPr>
        <p:spPr>
          <a:xfrm>
            <a:off x="731520" y="4462272"/>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005840" y="4517136"/>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U9.5-H4</a:t>
            </a:r>
          </a:p>
        </p:txBody>
      </p:sp>
      <p:sp>
        <p:nvSpPr>
          <p:cNvPr id="19" name="TextBox 18"/>
          <p:cNvSpPr txBox="1"/>
          <p:nvPr/>
        </p:nvSpPr>
        <p:spPr>
          <a:xfrm>
            <a:off x="2743200" y="4517136"/>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Speaking — Practise your presentation three times. Time it: 90 seconds.</a:t>
            </a:r>
          </a:p>
        </p:txBody>
      </p:sp>
      <p:sp>
        <p:nvSpPr>
          <p:cNvPr id="20" name="TextBox 19"/>
          <p:cNvSpPr txBox="1"/>
          <p:nvPr/>
        </p:nvSpPr>
        <p:spPr>
          <a:xfrm>
            <a:off x="731520" y="5989320"/>
            <a:ext cx="10698480" cy="640080"/>
          </a:xfrm>
          <a:prstGeom prst="rect">
            <a:avLst/>
          </a:prstGeom>
          <a:noFill/>
        </p:spPr>
        <p:txBody>
          <a:bodyPr wrap="square" anchor="t">
            <a:spAutoFit/>
          </a:bodyPr>
          <a:lstStyle/>
          <a:p>
            <a:pPr algn="ctr">
              <a:lnSpc>
                <a:spcPct val="100000"/>
              </a:lnSpc>
              <a:spcAft>
                <a:spcPts val="600"/>
              </a:spcAft>
            </a:pPr>
            <a:r>
              <a:rPr sz="1800" b="0" i="0">
                <a:solidFill>
                  <a:srgbClr val="6B7280"/>
                </a:solidFill>
                <a:latin typeface="Calibri"/>
              </a:rPr>
              <a:t>Homework Book, section U9L5   ·   See you next lesson! 👋</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