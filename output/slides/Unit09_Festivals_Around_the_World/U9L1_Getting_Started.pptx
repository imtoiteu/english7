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1_1_a7673055-e023-4593-9372-06d61ee8afd9_hq.mp3" TargetMode="External"/><Relationship Id="rId3" Type="http://schemas.openxmlformats.org/officeDocument/2006/relationships/hyperlink" Target="https://learningenglish.voanews.com/a/lets-learn-english-lesson-13-happy-birthday-william-shakespeare/3312239.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1  ·  PERIOD 63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Festivals near and far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festivals and say when they happen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festival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what people do at a festival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a festival they know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brainstorm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FESTIVAL on the board. Students give names (Vietnamese and foreign); you write the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Give festival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festival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/ˈfestɪvl/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lễ hội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Mid-Autumn Festival is in September.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celebrate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/ˈselɪbreɪt/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kỷ niệm, ăn mừng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celebrate Tet with our family.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lantern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/ˈlæntən/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đèn lồng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Children carry lanterns in the street.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parade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/pəˈreɪd/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cuộc diễu hành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parade through the town.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firework</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/ˈfaɪəwɜːk/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pháo hoa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fireworks start at midnight.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costume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/ˈkɒstjuːm/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 phục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People wear colourful costumes.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custom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/ˈkʌstəm/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phong tục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 custom to give lucky money.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decorate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/ˈdekəreɪt/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 trí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decorate the house with flowers.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place 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People celebrate by + V-ing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a custom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fifteenth day of…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wish somebody a happy…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festival: takes place / celebrate / custom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WHEN: It takes place in September / on the 15th day of the 8th lunar month.</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WHERE: It is celebrated all over Viet Nam / in the north.</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PEOPLE DO: People make lanterns, eat mooncakes and watch lion dances.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WHY: It is a custom to… / People believe that…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when</a:t>
                      </a:r>
                    </a:p>
                  </a:txBody>
                  <a:tcPr>
                    <a:solidFill>
                      <a:srgbClr val="E3F3EE"/>
                    </a:solidFill>
                  </a:tcPr>
                </a:tc>
                <a:tc>
                  <a:txBody>
                    <a:bodyPr/>
                    <a:lstStyle/>
                    <a:p>
                      <a:r>
                        <a:rPr sz="1600" b="0">
                          <a:solidFill>
                            <a:srgbClr val="1B1B1B"/>
                          </a:solidFill>
                          <a:latin typeface="Calibri"/>
                        </a:rPr>
                        <a:t>It takes place in / on…</a:t>
                      </a:r>
                    </a:p>
                  </a:txBody>
                  <a:tcPr>
                    <a:solidFill>
                      <a:srgbClr val="E3F3EE"/>
                    </a:solidFill>
                  </a:tcPr>
                </a:tc>
                <a:tc>
                  <a:txBody>
                    <a:bodyPr/>
                    <a:lstStyle/>
                    <a:p>
                      <a:r>
                        <a:rPr sz="1600" b="0">
                          <a:solidFill>
                            <a:srgbClr val="1B1B1B"/>
                          </a:solidFill>
                          <a:latin typeface="Calibri"/>
                        </a:rPr>
                        <a:t>It takes place in April.</a:t>
                      </a:r>
                    </a:p>
                  </a:txBody>
                  <a:tcPr>
                    <a:solidFill>
                      <a:srgbClr val="E3F3EE"/>
                    </a:solidFill>
                  </a:tcPr>
                </a:tc>
              </a:tr>
              <a:tr h="566928">
                <a:tc>
                  <a:txBody>
                    <a:bodyPr/>
                    <a:lstStyle/>
                    <a:p>
                      <a:r>
                        <a:rPr sz="1600" b="0">
                          <a:solidFill>
                            <a:srgbClr val="1B1B1B"/>
                          </a:solidFill>
                          <a:latin typeface="Calibri"/>
                        </a:rPr>
                        <a:t>where</a:t>
                      </a:r>
                    </a:p>
                  </a:txBody>
                  <a:tcPr>
                    <a:solidFill>
                      <a:srgbClr val="FFFFFF"/>
                    </a:solidFill>
                  </a:tcPr>
                </a:tc>
                <a:tc>
                  <a:txBody>
                    <a:bodyPr/>
                    <a:lstStyle/>
                    <a:p>
                      <a:r>
                        <a:rPr sz="1600" b="0">
                          <a:solidFill>
                            <a:srgbClr val="1B1B1B"/>
                          </a:solidFill>
                          <a:latin typeface="Calibri"/>
                        </a:rPr>
                        <a:t>It is celebrated in…</a:t>
                      </a:r>
                    </a:p>
                  </a:txBody>
                  <a:tcPr>
                    <a:solidFill>
                      <a:srgbClr val="FFFFFF"/>
                    </a:solidFill>
                  </a:tcPr>
                </a:tc>
                <a:tc>
                  <a:txBody>
                    <a:bodyPr/>
                    <a:lstStyle/>
                    <a:p>
                      <a:r>
                        <a:rPr sz="1600" b="0">
                          <a:solidFill>
                            <a:srgbClr val="1B1B1B"/>
                          </a:solidFill>
                          <a:latin typeface="Calibri"/>
                        </a:rPr>
                        <a:t>It is celebrated all over the country.</a:t>
                      </a:r>
                    </a:p>
                  </a:txBody>
                  <a:tcPr>
                    <a:solidFill>
                      <a:srgbClr val="FFFFFF"/>
                    </a:solidFill>
                  </a:tcPr>
                </a:tc>
              </a:tr>
              <a:tr h="566928">
                <a:tc>
                  <a:txBody>
                    <a:bodyPr/>
                    <a:lstStyle/>
                    <a:p>
                      <a:r>
                        <a:rPr sz="1600" b="0">
                          <a:solidFill>
                            <a:srgbClr val="1B1B1B"/>
                          </a:solidFill>
                          <a:latin typeface="Calibri"/>
                        </a:rPr>
                        <a:t>activities</a:t>
                      </a:r>
                    </a:p>
                  </a:txBody>
                  <a:tcPr>
                    <a:solidFill>
                      <a:srgbClr val="E3F3EE"/>
                    </a:solidFill>
                  </a:tcPr>
                </a:tc>
                <a:tc>
                  <a:txBody>
                    <a:bodyPr/>
                    <a:lstStyle/>
                    <a:p>
                      <a:r>
                        <a:rPr sz="1600" b="0">
                          <a:solidFill>
                            <a:srgbClr val="1B1B1B"/>
                          </a:solidFill>
                          <a:latin typeface="Calibri"/>
                        </a:rPr>
                        <a:t>People + present simple</a:t>
                      </a:r>
                    </a:p>
                  </a:txBody>
                  <a:tcPr>
                    <a:solidFill>
                      <a:srgbClr val="E3F3EE"/>
                    </a:solidFill>
                  </a:tcPr>
                </a:tc>
                <a:tc>
                  <a:txBody>
                    <a:bodyPr/>
                    <a:lstStyle/>
                    <a:p>
                      <a:r>
                        <a:rPr sz="1600" b="0">
                          <a:solidFill>
                            <a:srgbClr val="1B1B1B"/>
                          </a:solidFill>
                          <a:latin typeface="Calibri"/>
                        </a:rPr>
                        <a:t>People wear special costumes.</a:t>
                      </a:r>
                    </a:p>
                  </a:txBody>
                  <a:tcPr>
                    <a:solidFill>
                      <a:srgbClr val="E3F3EE"/>
                    </a:solidFill>
                  </a:tcPr>
                </a:tc>
              </a:tr>
              <a:tr h="566928">
                <a:tc>
                  <a:txBody>
                    <a:bodyPr/>
                    <a:lstStyle/>
                    <a:p>
                      <a:r>
                        <a:rPr sz="1600" b="0">
                          <a:solidFill>
                            <a:srgbClr val="1B1B1B"/>
                          </a:solidFill>
                          <a:latin typeface="Calibri"/>
                        </a:rPr>
                        <a:t>custom</a:t>
                      </a:r>
                    </a:p>
                  </a:txBody>
                  <a:tcPr>
                    <a:solidFill>
                      <a:srgbClr val="FFFFFF"/>
                    </a:solidFill>
                  </a:tcPr>
                </a:tc>
                <a:tc>
                  <a:txBody>
                    <a:bodyPr/>
                    <a:lstStyle/>
                    <a:p>
                      <a:r>
                        <a:rPr sz="1600" b="0">
                          <a:solidFill>
                            <a:srgbClr val="1B1B1B"/>
                          </a:solidFill>
                          <a:latin typeface="Calibri"/>
                        </a:rPr>
                        <a:t>It is a custom to + verb</a:t>
                      </a:r>
                    </a:p>
                  </a:txBody>
                  <a:tcPr>
                    <a:solidFill>
                      <a:srgbClr val="FFFFFF"/>
                    </a:solidFill>
                  </a:tcPr>
                </a:tc>
                <a:tc>
                  <a:txBody>
                    <a:bodyPr/>
                    <a:lstStyle/>
                    <a:p>
                      <a:r>
                        <a:rPr sz="1600" b="0">
                          <a:solidFill>
                            <a:srgbClr val="1B1B1B"/>
                          </a:solidFill>
                          <a:latin typeface="Calibri"/>
                        </a:rPr>
                        <a:t>It is a custom to give lucky money.</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Mid-Autumn Festival takes place on the 15th day of the 8th lunar month.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People celebrate by making lanterns and eating mooncakes.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is happened in September* and *People celebrate Tet by eat banh chung* — the correct forms are 'It takes place' and 'by + V-ing'.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Mid-Autumn Festival takes place on the 15th day of the 8th lunar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/θ/ (think) and /ð/ (this)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Put the tip of your tongue between your teeth. /θ/ has no voice — just air: think, three, thank. /ð/ buzzes: this, that, the, they, mother.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/θ/: think, three, thank, month, birthday, north</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/ð/: this, that, the, they, mother, weather</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think – this | thin – then | three – the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Thank you for the three lanterns.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festival is in the third month.</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best month of the year.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Lesson 13: Happy Birthday, William Shakespeare!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celebrating a famous writer's birthday. American English — VOA’s professional actors (Anna, Pete, Marsha, Ms. Weaver…), slowed learner delivery. It lasts 2:10.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2:10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cooking dinner together B. celebrating a famous writer's birthday C. plans for a trip next summer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There are many things to do in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But today I am watching a puppet show because it’s Shakespeare’s birthday!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never watch puppet shows.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Seeing the Queen of England is very unusual!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But today I am sword fighting because it’s Shakespeare’s birthday!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there are many things to do on _____ Sunday afternoon.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Rebecca: It’s a big _____ party for the writer William Shakespeare.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This is _____ party for William Shakespeare?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today I am listening to a drum band because it’s Shakespeare’s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seeing a politician or even _____ President is usual.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Four festivals, four countries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HOLI (India, March). People throw coloured powder and water at each other. By the end of the day everybody is pink, green and blue — and nobody minds. LA TOMATINA (Spain, August). For one hour, 20,000 people throw tomatoes in the streets of a small town. The town uses 150,000 kilos of tomatoes and then cleans everything with water from fire engines. HANAMI (Japan, late March or April). Families sit under the cherry trees to look at the flowers, eat and talk. The flowers last about one week, so people check the weather forecast every day. MID-AUTUMN FESTIVAL (Viet Nam, September). Children carry lanterns, lion dancers go from house to house, and families eat mooncakes under the full moon.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festival?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throw food.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look at flowers.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People throw coloured powder.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Children carry lanterns.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lasts only one hour.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does Holi take place?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kilos of tomatoes are used at La Tomatina?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 the cherry flowers last?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Japanese people check the weather forecast?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lantern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parade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costume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custom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decorate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special clothes for a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light you carry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to make something look beautiful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 traditional way of doing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people walking through the streets together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celebrate Tet by ______ (visit) their relatives.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Children celebrate the Mid-Autumn Festival by ______ (carry) lanterns.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Families celebrate by ______ (eat) special food.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In Spain people celebrate by ______ (throw) tomatoes.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takes place   celebrate   custom   decorate   costumes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Hue Festival (1) ______ every two years in April. People (2) ______ with music, dance and boat races on the Perfume River. Performers wear tradit…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visitor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visitor role play in pairs.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ask and answer about the four festivals.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does Holi take place? B: In March. A: What do people do? B: They throw coloured powder.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your culture to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heard of…?</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bit like…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must try it.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difficult to explain, but…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Come and see it yourself!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foreign student asks you about a Vietnamese festival. Answer four questions and invite them.</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a festival you know.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takes place in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celebrate by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a custom to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festival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takes place / celebrate by + V-ing / it is a custom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/θ/ and /ð/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correct form.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your favourite festival.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with your tongue between your teeth: think, three, thank, this, that, they.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