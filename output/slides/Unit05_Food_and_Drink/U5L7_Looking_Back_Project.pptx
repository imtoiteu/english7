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7  ·  PERIOD 39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5 review and Our Class Cookbook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food vocabulary of Unit 5</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countable/uncountable nouns and quantifiers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produce a cookbook page and present a recipe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food words in a grid; teacher reads definitions.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cookbook</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/ˈkʊkbʊk/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sách nấu ăn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made a cookbook.</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/peɪdʒ/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writes one page.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illustrate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/ˈɪləstreɪt/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minh họa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Illustrate your recipe with a drawing.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our recipe for…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minutes.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serves … people.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5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Countable / uncountable nouns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some (+) / any (–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much + uncountable / many + countable / a lot of (both)</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little + uncountable / a few + countable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uncountable + is</a:t>
                      </a:r>
                    </a:p>
                  </a:txBody>
                  <a:tcPr>
                    <a:solidFill>
                      <a:srgbClr val="E3F3EE"/>
                    </a:solidFill>
                  </a:tcPr>
                </a:tc>
                <a:tc>
                  <a:txBody>
                    <a:bodyPr/>
                    <a:lstStyle/>
                    <a:p>
                      <a:r>
                        <a:rPr sz="1600" b="0">
                          <a:solidFill>
                            <a:srgbClr val="1B1B1B"/>
                          </a:solidFill>
                          <a:latin typeface="Calibri"/>
                        </a:rPr>
                        <a:t>There is some rice.</a:t>
                      </a:r>
                    </a:p>
                  </a:txBody>
                  <a:tcPr>
                    <a:solidFill>
                      <a:srgbClr val="E3F3EE"/>
                    </a:solidFill>
                  </a:tcPr>
                </a:tc>
                <a:tc>
                  <a:txBody>
                    <a:bodyPr/>
                    <a:lstStyle/>
                    <a:p>
                      <a:r>
                        <a:rPr sz="1600" b="0">
                          <a:solidFill>
                            <a:srgbClr val="1B1B1B"/>
                          </a:solidFill>
                          <a:latin typeface="Calibri"/>
                        </a:rPr>
                        <a:t>*There are some rice.</a:t>
                      </a:r>
                    </a:p>
                  </a:txBody>
                  <a:tcPr>
                    <a:solidFill>
                      <a:srgbClr val="E3F3EE"/>
                    </a:solidFill>
                  </a:tcPr>
                </a:tc>
              </a:tr>
              <a:tr h="566928">
                <a:tc>
                  <a:txBody>
                    <a:bodyPr/>
                    <a:lstStyle/>
                    <a:p>
                      <a:r>
                        <a:rPr sz="1600" b="0">
                          <a:solidFill>
                            <a:srgbClr val="1B1B1B"/>
                          </a:solidFill>
                          <a:latin typeface="Calibri"/>
                        </a:rPr>
                        <a:t>any in negatives</a:t>
                      </a:r>
                    </a:p>
                  </a:txBody>
                  <a:tcPr>
                    <a:solidFill>
                      <a:srgbClr val="FFFFFF"/>
                    </a:solidFill>
                  </a:tcPr>
                </a:tc>
                <a:tc>
                  <a:txBody>
                    <a:bodyPr/>
                    <a:lstStyle/>
                    <a:p>
                      <a:r>
                        <a:rPr sz="1600" b="0">
                          <a:solidFill>
                            <a:srgbClr val="1B1B1B"/>
                          </a:solidFill>
                          <a:latin typeface="Calibri"/>
                        </a:rPr>
                        <a:t>There isn't any milk.</a:t>
                      </a:r>
                    </a:p>
                  </a:txBody>
                  <a:tcPr>
                    <a:solidFill>
                      <a:srgbClr val="FFFFFF"/>
                    </a:solidFill>
                  </a:tcPr>
                </a:tc>
                <a:tc>
                  <a:txBody>
                    <a:bodyPr/>
                    <a:lstStyle/>
                    <a:p>
                      <a:r>
                        <a:rPr sz="1600" b="0">
                          <a:solidFill>
                            <a:srgbClr val="1B1B1B"/>
                          </a:solidFill>
                          <a:latin typeface="Calibri"/>
                        </a:rPr>
                        <a:t>*There isn't some milk.</a:t>
                      </a:r>
                    </a:p>
                  </a:txBody>
                  <a:tcPr>
                    <a:solidFill>
                      <a:srgbClr val="FFFFFF"/>
                    </a:solidFill>
                  </a:tcPr>
                </a:tc>
              </a:tr>
              <a:tr h="566928">
                <a:tc>
                  <a:txBody>
                    <a:bodyPr/>
                    <a:lstStyle/>
                    <a:p>
                      <a:r>
                        <a:rPr sz="1600" b="0">
                          <a:solidFill>
                            <a:srgbClr val="1B1B1B"/>
                          </a:solidFill>
                          <a:latin typeface="Calibri"/>
                        </a:rPr>
                        <a:t>How much + uncountable</a:t>
                      </a:r>
                    </a:p>
                  </a:txBody>
                  <a:tcPr>
                    <a:solidFill>
                      <a:srgbClr val="E3F3EE"/>
                    </a:solidFill>
                  </a:tcPr>
                </a:tc>
                <a:tc>
                  <a:txBody>
                    <a:bodyPr/>
                    <a:lstStyle/>
                    <a:p>
                      <a:r>
                        <a:rPr sz="1600" b="0">
                          <a:solidFill>
                            <a:srgbClr val="1B1B1B"/>
                          </a:solidFill>
                          <a:latin typeface="Calibri"/>
                        </a:rPr>
                        <a:t>How much money?</a:t>
                      </a:r>
                    </a:p>
                  </a:txBody>
                  <a:tcPr>
                    <a:solidFill>
                      <a:srgbClr val="E3F3EE"/>
                    </a:solidFill>
                  </a:tcPr>
                </a:tc>
                <a:tc>
                  <a:txBody>
                    <a:bodyPr/>
                    <a:lstStyle/>
                    <a:p>
                      <a:r>
                        <a:rPr sz="1600" b="0">
                          <a:solidFill>
                            <a:srgbClr val="1B1B1B"/>
                          </a:solidFill>
                          <a:latin typeface="Calibri"/>
                        </a:rPr>
                        <a:t>*How many money?</a:t>
                      </a:r>
                    </a:p>
                  </a:txBody>
                  <a:tcPr>
                    <a:solidFill>
                      <a:srgbClr val="E3F3EE"/>
                    </a:solidFill>
                  </a:tcPr>
                </a:tc>
              </a:tr>
              <a:tr h="566928">
                <a:tc>
                  <a:txBody>
                    <a:bodyPr/>
                    <a:lstStyle/>
                    <a:p>
                      <a:r>
                        <a:rPr sz="1600" b="0">
                          <a:solidFill>
                            <a:srgbClr val="1B1B1B"/>
                          </a:solidFill>
                          <a:latin typeface="Calibri"/>
                        </a:rPr>
                        <a:t>plural on container</a:t>
                      </a:r>
                    </a:p>
                  </a:txBody>
                  <a:tcPr>
                    <a:solidFill>
                      <a:srgbClr val="FFFFFF"/>
                    </a:solidFill>
                  </a:tcPr>
                </a:tc>
                <a:tc>
                  <a:txBody>
                    <a:bodyPr/>
                    <a:lstStyle/>
                    <a:p>
                      <a:r>
                        <a:rPr sz="1600" b="0">
                          <a:solidFill>
                            <a:srgbClr val="1B1B1B"/>
                          </a:solidFill>
                          <a:latin typeface="Calibri"/>
                        </a:rPr>
                        <a:t>two bowls of soup</a:t>
                      </a:r>
                    </a:p>
                  </a:txBody>
                  <a:tcPr>
                    <a:solidFill>
                      <a:srgbClr val="FFFFFF"/>
                    </a:solidFill>
                  </a:tcPr>
                </a:tc>
                <a:tc>
                  <a:txBody>
                    <a:bodyPr/>
                    <a:lstStyle/>
                    <a:p>
                      <a:r>
                        <a:rPr sz="1600" b="0">
                          <a:solidFill>
                            <a:srgbClr val="1B1B1B"/>
                          </a:solidFill>
                          <a:latin typeface="Calibri"/>
                        </a:rPr>
                        <a:t>*two bowl of soups</a:t>
                      </a:r>
                    </a:p>
                  </a:txBody>
                  <a:tcPr>
                    <a:solidFill>
                      <a:srgbClr val="FFFFFF"/>
                    </a:solidFill>
                  </a:tcPr>
                </a:tc>
              </a:tr>
              <a:tr h="566928">
                <a:tc>
                  <a:txBody>
                    <a:bodyPr/>
                    <a:lstStyle/>
                    <a:p>
                      <a:r>
                        <a:rPr sz="1600" b="0">
                          <a:solidFill>
                            <a:srgbClr val="1B1B1B"/>
                          </a:solidFill>
                          <a:latin typeface="Calibri"/>
                        </a:rPr>
                        <a:t>polite order</a:t>
                      </a:r>
                    </a:p>
                  </a:txBody>
                  <a:tcPr>
                    <a:solidFill>
                      <a:srgbClr val="E3F3EE"/>
                    </a:solidFill>
                  </a:tcPr>
                </a:tc>
                <a:tc>
                  <a:txBody>
                    <a:bodyPr/>
                    <a:lstStyle/>
                    <a:p>
                      <a:r>
                        <a:rPr sz="1600" b="0">
                          <a:solidFill>
                            <a:srgbClr val="1B1B1B"/>
                          </a:solidFill>
                          <a:latin typeface="Calibri"/>
                        </a:rPr>
                        <a:t>I'd like a bowl of pho.</a:t>
                      </a:r>
                    </a:p>
                  </a:txBody>
                  <a:tcPr>
                    <a:solidFill>
                      <a:srgbClr val="E3F3EE"/>
                    </a:solidFill>
                  </a:tcPr>
                </a:tc>
                <a:tc>
                  <a:txBody>
                    <a:bodyPr/>
                    <a:lstStyle/>
                    <a:p>
                      <a:r>
                        <a:rPr sz="1600" b="0">
                          <a:solidFill>
                            <a:srgbClr val="1B1B1B"/>
                          </a:solidFill>
                          <a:latin typeface="Calibri"/>
                        </a:rPr>
                        <a:t>*I want pho.</a:t>
                      </a:r>
                    </a:p>
                  </a:txBody>
                  <a:tcPr>
                    <a:solidFill>
                      <a:srgbClr val="E3F3EE"/>
                    </a:solidFill>
                  </a:tcPr>
                </a:tc>
              </a:tr>
              <a:tr h="566928">
                <a:tc>
                  <a:txBody>
                    <a:bodyPr/>
                    <a:lstStyle/>
                    <a:p>
                      <a:r>
                        <a:rPr sz="1600" b="0">
                          <a:solidFill>
                            <a:srgbClr val="1B1B1B"/>
                          </a:solidFill>
                          <a:latin typeface="Calibri"/>
                        </a:rPr>
                        <a:t>imperative recipe</a:t>
                      </a:r>
                    </a:p>
                  </a:txBody>
                  <a:tcPr>
                    <a:solidFill>
                      <a:srgbClr val="FFFFFF"/>
                    </a:solidFill>
                  </a:tcPr>
                </a:tc>
                <a:tc>
                  <a:txBody>
                    <a:bodyPr/>
                    <a:lstStyle/>
                    <a:p>
                      <a:r>
                        <a:rPr sz="1600" b="0">
                          <a:solidFill>
                            <a:srgbClr val="1B1B1B"/>
                          </a:solidFill>
                          <a:latin typeface="Calibri"/>
                        </a:rPr>
                        <a:t>Heat the oil.</a:t>
                      </a:r>
                    </a:p>
                  </a:txBody>
                  <a:tcPr>
                    <a:solidFill>
                      <a:srgbClr val="FFFFFF"/>
                    </a:solidFill>
                  </a:tcPr>
                </a:tc>
                <a:tc>
                  <a:txBody>
                    <a:bodyPr/>
                    <a:lstStyle/>
                    <a:p>
                      <a:r>
                        <a:rPr sz="1600" b="0">
                          <a:solidFill>
                            <a:srgbClr val="1B1B1B"/>
                          </a:solidFill>
                          <a:latin typeface="Calibri"/>
                        </a:rPr>
                        <a:t>*You heat the oil.</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isn't any fish sauce and there isn't much sugar, so please buy a bottle of fish sauce and a little sugar.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There isn't any fish sauce and there isn't much sugar, so please buy a bottle of fish sauce and a little suga…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5 sounds review: /ɒ/ /ɔː/, /ʃ/, weak 'of' and 'so…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is /ɔː/ long? is 'sugar' /ʃ/? is 'of' weak? is 'some' weak in positives?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hot – water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sugar, she, fish</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bowl of soup</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There's some rice.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wants a bowl of hot soup with a little sugar and some water.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Determiners and plural nouns · Some and any.</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cookbook with a difference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year, class 7C in Hai Duong made an English cookbook — but not an ordinary one. Every recipe came from a grandparent. The students interviewed their grandmothers and grandfathers, wrote down the recipes in Vietnamese, then translated them into English with their teacher's help. Some recipes were difficult: one grandmother said 'a handful of rice' and 'cook until it smells right', which is hard to put into grams and minutes! The book has 34 recipes, 34 photographs and 34 short paragraphs about the person who gave the recipe. The school printed 200 copies and sold them for 50,000 dong each. The money bought new books for the school library. 'My grandmother cannot read English,' said Trang, 'but she keeps the book on the table where everybody can see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did the recipes come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were the three steps of the 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were some recipes difficult to write?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 school do with the money?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does Trang's grandmother keep the book on the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small shop on the street: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list of dishes in a restaurant: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you pay at the end: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things you need to cook a dish: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instructions for cooking: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last dish of a meal: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are some rice in the pot.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money do you have?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don't want some sugar.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bought two bowl of soups.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want a pho, please.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 heat the oil first.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cookbook page and practise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cookbook page and practise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cookbook page in 90 seconds. Everyone in the group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'This is our recipe for… You need… First,… Then,… Finally,… It takes … minutes and it serves … people.'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 recipe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our recipe for…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Then / Finally…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about … minutes.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serves … people.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Cookbook fair: groups present their page; the class votes for the recipe they would most like to cook.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final page: title, ingredients, method, tip.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Add a drawing or a photograph and the name of the person who gave you the recipe.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Food, cooking and restaurant vocabulary (30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Countable / uncountable + some/any + much/many + a little/a few</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Quantity phrases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Ordering food politely</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Recipe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5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recipe (ingredients + 6 steps) for the class cookbook.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6 — Write five things you can see in your school and five school subjects,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