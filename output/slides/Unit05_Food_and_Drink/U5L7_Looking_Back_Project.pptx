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audio/FU5L2_1_A2-22-Nouns.mp3" TargetMode="External"/><Relationship Id="rId3" Type="http://schemas.openxmlformats.org/officeDocument/2006/relationships/hyperlink" Target="../../../audio/FU5L3_1_A1-25-Any-Some.mp3" TargetMode="External"/><Relationship Id="rId4" Type="http://schemas.openxmlformats.org/officeDocument/2006/relationships/hyperlink" Target="https://elllo.org/book/A2/A2-22-Determiner-Nouns.html" TargetMode="External"/><Relationship Id="rId5" Type="http://schemas.openxmlformats.org/officeDocument/2006/relationships/hyperlink" Target="https://elllo.org/book/A1/A1-25-Any-Some.html" TargetMode="Externa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6858000"/>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Oval 3"/>
          <p:cNvSpPr/>
          <p:nvPr/>
        </p:nvSpPr>
        <p:spPr>
          <a:xfrm>
            <a:off x="-1097280" y="4389120"/>
            <a:ext cx="6858000" cy="4114800"/>
          </a:xfrm>
          <a:prstGeom prst="ellipse">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Oval 4"/>
          <p:cNvSpPr/>
          <p:nvPr/>
        </p:nvSpPr>
        <p:spPr>
          <a:xfrm>
            <a:off x="8778240" y="-1828800"/>
            <a:ext cx="5486400" cy="4572000"/>
          </a:xfrm>
          <a:prstGeom prst="ellipse">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TextBox 5"/>
          <p:cNvSpPr txBox="1"/>
          <p:nvPr/>
        </p:nvSpPr>
        <p:spPr>
          <a:xfrm>
            <a:off x="822960" y="1371600"/>
            <a:ext cx="10515600" cy="548640"/>
          </a:xfrm>
          <a:prstGeom prst="rect">
            <a:avLst/>
          </a:prstGeom>
          <a:noFill/>
        </p:spPr>
        <p:txBody>
          <a:bodyPr wrap="square" anchor="t">
            <a:spAutoFit/>
          </a:bodyPr>
          <a:lstStyle/>
          <a:p>
            <a:pPr algn="l">
              <a:lnSpc>
                <a:spcPct val="100000"/>
              </a:lnSpc>
              <a:spcAft>
                <a:spcPts val="600"/>
              </a:spcAft>
            </a:pPr>
            <a:r>
              <a:rPr sz="2000" b="1" i="0">
                <a:solidFill>
                  <a:srgbClr val="FFFFFF"/>
                </a:solidFill>
                <a:latin typeface="Calibri"/>
              </a:rPr>
              <a:t>UNIT 5  ·  LESSON 7  ·  PERIOD 39</a:t>
            </a:r>
          </a:p>
        </p:txBody>
      </p:sp>
      <p:sp>
        <p:nvSpPr>
          <p:cNvPr id="7" name="TextBox 6"/>
          <p:cNvSpPr txBox="1"/>
          <p:nvPr/>
        </p:nvSpPr>
        <p:spPr>
          <a:xfrm>
            <a:off x="822960" y="2011680"/>
            <a:ext cx="10515600" cy="1463040"/>
          </a:xfrm>
          <a:prstGeom prst="rect">
            <a:avLst/>
          </a:prstGeom>
          <a:noFill/>
        </p:spPr>
        <p:txBody>
          <a:bodyPr wrap="square" anchor="t">
            <a:spAutoFit/>
          </a:bodyPr>
          <a:lstStyle/>
          <a:p>
            <a:pPr algn="l">
              <a:lnSpc>
                <a:spcPct val="100000"/>
              </a:lnSpc>
              <a:spcAft>
                <a:spcPts val="600"/>
              </a:spcAft>
            </a:pPr>
            <a:r>
              <a:rPr sz="3000" b="1" i="0">
                <a:solidFill>
                  <a:srgbClr val="E7F1FA"/>
                </a:solidFill>
                <a:latin typeface="Calibri"/>
              </a:rPr>
              <a:t>LOOKING BACK &amp; PROJECT</a:t>
            </a:r>
          </a:p>
        </p:txBody>
      </p:sp>
      <p:sp>
        <p:nvSpPr>
          <p:cNvPr id="8" name="TextBox 7"/>
          <p:cNvSpPr txBox="1"/>
          <p:nvPr/>
        </p:nvSpPr>
        <p:spPr>
          <a:xfrm>
            <a:off x="822960" y="2926080"/>
            <a:ext cx="10515600" cy="2011680"/>
          </a:xfrm>
          <a:prstGeom prst="rect">
            <a:avLst/>
          </a:prstGeom>
          <a:noFill/>
        </p:spPr>
        <p:txBody>
          <a:bodyPr wrap="square" anchor="t">
            <a:spAutoFit/>
          </a:bodyPr>
          <a:lstStyle/>
          <a:p>
            <a:pPr algn="l">
              <a:lnSpc>
                <a:spcPct val="100000"/>
              </a:lnSpc>
              <a:spcAft>
                <a:spcPts val="600"/>
              </a:spcAft>
            </a:pPr>
            <a:r>
              <a:rPr sz="4400" b="1" i="0">
                <a:solidFill>
                  <a:srgbClr val="FFFFFF"/>
                </a:solidFill>
                <a:latin typeface="Calibri"/>
              </a:rPr>
              <a:t>Unit 5 review and Our Class Cookbook</a:t>
            </a:r>
          </a:p>
        </p:txBody>
      </p:sp>
      <p:sp>
        <p:nvSpPr>
          <p:cNvPr id="9" name="TextBox 8"/>
          <p:cNvSpPr txBox="1"/>
          <p:nvPr/>
        </p:nvSpPr>
        <p:spPr>
          <a:xfrm>
            <a:off x="822960" y="5303520"/>
            <a:ext cx="10515600" cy="731520"/>
          </a:xfrm>
          <a:prstGeom prst="rect">
            <a:avLst/>
          </a:prstGeom>
          <a:noFill/>
        </p:spPr>
        <p:txBody>
          <a:bodyPr wrap="square" anchor="t">
            <a:spAutoFit/>
          </a:bodyPr>
          <a:lstStyle/>
          <a:p>
            <a:pPr algn="l">
              <a:lnSpc>
                <a:spcPct val="100000"/>
              </a:lnSpc>
              <a:spcAft>
                <a:spcPts val="600"/>
              </a:spcAft>
            </a:pPr>
            <a:r>
              <a:rPr sz="2000" b="0" i="0">
                <a:solidFill>
                  <a:srgbClr val="E7F1FA"/>
                </a:solidFill>
                <a:latin typeface="Calibri"/>
              </a:rPr>
              <a:t>English 7  ·  Let's start! 👋</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Today we will learn to…</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U5L7</a:t>
            </a:r>
          </a:p>
        </p:txBody>
      </p:sp>
      <p:sp>
        <p:nvSpPr>
          <p:cNvPr id="8" name="Rounded Rectangle 7"/>
          <p:cNvSpPr/>
          <p:nvPr/>
        </p:nvSpPr>
        <p:spPr>
          <a:xfrm>
            <a:off x="640080" y="1463040"/>
            <a:ext cx="10881360" cy="86868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Rectangle 8"/>
          <p:cNvSpPr/>
          <p:nvPr/>
        </p:nvSpPr>
        <p:spPr>
          <a:xfrm>
            <a:off x="640080" y="1463040"/>
            <a:ext cx="128016" cy="868680"/>
          </a:xfrm>
          <a:prstGeom prst="rect">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960120" y="1508760"/>
            <a:ext cx="914400" cy="777240"/>
          </a:xfrm>
          <a:prstGeom prst="rect">
            <a:avLst/>
          </a:prstGeom>
          <a:noFill/>
        </p:spPr>
        <p:txBody>
          <a:bodyPr wrap="square" anchor="ctr">
            <a:spAutoFit/>
          </a:bodyPr>
          <a:lstStyle/>
          <a:p>
            <a:pPr algn="l">
              <a:lnSpc>
                <a:spcPct val="100000"/>
              </a:lnSpc>
              <a:spcAft>
                <a:spcPts val="600"/>
              </a:spcAft>
            </a:pPr>
            <a:r>
              <a:rPr sz="2600" b="1" i="0">
                <a:solidFill>
                  <a:srgbClr val="1E6FB8"/>
                </a:solidFill>
                <a:latin typeface="Calibri"/>
              </a:rPr>
              <a:t>1</a:t>
            </a:r>
          </a:p>
        </p:txBody>
      </p:sp>
      <p:sp>
        <p:nvSpPr>
          <p:cNvPr id="11" name="TextBox 10"/>
          <p:cNvSpPr txBox="1"/>
          <p:nvPr/>
        </p:nvSpPr>
        <p:spPr>
          <a:xfrm>
            <a:off x="1737360" y="1508760"/>
            <a:ext cx="9509760" cy="7772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recall the food vocabulary of Unit 5</a:t>
            </a:r>
          </a:p>
        </p:txBody>
      </p:sp>
      <p:sp>
        <p:nvSpPr>
          <p:cNvPr id="12" name="Rounded Rectangle 11"/>
          <p:cNvSpPr/>
          <p:nvPr/>
        </p:nvSpPr>
        <p:spPr>
          <a:xfrm>
            <a:off x="640080" y="2450592"/>
            <a:ext cx="10881360" cy="86868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Rectangle 12"/>
          <p:cNvSpPr/>
          <p:nvPr/>
        </p:nvSpPr>
        <p:spPr>
          <a:xfrm>
            <a:off x="640080" y="2450592"/>
            <a:ext cx="128016" cy="868680"/>
          </a:xfrm>
          <a:prstGeom prst="rect">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960120" y="2496312"/>
            <a:ext cx="914400" cy="777240"/>
          </a:xfrm>
          <a:prstGeom prst="rect">
            <a:avLst/>
          </a:prstGeom>
          <a:noFill/>
        </p:spPr>
        <p:txBody>
          <a:bodyPr wrap="square" anchor="ctr">
            <a:spAutoFit/>
          </a:bodyPr>
          <a:lstStyle/>
          <a:p>
            <a:pPr algn="l">
              <a:lnSpc>
                <a:spcPct val="100000"/>
              </a:lnSpc>
              <a:spcAft>
                <a:spcPts val="600"/>
              </a:spcAft>
            </a:pPr>
            <a:r>
              <a:rPr sz="2600" b="1" i="0">
                <a:solidFill>
                  <a:srgbClr val="1E6FB8"/>
                </a:solidFill>
                <a:latin typeface="Calibri"/>
              </a:rPr>
              <a:t>2</a:t>
            </a:r>
          </a:p>
        </p:txBody>
      </p:sp>
      <p:sp>
        <p:nvSpPr>
          <p:cNvPr id="15" name="TextBox 14"/>
          <p:cNvSpPr txBox="1"/>
          <p:nvPr/>
        </p:nvSpPr>
        <p:spPr>
          <a:xfrm>
            <a:off x="1737360" y="2496312"/>
            <a:ext cx="9509760" cy="7772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use countable/uncountable nouns and quantifiers accurately</a:t>
            </a:r>
          </a:p>
        </p:txBody>
      </p:sp>
      <p:sp>
        <p:nvSpPr>
          <p:cNvPr id="16" name="Rounded Rectangle 15"/>
          <p:cNvSpPr/>
          <p:nvPr/>
        </p:nvSpPr>
        <p:spPr>
          <a:xfrm>
            <a:off x="640080" y="3438144"/>
            <a:ext cx="10881360" cy="86868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Rectangle 16"/>
          <p:cNvSpPr/>
          <p:nvPr/>
        </p:nvSpPr>
        <p:spPr>
          <a:xfrm>
            <a:off x="640080" y="3438144"/>
            <a:ext cx="128016" cy="868680"/>
          </a:xfrm>
          <a:prstGeom prst="rect">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960120" y="3483864"/>
            <a:ext cx="914400" cy="777240"/>
          </a:xfrm>
          <a:prstGeom prst="rect">
            <a:avLst/>
          </a:prstGeom>
          <a:noFill/>
        </p:spPr>
        <p:txBody>
          <a:bodyPr wrap="square" anchor="ctr">
            <a:spAutoFit/>
          </a:bodyPr>
          <a:lstStyle/>
          <a:p>
            <a:pPr algn="l">
              <a:lnSpc>
                <a:spcPct val="100000"/>
              </a:lnSpc>
              <a:spcAft>
                <a:spcPts val="600"/>
              </a:spcAft>
            </a:pPr>
            <a:r>
              <a:rPr sz="2600" b="1" i="0">
                <a:solidFill>
                  <a:srgbClr val="1E6FB8"/>
                </a:solidFill>
                <a:latin typeface="Calibri"/>
              </a:rPr>
              <a:t>3</a:t>
            </a:r>
          </a:p>
        </p:txBody>
      </p:sp>
      <p:sp>
        <p:nvSpPr>
          <p:cNvPr id="19" name="TextBox 18"/>
          <p:cNvSpPr txBox="1"/>
          <p:nvPr/>
        </p:nvSpPr>
        <p:spPr>
          <a:xfrm>
            <a:off x="1737360" y="3483864"/>
            <a:ext cx="9509760" cy="7772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correct the six typical mistakes of the unit</a:t>
            </a:r>
          </a:p>
        </p:txBody>
      </p:sp>
      <p:sp>
        <p:nvSpPr>
          <p:cNvPr id="20" name="Rounded Rectangle 19"/>
          <p:cNvSpPr/>
          <p:nvPr/>
        </p:nvSpPr>
        <p:spPr>
          <a:xfrm>
            <a:off x="640080" y="4425696"/>
            <a:ext cx="10881360" cy="86868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Rectangle 20"/>
          <p:cNvSpPr/>
          <p:nvPr/>
        </p:nvSpPr>
        <p:spPr>
          <a:xfrm>
            <a:off x="640080" y="4425696"/>
            <a:ext cx="128016" cy="868680"/>
          </a:xfrm>
          <a:prstGeom prst="rect">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960120" y="4471416"/>
            <a:ext cx="914400" cy="777240"/>
          </a:xfrm>
          <a:prstGeom prst="rect">
            <a:avLst/>
          </a:prstGeom>
          <a:noFill/>
        </p:spPr>
        <p:txBody>
          <a:bodyPr wrap="square" anchor="ctr">
            <a:spAutoFit/>
          </a:bodyPr>
          <a:lstStyle/>
          <a:p>
            <a:pPr algn="l">
              <a:lnSpc>
                <a:spcPct val="100000"/>
              </a:lnSpc>
              <a:spcAft>
                <a:spcPts val="600"/>
              </a:spcAft>
            </a:pPr>
            <a:r>
              <a:rPr sz="2600" b="1" i="0">
                <a:solidFill>
                  <a:srgbClr val="1E6FB8"/>
                </a:solidFill>
                <a:latin typeface="Calibri"/>
              </a:rPr>
              <a:t>4</a:t>
            </a:r>
          </a:p>
        </p:txBody>
      </p:sp>
      <p:sp>
        <p:nvSpPr>
          <p:cNvPr id="23" name="TextBox 22"/>
          <p:cNvSpPr txBox="1"/>
          <p:nvPr/>
        </p:nvSpPr>
        <p:spPr>
          <a:xfrm>
            <a:off x="1737360" y="4471416"/>
            <a:ext cx="9509760" cy="7772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produce a cookbook page and present a recipe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E07A1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Warm-up: Food bingo  (6')</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U5L7</a:t>
            </a:r>
          </a:p>
        </p:txBody>
      </p:sp>
      <p:sp>
        <p:nvSpPr>
          <p:cNvPr id="8" name="Rounded Rectangle 7"/>
          <p:cNvSpPr/>
          <p:nvPr/>
        </p:nvSpPr>
        <p:spPr>
          <a:xfrm>
            <a:off x="640080" y="1463040"/>
            <a:ext cx="10881360" cy="4206240"/>
          </a:xfrm>
          <a:prstGeom prst="roundRect">
            <a:avLst>
              <a:gd name="adj" fmla="val 6000"/>
            </a:avLst>
          </a:prstGeom>
          <a:solidFill>
            <a:srgbClr val="FDF2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05840" y="1737360"/>
            <a:ext cx="10149840" cy="82296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 Students write nine food words in a grid; teacher reads definitions.</a:t>
            </a:r>
          </a:p>
        </p:txBody>
      </p:sp>
      <p:sp>
        <p:nvSpPr>
          <p:cNvPr id="10" name="TextBox 9"/>
          <p:cNvSpPr txBox="1"/>
          <p:nvPr/>
        </p:nvSpPr>
        <p:spPr>
          <a:xfrm>
            <a:off x="1005840" y="5852160"/>
            <a:ext cx="10149840" cy="640080"/>
          </a:xfrm>
          <a:prstGeom prst="rect">
            <a:avLst/>
          </a:prstGeom>
          <a:noFill/>
        </p:spPr>
        <p:txBody>
          <a:bodyPr wrap="square" anchor="t">
            <a:spAutoFit/>
          </a:bodyPr>
          <a:lstStyle/>
          <a:p>
            <a:pPr algn="l">
              <a:lnSpc>
                <a:spcPct val="100000"/>
              </a:lnSpc>
              <a:spcAft>
                <a:spcPts val="600"/>
              </a:spcAft>
            </a:pPr>
            <a:r>
              <a:rPr sz="1800" b="0" i="1">
                <a:solidFill>
                  <a:srgbClr val="6B7280"/>
                </a:solidFill>
                <a:latin typeface="Calibri"/>
              </a:rPr>
              <a:t>👉 You: Play bingo.</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E07A1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New words</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U5L7</a:t>
            </a:r>
          </a:p>
        </p:txBody>
      </p:sp>
      <p:sp>
        <p:nvSpPr>
          <p:cNvPr id="8" name="Rounded Rectangle 7"/>
          <p:cNvSpPr/>
          <p:nvPr/>
        </p:nvSpPr>
        <p:spPr>
          <a:xfrm>
            <a:off x="548640" y="1417320"/>
            <a:ext cx="11064240" cy="1481328"/>
          </a:xfrm>
          <a:prstGeom prst="roundRect">
            <a:avLst>
              <a:gd name="adj" fmla="val 6000"/>
            </a:avLst>
          </a:prstGeom>
          <a:solidFill>
            <a:srgbClr val="FDF2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868680" y="1527048"/>
            <a:ext cx="4206240" cy="640080"/>
          </a:xfrm>
          <a:prstGeom prst="rect">
            <a:avLst/>
          </a:prstGeom>
          <a:noFill/>
        </p:spPr>
        <p:txBody>
          <a:bodyPr wrap="square" anchor="t">
            <a:spAutoFit/>
          </a:bodyPr>
          <a:lstStyle/>
          <a:p>
            <a:pPr algn="l">
              <a:lnSpc>
                <a:spcPct val="100000"/>
              </a:lnSpc>
              <a:spcAft>
                <a:spcPts val="600"/>
              </a:spcAft>
            </a:pPr>
            <a:r>
              <a:rPr sz="3000" b="1" i="0">
                <a:solidFill>
                  <a:srgbClr val="E07A1F"/>
                </a:solidFill>
                <a:latin typeface="Calibri"/>
              </a:rPr>
              <a:t>cookbook</a:t>
            </a:r>
          </a:p>
        </p:txBody>
      </p:sp>
      <p:sp>
        <p:nvSpPr>
          <p:cNvPr id="10" name="TextBox 9"/>
          <p:cNvSpPr txBox="1"/>
          <p:nvPr/>
        </p:nvSpPr>
        <p:spPr>
          <a:xfrm>
            <a:off x="868680" y="2167128"/>
            <a:ext cx="4206240" cy="548640"/>
          </a:xfrm>
          <a:prstGeom prst="rect">
            <a:avLst/>
          </a:prstGeom>
          <a:noFill/>
        </p:spPr>
        <p:txBody>
          <a:bodyPr wrap="square" anchor="t">
            <a:spAutoFit/>
          </a:bodyPr>
          <a:lstStyle/>
          <a:p>
            <a:pPr algn="l">
              <a:lnSpc>
                <a:spcPct val="100000"/>
              </a:lnSpc>
              <a:spcAft>
                <a:spcPts val="600"/>
              </a:spcAft>
            </a:pPr>
            <a:r>
              <a:rPr sz="1700" b="0" i="0">
                <a:solidFill>
                  <a:srgbClr val="6B7280"/>
                </a:solidFill>
                <a:latin typeface="Calibri"/>
              </a:rPr>
              <a:t>/ˈkʊkbʊk/   (n)</a:t>
            </a:r>
          </a:p>
        </p:txBody>
      </p:sp>
      <p:sp>
        <p:nvSpPr>
          <p:cNvPr id="11" name="TextBox 10"/>
          <p:cNvSpPr txBox="1"/>
          <p:nvPr/>
        </p:nvSpPr>
        <p:spPr>
          <a:xfrm>
            <a:off x="5212080" y="1527048"/>
            <a:ext cx="6126480" cy="603504"/>
          </a:xfrm>
          <a:prstGeom prst="rect">
            <a:avLst/>
          </a:prstGeom>
          <a:noFill/>
        </p:spPr>
        <p:txBody>
          <a:bodyPr wrap="square" anchor="t">
            <a:spAutoFit/>
          </a:bodyPr>
          <a:lstStyle/>
          <a:p>
            <a:pPr algn="l">
              <a:lnSpc>
                <a:spcPct val="100000"/>
              </a:lnSpc>
              <a:spcAft>
                <a:spcPts val="600"/>
              </a:spcAft>
            </a:pPr>
            <a:r>
              <a:rPr sz="1900" b="1" i="0">
                <a:solidFill>
                  <a:srgbClr val="142C4F"/>
                </a:solidFill>
                <a:latin typeface="Calibri"/>
              </a:rPr>
              <a:t>sách nấu ăn</a:t>
            </a:r>
          </a:p>
        </p:txBody>
      </p:sp>
      <p:sp>
        <p:nvSpPr>
          <p:cNvPr id="12" name="TextBox 11"/>
          <p:cNvSpPr txBox="1"/>
          <p:nvPr/>
        </p:nvSpPr>
        <p:spPr>
          <a:xfrm>
            <a:off x="5212080" y="2194560"/>
            <a:ext cx="6126480" cy="548640"/>
          </a:xfrm>
          <a:prstGeom prst="rect">
            <a:avLst/>
          </a:prstGeom>
          <a:noFill/>
        </p:spPr>
        <p:txBody>
          <a:bodyPr wrap="square" anchor="t">
            <a:spAutoFit/>
          </a:bodyPr>
          <a:lstStyle/>
          <a:p>
            <a:pPr algn="l">
              <a:lnSpc>
                <a:spcPct val="100000"/>
              </a:lnSpc>
              <a:spcAft>
                <a:spcPts val="600"/>
              </a:spcAft>
            </a:pPr>
            <a:r>
              <a:rPr sz="1500" b="0" i="1">
                <a:solidFill>
                  <a:srgbClr val="1B1B1B"/>
                </a:solidFill>
                <a:latin typeface="Calibri"/>
              </a:rPr>
              <a:t>e.g. Our class made a cookbook.</a:t>
            </a:r>
          </a:p>
        </p:txBody>
      </p:sp>
      <p:sp>
        <p:nvSpPr>
          <p:cNvPr id="13" name="Rounded Rectangle 12"/>
          <p:cNvSpPr/>
          <p:nvPr/>
        </p:nvSpPr>
        <p:spPr>
          <a:xfrm>
            <a:off x="548640" y="3017520"/>
            <a:ext cx="11064240" cy="1481328"/>
          </a:xfrm>
          <a:prstGeom prst="roundRect">
            <a:avLst>
              <a:gd name="adj" fmla="val 6000"/>
            </a:avLst>
          </a:prstGeom>
          <a:solidFill>
            <a:srgbClr val="FDF2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868680" y="3127248"/>
            <a:ext cx="4206240" cy="640080"/>
          </a:xfrm>
          <a:prstGeom prst="rect">
            <a:avLst/>
          </a:prstGeom>
          <a:noFill/>
        </p:spPr>
        <p:txBody>
          <a:bodyPr wrap="square" anchor="t">
            <a:spAutoFit/>
          </a:bodyPr>
          <a:lstStyle/>
          <a:p>
            <a:pPr algn="l">
              <a:lnSpc>
                <a:spcPct val="100000"/>
              </a:lnSpc>
              <a:spcAft>
                <a:spcPts val="600"/>
              </a:spcAft>
            </a:pPr>
            <a:r>
              <a:rPr sz="3000" b="1" i="0">
                <a:solidFill>
                  <a:srgbClr val="E07A1F"/>
                </a:solidFill>
                <a:latin typeface="Calibri"/>
              </a:rPr>
              <a:t>page</a:t>
            </a:r>
          </a:p>
        </p:txBody>
      </p:sp>
      <p:sp>
        <p:nvSpPr>
          <p:cNvPr id="15" name="TextBox 14"/>
          <p:cNvSpPr txBox="1"/>
          <p:nvPr/>
        </p:nvSpPr>
        <p:spPr>
          <a:xfrm>
            <a:off x="868680" y="3767328"/>
            <a:ext cx="4206240" cy="548640"/>
          </a:xfrm>
          <a:prstGeom prst="rect">
            <a:avLst/>
          </a:prstGeom>
          <a:noFill/>
        </p:spPr>
        <p:txBody>
          <a:bodyPr wrap="square" anchor="t">
            <a:spAutoFit/>
          </a:bodyPr>
          <a:lstStyle/>
          <a:p>
            <a:pPr algn="l">
              <a:lnSpc>
                <a:spcPct val="100000"/>
              </a:lnSpc>
              <a:spcAft>
                <a:spcPts val="600"/>
              </a:spcAft>
            </a:pPr>
            <a:r>
              <a:rPr sz="1700" b="0" i="0">
                <a:solidFill>
                  <a:srgbClr val="6B7280"/>
                </a:solidFill>
                <a:latin typeface="Calibri"/>
              </a:rPr>
              <a:t>/peɪdʒ/   (n)</a:t>
            </a:r>
          </a:p>
        </p:txBody>
      </p:sp>
      <p:sp>
        <p:nvSpPr>
          <p:cNvPr id="16" name="TextBox 15"/>
          <p:cNvSpPr txBox="1"/>
          <p:nvPr/>
        </p:nvSpPr>
        <p:spPr>
          <a:xfrm>
            <a:off x="5212080" y="3127248"/>
            <a:ext cx="6126480" cy="603504"/>
          </a:xfrm>
          <a:prstGeom prst="rect">
            <a:avLst/>
          </a:prstGeom>
          <a:noFill/>
        </p:spPr>
        <p:txBody>
          <a:bodyPr wrap="square" anchor="t">
            <a:spAutoFit/>
          </a:bodyPr>
          <a:lstStyle/>
          <a:p>
            <a:pPr algn="l">
              <a:lnSpc>
                <a:spcPct val="100000"/>
              </a:lnSpc>
              <a:spcAft>
                <a:spcPts val="600"/>
              </a:spcAft>
            </a:pPr>
            <a:r>
              <a:rPr sz="1900" b="1" i="0">
                <a:solidFill>
                  <a:srgbClr val="142C4F"/>
                </a:solidFill>
                <a:latin typeface="Calibri"/>
              </a:rPr>
              <a:t>trang</a:t>
            </a:r>
          </a:p>
        </p:txBody>
      </p:sp>
      <p:sp>
        <p:nvSpPr>
          <p:cNvPr id="17" name="TextBox 16"/>
          <p:cNvSpPr txBox="1"/>
          <p:nvPr/>
        </p:nvSpPr>
        <p:spPr>
          <a:xfrm>
            <a:off x="5212080" y="3794760"/>
            <a:ext cx="6126480" cy="548640"/>
          </a:xfrm>
          <a:prstGeom prst="rect">
            <a:avLst/>
          </a:prstGeom>
          <a:noFill/>
        </p:spPr>
        <p:txBody>
          <a:bodyPr wrap="square" anchor="t">
            <a:spAutoFit/>
          </a:bodyPr>
          <a:lstStyle/>
          <a:p>
            <a:pPr algn="l">
              <a:lnSpc>
                <a:spcPct val="100000"/>
              </a:lnSpc>
              <a:spcAft>
                <a:spcPts val="600"/>
              </a:spcAft>
            </a:pPr>
            <a:r>
              <a:rPr sz="1500" b="0" i="1">
                <a:solidFill>
                  <a:srgbClr val="1B1B1B"/>
                </a:solidFill>
                <a:latin typeface="Calibri"/>
              </a:rPr>
              <a:t>e.g. Each group writes one page.</a:t>
            </a:r>
          </a:p>
        </p:txBody>
      </p:sp>
      <p:sp>
        <p:nvSpPr>
          <p:cNvPr id="18" name="Rounded Rectangle 17"/>
          <p:cNvSpPr/>
          <p:nvPr/>
        </p:nvSpPr>
        <p:spPr>
          <a:xfrm>
            <a:off x="548640" y="4617720"/>
            <a:ext cx="11064240" cy="1481328"/>
          </a:xfrm>
          <a:prstGeom prst="roundRect">
            <a:avLst>
              <a:gd name="adj" fmla="val 6000"/>
            </a:avLst>
          </a:prstGeom>
          <a:solidFill>
            <a:srgbClr val="FDF2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868680" y="4727448"/>
            <a:ext cx="4206240" cy="640080"/>
          </a:xfrm>
          <a:prstGeom prst="rect">
            <a:avLst/>
          </a:prstGeom>
          <a:noFill/>
        </p:spPr>
        <p:txBody>
          <a:bodyPr wrap="square" anchor="t">
            <a:spAutoFit/>
          </a:bodyPr>
          <a:lstStyle/>
          <a:p>
            <a:pPr algn="l">
              <a:lnSpc>
                <a:spcPct val="100000"/>
              </a:lnSpc>
              <a:spcAft>
                <a:spcPts val="600"/>
              </a:spcAft>
            </a:pPr>
            <a:r>
              <a:rPr sz="3000" b="1" i="0">
                <a:solidFill>
                  <a:srgbClr val="E07A1F"/>
                </a:solidFill>
                <a:latin typeface="Calibri"/>
              </a:rPr>
              <a:t>illustrate</a:t>
            </a:r>
          </a:p>
        </p:txBody>
      </p:sp>
      <p:sp>
        <p:nvSpPr>
          <p:cNvPr id="20" name="TextBox 19"/>
          <p:cNvSpPr txBox="1"/>
          <p:nvPr/>
        </p:nvSpPr>
        <p:spPr>
          <a:xfrm>
            <a:off x="868680" y="5367528"/>
            <a:ext cx="4206240" cy="548640"/>
          </a:xfrm>
          <a:prstGeom prst="rect">
            <a:avLst/>
          </a:prstGeom>
          <a:noFill/>
        </p:spPr>
        <p:txBody>
          <a:bodyPr wrap="square" anchor="t">
            <a:spAutoFit/>
          </a:bodyPr>
          <a:lstStyle/>
          <a:p>
            <a:pPr algn="l">
              <a:lnSpc>
                <a:spcPct val="100000"/>
              </a:lnSpc>
              <a:spcAft>
                <a:spcPts val="600"/>
              </a:spcAft>
            </a:pPr>
            <a:r>
              <a:rPr sz="1700" b="0" i="0">
                <a:solidFill>
                  <a:srgbClr val="6B7280"/>
                </a:solidFill>
                <a:latin typeface="Calibri"/>
              </a:rPr>
              <a:t>/ˈɪləstreɪt/   (v)</a:t>
            </a:r>
          </a:p>
        </p:txBody>
      </p:sp>
      <p:sp>
        <p:nvSpPr>
          <p:cNvPr id="21" name="TextBox 20"/>
          <p:cNvSpPr txBox="1"/>
          <p:nvPr/>
        </p:nvSpPr>
        <p:spPr>
          <a:xfrm>
            <a:off x="5212080" y="4727448"/>
            <a:ext cx="6126480" cy="603504"/>
          </a:xfrm>
          <a:prstGeom prst="rect">
            <a:avLst/>
          </a:prstGeom>
          <a:noFill/>
        </p:spPr>
        <p:txBody>
          <a:bodyPr wrap="square" anchor="t">
            <a:spAutoFit/>
          </a:bodyPr>
          <a:lstStyle/>
          <a:p>
            <a:pPr algn="l">
              <a:lnSpc>
                <a:spcPct val="100000"/>
              </a:lnSpc>
              <a:spcAft>
                <a:spcPts val="600"/>
              </a:spcAft>
            </a:pPr>
            <a:r>
              <a:rPr sz="1900" b="1" i="0">
                <a:solidFill>
                  <a:srgbClr val="142C4F"/>
                </a:solidFill>
                <a:latin typeface="Calibri"/>
              </a:rPr>
              <a:t>minh họa</a:t>
            </a:r>
          </a:p>
        </p:txBody>
      </p:sp>
      <p:sp>
        <p:nvSpPr>
          <p:cNvPr id="22" name="TextBox 21"/>
          <p:cNvSpPr txBox="1"/>
          <p:nvPr/>
        </p:nvSpPr>
        <p:spPr>
          <a:xfrm>
            <a:off x="5212080" y="5394960"/>
            <a:ext cx="6126480" cy="548640"/>
          </a:xfrm>
          <a:prstGeom prst="rect">
            <a:avLst/>
          </a:prstGeom>
          <a:noFill/>
        </p:spPr>
        <p:txBody>
          <a:bodyPr wrap="square" anchor="t">
            <a:spAutoFit/>
          </a:bodyPr>
          <a:lstStyle/>
          <a:p>
            <a:pPr algn="l">
              <a:lnSpc>
                <a:spcPct val="100000"/>
              </a:lnSpc>
              <a:spcAft>
                <a:spcPts val="600"/>
              </a:spcAft>
            </a:pPr>
            <a:r>
              <a:rPr sz="1500" b="0" i="1">
                <a:solidFill>
                  <a:srgbClr val="1B1B1B"/>
                </a:solidFill>
                <a:latin typeface="Calibri"/>
              </a:rPr>
              <a:t>e.g. Illustrate your recipe with a drawing.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E07A1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Useful phrases — learn them as one block!</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U5L7</a:t>
            </a:r>
          </a:p>
        </p:txBody>
      </p:sp>
      <p:sp>
        <p:nvSpPr>
          <p:cNvPr id="8" name="Rounded Rectangle 7"/>
          <p:cNvSpPr/>
          <p:nvPr/>
        </p:nvSpPr>
        <p:spPr>
          <a:xfrm>
            <a:off x="822960" y="1554480"/>
            <a:ext cx="10515600" cy="621792"/>
          </a:xfrm>
          <a:prstGeom prst="roundRect">
            <a:avLst>
              <a:gd name="adj" fmla="val 6000"/>
            </a:avLst>
          </a:prstGeom>
          <a:solidFill>
            <a:srgbClr val="FFFFFF"/>
          </a:solidFill>
          <a:ln w="19050">
            <a:solidFill>
              <a:srgbClr val="E07A1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97280" y="1609344"/>
            <a:ext cx="10058400" cy="548640"/>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This is our recipe for…</a:t>
            </a:r>
          </a:p>
        </p:txBody>
      </p:sp>
      <p:sp>
        <p:nvSpPr>
          <p:cNvPr id="10" name="Rounded Rectangle 9"/>
          <p:cNvSpPr/>
          <p:nvPr/>
        </p:nvSpPr>
        <p:spPr>
          <a:xfrm>
            <a:off x="822960" y="2267712"/>
            <a:ext cx="10515600" cy="621792"/>
          </a:xfrm>
          <a:prstGeom prst="roundRect">
            <a:avLst>
              <a:gd name="adj" fmla="val 6000"/>
            </a:avLst>
          </a:prstGeom>
          <a:solidFill>
            <a:srgbClr val="FFFFFF"/>
          </a:solidFill>
          <a:ln w="19050">
            <a:solidFill>
              <a:srgbClr val="E07A1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1097280" y="2322576"/>
            <a:ext cx="10058400" cy="548640"/>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You need…</a:t>
            </a:r>
          </a:p>
        </p:txBody>
      </p:sp>
      <p:sp>
        <p:nvSpPr>
          <p:cNvPr id="12" name="Rounded Rectangle 11"/>
          <p:cNvSpPr/>
          <p:nvPr/>
        </p:nvSpPr>
        <p:spPr>
          <a:xfrm>
            <a:off x="822960" y="2980944"/>
            <a:ext cx="10515600" cy="621792"/>
          </a:xfrm>
          <a:prstGeom prst="roundRect">
            <a:avLst>
              <a:gd name="adj" fmla="val 6000"/>
            </a:avLst>
          </a:prstGeom>
          <a:solidFill>
            <a:srgbClr val="FFFFFF"/>
          </a:solidFill>
          <a:ln w="19050">
            <a:solidFill>
              <a:srgbClr val="E07A1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1097280" y="3035808"/>
            <a:ext cx="10058400" cy="548640"/>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It takes … minutes.</a:t>
            </a:r>
          </a:p>
        </p:txBody>
      </p:sp>
      <p:sp>
        <p:nvSpPr>
          <p:cNvPr id="14" name="Rounded Rectangle 13"/>
          <p:cNvSpPr/>
          <p:nvPr/>
        </p:nvSpPr>
        <p:spPr>
          <a:xfrm>
            <a:off x="822960" y="3694176"/>
            <a:ext cx="10515600" cy="621792"/>
          </a:xfrm>
          <a:prstGeom prst="roundRect">
            <a:avLst>
              <a:gd name="adj" fmla="val 6000"/>
            </a:avLst>
          </a:prstGeom>
          <a:solidFill>
            <a:srgbClr val="FFFFFF"/>
          </a:solidFill>
          <a:ln w="19050">
            <a:solidFill>
              <a:srgbClr val="E07A1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1097280" y="3749040"/>
            <a:ext cx="10058400" cy="548640"/>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It serves … people.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Grammar: Unit 5 grammar in one page</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U5L7</a:t>
            </a:r>
          </a:p>
        </p:txBody>
      </p:sp>
      <p:sp>
        <p:nvSpPr>
          <p:cNvPr id="8" name="Rounded Rectangle 7"/>
          <p:cNvSpPr/>
          <p:nvPr/>
        </p:nvSpPr>
        <p:spPr>
          <a:xfrm>
            <a:off x="640080" y="1463040"/>
            <a:ext cx="10881360" cy="91440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60120" y="1536192"/>
            <a:ext cx="10332720" cy="7772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 Countable / uncountable nouns</a:t>
            </a:r>
          </a:p>
        </p:txBody>
      </p:sp>
      <p:sp>
        <p:nvSpPr>
          <p:cNvPr id="10" name="Rounded Rectangle 9"/>
          <p:cNvSpPr/>
          <p:nvPr/>
        </p:nvSpPr>
        <p:spPr>
          <a:xfrm>
            <a:off x="640080" y="2487168"/>
            <a:ext cx="10881360" cy="91440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960120" y="2560320"/>
            <a:ext cx="10332720" cy="7772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 some (+) / any (– ?)</a:t>
            </a:r>
          </a:p>
        </p:txBody>
      </p:sp>
      <p:sp>
        <p:nvSpPr>
          <p:cNvPr id="12" name="Rounded Rectangle 11"/>
          <p:cNvSpPr/>
          <p:nvPr/>
        </p:nvSpPr>
        <p:spPr>
          <a:xfrm>
            <a:off x="640080" y="3511296"/>
            <a:ext cx="10881360" cy="91440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960120" y="3584448"/>
            <a:ext cx="10332720" cy="7772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 much + uncountable / many + countable / a lot of (both)</a:t>
            </a:r>
          </a:p>
        </p:txBody>
      </p:sp>
      <p:sp>
        <p:nvSpPr>
          <p:cNvPr id="14" name="Rounded Rectangle 13"/>
          <p:cNvSpPr/>
          <p:nvPr/>
        </p:nvSpPr>
        <p:spPr>
          <a:xfrm>
            <a:off x="640080" y="4535424"/>
            <a:ext cx="10881360" cy="91440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960120" y="4608576"/>
            <a:ext cx="10332720" cy="7772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 a little + uncountable / a few + countable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The form</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U5L7</a:t>
            </a:r>
          </a:p>
        </p:txBody>
      </p:sp>
      <p:graphicFrame>
        <p:nvGraphicFramePr>
          <p:cNvPr id="8" name="Table 7"/>
          <p:cNvGraphicFramePr>
            <a:graphicFrameLocks noGrp="1"/>
          </p:cNvGraphicFramePr>
          <p:nvPr/>
        </p:nvGraphicFramePr>
        <p:xfrm>
          <a:off x="548640" y="1463040"/>
          <a:ext cx="11064240" cy="3968496"/>
        </p:xfrm>
        <a:graphic>
          <a:graphicData uri="http://schemas.openxmlformats.org/drawingml/2006/table">
            <a:tbl>
              <a:tblPr firstRow="1" bandRow="1">
                <a:tableStyleId>{5C22544A-7EE6-4342-B048-85BDC9FD1C3A}</a:tableStyleId>
              </a:tblPr>
              <a:tblGrid>
                <a:gridCol w="3688080"/>
                <a:gridCol w="3688080"/>
                <a:gridCol w="3688080"/>
              </a:tblGrid>
              <a:tr h="566928">
                <a:tc>
                  <a:txBody>
                    <a:bodyPr/>
                    <a:lstStyle/>
                    <a:p>
                      <a:r>
                        <a:rPr sz="1600" b="1">
                          <a:solidFill>
                            <a:srgbClr val="FFFFFF"/>
                          </a:solidFill>
                          <a:latin typeface="Calibri"/>
                        </a:rPr>
                        <a:t>Structure</a:t>
                      </a:r>
                    </a:p>
                  </a:txBody>
                  <a:tcPr>
                    <a:solidFill>
                      <a:srgbClr val="0E7C66"/>
                    </a:solidFill>
                  </a:tcPr>
                </a:tc>
                <a:tc>
                  <a:txBody>
                    <a:bodyPr/>
                    <a:lstStyle/>
                    <a:p>
                      <a:r>
                        <a:rPr sz="1600" b="1">
                          <a:solidFill>
                            <a:srgbClr val="FFFFFF"/>
                          </a:solidFill>
                          <a:latin typeface="Calibri"/>
                        </a:rPr>
                        <a:t>Example</a:t>
                      </a:r>
                    </a:p>
                  </a:txBody>
                  <a:tcPr>
                    <a:solidFill>
                      <a:srgbClr val="0E7C66"/>
                    </a:solidFill>
                  </a:tcPr>
                </a:tc>
                <a:tc>
                  <a:txBody>
                    <a:bodyPr/>
                    <a:lstStyle/>
                    <a:p>
                      <a:r>
                        <a:rPr sz="1600" b="1">
                          <a:solidFill>
                            <a:srgbClr val="FFFFFF"/>
                          </a:solidFill>
                          <a:latin typeface="Calibri"/>
                        </a:rPr>
                        <a:t>Common mistake</a:t>
                      </a:r>
                    </a:p>
                  </a:txBody>
                  <a:tcPr>
                    <a:solidFill>
                      <a:srgbClr val="0E7C66"/>
                    </a:solidFill>
                  </a:tcPr>
                </a:tc>
              </a:tr>
              <a:tr h="566928">
                <a:tc>
                  <a:txBody>
                    <a:bodyPr/>
                    <a:lstStyle/>
                    <a:p>
                      <a:r>
                        <a:rPr sz="1600" b="0">
                          <a:solidFill>
                            <a:srgbClr val="1B1B1B"/>
                          </a:solidFill>
                          <a:latin typeface="Calibri"/>
                        </a:rPr>
                        <a:t>uncountable + is</a:t>
                      </a:r>
                    </a:p>
                  </a:txBody>
                  <a:tcPr>
                    <a:solidFill>
                      <a:srgbClr val="E3F3EE"/>
                    </a:solidFill>
                  </a:tcPr>
                </a:tc>
                <a:tc>
                  <a:txBody>
                    <a:bodyPr/>
                    <a:lstStyle/>
                    <a:p>
                      <a:r>
                        <a:rPr sz="1600" b="0">
                          <a:solidFill>
                            <a:srgbClr val="1B1B1B"/>
                          </a:solidFill>
                          <a:latin typeface="Calibri"/>
                        </a:rPr>
                        <a:t>There is some rice.</a:t>
                      </a:r>
                    </a:p>
                  </a:txBody>
                  <a:tcPr>
                    <a:solidFill>
                      <a:srgbClr val="E3F3EE"/>
                    </a:solidFill>
                  </a:tcPr>
                </a:tc>
                <a:tc>
                  <a:txBody>
                    <a:bodyPr/>
                    <a:lstStyle/>
                    <a:p>
                      <a:r>
                        <a:rPr sz="1600" b="0">
                          <a:solidFill>
                            <a:srgbClr val="1B1B1B"/>
                          </a:solidFill>
                          <a:latin typeface="Calibri"/>
                        </a:rPr>
                        <a:t>*There are some rice.</a:t>
                      </a:r>
                    </a:p>
                  </a:txBody>
                  <a:tcPr>
                    <a:solidFill>
                      <a:srgbClr val="E3F3EE"/>
                    </a:solidFill>
                  </a:tcPr>
                </a:tc>
              </a:tr>
              <a:tr h="566928">
                <a:tc>
                  <a:txBody>
                    <a:bodyPr/>
                    <a:lstStyle/>
                    <a:p>
                      <a:r>
                        <a:rPr sz="1600" b="0">
                          <a:solidFill>
                            <a:srgbClr val="1B1B1B"/>
                          </a:solidFill>
                          <a:latin typeface="Calibri"/>
                        </a:rPr>
                        <a:t>any in negatives</a:t>
                      </a:r>
                    </a:p>
                  </a:txBody>
                  <a:tcPr>
                    <a:solidFill>
                      <a:srgbClr val="FFFFFF"/>
                    </a:solidFill>
                  </a:tcPr>
                </a:tc>
                <a:tc>
                  <a:txBody>
                    <a:bodyPr/>
                    <a:lstStyle/>
                    <a:p>
                      <a:r>
                        <a:rPr sz="1600" b="0">
                          <a:solidFill>
                            <a:srgbClr val="1B1B1B"/>
                          </a:solidFill>
                          <a:latin typeface="Calibri"/>
                        </a:rPr>
                        <a:t>There isn't any milk.</a:t>
                      </a:r>
                    </a:p>
                  </a:txBody>
                  <a:tcPr>
                    <a:solidFill>
                      <a:srgbClr val="FFFFFF"/>
                    </a:solidFill>
                  </a:tcPr>
                </a:tc>
                <a:tc>
                  <a:txBody>
                    <a:bodyPr/>
                    <a:lstStyle/>
                    <a:p>
                      <a:r>
                        <a:rPr sz="1600" b="0">
                          <a:solidFill>
                            <a:srgbClr val="1B1B1B"/>
                          </a:solidFill>
                          <a:latin typeface="Calibri"/>
                        </a:rPr>
                        <a:t>*There isn't some milk.</a:t>
                      </a:r>
                    </a:p>
                  </a:txBody>
                  <a:tcPr>
                    <a:solidFill>
                      <a:srgbClr val="FFFFFF"/>
                    </a:solidFill>
                  </a:tcPr>
                </a:tc>
              </a:tr>
              <a:tr h="566928">
                <a:tc>
                  <a:txBody>
                    <a:bodyPr/>
                    <a:lstStyle/>
                    <a:p>
                      <a:r>
                        <a:rPr sz="1600" b="0">
                          <a:solidFill>
                            <a:srgbClr val="1B1B1B"/>
                          </a:solidFill>
                          <a:latin typeface="Calibri"/>
                        </a:rPr>
                        <a:t>How much + uncountable</a:t>
                      </a:r>
                    </a:p>
                  </a:txBody>
                  <a:tcPr>
                    <a:solidFill>
                      <a:srgbClr val="E3F3EE"/>
                    </a:solidFill>
                  </a:tcPr>
                </a:tc>
                <a:tc>
                  <a:txBody>
                    <a:bodyPr/>
                    <a:lstStyle/>
                    <a:p>
                      <a:r>
                        <a:rPr sz="1600" b="0">
                          <a:solidFill>
                            <a:srgbClr val="1B1B1B"/>
                          </a:solidFill>
                          <a:latin typeface="Calibri"/>
                        </a:rPr>
                        <a:t>How much money?</a:t>
                      </a:r>
                    </a:p>
                  </a:txBody>
                  <a:tcPr>
                    <a:solidFill>
                      <a:srgbClr val="E3F3EE"/>
                    </a:solidFill>
                  </a:tcPr>
                </a:tc>
                <a:tc>
                  <a:txBody>
                    <a:bodyPr/>
                    <a:lstStyle/>
                    <a:p>
                      <a:r>
                        <a:rPr sz="1600" b="0">
                          <a:solidFill>
                            <a:srgbClr val="1B1B1B"/>
                          </a:solidFill>
                          <a:latin typeface="Calibri"/>
                        </a:rPr>
                        <a:t>*How many money?</a:t>
                      </a:r>
                    </a:p>
                  </a:txBody>
                  <a:tcPr>
                    <a:solidFill>
                      <a:srgbClr val="E3F3EE"/>
                    </a:solidFill>
                  </a:tcPr>
                </a:tc>
              </a:tr>
              <a:tr h="566928">
                <a:tc>
                  <a:txBody>
                    <a:bodyPr/>
                    <a:lstStyle/>
                    <a:p>
                      <a:r>
                        <a:rPr sz="1600" b="0">
                          <a:solidFill>
                            <a:srgbClr val="1B1B1B"/>
                          </a:solidFill>
                          <a:latin typeface="Calibri"/>
                        </a:rPr>
                        <a:t>plural on container</a:t>
                      </a:r>
                    </a:p>
                  </a:txBody>
                  <a:tcPr>
                    <a:solidFill>
                      <a:srgbClr val="FFFFFF"/>
                    </a:solidFill>
                  </a:tcPr>
                </a:tc>
                <a:tc>
                  <a:txBody>
                    <a:bodyPr/>
                    <a:lstStyle/>
                    <a:p>
                      <a:r>
                        <a:rPr sz="1600" b="0">
                          <a:solidFill>
                            <a:srgbClr val="1B1B1B"/>
                          </a:solidFill>
                          <a:latin typeface="Calibri"/>
                        </a:rPr>
                        <a:t>two bowls of soup</a:t>
                      </a:r>
                    </a:p>
                  </a:txBody>
                  <a:tcPr>
                    <a:solidFill>
                      <a:srgbClr val="FFFFFF"/>
                    </a:solidFill>
                  </a:tcPr>
                </a:tc>
                <a:tc>
                  <a:txBody>
                    <a:bodyPr/>
                    <a:lstStyle/>
                    <a:p>
                      <a:r>
                        <a:rPr sz="1600" b="0">
                          <a:solidFill>
                            <a:srgbClr val="1B1B1B"/>
                          </a:solidFill>
                          <a:latin typeface="Calibri"/>
                        </a:rPr>
                        <a:t>*two bowl of soups</a:t>
                      </a:r>
                    </a:p>
                  </a:txBody>
                  <a:tcPr>
                    <a:solidFill>
                      <a:srgbClr val="FFFFFF"/>
                    </a:solidFill>
                  </a:tcPr>
                </a:tc>
              </a:tr>
              <a:tr h="566928">
                <a:tc>
                  <a:txBody>
                    <a:bodyPr/>
                    <a:lstStyle/>
                    <a:p>
                      <a:r>
                        <a:rPr sz="1600" b="0">
                          <a:solidFill>
                            <a:srgbClr val="1B1B1B"/>
                          </a:solidFill>
                          <a:latin typeface="Calibri"/>
                        </a:rPr>
                        <a:t>polite order</a:t>
                      </a:r>
                    </a:p>
                  </a:txBody>
                  <a:tcPr>
                    <a:solidFill>
                      <a:srgbClr val="E3F3EE"/>
                    </a:solidFill>
                  </a:tcPr>
                </a:tc>
                <a:tc>
                  <a:txBody>
                    <a:bodyPr/>
                    <a:lstStyle/>
                    <a:p>
                      <a:r>
                        <a:rPr sz="1600" b="0">
                          <a:solidFill>
                            <a:srgbClr val="1B1B1B"/>
                          </a:solidFill>
                          <a:latin typeface="Calibri"/>
                        </a:rPr>
                        <a:t>I'd like a bowl of pho.</a:t>
                      </a:r>
                    </a:p>
                  </a:txBody>
                  <a:tcPr>
                    <a:solidFill>
                      <a:srgbClr val="E3F3EE"/>
                    </a:solidFill>
                  </a:tcPr>
                </a:tc>
                <a:tc>
                  <a:txBody>
                    <a:bodyPr/>
                    <a:lstStyle/>
                    <a:p>
                      <a:r>
                        <a:rPr sz="1600" b="0">
                          <a:solidFill>
                            <a:srgbClr val="1B1B1B"/>
                          </a:solidFill>
                          <a:latin typeface="Calibri"/>
                        </a:rPr>
                        <a:t>*I want pho.</a:t>
                      </a:r>
                    </a:p>
                  </a:txBody>
                  <a:tcPr>
                    <a:solidFill>
                      <a:srgbClr val="E3F3EE"/>
                    </a:solidFill>
                  </a:tcPr>
                </a:tc>
              </a:tr>
              <a:tr h="566928">
                <a:tc>
                  <a:txBody>
                    <a:bodyPr/>
                    <a:lstStyle/>
                    <a:p>
                      <a:r>
                        <a:rPr sz="1600" b="0">
                          <a:solidFill>
                            <a:srgbClr val="1B1B1B"/>
                          </a:solidFill>
                          <a:latin typeface="Calibri"/>
                        </a:rPr>
                        <a:t>imperative recipe</a:t>
                      </a:r>
                    </a:p>
                  </a:txBody>
                  <a:tcPr>
                    <a:solidFill>
                      <a:srgbClr val="FFFFFF"/>
                    </a:solidFill>
                  </a:tcPr>
                </a:tc>
                <a:tc>
                  <a:txBody>
                    <a:bodyPr/>
                    <a:lstStyle/>
                    <a:p>
                      <a:r>
                        <a:rPr sz="1600" b="0">
                          <a:solidFill>
                            <a:srgbClr val="1B1B1B"/>
                          </a:solidFill>
                          <a:latin typeface="Calibri"/>
                        </a:rPr>
                        <a:t>Heat the oil.</a:t>
                      </a:r>
                    </a:p>
                  </a:txBody>
                  <a:tcPr>
                    <a:solidFill>
                      <a:srgbClr val="FFFFFF"/>
                    </a:solidFill>
                  </a:tcPr>
                </a:tc>
                <a:tc>
                  <a:txBody>
                    <a:bodyPr/>
                    <a:lstStyle/>
                    <a:p>
                      <a:r>
                        <a:rPr sz="1600" b="0">
                          <a:solidFill>
                            <a:srgbClr val="1B1B1B"/>
                          </a:solidFill>
                          <a:latin typeface="Calibri"/>
                        </a:rPr>
                        <a:t>*You heat the oil.</a:t>
                      </a:r>
                    </a:p>
                  </a:txBody>
                  <a:tcPr>
                    <a:solidFill>
                      <a:srgbClr val="FFFFFF"/>
                    </a:solidFill>
                  </a:tcPr>
                </a:tc>
              </a:tr>
            </a:tbl>
          </a:graphicData>
        </a:graphic>
      </p:graphicFrame>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Look at the examples</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U5L7</a:t>
            </a:r>
          </a:p>
        </p:txBody>
      </p:sp>
      <p:sp>
        <p:nvSpPr>
          <p:cNvPr id="8" name="Rounded Rectangle 7"/>
          <p:cNvSpPr/>
          <p:nvPr/>
        </p:nvSpPr>
        <p:spPr>
          <a:xfrm>
            <a:off x="731520" y="1554480"/>
            <a:ext cx="10698480" cy="777240"/>
          </a:xfrm>
          <a:prstGeom prst="roundRect">
            <a:avLst>
              <a:gd name="adj" fmla="val 6000"/>
            </a:avLst>
          </a:prstGeom>
          <a:solidFill>
            <a:srgbClr val="FFFFFF"/>
          </a:solidFill>
          <a:ln w="19050">
            <a:solidFill>
              <a:srgbClr val="0E7C6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51560" y="1627632"/>
            <a:ext cx="10241280" cy="640080"/>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There isn't any fish sauce and there isn't much sugar, so please buy a bottle of fish sauce and a little sugar.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Be careful! A very common mistake</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U5L7</a:t>
            </a:r>
          </a:p>
        </p:txBody>
      </p:sp>
      <p:sp>
        <p:nvSpPr>
          <p:cNvPr id="8" name="Rounded Rectangle 7"/>
          <p:cNvSpPr/>
          <p:nvPr/>
        </p:nvSpPr>
        <p:spPr>
          <a:xfrm>
            <a:off x="731520" y="1645920"/>
            <a:ext cx="10698480" cy="2377440"/>
          </a:xfrm>
          <a:prstGeom prst="roundRect">
            <a:avLst>
              <a:gd name="adj" fmla="val 6000"/>
            </a:avLst>
          </a:prstGeom>
          <a:solidFill>
            <a:srgbClr val="FCEA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97280" y="1828800"/>
            <a:ext cx="10058400" cy="2011680"/>
          </a:xfrm>
          <a:prstGeom prst="rect">
            <a:avLst/>
          </a:prstGeom>
          <a:noFill/>
        </p:spPr>
        <p:txBody>
          <a:bodyPr wrap="square" anchor="t">
            <a:spAutoFit/>
          </a:bodyPr>
          <a:lstStyle/>
          <a:p>
            <a:pPr algn="l">
              <a:lnSpc>
                <a:spcPct val="100000"/>
              </a:lnSpc>
              <a:spcAft>
                <a:spcPts val="600"/>
              </a:spcAft>
            </a:pPr>
            <a:r>
              <a:rPr sz="2100" b="0" i="0">
                <a:solidFill>
                  <a:srgbClr val="1B1B1B"/>
                </a:solidFill>
                <a:latin typeface="Calibri"/>
              </a:rPr>
              <a:t>Add these six to the classroom wall list.</a:t>
            </a:r>
          </a:p>
        </p:txBody>
      </p:sp>
      <p:sp>
        <p:nvSpPr>
          <p:cNvPr id="10" name="TextBox 9"/>
          <p:cNvSpPr txBox="1"/>
          <p:nvPr/>
        </p:nvSpPr>
        <p:spPr>
          <a:xfrm>
            <a:off x="1097280" y="4389120"/>
            <a:ext cx="10058400" cy="1280160"/>
          </a:xfrm>
          <a:prstGeom prst="rect">
            <a:avLst/>
          </a:prstGeom>
          <a:noFill/>
        </p:spPr>
        <p:txBody>
          <a:bodyPr wrap="square" anchor="t">
            <a:spAutoFit/>
          </a:bodyPr>
          <a:lstStyle/>
          <a:p>
            <a:pPr algn="l">
              <a:lnSpc>
                <a:spcPct val="100000"/>
              </a:lnSpc>
              <a:spcAft>
                <a:spcPts val="600"/>
              </a:spcAft>
            </a:pPr>
            <a:r>
              <a:rPr sz="2200" b="1" i="0">
                <a:solidFill>
                  <a:srgbClr val="2E7D32"/>
                </a:solidFill>
                <a:latin typeface="Calibri"/>
              </a:rPr>
              <a:t>👍 Say it like this:  There isn't any fish sauce and there isn't much sugar, so please buy a bottle of fish sauce and a little suga…</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6B3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000" b="1" i="0">
                <a:solidFill>
                  <a:srgbClr val="FFFFFF"/>
                </a:solidFill>
                <a:latin typeface="Calibri"/>
              </a:rPr>
              <a:t>Pronunciation: Unit 5 sounds review: /ɒ/ /ɔː/, /ʃ/, weak 'of' and 'so…</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U5L7</a:t>
            </a:r>
          </a:p>
        </p:txBody>
      </p:sp>
      <p:sp>
        <p:nvSpPr>
          <p:cNvPr id="8" name="Rounded Rectangle 7"/>
          <p:cNvSpPr/>
          <p:nvPr/>
        </p:nvSpPr>
        <p:spPr>
          <a:xfrm>
            <a:off x="640080" y="1417320"/>
            <a:ext cx="10881360" cy="1234440"/>
          </a:xfrm>
          <a:prstGeom prst="roundRect">
            <a:avLst>
              <a:gd name="adj" fmla="val 6000"/>
            </a:avLst>
          </a:prstGeom>
          <a:solidFill>
            <a:srgbClr val="F1EA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60120" y="1508760"/>
            <a:ext cx="10332720" cy="1097280"/>
          </a:xfrm>
          <a:prstGeom prst="rect">
            <a:avLst/>
          </a:prstGeom>
          <a:noFill/>
        </p:spPr>
        <p:txBody>
          <a:bodyPr wrap="square" anchor="ctr">
            <a:spAutoFit/>
          </a:bodyPr>
          <a:lstStyle/>
          <a:p>
            <a:pPr algn="l">
              <a:lnSpc>
                <a:spcPct val="100000"/>
              </a:lnSpc>
              <a:spcAft>
                <a:spcPts val="600"/>
              </a:spcAft>
            </a:pPr>
            <a:r>
              <a:rPr sz="1800" b="0" i="0">
                <a:solidFill>
                  <a:srgbClr val="1B1B1B"/>
                </a:solidFill>
                <a:latin typeface="Calibri"/>
              </a:rPr>
              <a:t>Four checks: is /ɔː/ long? is 'sugar' /ʃ/? is 'of' weak? is 'some' weak in positives?</a:t>
            </a:r>
          </a:p>
        </p:txBody>
      </p:sp>
      <p:sp>
        <p:nvSpPr>
          <p:cNvPr id="10" name="Rounded Rectangle 9"/>
          <p:cNvSpPr/>
          <p:nvPr/>
        </p:nvSpPr>
        <p:spPr>
          <a:xfrm>
            <a:off x="731520" y="2880360"/>
            <a:ext cx="10698480" cy="621792"/>
          </a:xfrm>
          <a:prstGeom prst="roundRect">
            <a:avLst>
              <a:gd name="adj" fmla="val 6000"/>
            </a:avLst>
          </a:prstGeom>
          <a:solidFill>
            <a:srgbClr val="FFFFFF"/>
          </a:solidFill>
          <a:ln w="19050">
            <a:solidFill>
              <a:srgbClr val="6B3FA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1005840" y="2926080"/>
            <a:ext cx="10241280" cy="5486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 hot – water</a:t>
            </a:r>
          </a:p>
        </p:txBody>
      </p:sp>
      <p:sp>
        <p:nvSpPr>
          <p:cNvPr id="12" name="Rounded Rectangle 11"/>
          <p:cNvSpPr/>
          <p:nvPr/>
        </p:nvSpPr>
        <p:spPr>
          <a:xfrm>
            <a:off x="731520" y="3593592"/>
            <a:ext cx="10698480" cy="621792"/>
          </a:xfrm>
          <a:prstGeom prst="roundRect">
            <a:avLst>
              <a:gd name="adj" fmla="val 6000"/>
            </a:avLst>
          </a:prstGeom>
          <a:solidFill>
            <a:srgbClr val="FFFFFF"/>
          </a:solidFill>
          <a:ln w="19050">
            <a:solidFill>
              <a:srgbClr val="6B3FA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1005840" y="3639312"/>
            <a:ext cx="10241280" cy="5486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 sugar, she, fish</a:t>
            </a:r>
          </a:p>
        </p:txBody>
      </p:sp>
      <p:sp>
        <p:nvSpPr>
          <p:cNvPr id="14" name="Rounded Rectangle 13"/>
          <p:cNvSpPr/>
          <p:nvPr/>
        </p:nvSpPr>
        <p:spPr>
          <a:xfrm>
            <a:off x="731520" y="4306824"/>
            <a:ext cx="10698480" cy="621792"/>
          </a:xfrm>
          <a:prstGeom prst="roundRect">
            <a:avLst>
              <a:gd name="adj" fmla="val 6000"/>
            </a:avLst>
          </a:prstGeom>
          <a:solidFill>
            <a:srgbClr val="FFFFFF"/>
          </a:solidFill>
          <a:ln w="19050">
            <a:solidFill>
              <a:srgbClr val="6B3FA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1005840" y="4352544"/>
            <a:ext cx="10241280" cy="5486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 a bowl of soup</a:t>
            </a:r>
          </a:p>
        </p:txBody>
      </p:sp>
      <p:sp>
        <p:nvSpPr>
          <p:cNvPr id="16" name="Rounded Rectangle 15"/>
          <p:cNvSpPr/>
          <p:nvPr/>
        </p:nvSpPr>
        <p:spPr>
          <a:xfrm>
            <a:off x="731520" y="5020056"/>
            <a:ext cx="10698480" cy="621792"/>
          </a:xfrm>
          <a:prstGeom prst="roundRect">
            <a:avLst>
              <a:gd name="adj" fmla="val 6000"/>
            </a:avLst>
          </a:prstGeom>
          <a:solidFill>
            <a:srgbClr val="FFFFFF"/>
          </a:solidFill>
          <a:ln w="19050">
            <a:solidFill>
              <a:srgbClr val="6B3FA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1005840" y="5065776"/>
            <a:ext cx="10241280" cy="5486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 There's some rice.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6B3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Repeat after me — three times each!</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U5L7</a:t>
            </a:r>
          </a:p>
        </p:txBody>
      </p:sp>
      <p:sp>
        <p:nvSpPr>
          <p:cNvPr id="8" name="Rounded Rectangle 7"/>
          <p:cNvSpPr/>
          <p:nvPr/>
        </p:nvSpPr>
        <p:spPr>
          <a:xfrm>
            <a:off x="731520" y="1737360"/>
            <a:ext cx="10698480" cy="914400"/>
          </a:xfrm>
          <a:prstGeom prst="roundRect">
            <a:avLst>
              <a:gd name="adj" fmla="val 6000"/>
            </a:avLst>
          </a:prstGeom>
          <a:solidFill>
            <a:srgbClr val="F1EA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51560" y="1828800"/>
            <a:ext cx="10241280" cy="777240"/>
          </a:xfrm>
          <a:prstGeom prst="rect">
            <a:avLst/>
          </a:prstGeom>
          <a:noFill/>
        </p:spPr>
        <p:txBody>
          <a:bodyPr wrap="square" anchor="ctr">
            <a:spAutoFit/>
          </a:bodyPr>
          <a:lstStyle/>
          <a:p>
            <a:pPr algn="l">
              <a:lnSpc>
                <a:spcPct val="100000"/>
              </a:lnSpc>
              <a:spcAft>
                <a:spcPts val="600"/>
              </a:spcAft>
            </a:pPr>
            <a:r>
              <a:rPr sz="2100" b="0" i="0">
                <a:solidFill>
                  <a:srgbClr val="1B1B1B"/>
                </a:solidFill>
                <a:latin typeface="Calibri"/>
              </a:rPr>
              <a:t>🗣 She wants a bowl of hot soup with a little sugar and some water.</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Listening: Looking Back — listen again</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U5L7</a:t>
            </a:r>
          </a:p>
        </p:txBody>
      </p:sp>
      <p:sp>
        <p:nvSpPr>
          <p:cNvPr id="8" name="Rounded Rectangle 7"/>
          <p:cNvSpPr/>
          <p:nvPr/>
        </p:nvSpPr>
        <p:spPr>
          <a:xfrm>
            <a:off x="731520" y="1737360"/>
            <a:ext cx="10698480" cy="182880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97280" y="1920240"/>
            <a:ext cx="10058400" cy="1554480"/>
          </a:xfrm>
          <a:prstGeom prst="rect">
            <a:avLst/>
          </a:prstGeom>
          <a:noFill/>
        </p:spPr>
        <p:txBody>
          <a:bodyPr wrap="square" anchor="ctr">
            <a:spAutoFit/>
          </a:bodyPr>
          <a:lstStyle/>
          <a:p>
            <a:pPr algn="l">
              <a:lnSpc>
                <a:spcPct val="100000"/>
              </a:lnSpc>
              <a:spcAft>
                <a:spcPts val="600"/>
              </a:spcAft>
            </a:pPr>
            <a:r>
              <a:rPr sz="2100" b="0" i="0">
                <a:solidFill>
                  <a:srgbClr val="1B1B1B"/>
                </a:solidFill>
                <a:latin typeface="Calibri"/>
              </a:rPr>
              <a:t>No new recording. You hear this unit’s own recordings again: Determiners and plural nouns · Some and any.</a:t>
            </a:r>
          </a:p>
        </p:txBody>
      </p:sp>
      <p:sp>
        <p:nvSpPr>
          <p:cNvPr id="10" name="TextBox 9"/>
          <p:cNvSpPr txBox="1"/>
          <p:nvPr/>
        </p:nvSpPr>
        <p:spPr>
          <a:xfrm>
            <a:off x="731520" y="3703320"/>
            <a:ext cx="10698480" cy="1435608"/>
          </a:xfrm>
          <a:prstGeom prst="rect">
            <a:avLst/>
          </a:prstGeom>
          <a:noFill/>
        </p:spPr>
        <p:txBody>
          <a:bodyPr wrap="square" anchor="t">
            <a:spAutoFit/>
          </a:bodyPr>
          <a:lstStyle/>
          <a:p>
            <a:pPr algn="l">
              <a:lnSpc>
                <a:spcPct val="100000"/>
              </a:lnSpc>
              <a:spcAft>
                <a:spcPts val="600"/>
              </a:spcAft>
            </a:pPr>
            <a:r>
              <a:rPr sz="2000" b="0" i="0">
                <a:solidFill>
                  <a:srgbClr val="142C4F"/>
                </a:solidFill>
                <a:latin typeface="Calibri"/>
              </a:rPr>
              <a:t>🎧  Listen 1: just listen — do not write.</a:t>
            </a:r>
          </a:p>
          <a:p>
            <a:pPr algn="l">
              <a:lnSpc>
                <a:spcPct val="100000"/>
              </a:lnSpc>
              <a:spcAft>
                <a:spcPts val="600"/>
              </a:spcAft>
            </a:pPr>
            <a:r>
              <a:rPr sz="2000" b="0" i="0">
                <a:solidFill>
                  <a:srgbClr val="142C4F"/>
                </a:solidFill>
                <a:latin typeface="Calibri"/>
              </a:rPr>
              <a:t>🎧  Listen 2: write your answers.</a:t>
            </a:r>
          </a:p>
          <a:p>
            <a:pPr algn="l">
              <a:lnSpc>
                <a:spcPct val="100000"/>
              </a:lnSpc>
              <a:spcAft>
                <a:spcPts val="600"/>
              </a:spcAft>
            </a:pPr>
            <a:r>
              <a:rPr sz="2000" b="0" i="0">
                <a:solidFill>
                  <a:srgbClr val="142C4F"/>
                </a:solidFill>
                <a:latin typeface="Calibri"/>
              </a:rPr>
              <a:t>🎧  Listen 3: check with your partner.</a:t>
            </a:r>
          </a:p>
        </p:txBody>
      </p:sp>
      <p:sp>
        <p:nvSpPr>
          <p:cNvPr id="11" name="Rounded Rectangle 10"/>
          <p:cNvSpPr/>
          <p:nvPr/>
        </p:nvSpPr>
        <p:spPr>
          <a:xfrm>
            <a:off x="731520" y="5248656"/>
            <a:ext cx="5294376" cy="512064"/>
          </a:xfrm>
          <a:prstGeom prst="roundRect">
            <a:avLst>
              <a:gd name="adj" fmla="val 6000"/>
            </a:avLst>
          </a:prstGeom>
          <a:solidFill>
            <a:srgbClr val="E7F1FA"/>
          </a:solidFill>
          <a:ln w="19050">
            <a:solidFill>
              <a:srgbClr val="1E6FB8"/>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0" bIns="0"/>
          <a:lstStyle/>
          <a:p>
            <a:pPr algn="ctr"/>
            <a:r>
              <a:rPr sz="1300" b="1">
                <a:solidFill>
                  <a:srgbClr val="142C4F"/>
                </a:solidFill>
                <a:hlinkClick r:id="rId2"/>
              </a:rPr>
              <a:t>▶ U5L2</a:t>
            </a:r>
          </a:p>
        </p:txBody>
      </p:sp>
      <p:sp>
        <p:nvSpPr>
          <p:cNvPr id="12" name="Rounded Rectangle 11"/>
          <p:cNvSpPr/>
          <p:nvPr/>
        </p:nvSpPr>
        <p:spPr>
          <a:xfrm>
            <a:off x="6135624" y="5248656"/>
            <a:ext cx="5294376" cy="512064"/>
          </a:xfrm>
          <a:prstGeom prst="roundRect">
            <a:avLst>
              <a:gd name="adj" fmla="val 6000"/>
            </a:avLst>
          </a:prstGeom>
          <a:solidFill>
            <a:srgbClr val="E7F1FA"/>
          </a:solidFill>
          <a:ln w="19050">
            <a:solidFill>
              <a:srgbClr val="1E6FB8"/>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0" bIns="0"/>
          <a:lstStyle/>
          <a:p>
            <a:pPr algn="ctr"/>
            <a:r>
              <a:rPr sz="1300" b="1">
                <a:solidFill>
                  <a:srgbClr val="142C4F"/>
                </a:solidFill>
                <a:hlinkClick r:id="rId3"/>
              </a:rPr>
              <a:t>▶ U5L3</a:t>
            </a:r>
          </a:p>
        </p:txBody>
      </p:sp>
      <p:sp>
        <p:nvSpPr>
          <p:cNvPr id="13" name="Rounded Rectangle 12"/>
          <p:cNvSpPr/>
          <p:nvPr/>
        </p:nvSpPr>
        <p:spPr>
          <a:xfrm>
            <a:off x="731520" y="5824728"/>
            <a:ext cx="5294376" cy="512064"/>
          </a:xfrm>
          <a:prstGeom prst="roundRect">
            <a:avLst>
              <a:gd name="adj" fmla="val 6000"/>
            </a:avLst>
          </a:prstGeom>
          <a:solidFill>
            <a:srgbClr val="E3F3EE"/>
          </a:solidFill>
          <a:ln w="19050">
            <a:solidFill>
              <a:srgbClr val="0E7C66"/>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0" bIns="0"/>
          <a:lstStyle/>
          <a:p>
            <a:pPr algn="ctr"/>
            <a:r>
              <a:rPr sz="1200" b="1">
                <a:solidFill>
                  <a:srgbClr val="0E7C66"/>
                </a:solidFill>
                <a:hlinkClick r:id="rId4"/>
              </a:rPr>
              <a:t>🌐 U5L2</a:t>
            </a:r>
          </a:p>
        </p:txBody>
      </p:sp>
      <p:sp>
        <p:nvSpPr>
          <p:cNvPr id="14" name="Rounded Rectangle 13"/>
          <p:cNvSpPr/>
          <p:nvPr/>
        </p:nvSpPr>
        <p:spPr>
          <a:xfrm>
            <a:off x="6135624" y="5824728"/>
            <a:ext cx="5294376" cy="512064"/>
          </a:xfrm>
          <a:prstGeom prst="roundRect">
            <a:avLst>
              <a:gd name="adj" fmla="val 6000"/>
            </a:avLst>
          </a:prstGeom>
          <a:solidFill>
            <a:srgbClr val="E3F3EE"/>
          </a:solidFill>
          <a:ln w="19050">
            <a:solidFill>
              <a:srgbClr val="0E7C66"/>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0" bIns="0"/>
          <a:lstStyle/>
          <a:p>
            <a:pPr algn="ctr"/>
            <a:r>
              <a:rPr sz="1200" b="1">
                <a:solidFill>
                  <a:srgbClr val="0E7C66"/>
                </a:solidFill>
                <a:hlinkClick r:id="rId5"/>
              </a:rPr>
              <a:t>🌐 U5L3</a:t>
            </a:r>
          </a:p>
        </p:txBody>
      </p:sp>
      <p:sp>
        <p:nvSpPr>
          <p:cNvPr id="15" name="TextBox 14"/>
          <p:cNvSpPr txBox="1"/>
          <p:nvPr/>
        </p:nvSpPr>
        <p:spPr>
          <a:xfrm>
            <a:off x="731520" y="6428232"/>
            <a:ext cx="10698480" cy="384048"/>
          </a:xfrm>
          <a:prstGeom prst="rect">
            <a:avLst/>
          </a:prstGeom>
          <a:noFill/>
        </p:spPr>
        <p:txBody>
          <a:bodyPr wrap="square" anchor="t">
            <a:spAutoFit/>
          </a:bodyPr>
          <a:lstStyle/>
          <a:p>
            <a:pPr algn="l">
              <a:lnSpc>
                <a:spcPct val="100000"/>
              </a:lnSpc>
              <a:spcAft>
                <a:spcPts val="600"/>
              </a:spcAft>
            </a:pPr>
            <a:r>
              <a:rPr sz="1000" b="0" i="0">
                <a:solidFill>
                  <a:srgbClr val="6B7280"/>
                </a:solidFill>
                <a:latin typeface="Calibri"/>
              </a:rPr>
              <a:t>Recycled — this unit’s own verified recordings · replayed extracts · As in the original recordings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Listening task  (1/2)</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U5.7-L1</a:t>
            </a:r>
          </a:p>
        </p:txBody>
      </p:sp>
      <p:sp>
        <p:nvSpPr>
          <p:cNvPr id="8" name="Rounded Rectangle 7"/>
          <p:cNvSpPr/>
          <p:nvPr/>
        </p:nvSpPr>
        <p:spPr>
          <a:xfrm>
            <a:off x="640080" y="1371600"/>
            <a:ext cx="10881360" cy="77724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Your teacher plays six lines from this unit’s recordings. Write each line.</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1. ____________________</a:t>
            </a:r>
          </a:p>
        </p:txBody>
      </p:sp>
      <p:sp>
        <p:nvSpPr>
          <p:cNvPr id="11" name="TextBox 10"/>
          <p:cNvSpPr txBox="1"/>
          <p:nvPr/>
        </p:nvSpPr>
        <p:spPr>
          <a:xfrm>
            <a:off x="1005840" y="3035808"/>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2. ____________________</a:t>
            </a:r>
          </a:p>
        </p:txBody>
      </p:sp>
      <p:sp>
        <p:nvSpPr>
          <p:cNvPr id="12" name="TextBox 11"/>
          <p:cNvSpPr txBox="1"/>
          <p:nvPr/>
        </p:nvSpPr>
        <p:spPr>
          <a:xfrm>
            <a:off x="1005840" y="3694176"/>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3. ____________________</a:t>
            </a:r>
          </a:p>
        </p:txBody>
      </p:sp>
      <p:sp>
        <p:nvSpPr>
          <p:cNvPr id="13" name="TextBox 12"/>
          <p:cNvSpPr txBox="1"/>
          <p:nvPr/>
        </p:nvSpPr>
        <p:spPr>
          <a:xfrm>
            <a:off x="1005840" y="4352544"/>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4. ____________________</a:t>
            </a:r>
          </a:p>
        </p:txBody>
      </p:sp>
      <p:sp>
        <p:nvSpPr>
          <p:cNvPr id="14" name="TextBox 13"/>
          <p:cNvSpPr txBox="1"/>
          <p:nvPr/>
        </p:nvSpPr>
        <p:spPr>
          <a:xfrm>
            <a:off x="1005840" y="5010912"/>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5. ____________________</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Listening task  (2/2)</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U5.7-L1</a:t>
            </a:r>
          </a:p>
        </p:txBody>
      </p:sp>
      <p:sp>
        <p:nvSpPr>
          <p:cNvPr id="8" name="Rounded Rectangle 7"/>
          <p:cNvSpPr/>
          <p:nvPr/>
        </p:nvSpPr>
        <p:spPr>
          <a:xfrm>
            <a:off x="640080" y="1371600"/>
            <a:ext cx="10881360" cy="77724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Your teacher plays six lines from this unit’s recordings. Write each line.</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6. ____________________</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Reading: A cookbook with a difference</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U5L7</a:t>
            </a:r>
          </a:p>
        </p:txBody>
      </p:sp>
      <p:sp>
        <p:nvSpPr>
          <p:cNvPr id="8" name="Rounded Rectangle 7"/>
          <p:cNvSpPr/>
          <p:nvPr/>
        </p:nvSpPr>
        <p:spPr>
          <a:xfrm>
            <a:off x="640080" y="1371600"/>
            <a:ext cx="10881360" cy="4846320"/>
          </a:xfrm>
          <a:prstGeom prst="roundRect">
            <a:avLst>
              <a:gd name="adj" fmla="val 6000"/>
            </a:avLst>
          </a:prstGeom>
          <a:solidFill>
            <a:srgbClr val="EAF5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60120" y="1554480"/>
            <a:ext cx="10332720" cy="4480560"/>
          </a:xfrm>
          <a:prstGeom prst="rect">
            <a:avLst/>
          </a:prstGeom>
          <a:noFill/>
        </p:spPr>
        <p:txBody>
          <a:bodyPr wrap="square" anchor="t">
            <a:spAutoFit/>
          </a:bodyPr>
          <a:lstStyle/>
          <a:p>
            <a:pPr algn="l">
              <a:lnSpc>
                <a:spcPct val="115000"/>
              </a:lnSpc>
              <a:spcAft>
                <a:spcPts val="600"/>
              </a:spcAft>
            </a:pPr>
            <a:r>
              <a:rPr sz="1500" b="0" i="0">
                <a:solidFill>
                  <a:srgbClr val="1B1B1B"/>
                </a:solidFill>
                <a:latin typeface="Calibri"/>
              </a:rPr>
              <a:t>Last year, class 7C in Hai Duong made an English cookbook — but not an ordinary one. Every recipe came from a grandparent. The students interviewed their grandmothers and grandfathers, wrote down the recipes in Vietnamese, then translated them into English with their teacher's help. Some recipes were difficult: one grandmother said 'a handful of rice' and 'cook until it smells right', which is hard to put into grams and minutes! The book has 34 recipes, 34 photographs and 34 short paragraphs about the person who gave the recipe. The school printed 200 copies and sold them for 50,000 dong each. The money bought new books for the school library. 'My grandmother cannot read English,' said Trang, 'but she keeps the book on the table where everybody can see it.'</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Reading task</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U5.7-R1</a:t>
            </a:r>
          </a:p>
        </p:txBody>
      </p:sp>
      <p:sp>
        <p:nvSpPr>
          <p:cNvPr id="8" name="Rounded Rectangle 7"/>
          <p:cNvSpPr/>
          <p:nvPr/>
        </p:nvSpPr>
        <p:spPr>
          <a:xfrm>
            <a:off x="640080" y="1371600"/>
            <a:ext cx="10881360" cy="777240"/>
          </a:xfrm>
          <a:prstGeom prst="roundRect">
            <a:avLst>
              <a:gd name="adj" fmla="val 6000"/>
            </a:avLst>
          </a:prstGeom>
          <a:solidFill>
            <a:srgbClr val="EAF5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Answer the questions.</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1. Where did the recipes come from?</a:t>
            </a:r>
          </a:p>
        </p:txBody>
      </p:sp>
      <p:sp>
        <p:nvSpPr>
          <p:cNvPr id="11" name="TextBox 10"/>
          <p:cNvSpPr txBox="1"/>
          <p:nvPr/>
        </p:nvSpPr>
        <p:spPr>
          <a:xfrm>
            <a:off x="1005840" y="3035808"/>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2. What were the three steps of the work?</a:t>
            </a:r>
          </a:p>
        </p:txBody>
      </p:sp>
      <p:sp>
        <p:nvSpPr>
          <p:cNvPr id="12" name="TextBox 11"/>
          <p:cNvSpPr txBox="1"/>
          <p:nvPr/>
        </p:nvSpPr>
        <p:spPr>
          <a:xfrm>
            <a:off x="1005840" y="3694176"/>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3. Why were some recipes difficult to write?</a:t>
            </a:r>
          </a:p>
        </p:txBody>
      </p:sp>
      <p:sp>
        <p:nvSpPr>
          <p:cNvPr id="13" name="TextBox 12"/>
          <p:cNvSpPr txBox="1"/>
          <p:nvPr/>
        </p:nvSpPr>
        <p:spPr>
          <a:xfrm>
            <a:off x="1005840" y="4352544"/>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4. What did the school do with the money?</a:t>
            </a:r>
          </a:p>
        </p:txBody>
      </p:sp>
      <p:sp>
        <p:nvSpPr>
          <p:cNvPr id="14" name="TextBox 13"/>
          <p:cNvSpPr txBox="1"/>
          <p:nvPr/>
        </p:nvSpPr>
        <p:spPr>
          <a:xfrm>
            <a:off x="1005840" y="5010912"/>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5. Why does Trang's grandmother keep the book on the table?</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Guided practice  (1/2)</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U5.7-G1</a:t>
            </a:r>
          </a:p>
        </p:txBody>
      </p:sp>
      <p:sp>
        <p:nvSpPr>
          <p:cNvPr id="8" name="Rounded Rectangle 7"/>
          <p:cNvSpPr/>
          <p:nvPr/>
        </p:nvSpPr>
        <p:spPr>
          <a:xfrm>
            <a:off x="640080" y="1371600"/>
            <a:ext cx="10881360" cy="77724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Write the word.</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1. a small shop on the street: ______</a:t>
            </a:r>
          </a:p>
        </p:txBody>
      </p:sp>
      <p:sp>
        <p:nvSpPr>
          <p:cNvPr id="11" name="TextBox 10"/>
          <p:cNvSpPr txBox="1"/>
          <p:nvPr/>
        </p:nvSpPr>
        <p:spPr>
          <a:xfrm>
            <a:off x="1005840" y="3035808"/>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2. a list of dishes in a restaurant: ______</a:t>
            </a:r>
          </a:p>
        </p:txBody>
      </p:sp>
      <p:sp>
        <p:nvSpPr>
          <p:cNvPr id="12" name="TextBox 11"/>
          <p:cNvSpPr txBox="1"/>
          <p:nvPr/>
        </p:nvSpPr>
        <p:spPr>
          <a:xfrm>
            <a:off x="1005840" y="3694176"/>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3. what you pay at the end: ______</a:t>
            </a:r>
          </a:p>
        </p:txBody>
      </p:sp>
      <p:sp>
        <p:nvSpPr>
          <p:cNvPr id="13" name="TextBox 12"/>
          <p:cNvSpPr txBox="1"/>
          <p:nvPr/>
        </p:nvSpPr>
        <p:spPr>
          <a:xfrm>
            <a:off x="1005840" y="4352544"/>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4. things you need to cook a dish: ______</a:t>
            </a:r>
          </a:p>
        </p:txBody>
      </p:sp>
      <p:sp>
        <p:nvSpPr>
          <p:cNvPr id="14" name="TextBox 13"/>
          <p:cNvSpPr txBox="1"/>
          <p:nvPr/>
        </p:nvSpPr>
        <p:spPr>
          <a:xfrm>
            <a:off x="1005840" y="5010912"/>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5. instructions for cooking: ______</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Guided practice  (2/2)</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U5.7-G1</a:t>
            </a:r>
          </a:p>
        </p:txBody>
      </p:sp>
      <p:sp>
        <p:nvSpPr>
          <p:cNvPr id="8" name="Rounded Rectangle 7"/>
          <p:cNvSpPr/>
          <p:nvPr/>
        </p:nvSpPr>
        <p:spPr>
          <a:xfrm>
            <a:off x="640080" y="1371600"/>
            <a:ext cx="10881360" cy="77724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Write the word.</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6. the last dish of a meal: ______</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Guided practice  (1/2)</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U5.7-G2</a:t>
            </a:r>
          </a:p>
        </p:txBody>
      </p:sp>
      <p:sp>
        <p:nvSpPr>
          <p:cNvPr id="8" name="Rounded Rectangle 7"/>
          <p:cNvSpPr/>
          <p:nvPr/>
        </p:nvSpPr>
        <p:spPr>
          <a:xfrm>
            <a:off x="640080" y="1371600"/>
            <a:ext cx="10881360" cy="77724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Correct one mistake in each sentence.</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1. There are some rice in the pot.</a:t>
            </a:r>
          </a:p>
        </p:txBody>
      </p:sp>
      <p:sp>
        <p:nvSpPr>
          <p:cNvPr id="11" name="TextBox 10"/>
          <p:cNvSpPr txBox="1"/>
          <p:nvPr/>
        </p:nvSpPr>
        <p:spPr>
          <a:xfrm>
            <a:off x="1005840" y="3035808"/>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2. How many money do you have?</a:t>
            </a:r>
          </a:p>
        </p:txBody>
      </p:sp>
      <p:sp>
        <p:nvSpPr>
          <p:cNvPr id="12" name="TextBox 11"/>
          <p:cNvSpPr txBox="1"/>
          <p:nvPr/>
        </p:nvSpPr>
        <p:spPr>
          <a:xfrm>
            <a:off x="1005840" y="3694176"/>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3. I don't want some sugar.</a:t>
            </a:r>
          </a:p>
        </p:txBody>
      </p:sp>
      <p:sp>
        <p:nvSpPr>
          <p:cNvPr id="13" name="TextBox 12"/>
          <p:cNvSpPr txBox="1"/>
          <p:nvPr/>
        </p:nvSpPr>
        <p:spPr>
          <a:xfrm>
            <a:off x="1005840" y="4352544"/>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4. She bought two bowl of soups.</a:t>
            </a:r>
          </a:p>
        </p:txBody>
      </p:sp>
      <p:sp>
        <p:nvSpPr>
          <p:cNvPr id="14" name="TextBox 13"/>
          <p:cNvSpPr txBox="1"/>
          <p:nvPr/>
        </p:nvSpPr>
        <p:spPr>
          <a:xfrm>
            <a:off x="1005840" y="5010912"/>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5. I want a pho, please.</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Guided practice  (2/2)</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U5.7-G2</a:t>
            </a:r>
          </a:p>
        </p:txBody>
      </p:sp>
      <p:sp>
        <p:nvSpPr>
          <p:cNvPr id="8" name="Rounded Rectangle 7"/>
          <p:cNvSpPr/>
          <p:nvPr/>
        </p:nvSpPr>
        <p:spPr>
          <a:xfrm>
            <a:off x="640080" y="1371600"/>
            <a:ext cx="10881360" cy="77724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Correct one mistake in each sentence.</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6. You heat the oil first.</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Your turn — independent practice</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U5.7-I1</a:t>
            </a:r>
          </a:p>
        </p:txBody>
      </p:sp>
      <p:sp>
        <p:nvSpPr>
          <p:cNvPr id="8" name="Rounded Rectangle 7"/>
          <p:cNvSpPr/>
          <p:nvPr/>
        </p:nvSpPr>
        <p:spPr>
          <a:xfrm>
            <a:off x="640080" y="1371600"/>
            <a:ext cx="10881360" cy="77724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Complete the text with one word in each gap.</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Write the eight words.</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Your turn — independent practice</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U5.7-I2</a:t>
            </a:r>
          </a:p>
        </p:txBody>
      </p:sp>
      <p:sp>
        <p:nvSpPr>
          <p:cNvPr id="8" name="Rounded Rectangle 7"/>
          <p:cNvSpPr/>
          <p:nvPr/>
        </p:nvSpPr>
        <p:spPr>
          <a:xfrm>
            <a:off x="640080" y="1371600"/>
            <a:ext cx="10881360" cy="77724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Finish your cookbook page and practise the presentation.</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Your turn — independent practice</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U5.7-I2</a:t>
            </a:r>
          </a:p>
        </p:txBody>
      </p:sp>
      <p:sp>
        <p:nvSpPr>
          <p:cNvPr id="8" name="Rounded Rectangle 7"/>
          <p:cNvSpPr/>
          <p:nvPr/>
        </p:nvSpPr>
        <p:spPr>
          <a:xfrm>
            <a:off x="731520" y="1828800"/>
            <a:ext cx="10698480" cy="219456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97280" y="2011680"/>
            <a:ext cx="10058400" cy="1828800"/>
          </a:xfrm>
          <a:prstGeom prst="rect">
            <a:avLst/>
          </a:prstGeom>
          <a:noFill/>
        </p:spPr>
        <p:txBody>
          <a:bodyPr wrap="square" anchor="ctr">
            <a:spAutoFit/>
          </a:bodyPr>
          <a:lstStyle/>
          <a:p>
            <a:pPr algn="l">
              <a:lnSpc>
                <a:spcPct val="100000"/>
              </a:lnSpc>
              <a:spcAft>
                <a:spcPts val="600"/>
              </a:spcAft>
            </a:pPr>
            <a:r>
              <a:rPr sz="2200" b="0" i="0">
                <a:solidFill>
                  <a:srgbClr val="1B1B1B"/>
                </a:solidFill>
                <a:latin typeface="Calibri"/>
              </a:rPr>
              <a:t>Finish your cookbook page and practise the presentation.</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Speaking</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U5.7-S1</a:t>
            </a:r>
          </a:p>
        </p:txBody>
      </p:sp>
      <p:sp>
        <p:nvSpPr>
          <p:cNvPr id="8" name="Rounded Rectangle 7"/>
          <p:cNvSpPr/>
          <p:nvPr/>
        </p:nvSpPr>
        <p:spPr>
          <a:xfrm>
            <a:off x="640080" y="1371600"/>
            <a:ext cx="10881360" cy="777240"/>
          </a:xfrm>
          <a:prstGeom prst="roundRect">
            <a:avLst>
              <a:gd name="adj" fmla="val 6000"/>
            </a:avLst>
          </a:prstGeom>
          <a:solidFill>
            <a:srgbClr val="FCEA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Present your cookbook page in 90 seconds. Everyone in the group speaks.</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Frame: 'This is our recipe for… You need… First,… Then,… Finally,… It takes … minutes and it serves … people.'</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Real-life English: Presenting a recipe clearly</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U5L7</a:t>
            </a:r>
          </a:p>
        </p:txBody>
      </p:sp>
      <p:sp>
        <p:nvSpPr>
          <p:cNvPr id="8" name="Rounded Rectangle 7"/>
          <p:cNvSpPr/>
          <p:nvPr/>
        </p:nvSpPr>
        <p:spPr>
          <a:xfrm>
            <a:off x="822960" y="1463040"/>
            <a:ext cx="10515600" cy="658368"/>
          </a:xfrm>
          <a:prstGeom prst="roundRect">
            <a:avLst>
              <a:gd name="adj" fmla="val 6000"/>
            </a:avLst>
          </a:prstGeom>
          <a:solidFill>
            <a:srgbClr val="FFFFFF"/>
          </a:solidFill>
          <a:ln w="19050">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97280" y="1508760"/>
            <a:ext cx="10058400" cy="566928"/>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This is our recipe for…</a:t>
            </a:r>
          </a:p>
        </p:txBody>
      </p:sp>
      <p:sp>
        <p:nvSpPr>
          <p:cNvPr id="10" name="Rounded Rectangle 9"/>
          <p:cNvSpPr/>
          <p:nvPr/>
        </p:nvSpPr>
        <p:spPr>
          <a:xfrm>
            <a:off x="822960" y="2212848"/>
            <a:ext cx="10515600" cy="658368"/>
          </a:xfrm>
          <a:prstGeom prst="roundRect">
            <a:avLst>
              <a:gd name="adj" fmla="val 6000"/>
            </a:avLst>
          </a:prstGeom>
          <a:solidFill>
            <a:srgbClr val="FFFFFF"/>
          </a:solidFill>
          <a:ln w="19050">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1097280" y="2258568"/>
            <a:ext cx="10058400" cy="566928"/>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You need…</a:t>
            </a:r>
          </a:p>
        </p:txBody>
      </p:sp>
      <p:sp>
        <p:nvSpPr>
          <p:cNvPr id="12" name="Rounded Rectangle 11"/>
          <p:cNvSpPr/>
          <p:nvPr/>
        </p:nvSpPr>
        <p:spPr>
          <a:xfrm>
            <a:off x="822960" y="2962656"/>
            <a:ext cx="10515600" cy="658368"/>
          </a:xfrm>
          <a:prstGeom prst="roundRect">
            <a:avLst>
              <a:gd name="adj" fmla="val 6000"/>
            </a:avLst>
          </a:prstGeom>
          <a:solidFill>
            <a:srgbClr val="FFFFFF"/>
          </a:solidFill>
          <a:ln w="19050">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1097280" y="3008376"/>
            <a:ext cx="10058400" cy="566928"/>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First / Then / Finally…</a:t>
            </a:r>
          </a:p>
        </p:txBody>
      </p:sp>
      <p:sp>
        <p:nvSpPr>
          <p:cNvPr id="14" name="Rounded Rectangle 13"/>
          <p:cNvSpPr/>
          <p:nvPr/>
        </p:nvSpPr>
        <p:spPr>
          <a:xfrm>
            <a:off x="822960" y="3712464"/>
            <a:ext cx="10515600" cy="658368"/>
          </a:xfrm>
          <a:prstGeom prst="roundRect">
            <a:avLst>
              <a:gd name="adj" fmla="val 6000"/>
            </a:avLst>
          </a:prstGeom>
          <a:solidFill>
            <a:srgbClr val="FFFFFF"/>
          </a:solidFill>
          <a:ln w="19050">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1097280" y="3758184"/>
            <a:ext cx="10058400" cy="566928"/>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It takes about … minutes.</a:t>
            </a:r>
          </a:p>
        </p:txBody>
      </p:sp>
      <p:sp>
        <p:nvSpPr>
          <p:cNvPr id="16" name="Rounded Rectangle 15"/>
          <p:cNvSpPr/>
          <p:nvPr/>
        </p:nvSpPr>
        <p:spPr>
          <a:xfrm>
            <a:off x="822960" y="4462272"/>
            <a:ext cx="10515600" cy="658368"/>
          </a:xfrm>
          <a:prstGeom prst="roundRect">
            <a:avLst>
              <a:gd name="adj" fmla="val 6000"/>
            </a:avLst>
          </a:prstGeom>
          <a:solidFill>
            <a:srgbClr val="FFFFFF"/>
          </a:solidFill>
          <a:ln w="19050">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1097280" y="4507992"/>
            <a:ext cx="10058400" cy="566928"/>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It serves … people.</a:t>
            </a:r>
          </a:p>
        </p:txBody>
      </p:sp>
      <p:sp>
        <p:nvSpPr>
          <p:cNvPr id="18" name="Rounded Rectangle 17"/>
          <p:cNvSpPr/>
          <p:nvPr/>
        </p:nvSpPr>
        <p:spPr>
          <a:xfrm>
            <a:off x="822960" y="5212080"/>
            <a:ext cx="10515600" cy="658368"/>
          </a:xfrm>
          <a:prstGeom prst="roundRect">
            <a:avLst>
              <a:gd name="adj" fmla="val 6000"/>
            </a:avLst>
          </a:prstGeom>
          <a:solidFill>
            <a:srgbClr val="FFFFFF"/>
          </a:solidFill>
          <a:ln w="19050">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1097280" y="5257800"/>
            <a:ext cx="10058400" cy="566928"/>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Any questions?</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Role play — in pairs</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U5L7</a:t>
            </a:r>
          </a:p>
        </p:txBody>
      </p:sp>
      <p:sp>
        <p:nvSpPr>
          <p:cNvPr id="8" name="Rounded Rectangle 7"/>
          <p:cNvSpPr/>
          <p:nvPr/>
        </p:nvSpPr>
        <p:spPr>
          <a:xfrm>
            <a:off x="731520" y="1737360"/>
            <a:ext cx="10698480" cy="2560320"/>
          </a:xfrm>
          <a:prstGeom prst="roundRect">
            <a:avLst>
              <a:gd name="adj" fmla="val 6000"/>
            </a:avLst>
          </a:prstGeom>
          <a:solidFill>
            <a:srgbClr val="FCEA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97280" y="1920240"/>
            <a:ext cx="10058400" cy="2194560"/>
          </a:xfrm>
          <a:prstGeom prst="rect">
            <a:avLst/>
          </a:prstGeom>
          <a:noFill/>
        </p:spPr>
        <p:txBody>
          <a:bodyPr wrap="square" anchor="ctr">
            <a:spAutoFit/>
          </a:bodyPr>
          <a:lstStyle/>
          <a:p>
            <a:pPr algn="l">
              <a:lnSpc>
                <a:spcPct val="100000"/>
              </a:lnSpc>
              <a:spcAft>
                <a:spcPts val="600"/>
              </a:spcAft>
            </a:pPr>
            <a:r>
              <a:rPr sz="2100" b="0" i="0">
                <a:solidFill>
                  <a:srgbClr val="1B1B1B"/>
                </a:solidFill>
                <a:latin typeface="Calibri"/>
              </a:rPr>
              <a:t>Cookbook fair: groups present their page; the class votes for the recipe they would most like to cook.</a:t>
            </a:r>
          </a:p>
        </p:txBody>
      </p:sp>
      <p:sp>
        <p:nvSpPr>
          <p:cNvPr id="10" name="TextBox 9"/>
          <p:cNvSpPr txBox="1"/>
          <p:nvPr/>
        </p:nvSpPr>
        <p:spPr>
          <a:xfrm>
            <a:off x="822960" y="4663440"/>
            <a:ext cx="10515600" cy="1280160"/>
          </a:xfrm>
          <a:prstGeom prst="rect">
            <a:avLst/>
          </a:prstGeom>
          <a:noFill/>
        </p:spPr>
        <p:txBody>
          <a:bodyPr wrap="square" anchor="t">
            <a:spAutoFit/>
          </a:bodyPr>
          <a:lstStyle/>
          <a:p>
            <a:pPr algn="l">
              <a:lnSpc>
                <a:spcPct val="100000"/>
              </a:lnSpc>
              <a:spcAft>
                <a:spcPts val="600"/>
              </a:spcAft>
            </a:pPr>
            <a:r>
              <a:rPr sz="1900" b="1" i="0">
                <a:solidFill>
                  <a:srgbClr val="142C4F"/>
                </a:solidFill>
                <a:latin typeface="Calibri"/>
              </a:rPr>
              <a:t>⏱ 2 minutes to prepare  ·  2 minutes to perform  ·  then swap roles</a:t>
            </a:r>
          </a:p>
          <a:p>
            <a:pPr algn="l">
              <a:lnSpc>
                <a:spcPct val="100000"/>
              </a:lnSpc>
              <a:spcAft>
                <a:spcPts val="600"/>
              </a:spcAft>
            </a:pPr>
            <a:r>
              <a:rPr sz="1900" b="1" i="0">
                <a:solidFill>
                  <a:srgbClr val="142C4F"/>
                </a:solidFill>
                <a:latin typeface="Calibri"/>
              </a:rPr>
              <a:t>Do not read! Look at your partner.</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Writing</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U5.7-W1</a:t>
            </a:r>
          </a:p>
        </p:txBody>
      </p:sp>
      <p:sp>
        <p:nvSpPr>
          <p:cNvPr id="8" name="Rounded Rectangle 7"/>
          <p:cNvSpPr/>
          <p:nvPr/>
        </p:nvSpPr>
        <p:spPr>
          <a:xfrm>
            <a:off x="640080" y="1371600"/>
            <a:ext cx="10881360" cy="77724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Write your final page: title, ingredients, method, tip.</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Add a drawing or a photograph and the name of the person who gave you the recipe.</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Let's remember today's English</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U5L7</a:t>
            </a:r>
          </a:p>
        </p:txBody>
      </p:sp>
      <p:sp>
        <p:nvSpPr>
          <p:cNvPr id="8" name="Rounded Rectangle 7"/>
          <p:cNvSpPr/>
          <p:nvPr/>
        </p:nvSpPr>
        <p:spPr>
          <a:xfrm>
            <a:off x="731520" y="1600200"/>
            <a:ext cx="10698480" cy="841248"/>
          </a:xfrm>
          <a:prstGeom prst="roundRect">
            <a:avLst>
              <a:gd name="adj" fmla="val 6000"/>
            </a:avLst>
          </a:prstGeom>
          <a:solidFill>
            <a:srgbClr val="EAF5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51560" y="1673352"/>
            <a:ext cx="10241280" cy="713232"/>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Food, cooking and restaurant vocabulary (30 items)</a:t>
            </a:r>
          </a:p>
        </p:txBody>
      </p:sp>
      <p:sp>
        <p:nvSpPr>
          <p:cNvPr id="10" name="Rounded Rectangle 9"/>
          <p:cNvSpPr/>
          <p:nvPr/>
        </p:nvSpPr>
        <p:spPr>
          <a:xfrm>
            <a:off x="731520" y="2560320"/>
            <a:ext cx="10698480" cy="841248"/>
          </a:xfrm>
          <a:prstGeom prst="roundRect">
            <a:avLst>
              <a:gd name="adj" fmla="val 6000"/>
            </a:avLst>
          </a:prstGeom>
          <a:solidFill>
            <a:srgbClr val="EAF5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1051560" y="2633472"/>
            <a:ext cx="10241280" cy="713232"/>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Countable / uncountable + some/any + much/many + a little/a few</a:t>
            </a:r>
          </a:p>
        </p:txBody>
      </p:sp>
      <p:sp>
        <p:nvSpPr>
          <p:cNvPr id="12" name="Rounded Rectangle 11"/>
          <p:cNvSpPr/>
          <p:nvPr/>
        </p:nvSpPr>
        <p:spPr>
          <a:xfrm>
            <a:off x="731520" y="3520440"/>
            <a:ext cx="10698480" cy="841248"/>
          </a:xfrm>
          <a:prstGeom prst="roundRect">
            <a:avLst>
              <a:gd name="adj" fmla="val 6000"/>
            </a:avLst>
          </a:prstGeom>
          <a:solidFill>
            <a:srgbClr val="EAF5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1051560" y="3593592"/>
            <a:ext cx="10241280" cy="713232"/>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Quantity phrases</a:t>
            </a:r>
          </a:p>
        </p:txBody>
      </p:sp>
      <p:sp>
        <p:nvSpPr>
          <p:cNvPr id="14" name="Rounded Rectangle 13"/>
          <p:cNvSpPr/>
          <p:nvPr/>
        </p:nvSpPr>
        <p:spPr>
          <a:xfrm>
            <a:off x="731520" y="4480560"/>
            <a:ext cx="10698480" cy="841248"/>
          </a:xfrm>
          <a:prstGeom prst="roundRect">
            <a:avLst>
              <a:gd name="adj" fmla="val 6000"/>
            </a:avLst>
          </a:prstGeom>
          <a:solidFill>
            <a:srgbClr val="EAF5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1051560" y="4553712"/>
            <a:ext cx="10241280" cy="713232"/>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Ordering food politely</a:t>
            </a:r>
          </a:p>
        </p:txBody>
      </p:sp>
      <p:sp>
        <p:nvSpPr>
          <p:cNvPr id="16" name="Rounded Rectangle 15"/>
          <p:cNvSpPr/>
          <p:nvPr/>
        </p:nvSpPr>
        <p:spPr>
          <a:xfrm>
            <a:off x="731520" y="5440680"/>
            <a:ext cx="10698480" cy="841248"/>
          </a:xfrm>
          <a:prstGeom prst="roundRect">
            <a:avLst>
              <a:gd name="adj" fmla="val 6000"/>
            </a:avLst>
          </a:prstGeom>
          <a:solidFill>
            <a:srgbClr val="EAF5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1051560" y="5513832"/>
            <a:ext cx="10241280" cy="713232"/>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Recipe writing</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Homework — write it in your notebook</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U5L7</a:t>
            </a:r>
          </a:p>
        </p:txBody>
      </p:sp>
      <p:sp>
        <p:nvSpPr>
          <p:cNvPr id="8" name="Rounded Rectangle 7"/>
          <p:cNvSpPr/>
          <p:nvPr/>
        </p:nvSpPr>
        <p:spPr>
          <a:xfrm>
            <a:off x="731520" y="1554480"/>
            <a:ext cx="10698480" cy="86868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05840" y="1609344"/>
            <a:ext cx="1828800" cy="777240"/>
          </a:xfrm>
          <a:prstGeom prst="rect">
            <a:avLst/>
          </a:prstGeom>
          <a:noFill/>
        </p:spPr>
        <p:txBody>
          <a:bodyPr wrap="square" anchor="ctr">
            <a:spAutoFit/>
          </a:bodyPr>
          <a:lstStyle/>
          <a:p>
            <a:pPr algn="l">
              <a:lnSpc>
                <a:spcPct val="100000"/>
              </a:lnSpc>
              <a:spcAft>
                <a:spcPts val="600"/>
              </a:spcAft>
            </a:pPr>
            <a:r>
              <a:rPr sz="1900" b="1" i="0">
                <a:solidFill>
                  <a:srgbClr val="142C4F"/>
                </a:solidFill>
                <a:latin typeface="Calibri"/>
              </a:rPr>
              <a:t>U5.7-H1</a:t>
            </a:r>
          </a:p>
        </p:txBody>
      </p:sp>
      <p:sp>
        <p:nvSpPr>
          <p:cNvPr id="10" name="TextBox 9"/>
          <p:cNvSpPr txBox="1"/>
          <p:nvPr/>
        </p:nvSpPr>
        <p:spPr>
          <a:xfrm>
            <a:off x="2743200" y="1609344"/>
            <a:ext cx="8503920" cy="777240"/>
          </a:xfrm>
          <a:prstGeom prst="rect">
            <a:avLst/>
          </a:prstGeom>
          <a:noFill/>
        </p:spPr>
        <p:txBody>
          <a:bodyPr wrap="square" anchor="ctr">
            <a:spAutoFit/>
          </a:bodyPr>
          <a:lstStyle/>
          <a:p>
            <a:pPr algn="l">
              <a:lnSpc>
                <a:spcPct val="100000"/>
              </a:lnSpc>
              <a:spcAft>
                <a:spcPts val="600"/>
              </a:spcAft>
            </a:pPr>
            <a:r>
              <a:rPr sz="1700" b="0" i="0">
                <a:solidFill>
                  <a:srgbClr val="1B1B1B"/>
                </a:solidFill>
                <a:latin typeface="Calibri"/>
              </a:rPr>
              <a:t>Vocabulary — Write 10 words from Unit 5 with Vietnamese meanings.</a:t>
            </a:r>
          </a:p>
        </p:txBody>
      </p:sp>
      <p:sp>
        <p:nvSpPr>
          <p:cNvPr id="11" name="Rounded Rectangle 10"/>
          <p:cNvSpPr/>
          <p:nvPr/>
        </p:nvSpPr>
        <p:spPr>
          <a:xfrm>
            <a:off x="731520" y="2523744"/>
            <a:ext cx="10698480" cy="86868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1005840" y="2578608"/>
            <a:ext cx="1828800" cy="777240"/>
          </a:xfrm>
          <a:prstGeom prst="rect">
            <a:avLst/>
          </a:prstGeom>
          <a:noFill/>
        </p:spPr>
        <p:txBody>
          <a:bodyPr wrap="square" anchor="ctr">
            <a:spAutoFit/>
          </a:bodyPr>
          <a:lstStyle/>
          <a:p>
            <a:pPr algn="l">
              <a:lnSpc>
                <a:spcPct val="100000"/>
              </a:lnSpc>
              <a:spcAft>
                <a:spcPts val="600"/>
              </a:spcAft>
            </a:pPr>
            <a:r>
              <a:rPr sz="1900" b="1" i="0">
                <a:solidFill>
                  <a:srgbClr val="142C4F"/>
                </a:solidFill>
                <a:latin typeface="Calibri"/>
              </a:rPr>
              <a:t>U5.7-H2</a:t>
            </a:r>
          </a:p>
        </p:txBody>
      </p:sp>
      <p:sp>
        <p:nvSpPr>
          <p:cNvPr id="13" name="TextBox 12"/>
          <p:cNvSpPr txBox="1"/>
          <p:nvPr/>
        </p:nvSpPr>
        <p:spPr>
          <a:xfrm>
            <a:off x="2743200" y="2578608"/>
            <a:ext cx="8503920" cy="777240"/>
          </a:xfrm>
          <a:prstGeom prst="rect">
            <a:avLst/>
          </a:prstGeom>
          <a:noFill/>
        </p:spPr>
        <p:txBody>
          <a:bodyPr wrap="square" anchor="ctr">
            <a:spAutoFit/>
          </a:bodyPr>
          <a:lstStyle/>
          <a:p>
            <a:pPr algn="l">
              <a:lnSpc>
                <a:spcPct val="100000"/>
              </a:lnSpc>
              <a:spcAft>
                <a:spcPts val="600"/>
              </a:spcAft>
            </a:pPr>
            <a:r>
              <a:rPr sz="1700" b="0" i="0">
                <a:solidFill>
                  <a:srgbClr val="1B1B1B"/>
                </a:solidFill>
                <a:latin typeface="Calibri"/>
              </a:rPr>
              <a:t>Grammar — Choose the correct answer.</a:t>
            </a:r>
          </a:p>
        </p:txBody>
      </p:sp>
      <p:sp>
        <p:nvSpPr>
          <p:cNvPr id="14" name="Rounded Rectangle 13"/>
          <p:cNvSpPr/>
          <p:nvPr/>
        </p:nvSpPr>
        <p:spPr>
          <a:xfrm>
            <a:off x="731520" y="3493008"/>
            <a:ext cx="10698480" cy="86868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1005840" y="3547872"/>
            <a:ext cx="1828800" cy="777240"/>
          </a:xfrm>
          <a:prstGeom prst="rect">
            <a:avLst/>
          </a:prstGeom>
          <a:noFill/>
        </p:spPr>
        <p:txBody>
          <a:bodyPr wrap="square" anchor="ctr">
            <a:spAutoFit/>
          </a:bodyPr>
          <a:lstStyle/>
          <a:p>
            <a:pPr algn="l">
              <a:lnSpc>
                <a:spcPct val="100000"/>
              </a:lnSpc>
              <a:spcAft>
                <a:spcPts val="600"/>
              </a:spcAft>
            </a:pPr>
            <a:r>
              <a:rPr sz="1900" b="1" i="0">
                <a:solidFill>
                  <a:srgbClr val="142C4F"/>
                </a:solidFill>
                <a:latin typeface="Calibri"/>
              </a:rPr>
              <a:t>U5.7-H3</a:t>
            </a:r>
          </a:p>
        </p:txBody>
      </p:sp>
      <p:sp>
        <p:nvSpPr>
          <p:cNvPr id="16" name="TextBox 15"/>
          <p:cNvSpPr txBox="1"/>
          <p:nvPr/>
        </p:nvSpPr>
        <p:spPr>
          <a:xfrm>
            <a:off x="2743200" y="3547872"/>
            <a:ext cx="8503920" cy="777240"/>
          </a:xfrm>
          <a:prstGeom prst="rect">
            <a:avLst/>
          </a:prstGeom>
          <a:noFill/>
        </p:spPr>
        <p:txBody>
          <a:bodyPr wrap="square" anchor="ctr">
            <a:spAutoFit/>
          </a:bodyPr>
          <a:lstStyle/>
          <a:p>
            <a:pPr algn="l">
              <a:lnSpc>
                <a:spcPct val="100000"/>
              </a:lnSpc>
              <a:spcAft>
                <a:spcPts val="600"/>
              </a:spcAft>
            </a:pPr>
            <a:r>
              <a:rPr sz="1700" b="0" i="0">
                <a:solidFill>
                  <a:srgbClr val="1B1B1B"/>
                </a:solidFill>
                <a:latin typeface="Calibri"/>
              </a:rPr>
              <a:t>Writing — Write a recipe (ingredients + 6 steps) for the class cookbook.</a:t>
            </a:r>
          </a:p>
        </p:txBody>
      </p:sp>
      <p:sp>
        <p:nvSpPr>
          <p:cNvPr id="17" name="Rounded Rectangle 16"/>
          <p:cNvSpPr/>
          <p:nvPr/>
        </p:nvSpPr>
        <p:spPr>
          <a:xfrm>
            <a:off x="731520" y="4462272"/>
            <a:ext cx="10698480" cy="86868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1005840" y="4517136"/>
            <a:ext cx="1828800" cy="777240"/>
          </a:xfrm>
          <a:prstGeom prst="rect">
            <a:avLst/>
          </a:prstGeom>
          <a:noFill/>
        </p:spPr>
        <p:txBody>
          <a:bodyPr wrap="square" anchor="ctr">
            <a:spAutoFit/>
          </a:bodyPr>
          <a:lstStyle/>
          <a:p>
            <a:pPr algn="l">
              <a:lnSpc>
                <a:spcPct val="100000"/>
              </a:lnSpc>
              <a:spcAft>
                <a:spcPts val="600"/>
              </a:spcAft>
            </a:pPr>
            <a:r>
              <a:rPr sz="1900" b="1" i="0">
                <a:solidFill>
                  <a:srgbClr val="142C4F"/>
                </a:solidFill>
                <a:latin typeface="Calibri"/>
              </a:rPr>
              <a:t>U5.7-H4</a:t>
            </a:r>
          </a:p>
        </p:txBody>
      </p:sp>
      <p:sp>
        <p:nvSpPr>
          <p:cNvPr id="19" name="TextBox 18"/>
          <p:cNvSpPr txBox="1"/>
          <p:nvPr/>
        </p:nvSpPr>
        <p:spPr>
          <a:xfrm>
            <a:off x="2743200" y="4517136"/>
            <a:ext cx="8503920" cy="777240"/>
          </a:xfrm>
          <a:prstGeom prst="rect">
            <a:avLst/>
          </a:prstGeom>
          <a:noFill/>
        </p:spPr>
        <p:txBody>
          <a:bodyPr wrap="square" anchor="ctr">
            <a:spAutoFit/>
          </a:bodyPr>
          <a:lstStyle/>
          <a:p>
            <a:pPr algn="l">
              <a:lnSpc>
                <a:spcPct val="100000"/>
              </a:lnSpc>
              <a:spcAft>
                <a:spcPts val="600"/>
              </a:spcAft>
            </a:pPr>
            <a:r>
              <a:rPr sz="1700" b="0" i="0">
                <a:solidFill>
                  <a:srgbClr val="1B1B1B"/>
                </a:solidFill>
                <a:latin typeface="Calibri"/>
              </a:rPr>
              <a:t>Prepare for Unit 6 — Write five things you can see in your school and five school subjects, in English or Vietnamese.</a:t>
            </a:r>
          </a:p>
        </p:txBody>
      </p:sp>
      <p:sp>
        <p:nvSpPr>
          <p:cNvPr id="20" name="TextBox 19"/>
          <p:cNvSpPr txBox="1"/>
          <p:nvPr/>
        </p:nvSpPr>
        <p:spPr>
          <a:xfrm>
            <a:off x="731520" y="5989320"/>
            <a:ext cx="10698480" cy="640080"/>
          </a:xfrm>
          <a:prstGeom prst="rect">
            <a:avLst/>
          </a:prstGeom>
          <a:noFill/>
        </p:spPr>
        <p:txBody>
          <a:bodyPr wrap="square" anchor="t">
            <a:spAutoFit/>
          </a:bodyPr>
          <a:lstStyle/>
          <a:p>
            <a:pPr algn="ctr">
              <a:lnSpc>
                <a:spcPct val="100000"/>
              </a:lnSpc>
              <a:spcAft>
                <a:spcPts val="600"/>
              </a:spcAft>
            </a:pPr>
            <a:r>
              <a:rPr sz="1800" b="0" i="0">
                <a:solidFill>
                  <a:srgbClr val="6B7280"/>
                </a:solidFill>
                <a:latin typeface="Calibri"/>
              </a:rPr>
              <a:t>Homework Book, section U5L7   ·   See you next lesson! 👋</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