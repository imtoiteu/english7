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5  ·  LESSON 5  ·  PERIOD 35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Vietnamese street food + Speaking: Describe a dish</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230-word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a dish for 90 seconds using a four-point plan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 speaker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Food alphabet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Teams write one food word for as many letters as they can in two minutes.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Write food words A–Z.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stall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/stɔːl/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quầy hàng, gánh hàng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pho stall on every corner.</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fresh</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/freʃ/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tươi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herbs must be fresh.</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customer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/ˈkʌstəmə/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khách hàng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She has the same customers every morning.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famous for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/ˈfeɪməs fɔː/   (adj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nổi tiếng về</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Hue is famous for bun bo.</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secret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/ˈsiːkrət/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bí quyết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secret is in the broth.</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serve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/sɜːv/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phục vụ, dọn ra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She serves 200 bowls a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famous for + noun/V-ing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serve … with …</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secret is…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is best when…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Describing a dish: word order and useful patterns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Name + is a + (adjective) + dish from + place.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is made with + ingredients.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is served with + side dish.</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You eat it + when/how.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Pattern</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 is a … dish from …</a:t>
                      </a:r>
                    </a:p>
                  </a:txBody>
                  <a:tcPr>
                    <a:solidFill>
                      <a:srgbClr val="E3F3EE"/>
                    </a:solidFill>
                  </a:tcPr>
                </a:tc>
                <a:tc>
                  <a:txBody>
                    <a:bodyPr/>
                    <a:lstStyle/>
                    <a:p>
                      <a:r>
                        <a:rPr sz="1600" b="0">
                          <a:solidFill>
                            <a:srgbClr val="1B1B1B"/>
                          </a:solidFill>
                          <a:latin typeface="Calibri"/>
                        </a:rPr>
                        <a:t>Bun cha is a grilled pork dish from Hanoi.</a:t>
                      </a:r>
                    </a:p>
                  </a:txBody>
                  <a:tcPr>
                    <a:solidFill>
                      <a:srgbClr val="E3F3EE"/>
                    </a:solidFill>
                  </a:tcPr>
                </a:tc>
              </a:tr>
              <a:tr h="566928">
                <a:tc>
                  <a:txBody>
                    <a:bodyPr/>
                    <a:lstStyle/>
                    <a:p>
                      <a:r>
                        <a:rPr sz="1600" b="0">
                          <a:solidFill>
                            <a:srgbClr val="1B1B1B"/>
                          </a:solidFill>
                          <a:latin typeface="Calibri"/>
                        </a:rPr>
                        <a:t>It is made with…</a:t>
                      </a:r>
                    </a:p>
                  </a:txBody>
                  <a:tcPr>
                    <a:solidFill>
                      <a:srgbClr val="FFFFFF"/>
                    </a:solidFill>
                  </a:tcPr>
                </a:tc>
                <a:tc>
                  <a:txBody>
                    <a:bodyPr/>
                    <a:lstStyle/>
                    <a:p>
                      <a:r>
                        <a:rPr sz="1600" b="0">
                          <a:solidFill>
                            <a:srgbClr val="1B1B1B"/>
                          </a:solidFill>
                          <a:latin typeface="Calibri"/>
                        </a:rPr>
                        <a:t>It is made with pork, noodles and herbs.</a:t>
                      </a:r>
                    </a:p>
                  </a:txBody>
                  <a:tcPr>
                    <a:solidFill>
                      <a:srgbClr val="FFFFFF"/>
                    </a:solidFill>
                  </a:tcPr>
                </a:tc>
              </a:tr>
              <a:tr h="566928">
                <a:tc>
                  <a:txBody>
                    <a:bodyPr/>
                    <a:lstStyle/>
                    <a:p>
                      <a:r>
                        <a:rPr sz="1600" b="0">
                          <a:solidFill>
                            <a:srgbClr val="1B1B1B"/>
                          </a:solidFill>
                          <a:latin typeface="Calibri"/>
                        </a:rPr>
                        <a:t>It is served with…</a:t>
                      </a:r>
                    </a:p>
                  </a:txBody>
                  <a:tcPr>
                    <a:solidFill>
                      <a:srgbClr val="E3F3EE"/>
                    </a:solidFill>
                  </a:tcPr>
                </a:tc>
                <a:tc>
                  <a:txBody>
                    <a:bodyPr/>
                    <a:lstStyle/>
                    <a:p>
                      <a:r>
                        <a:rPr sz="1600" b="0">
                          <a:solidFill>
                            <a:srgbClr val="1B1B1B"/>
                          </a:solidFill>
                          <a:latin typeface="Calibri"/>
                        </a:rPr>
                        <a:t>It is served with fresh herbs and dipping sauce.</a:t>
                      </a:r>
                    </a:p>
                  </a:txBody>
                  <a:tcPr>
                    <a:solidFill>
                      <a:srgbClr val="E3F3EE"/>
                    </a:solidFill>
                  </a:tcPr>
                </a:tc>
              </a:tr>
              <a:tr h="566928">
                <a:tc>
                  <a:txBody>
                    <a:bodyPr/>
                    <a:lstStyle/>
                    <a:p>
                      <a:r>
                        <a:rPr sz="1600" b="0">
                          <a:solidFill>
                            <a:srgbClr val="1B1B1B"/>
                          </a:solidFill>
                          <a:latin typeface="Calibri"/>
                        </a:rPr>
                        <a:t>People eat it…</a:t>
                      </a:r>
                    </a:p>
                  </a:txBody>
                  <a:tcPr>
                    <a:solidFill>
                      <a:srgbClr val="FFFFFF"/>
                    </a:solidFill>
                  </a:tcPr>
                </a:tc>
                <a:tc>
                  <a:txBody>
                    <a:bodyPr/>
                    <a:lstStyle/>
                    <a:p>
                      <a:r>
                        <a:rPr sz="1600" b="0">
                          <a:solidFill>
                            <a:srgbClr val="1B1B1B"/>
                          </a:solidFill>
                          <a:latin typeface="Calibri"/>
                        </a:rPr>
                        <a:t>People eat it for lunch, not for dinner.</a:t>
                      </a:r>
                    </a:p>
                  </a:txBody>
                  <a:tcPr>
                    <a:solidFill>
                      <a:srgbClr val="FFFFFF"/>
                    </a:solidFill>
                  </a:tcPr>
                </a:tc>
              </a:tr>
              <a:tr h="566928">
                <a:tc>
                  <a:txBody>
                    <a:bodyPr/>
                    <a:lstStyle/>
                    <a:p>
                      <a:r>
                        <a:rPr sz="1600" b="0">
                          <a:solidFill>
                            <a:srgbClr val="1B1B1B"/>
                          </a:solidFill>
                          <a:latin typeface="Calibri"/>
                        </a:rPr>
                        <a:t>The secret is…</a:t>
                      </a:r>
                    </a:p>
                  </a:txBody>
                  <a:tcPr>
                    <a:solidFill>
                      <a:srgbClr val="E3F3EE"/>
                    </a:solidFill>
                  </a:tcPr>
                </a:tc>
                <a:tc>
                  <a:txBody>
                    <a:bodyPr/>
                    <a:lstStyle/>
                    <a:p>
                      <a:r>
                        <a:rPr sz="1600" b="0">
                          <a:solidFill>
                            <a:srgbClr val="1B1B1B"/>
                          </a:solidFill>
                          <a:latin typeface="Calibri"/>
                        </a:rPr>
                        <a:t>The secret is the charcoal fire.</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Cao lau is a noodle dish from Hoi An. It is made with thick noodles, pork and greens, and it is served with crispy rice…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translate 'Món này được làm bằng…' as *This dish is made by…*. For ingredients, English uses MADE WITH (or made from for raw material).</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Cao lau is a noodle dish from Hoi An. It is made with thick noodles, pork and greens, and it is served with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Sentence stress in descriptions and pausing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Stress the content words: 'Bun CHA is a GRILLED PORK dish from HA-NOI.' Pause between the information groups.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is MADE with PORK, / NOODLES / and HERBS.</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is SERVED with FRESH HERBS / and DIPPING SAUCE.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Cao LAU is a NOODLE dish / from HOI AN. / It is MADE with THICK NOODLES / and PORK.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do you eat for breakfast?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one person eats for breakfast. Single speaker — Hazal / Turkiye. It lasts 1:04.</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1:04 · Single speaker — Hazal / Turkiye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one person eats for breakfast B. when one person starts and finishes the day C. months of the year and when things happen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what do you eat for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Generally, I eat bread, eggs, and cheese for _____ because bread keeps me full.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Egg is easy to make and also keeps me full, and _____ is very delicious.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like to drink coffee with my breakfast _____ coffee helps me wake up.</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love to _____ breakfast because breakfast gives me energy for the day, and it is very delicious.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Street food: the real kitchen of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many countries, the best food is in expensive restaurants. In Viet Nam it is often on a small plastic stool on the pavement. Take Mrs Bay, who has sold bun rieu at the same corner in Ho Chi Minh City for twenty-eight years. She gets up at half past three, goes to the market at four, and cooks until six. By eleven o'clock she has served about two hundred bowls, and the pot is empty. Her customers are students, motorbike drivers, office workers and, more and more, tourists with cameras. 'They ask me for the recipe,' she laughs. 'I always tell them. The recipe is not the secret. The secret is the crab, and the crab must be fresh — it comes from the same seller every morning.' Street food is cheap: a bowl costs between 30,000 and 50,000 dong. But it is not cheap food. Most dishes take hours to prepare, and many families have used the same recipe for three generations. Some people worry 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to open a restaurant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Why Vietnamese street food is special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history of bun rieu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has Mrs Bay sold bun rieu at the same corner?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time does she get up, and what time does she go to the market?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many bowls does she serve by eleven o'clock?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According to Mrs Bay, what is the secret?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much does one bowl cost?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path at the side of the road (paragraph 1)</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people who buy something (paragraph 3)</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slowly going away (paragraph 5)</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to continue to exist (paragraph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the writer say street food 'is not cheap food'?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 you think Mrs Bay gives tourists the recipe?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Do you agree that street food will survive? Why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article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Mrs Bay cooks from four until six.</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serves about a hundred bowls a 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Her customers include tourists.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She refuses to give her recipe.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Some people think street food is disappearing.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Pho is a noodle dish ______ Hanoi.</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is made ______ rice noodles and beef.</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is served ______ fresh herbs and lemon.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Hue is famous ______ bun bo.</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secret ______ the broth.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about Mrs Bay in five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Who / where / her day / her customers / her secret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U5.5-S2 in your group.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U5.5-S2 in your group.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description of a dish.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it is and where it comes from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it is made with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it is served and eaten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you like it / the secret ______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one question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'It is a … dish from…', 'It is made with…', 'It is served with…', 'The secret 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Showing interest in someone's culture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 sounds delicious!</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Where can I try it?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does it cost?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it spicy?</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you show me how to make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are talking to a foreign student. Describe one Vietnamese dish and answer three questions about it.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four notes into five sentences.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four notes into five sentences.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Describing a dish in four points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made with / served with / famous for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stall, fresh, customer, famous for, serve, secret.</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dish description as a paragraph (80–90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description three times. Time it: 90 seconds.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U5L5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