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6  ·  PERIOD 38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recipe + Writing: Write a recipe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recipe and complete the ingredients and the steps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structure of a written recipe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clear recipe with ingredients, quantities and 5–7 steps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recipe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Mime the cooking verb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mime boil, fry, chop, mix, stir, pour; the class says the verb.</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Mime and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add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/æd/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thêm vào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Add two spoonfuls of sugar.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pour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/pɔː/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đổ, rót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Pour the mixture into the pan.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heat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/hiːt/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làm nóng; nhiệt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Heat the oil in a pan.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slice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/slaɪs/   (v/n)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thái lát; lát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Slice the cucumber thinly.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stir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/stɜː/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khuấy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Stir for two minutes.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until</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/ənˈtɪl/   (conj)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cho đến khi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Cook until the rice is soft.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Heat the oil…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Add the…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Cook for … minutes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until it is golden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Serve hot / cold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Recipe language: imperatives, sequence words and 'until' (w…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recipe has two parts: INGREDIENTS (with quantities) and METHOD (the steps).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Every step is an IMPERATIVE: Heat the oil. Add the onion. Do NOT write 'You heat…'.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sequence words: First, Then, After that, Next, Finally.</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'for' + time (for five minutes) and 'until' + result (until it is golden).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Ingredients</a:t>
                      </a:r>
                    </a:p>
                  </a:txBody>
                  <a:tcPr>
                    <a:solidFill>
                      <a:srgbClr val="E3F3EE"/>
                    </a:solidFill>
                  </a:tcPr>
                </a:tc>
                <a:tc>
                  <a:txBody>
                    <a:bodyPr/>
                    <a:lstStyle/>
                    <a:p>
                      <a:r>
                        <a:rPr sz="1600" b="0">
                          <a:solidFill>
                            <a:srgbClr val="1B1B1B"/>
                          </a:solidFill>
                          <a:latin typeface="Calibri"/>
                        </a:rPr>
                        <a:t>quantity + of + food</a:t>
                      </a:r>
                    </a:p>
                  </a:txBody>
                  <a:tcPr>
                    <a:solidFill>
                      <a:srgbClr val="E3F3EE"/>
                    </a:solidFill>
                  </a:tcPr>
                </a:tc>
                <a:tc>
                  <a:txBody>
                    <a:bodyPr/>
                    <a:lstStyle/>
                    <a:p>
                      <a:r>
                        <a:rPr sz="1600" b="0">
                          <a:solidFill>
                            <a:srgbClr val="1B1B1B"/>
                          </a:solidFill>
                          <a:latin typeface="Calibri"/>
                        </a:rPr>
                        <a:t>300 grams of rice flour</a:t>
                      </a:r>
                    </a:p>
                  </a:txBody>
                  <a:tcPr>
                    <a:solidFill>
                      <a:srgbClr val="E3F3EE"/>
                    </a:solidFill>
                  </a:tcPr>
                </a:tc>
              </a:tr>
              <a:tr h="566928">
                <a:tc>
                  <a:txBody>
                    <a:bodyPr/>
                    <a:lstStyle/>
                    <a:p>
                      <a:r>
                        <a:rPr sz="1600" b="0">
                          <a:solidFill>
                            <a:srgbClr val="1B1B1B"/>
                          </a:solidFill>
                          <a:latin typeface="Calibri"/>
                        </a:rPr>
                        <a:t>Step</a:t>
                      </a:r>
                    </a:p>
                  </a:txBody>
                  <a:tcPr>
                    <a:solidFill>
                      <a:srgbClr val="FFFFFF"/>
                    </a:solidFill>
                  </a:tcPr>
                </a:tc>
                <a:tc>
                  <a:txBody>
                    <a:bodyPr/>
                    <a:lstStyle/>
                    <a:p>
                      <a:r>
                        <a:rPr sz="1600" b="0">
                          <a:solidFill>
                            <a:srgbClr val="1B1B1B"/>
                          </a:solidFill>
                          <a:latin typeface="Calibri"/>
                        </a:rPr>
                        <a:t>imperative</a:t>
                      </a:r>
                    </a:p>
                  </a:txBody>
                  <a:tcPr>
                    <a:solidFill>
                      <a:srgbClr val="FFFFFF"/>
                    </a:solidFill>
                  </a:tcPr>
                </a:tc>
                <a:tc>
                  <a:txBody>
                    <a:bodyPr/>
                    <a:lstStyle/>
                    <a:p>
                      <a:r>
                        <a:rPr sz="1600" b="0">
                          <a:solidFill>
                            <a:srgbClr val="1B1B1B"/>
                          </a:solidFill>
                          <a:latin typeface="Calibri"/>
                        </a:rPr>
                        <a:t>Heat the oil in a large pan.</a:t>
                      </a:r>
                    </a:p>
                  </a:txBody>
                  <a:tcPr>
                    <a:solidFill>
                      <a:srgbClr val="FFFFFF"/>
                    </a:solidFill>
                  </a:tcPr>
                </a:tc>
              </a:tr>
              <a:tr h="566928">
                <a:tc>
                  <a:txBody>
                    <a:bodyPr/>
                    <a:lstStyle/>
                    <a:p>
                      <a:r>
                        <a:rPr sz="1600" b="0">
                          <a:solidFill>
                            <a:srgbClr val="1B1B1B"/>
                          </a:solidFill>
                          <a:latin typeface="Calibri"/>
                        </a:rPr>
                        <a:t>Order</a:t>
                      </a:r>
                    </a:p>
                  </a:txBody>
                  <a:tcPr>
                    <a:solidFill>
                      <a:srgbClr val="E3F3EE"/>
                    </a:solidFill>
                  </a:tcPr>
                </a:tc>
                <a:tc>
                  <a:txBody>
                    <a:bodyPr/>
                    <a:lstStyle/>
                    <a:p>
                      <a:r>
                        <a:rPr sz="1600" b="0">
                          <a:solidFill>
                            <a:srgbClr val="1B1B1B"/>
                          </a:solidFill>
                          <a:latin typeface="Calibri"/>
                        </a:rPr>
                        <a:t>First / Then / After that / Finally</a:t>
                      </a:r>
                    </a:p>
                  </a:txBody>
                  <a:tcPr>
                    <a:solidFill>
                      <a:srgbClr val="E3F3EE"/>
                    </a:solidFill>
                  </a:tcPr>
                </a:tc>
                <a:tc>
                  <a:txBody>
                    <a:bodyPr/>
                    <a:lstStyle/>
                    <a:p>
                      <a:r>
                        <a:rPr sz="1600" b="0">
                          <a:solidFill>
                            <a:srgbClr val="1B1B1B"/>
                          </a:solidFill>
                          <a:latin typeface="Calibri"/>
                        </a:rPr>
                        <a:t>Then add the prawns.</a:t>
                      </a:r>
                    </a:p>
                  </a:txBody>
                  <a:tcPr>
                    <a:solidFill>
                      <a:srgbClr val="E3F3EE"/>
                    </a:solidFill>
                  </a:tcPr>
                </a:tc>
              </a:tr>
              <a:tr h="566928">
                <a:tc>
                  <a:txBody>
                    <a:bodyPr/>
                    <a:lstStyle/>
                    <a:p>
                      <a:r>
                        <a:rPr sz="1600" b="0">
                          <a:solidFill>
                            <a:srgbClr val="1B1B1B"/>
                          </a:solidFill>
                          <a:latin typeface="Calibri"/>
                        </a:rPr>
                        <a:t>Time</a:t>
                      </a:r>
                    </a:p>
                  </a:txBody>
                  <a:tcPr>
                    <a:solidFill>
                      <a:srgbClr val="FFFFFF"/>
                    </a:solidFill>
                  </a:tcPr>
                </a:tc>
                <a:tc>
                  <a:txBody>
                    <a:bodyPr/>
                    <a:lstStyle/>
                    <a:p>
                      <a:r>
                        <a:rPr sz="1600" b="0">
                          <a:solidFill>
                            <a:srgbClr val="1B1B1B"/>
                          </a:solidFill>
                          <a:latin typeface="Calibri"/>
                        </a:rPr>
                        <a:t>for + period</a:t>
                      </a:r>
                    </a:p>
                  </a:txBody>
                  <a:tcPr>
                    <a:solidFill>
                      <a:srgbClr val="FFFFFF"/>
                    </a:solidFill>
                  </a:tcPr>
                </a:tc>
                <a:tc>
                  <a:txBody>
                    <a:bodyPr/>
                    <a:lstStyle/>
                    <a:p>
                      <a:r>
                        <a:rPr sz="1600" b="0">
                          <a:solidFill>
                            <a:srgbClr val="1B1B1B"/>
                          </a:solidFill>
                          <a:latin typeface="Calibri"/>
                        </a:rPr>
                        <a:t>Fry for three minutes.</a:t>
                      </a:r>
                    </a:p>
                  </a:txBody>
                  <a:tcPr>
                    <a:solidFill>
                      <a:srgbClr val="FFFFFF"/>
                    </a:solidFill>
                  </a:tcPr>
                </a:tc>
              </a:tr>
              <a:tr h="566928">
                <a:tc>
                  <a:txBody>
                    <a:bodyPr/>
                    <a:lstStyle/>
                    <a:p>
                      <a:r>
                        <a:rPr sz="1600" b="0">
                          <a:solidFill>
                            <a:srgbClr val="1B1B1B"/>
                          </a:solidFill>
                          <a:latin typeface="Calibri"/>
                        </a:rPr>
                        <a:t>Result</a:t>
                      </a:r>
                    </a:p>
                  </a:txBody>
                  <a:tcPr>
                    <a:solidFill>
                      <a:srgbClr val="E3F3EE"/>
                    </a:solidFill>
                  </a:tcPr>
                </a:tc>
                <a:tc>
                  <a:txBody>
                    <a:bodyPr/>
                    <a:lstStyle/>
                    <a:p>
                      <a:r>
                        <a:rPr sz="1600" b="0">
                          <a:solidFill>
                            <a:srgbClr val="1B1B1B"/>
                          </a:solidFill>
                          <a:latin typeface="Calibri"/>
                        </a:rPr>
                        <a:t>until + clause</a:t>
                      </a:r>
                    </a:p>
                  </a:txBody>
                  <a:tcPr>
                    <a:solidFill>
                      <a:srgbClr val="E3F3EE"/>
                    </a:solidFill>
                  </a:tcPr>
                </a:tc>
                <a:tc>
                  <a:txBody>
                    <a:bodyPr/>
                    <a:lstStyle/>
                    <a:p>
                      <a:r>
                        <a:rPr sz="1600" b="0">
                          <a:solidFill>
                            <a:srgbClr val="1B1B1B"/>
                          </a:solidFill>
                          <a:latin typeface="Calibri"/>
                        </a:rPr>
                        <a:t>Cook until the pancake is crispy.</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heat two spoonfuls of oil in a hot pan.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Then pour in the mixture and cook for three minutes until it is crispy.</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Finally, serve it hot with fresh herbs.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'You must heat the oil' or 'The oil is heated'. A recipe is short and direct: the imperative only. Also 'in 5 minutes' ≠ 'for 5 minutes'.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First, heat two spoonfuls of oil in a hot pan.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Clear imperatives and the /ɜː/ sound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Imperatives start strongly on the verb: HEAT the oil. ADD the onion. Watch /ɜː/ in stir, serve, first.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stir /stɜː/</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serve /sɜːv/</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/fɜːst/</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HEAT the oil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First, heat the oil. Then stir for two minutes. Finally, serve it hot.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fruits do you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which fruits one person likes. Single speaker — Rocio / El Salvador. It lasts 0:59.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0:59 · Single speaker — Rocio / El Salvador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fruits one person likes B. plans for a trip next summer C. experiences people have had in their lives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In El Salvador, we have many tropical fruits.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 don't like sour fruits, like lemons or grapefruits when they are green, like a green apple or green grapes.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like pineapples, but I love grapes.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Hello, my name is Rocio and I am from El Salvador.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And you, what fruits do you like?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what fruits do you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fruits do I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love them when they are really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Model recipe: Vietnamese iced coffee (ca phe sua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INGREDIENTS (for one glass) · 25 grams of coffee (ground, dark roast) · 60 ml of hot water · 3 spoonfuls of condensed milk · a glass of ice METHOD 1. First, put the condensed milk in the bottom of a glass. 2. Then put the coffee in the metal filter and press it down gently. 3. After that, pour a little hot water on top and wait thirty seconds. 4. Next, pour in the rest of the water and wait. The coffee drips slowly — this takes about four minutes. Do not hurry it! 5. When the filter is empty, stir the coffee and the milk together until the colour is even. 6. Finally, pour everything over a glass of ice and stir once more. Serve immediately. TIP: The slower the coffee drips, the stronger it tastes.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are the two main parts of a recipe?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ingredients are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five sequence words are used?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two time expressions with 'for' or a number.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Which sentence uses 'until'?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heat, add, pour, stir, slice, serve.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the oil in a pan.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the onion thinly.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the eggs into the pan.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for two minutes.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a little salt.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heat, add, pour, stir, slice, serve.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it hot with rice.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Fry the onion ______ two minutes.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Cook the rice ______ it is soft.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Stir ______ the sugar disappears.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Boil the peanuts ______ twenty minutes.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Wait ______ the coffee stops dripping.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U5.6-W1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U5.6-W1 and 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dictation role play (communication section).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dictation role play (communication section).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recipe steps aloud before you write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First / Then / After that / Next / Finally and an imperative each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Giving and checking instructions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you need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repeat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for?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And then what?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dictates a recipe; B writes it down and asks three checking questions. Compare with the original.</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Dish: ______ (for how many people: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Ingredients with quantities (5–7):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1 (First,…):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2 (Then,…):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3 (After that,…):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4 (Next,…):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5 (Finally,…):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tip: ______</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complete recipe (ingredients + 5–7 steps).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a complete recipe (ingredients + 5–7 steps).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recipes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parts (ingredients + method)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5–7 ingredients with quantities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every step starts with a verb (imperative)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four sequence words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time expression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recipes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'until'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can I really cook it from this?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Recipe = ingredients + method</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Imperatives + sequence words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 time / until + result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fried rice recipe.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as imperatives.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recipe neatly after your partner's check and hand it in for the class cookbook.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recipe aloud to someone at home. Can they follow it without asking a question?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