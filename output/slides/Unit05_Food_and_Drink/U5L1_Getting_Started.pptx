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1  ·  PERIOD 31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What's your favourite food?</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twelve common foods and drinks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food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family meal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dish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chain game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'I went to the market and I bought rice…' Each student repeats and adds one food.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food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rice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/raɪs/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cơm, gạo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eat rice twice a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noodles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/ˈnuːdlz/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mì, phở</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Noodles are popular for breakfast.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beef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/biːf/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thịt bò</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 bo is made with beef.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seafood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/ˈsiːfuːd/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hải sản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Seafood is fresh in the coastal towns.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vegetables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/ˈvedʒtəblz/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rau củ</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Eat vegetables with every meal.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fruit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/fruːt/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trái cây</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Fruit is cheaper in summer.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soup</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/suːp/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canh, súp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makes fish soup.</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/dɪʃ/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món ăn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Banh xeo is my favourite dish.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delicious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/dɪˈlɪʃəs/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ngon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banh mi was delicious.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spicy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/ˈspaɪsi/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Bun bo Hue is quite spicy.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sweet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/swiːt/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ngọt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Che is a sweet dessert.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salty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/ˈsɔːlti/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mặn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soup is a little too salty.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your favourite food?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made of / made with…</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hungry / thirsty.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breakfast / lunch / dinner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tastes + adjective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'taste', 'smell' + adjective (recycling look/sound from Uni…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taste + adjective: This soup tastes salty.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smell + adjective: The bread smells wonderful.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As in Unit 4, no 'like' before an adjective; use 'like' before a noun: It tastes like chicken.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taste + adjective</a:t>
                      </a:r>
                    </a:p>
                  </a:txBody>
                  <a:tcPr>
                    <a:solidFill>
                      <a:srgbClr val="E3F3EE"/>
                    </a:solidFill>
                  </a:tcPr>
                </a:tc>
                <a:tc>
                  <a:txBody>
                    <a:bodyPr/>
                    <a:lstStyle/>
                    <a:p>
                      <a:r>
                        <a:rPr sz="1600" b="0">
                          <a:solidFill>
                            <a:srgbClr val="1B1B1B"/>
                          </a:solidFill>
                          <a:latin typeface="Calibri"/>
                        </a:rPr>
                        <a:t>The mango tastes sweet.</a:t>
                      </a:r>
                    </a:p>
                  </a:txBody>
                  <a:tcPr>
                    <a:solidFill>
                      <a:srgbClr val="E3F3EE"/>
                    </a:solidFill>
                  </a:tcPr>
                </a:tc>
              </a:tr>
              <a:tr h="566928">
                <a:tc>
                  <a:txBody>
                    <a:bodyPr/>
                    <a:lstStyle/>
                    <a:p>
                      <a:r>
                        <a:rPr sz="1600" b="0">
                          <a:solidFill>
                            <a:srgbClr val="1B1B1B"/>
                          </a:solidFill>
                          <a:latin typeface="Calibri"/>
                        </a:rPr>
                        <a:t>taste like + noun</a:t>
                      </a:r>
                    </a:p>
                  </a:txBody>
                  <a:tcPr>
                    <a:solidFill>
                      <a:srgbClr val="FFFFFF"/>
                    </a:solidFill>
                  </a:tcPr>
                </a:tc>
                <a:tc>
                  <a:txBody>
                    <a:bodyPr/>
                    <a:lstStyle/>
                    <a:p>
                      <a:r>
                        <a:rPr sz="1600" b="0">
                          <a:solidFill>
                            <a:srgbClr val="1B1B1B"/>
                          </a:solidFill>
                          <a:latin typeface="Calibri"/>
                        </a:rPr>
                        <a:t>It tastes like a pineapple.</a:t>
                      </a:r>
                    </a:p>
                  </a:txBody>
                  <a:tcPr>
                    <a:solidFill>
                      <a:srgbClr val="FFFFFF"/>
                    </a:solidFill>
                  </a:tcPr>
                </a:tc>
              </a:tr>
              <a:tr h="566928">
                <a:tc>
                  <a:txBody>
                    <a:bodyPr/>
                    <a:lstStyle/>
                    <a:p>
                      <a:r>
                        <a:rPr sz="1600" b="0">
                          <a:solidFill>
                            <a:srgbClr val="1B1B1B"/>
                          </a:solidFill>
                          <a:latin typeface="Calibri"/>
                        </a:rPr>
                        <a:t>smell + adjective</a:t>
                      </a:r>
                    </a:p>
                  </a:txBody>
                  <a:tcPr>
                    <a:solidFill>
                      <a:srgbClr val="E3F3EE"/>
                    </a:solidFill>
                  </a:tcPr>
                </a:tc>
                <a:tc>
                  <a:txBody>
                    <a:bodyPr/>
                    <a:lstStyle/>
                    <a:p>
                      <a:r>
                        <a:rPr sz="1600" b="0">
                          <a:solidFill>
                            <a:srgbClr val="1B1B1B"/>
                          </a:solidFill>
                          <a:latin typeface="Calibri"/>
                        </a:rPr>
                        <a:t>The kitchen smells good.</a:t>
                      </a:r>
                    </a:p>
                  </a:txBody>
                  <a:tcPr>
                    <a:solidFill>
                      <a:srgbClr val="E3F3EE"/>
                    </a:solidFill>
                  </a:tcPr>
                </a:tc>
              </a:tr>
              <a:tr h="566928">
                <a:tc>
                  <a:txBody>
                    <a:bodyPr/>
                    <a:lstStyle/>
                    <a:p>
                      <a:r>
                        <a:rPr sz="1600" b="0">
                          <a:solidFill>
                            <a:srgbClr val="1B1B1B"/>
                          </a:solidFill>
                          <a:latin typeface="Calibri"/>
                        </a:rPr>
                        <a:t>be made of / with</a:t>
                      </a:r>
                    </a:p>
                  </a:txBody>
                  <a:tcPr>
                    <a:solidFill>
                      <a:srgbClr val="FFFFFF"/>
                    </a:solidFill>
                  </a:tcPr>
                </a:tc>
                <a:tc>
                  <a:txBody>
                    <a:bodyPr/>
                    <a:lstStyle/>
                    <a:p>
                      <a:r>
                        <a:rPr sz="1600" b="0">
                          <a:solidFill>
                            <a:srgbClr val="1B1B1B"/>
                          </a:solidFill>
                          <a:latin typeface="Calibri"/>
                        </a:rPr>
                        <a:t>Pho is made with rice noodles and beef.</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dish tastes spicy.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soup smells delicious.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Banh xeo is made with rice flour, prawns and bean sprouts.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tastes like delicious* — 'like' only before a NOUN. Also *It's very delicious*: 'delicious' already means 'very tasty', so 'very' is not needed.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This dish tastes spicy.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/ɒ/ (short) and /ɔː/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/ɒ/ is short with the mouth open: hot, pot, not, coffee. /ɔː/ is long with rounded lips: salty, water, sauce, four, more.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/ɒ/: hot, pot, not, coffee, chocolate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/ɔː/: salty, water, sauce, sport, more, small</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not – naught | pot – port | cot – caught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 pot is not too salty.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More water, please — and a small sauce.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Hot coffee or cold water?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35: Let’s Make Dinner!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cooking dinner together. American English — VOA’s professional actors (Anna, Pete, Marsha, Ms. Weaver…), slowed learner delivery. It lasts 2:47.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2:47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cooking dinner together B. when one person starts and finishes the day C. reading the news and always making the same mistake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Terms of Use and Privacy Notice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these are the wrong ingredients!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Let’s Learn English - Level 4 - Lesson 35: Let's Make Dinner!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this is the shopping list for breakfast.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But, sometimes it's more fun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I said, take the shopping list - on the refrigerator - for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Marsha, there was no shopping list - on the refrigerator - for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Quiz - Lesson 35: Let's _____ Dinner!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35: Let’s _____ Dinner!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meals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Breakfast in Viet Nam is usually hot and savoury, not sweet. Many people eat pho, bun or xoi (sticky rice) at a small shop on the way to work or school. In the north, a bowl of pho costs about 40,000 dong. Lunch is often the biggest meal. A typical family lunch has rice, a meat or fish dish, a plate of vegetables and a bowl of soup, all on the table at the same time. Everybody shares. Dinner is similar to lunch but a little lighter, and it is the meal when the whole family sits together. Fruit — not cake — is the usual dessert. Of course, this is changing. In big cities, more and more young people eat bread, milk or fast food for breakfast, and some families eat in front of the television.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Is Vietnamese breakfast usually sweet?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Name three breakfast dishes from the text.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four things are on the table at a typical lunch?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usual dessert?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changing in big cities?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words in the right group.</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rice   beef   watermelon   fish   noodles   carrot   prawn   mango</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Meat/fish: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Fruit: ______</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Vegetables: ______</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Other: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soup ______ salty.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bread ______ wonderful.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Jackfruit ______ a banana and a mango together.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Che ______ very sweet.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kitchen ______ of fish.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about each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pho (rice noodles, beef, herbs)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banh mi (bread, pork, vegetables)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che (beans, coconut milk, sugar)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goi cuon (rice paper, prawns, herbs)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Describe a dish without saying its name. Your group guesses.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Say: what it is made with, how it tastes, when people eat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three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do you have for breakfast? / What's your favourite dish? / Do you like spicy food?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Offering and accepting food politely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hungry?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some more?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please. Just a little.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thank you. I'm full.</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delicious!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Help yourself.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are a guest at your partner's house. Your partner offers three things; you accept two and refuse one politely.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dish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made with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tastes ______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12 food words + 4 taste adjectives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taste/smell + adjective; be made with</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/ɒ/ short vs /ɔː/ long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food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tastes, tastes like, smells, is made with.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what your family eats in one day.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hot – water, pot – port, not – more.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