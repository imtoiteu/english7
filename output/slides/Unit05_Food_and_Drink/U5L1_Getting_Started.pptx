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5  ·  LESSON 1  ·  PERIOD 33</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GETTING STARTED</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What's your favourite food?</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name twelve common foods and drinks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ask and answer about food preferences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understand a conversation about a family meal</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write three sentences about their favourite dish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Food chain game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'I went to the market and I bought rice…' Each student repeats and adds one food.</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Repeat and add food words.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rice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/raɪs/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cơm, gạo</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eat rice twice a 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noodles</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/ˈnuːdlz/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mì, phở</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Noodles are popular for breakfast.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beef</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/biːf/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thịt bò</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Pho bo is made with beef.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seafood</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/ˈsiːfuːd/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hải sản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Seafood is fresh in the coastal towns.</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vegetables</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/ˈvedʒtəblz/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rau củ</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Eat vegetables with every meal.</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fruit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/fruːt/   (n)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trái cây</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Fruit is cheaper in summer.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soup</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/suːp/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canh, súp</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My mother makes fish soup.</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dish</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/dɪʃ/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món ăn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Banh xeo is my favourite dish.</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delicious</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/dɪˈlɪʃəs/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ngon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banh mi was delicious.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spicy</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/ˈspaɪsi/   (adj)</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cay</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Bun bo Hue is quite spicy.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sweet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/swiːt/   (adj)</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ngọt</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Che is a sweet dessert.</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salty</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/ˈsɔːlti/   (adj)</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mặn</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 soup is a little too salty.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What's your favourite food?</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made of / made with…</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hungry / thirsty.</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for breakfast / lunch / dinner</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 tastes + adjective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'taste', 'smell' + adjective (recycling look/sound from Uni…</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taste + adjective: This soup tastes salty.</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smell + adjective: The bread smells wonderful.</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As in Unit 4, no 'like' before an adjective; use 'like' before a noun: It tastes like chicken.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graphicFrame>
        <p:nvGraphicFramePr>
          <p:cNvPr id="8" name="Table 7"/>
          <p:cNvGraphicFramePr>
            <a:graphicFrameLocks noGrp="1"/>
          </p:cNvGraphicFramePr>
          <p:nvPr/>
        </p:nvGraphicFramePr>
        <p:xfrm>
          <a:off x="548640" y="1463040"/>
          <a:ext cx="11064240" cy="2834640"/>
        </p:xfrm>
        <a:graphic>
          <a:graphicData uri="http://schemas.openxmlformats.org/drawingml/2006/table">
            <a:tbl>
              <a:tblPr firstRow="1" bandRow="1">
                <a:tableStyleId>{5C22544A-7EE6-4342-B048-85BDC9FD1C3A}</a:tableStyleId>
              </a:tblPr>
              <a:tblGrid>
                <a:gridCol w="5532120"/>
                <a:gridCol w="5532120"/>
              </a:tblGrid>
              <a:tr h="566928">
                <a:tc>
                  <a:txBody>
                    <a:bodyPr/>
                    <a:lstStyle/>
                    <a:p>
                      <a:r>
                        <a:rPr sz="1600" b="1">
                          <a:solidFill>
                            <a:srgbClr val="FFFFFF"/>
                          </a:solidFill>
                          <a:latin typeface="Calibri"/>
                        </a:rPr>
                        <a:t>Structure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taste + adjective</a:t>
                      </a:r>
                    </a:p>
                  </a:txBody>
                  <a:tcPr>
                    <a:solidFill>
                      <a:srgbClr val="E3F3EE"/>
                    </a:solidFill>
                  </a:tcPr>
                </a:tc>
                <a:tc>
                  <a:txBody>
                    <a:bodyPr/>
                    <a:lstStyle/>
                    <a:p>
                      <a:r>
                        <a:rPr sz="1600" b="0">
                          <a:solidFill>
                            <a:srgbClr val="1B1B1B"/>
                          </a:solidFill>
                          <a:latin typeface="Calibri"/>
                        </a:rPr>
                        <a:t>The mango tastes sweet.</a:t>
                      </a:r>
                    </a:p>
                  </a:txBody>
                  <a:tcPr>
                    <a:solidFill>
                      <a:srgbClr val="E3F3EE"/>
                    </a:solidFill>
                  </a:tcPr>
                </a:tc>
              </a:tr>
              <a:tr h="566928">
                <a:tc>
                  <a:txBody>
                    <a:bodyPr/>
                    <a:lstStyle/>
                    <a:p>
                      <a:r>
                        <a:rPr sz="1600" b="0">
                          <a:solidFill>
                            <a:srgbClr val="1B1B1B"/>
                          </a:solidFill>
                          <a:latin typeface="Calibri"/>
                        </a:rPr>
                        <a:t>taste like + noun</a:t>
                      </a:r>
                    </a:p>
                  </a:txBody>
                  <a:tcPr>
                    <a:solidFill>
                      <a:srgbClr val="FFFFFF"/>
                    </a:solidFill>
                  </a:tcPr>
                </a:tc>
                <a:tc>
                  <a:txBody>
                    <a:bodyPr/>
                    <a:lstStyle/>
                    <a:p>
                      <a:r>
                        <a:rPr sz="1600" b="0">
                          <a:solidFill>
                            <a:srgbClr val="1B1B1B"/>
                          </a:solidFill>
                          <a:latin typeface="Calibri"/>
                        </a:rPr>
                        <a:t>It tastes like a pineapple.</a:t>
                      </a:r>
                    </a:p>
                  </a:txBody>
                  <a:tcPr>
                    <a:solidFill>
                      <a:srgbClr val="FFFFFF"/>
                    </a:solidFill>
                  </a:tcPr>
                </a:tc>
              </a:tr>
              <a:tr h="566928">
                <a:tc>
                  <a:txBody>
                    <a:bodyPr/>
                    <a:lstStyle/>
                    <a:p>
                      <a:r>
                        <a:rPr sz="1600" b="0">
                          <a:solidFill>
                            <a:srgbClr val="1B1B1B"/>
                          </a:solidFill>
                          <a:latin typeface="Calibri"/>
                        </a:rPr>
                        <a:t>smell + adjective</a:t>
                      </a:r>
                    </a:p>
                  </a:txBody>
                  <a:tcPr>
                    <a:solidFill>
                      <a:srgbClr val="E3F3EE"/>
                    </a:solidFill>
                  </a:tcPr>
                </a:tc>
                <a:tc>
                  <a:txBody>
                    <a:bodyPr/>
                    <a:lstStyle/>
                    <a:p>
                      <a:r>
                        <a:rPr sz="1600" b="0">
                          <a:solidFill>
                            <a:srgbClr val="1B1B1B"/>
                          </a:solidFill>
                          <a:latin typeface="Calibri"/>
                        </a:rPr>
                        <a:t>The kitchen smells good.</a:t>
                      </a:r>
                    </a:p>
                  </a:txBody>
                  <a:tcPr>
                    <a:solidFill>
                      <a:srgbClr val="E3F3EE"/>
                    </a:solidFill>
                  </a:tcPr>
                </a:tc>
              </a:tr>
              <a:tr h="566928">
                <a:tc>
                  <a:txBody>
                    <a:bodyPr/>
                    <a:lstStyle/>
                    <a:p>
                      <a:r>
                        <a:rPr sz="1600" b="0">
                          <a:solidFill>
                            <a:srgbClr val="1B1B1B"/>
                          </a:solidFill>
                          <a:latin typeface="Calibri"/>
                        </a:rPr>
                        <a:t>be made of / with</a:t>
                      </a:r>
                    </a:p>
                  </a:txBody>
                  <a:tcPr>
                    <a:solidFill>
                      <a:srgbClr val="FFFFFF"/>
                    </a:solidFill>
                  </a:tcPr>
                </a:tc>
                <a:tc>
                  <a:txBody>
                    <a:bodyPr/>
                    <a:lstStyle/>
                    <a:p>
                      <a:r>
                        <a:rPr sz="1600" b="0">
                          <a:solidFill>
                            <a:srgbClr val="1B1B1B"/>
                          </a:solidFill>
                          <a:latin typeface="Calibri"/>
                        </a:rPr>
                        <a:t>Pho is made with rice noodles and beef.</a:t>
                      </a:r>
                    </a:p>
                  </a:txBody>
                  <a:tcPr>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dish tastes spicy.</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 soup smells delicious.</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Banh xeo is made with rice flour, prawns and bean sprouts.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*It tastes like delicious* — 'like' only before a NOUN. Also *It's very delicious*: 'delicious' already means 'very tasty', so 'very' is not needed.</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This dish tastes spicy.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Pronunciation: The sounds /ɒ/ (short) and /ɔː/ (long)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/ɒ/ is short with the mouth open: hot, pot, not, coffee. /ɔː/ is long with rounded lips: salty, water, sauce, four, more.</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/ɒ/: hot, pot, not, coffee, chocolate</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/ɔː/: salty, water, sauce, sport, more, small</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Minimal pairs: not – naught | pot – port | cot – caught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 hot pot is not too salty.</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More water, please — and a small sauce.</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Hot coffee or cold water?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Lesson 35: Let’s Make Dinner!</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cooking dinner together. American English — VOA’s professional actors (Anna, Pete, Marsha, Ms. Weaver…), slowed learner delivery. It lasts 2:47.</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VOA Learning English — Let’s Learn English, Level 1 · 2:47 · American English — VOA’s professional actors (Anna, Pete, Marsha, Ms. Weaver…), slowed learner delivery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cooking dinner together B. when one person starts and finishes the day C. reading the news and always making the same mistake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 (true) or F (false).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Terms of Use and Privacy Notice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Let's Learn English - Level 4</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these are the wrong ingredients!</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Let’s Learn English - Level 4 - Lesson 35: Let's Make Dinner!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Anna, this is the shopping list for breakfast.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Anna: But, sometimes it's more fun to 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Marsha: I said, take the shopping list - on the refrigerator - for 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Anna: Marsha, there was no shopping list - on the refrigerator - for 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Quiz - Lesson 35: Let's _____ Dinner!</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Lesson 35: Let’s _____ Dinner!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Three meals in Viet Nam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Breakfast in Viet Nam is usually hot and savoury, not sweet. Many people eat pho, bun or xoi (sticky rice) at a small shop on the way to work or school. In the north, a bowl of pho costs about 40,000 dong. Lunch is often the biggest meal. A typical family lunch has rice, a meat or fish dish, a plate of vegetables and a bowl of soup, all on the table at the same time. Everybody shares. Dinner is similar to lunch but a little lighter, and it is the meal when the whole family sits together. Fruit — not cake — is the usual dessert. Of course, this is changing. In big cities, more and more young people eat bread, milk or fast food for breakfast, and some families eat in front of the television.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Is Vietnamese breakfast usually sweet?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Name three breakfast dishes from the text.</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What four things are on the table at a typical lunch?</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is the usual dessert?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What is changing in big cities?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words in the right group.</a:t>
            </a:r>
          </a:p>
        </p:txBody>
      </p:sp>
      <p:sp>
        <p:nvSpPr>
          <p:cNvPr id="10" name="Rounded Rectangle 9"/>
          <p:cNvSpPr/>
          <p:nvPr/>
        </p:nvSpPr>
        <p:spPr>
          <a:xfrm>
            <a:off x="822960" y="2377440"/>
            <a:ext cx="10515600" cy="640080"/>
          </a:xfrm>
          <a:prstGeom prst="roundRect">
            <a:avLst>
              <a:gd name="adj" fmla="val 6000"/>
            </a:avLst>
          </a:prstGeom>
          <a:solidFill>
            <a:srgbClr val="FDF2E0"/>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423160"/>
            <a:ext cx="10058400" cy="548640"/>
          </a:xfrm>
          <a:prstGeom prst="rect">
            <a:avLst/>
          </a:prstGeom>
          <a:noFill/>
        </p:spPr>
        <p:txBody>
          <a:bodyPr wrap="square" anchor="ctr">
            <a:spAutoFit/>
          </a:bodyPr>
          <a:lstStyle/>
          <a:p>
            <a:pPr algn="l">
              <a:lnSpc>
                <a:spcPct val="100000"/>
              </a:lnSpc>
              <a:spcAft>
                <a:spcPts val="600"/>
              </a:spcAft>
            </a:pPr>
            <a:r>
              <a:rPr sz="1800" b="1" i="0">
                <a:solidFill>
                  <a:srgbClr val="E07A1F"/>
                </a:solidFill>
                <a:latin typeface="Calibri"/>
              </a:rPr>
              <a:t>rice   beef   watermelon   fish   noodles   carrot   prawn   mango</a:t>
            </a:r>
          </a:p>
        </p:txBody>
      </p:sp>
      <p:sp>
        <p:nvSpPr>
          <p:cNvPr id="12" name="TextBox 11"/>
          <p:cNvSpPr txBox="1"/>
          <p:nvPr/>
        </p:nvSpPr>
        <p:spPr>
          <a:xfrm>
            <a:off x="1005840" y="320040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Meat/fish: ______</a:t>
            </a:r>
          </a:p>
        </p:txBody>
      </p:sp>
      <p:sp>
        <p:nvSpPr>
          <p:cNvPr id="13" name="TextBox 12"/>
          <p:cNvSpPr txBox="1"/>
          <p:nvPr/>
        </p:nvSpPr>
        <p:spPr>
          <a:xfrm>
            <a:off x="1005840" y="385876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Fruit: ______</a:t>
            </a:r>
          </a:p>
        </p:txBody>
      </p:sp>
      <p:sp>
        <p:nvSpPr>
          <p:cNvPr id="14" name="TextBox 13"/>
          <p:cNvSpPr txBox="1"/>
          <p:nvPr/>
        </p:nvSpPr>
        <p:spPr>
          <a:xfrm>
            <a:off x="1005840" y="451713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Vegetables: ______</a:t>
            </a:r>
          </a:p>
        </p:txBody>
      </p:sp>
      <p:sp>
        <p:nvSpPr>
          <p:cNvPr id="15" name="TextBox 14"/>
          <p:cNvSpPr txBox="1"/>
          <p:nvPr/>
        </p:nvSpPr>
        <p:spPr>
          <a:xfrm>
            <a:off x="1005840" y="517550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Other: ______</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the sentences.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This soup ______ salty.</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The bread ______ wonderful.</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Jackfruit ______ a banana and a mango together.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Che ______ very sweet.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 kitchen ______ of fish.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a sentence about each dish.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pho (rice noodles, beef, herbs)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banh mi (bread, pork, vegetables)</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che (beans, coconut milk, sugar)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goi cuon (rice paper, prawns, herbs)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Describe a dish without saying its name. Your group guesses.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Say: what it is made with, how it tastes, when people eat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three classmates and complete the table.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What do you have for breakfast? / What's your favourite dish? / Do you like spicy food?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Offering and accepting food politely</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Are you hungry?</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Would you like some more?</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Yes, please. Just a little.</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No, thank you. I'm full.</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It's delicious!</a:t>
            </a:r>
          </a:p>
        </p:txBody>
      </p:sp>
      <p:sp>
        <p:nvSpPr>
          <p:cNvPr id="18" name="Rounded Rectangle 17"/>
          <p:cNvSpPr/>
          <p:nvPr/>
        </p:nvSpPr>
        <p:spPr>
          <a:xfrm>
            <a:off x="822960" y="521208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097280" y="525780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Help yourself.</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are a guest at your partner's house. Your partner offers three things; you accept two and refuse one politely.</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U5.1-W1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three sentences about your favourite dish.</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My favourite dish is ______ .</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It is made with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It tastes ______ .</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12 food words + 4 taste adjectives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taste/smell + adjective; be made with</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/ɒ/ short vs /ɔː/ long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U5L1</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U5.1-H1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Vocabulary — Write the food word.</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U5.1-H2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tastes, tastes like, smells, is made with.</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U5.1-H3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4 sentences about what your family eats in one day.</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U5.1-H4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each pair five times: hot – water, pot – port, not – more.</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U5L1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