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audio/FU5L2_1_A2-22-Nouns.mp3"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5  ·  LESSON 2  ·  PERIOD 34</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A CLOSER LOOK 1</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Cooking verbs, containers and quantities</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U5L2</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use eight cooking verbs correctly</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use containers and quantities (a bowl of, a bottle of, 200 grams of)</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pronounce the weak 'of' in quantity phrases</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describe the ingredients of a dish with quantities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Kim's game with food  (5')</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U5L2</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Show ten food pictures for 20 seconds, cover them, teams write as many as they remember.</a:t>
            </a:r>
          </a:p>
        </p:txBody>
      </p:sp>
      <p:sp>
        <p:nvSpPr>
          <p:cNvPr id="10" name="TextBox 9"/>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Remember and write food words.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U5L2</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boil</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/bɔɪl/   (v)</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luộc, đun sôi</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Boil the water first.</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fry</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/fraɪ/   (v)</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chiên, xào</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Fry the onions for two minutes.</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steam</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/stiːm/   (v)</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hấp</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Steam the fish for fifteen minutes.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U5L2</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grill</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/ɡrɪl/   (v)</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nướng</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Grill the pork over charcoal.</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chop</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/tʃɒp/   (v)</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băm, thái</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Chop the vegetables into small pieces.</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mix</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/mɪks/   (v)</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trộn</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Mix the flour and the water.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U5L2</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ingredient</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/ɪnˈɡriːdiənt/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nguyên liệu</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You need five ingredients.</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recipe</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/ˈresəpi/   (n)</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công thức nấu ăn</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This is my grandmother's recipe.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Useful phrases — learn them as one block!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U5L2</a:t>
            </a:r>
          </a:p>
        </p:txBody>
      </p:sp>
      <p:sp>
        <p:nvSpPr>
          <p:cNvPr id="8" name="Rounded Rectangle 7"/>
          <p:cNvSpPr/>
          <p:nvPr/>
        </p:nvSpPr>
        <p:spPr>
          <a:xfrm>
            <a:off x="822960" y="155448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60934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 bowl of soup</a:t>
            </a:r>
          </a:p>
        </p:txBody>
      </p:sp>
      <p:sp>
        <p:nvSpPr>
          <p:cNvPr id="10" name="Rounded Rectangle 9"/>
          <p:cNvSpPr/>
          <p:nvPr/>
        </p:nvSpPr>
        <p:spPr>
          <a:xfrm>
            <a:off x="822960" y="2267712"/>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322576"/>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 bottle of water</a:t>
            </a:r>
          </a:p>
        </p:txBody>
      </p:sp>
      <p:sp>
        <p:nvSpPr>
          <p:cNvPr id="12" name="Rounded Rectangle 11"/>
          <p:cNvSpPr/>
          <p:nvPr/>
        </p:nvSpPr>
        <p:spPr>
          <a:xfrm>
            <a:off x="822960" y="2980944"/>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35808"/>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 cup of tea</a:t>
            </a:r>
          </a:p>
        </p:txBody>
      </p:sp>
      <p:sp>
        <p:nvSpPr>
          <p:cNvPr id="14" name="Rounded Rectangle 13"/>
          <p:cNvSpPr/>
          <p:nvPr/>
        </p:nvSpPr>
        <p:spPr>
          <a:xfrm>
            <a:off x="822960" y="3694176"/>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49040"/>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 plate of rice</a:t>
            </a:r>
          </a:p>
        </p:txBody>
      </p:sp>
      <p:sp>
        <p:nvSpPr>
          <p:cNvPr id="16" name="Rounded Rectangle 15"/>
          <p:cNvSpPr/>
          <p:nvPr/>
        </p:nvSpPr>
        <p:spPr>
          <a:xfrm>
            <a:off x="822960" y="4407408"/>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462272"/>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 kilo of beef</a:t>
            </a:r>
          </a:p>
        </p:txBody>
      </p:sp>
      <p:sp>
        <p:nvSpPr>
          <p:cNvPr id="18" name="Rounded Rectangle 17"/>
          <p:cNvSpPr/>
          <p:nvPr/>
        </p:nvSpPr>
        <p:spPr>
          <a:xfrm>
            <a:off x="822960" y="512064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097280" y="517550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200 grams of flour</a:t>
            </a:r>
          </a:p>
        </p:txBody>
      </p:sp>
      <p:sp>
        <p:nvSpPr>
          <p:cNvPr id="20" name="Rounded Rectangle 19"/>
          <p:cNvSpPr/>
          <p:nvPr/>
        </p:nvSpPr>
        <p:spPr>
          <a:xfrm>
            <a:off x="822960" y="5833872"/>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097280" y="5888736"/>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 spoonful of sugar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Grammar: Containers and quantities: 'a … of'</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U5L2</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We cannot count uncountable things directly, so we use a container or a measure: a BOWL OF soup, a BOTTLE OF water, 200 GRAMS OF flour.</a:t>
            </a:r>
          </a:p>
        </p:txBody>
      </p:sp>
      <p:sp>
        <p:nvSpPr>
          <p:cNvPr id="10" name="Rounded Rectangle 9"/>
          <p:cNvSpPr/>
          <p:nvPr/>
        </p:nvSpPr>
        <p:spPr>
          <a:xfrm>
            <a:off x="640080" y="2487168"/>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 y="2560320"/>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The plural is on the container, not on the food: TWO BOWLS OF soup.</a:t>
            </a:r>
          </a:p>
        </p:txBody>
      </p:sp>
      <p:sp>
        <p:nvSpPr>
          <p:cNvPr id="12" name="Rounded Rectangle 11"/>
          <p:cNvSpPr/>
          <p:nvPr/>
        </p:nvSpPr>
        <p:spPr>
          <a:xfrm>
            <a:off x="640080" y="3511296"/>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3584448"/>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Common containers: bowl, plate, cup, glass, bottle, packet, box, bag, can.</a:t>
            </a:r>
          </a:p>
        </p:txBody>
      </p:sp>
      <p:sp>
        <p:nvSpPr>
          <p:cNvPr id="14" name="Rounded Rectangle 13"/>
          <p:cNvSpPr/>
          <p:nvPr/>
        </p:nvSpPr>
        <p:spPr>
          <a:xfrm>
            <a:off x="640080" y="4535424"/>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60120" y="4608576"/>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Common measures: gram, kilo, litre, spoonful, slice, piece.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U5L2</a:t>
            </a:r>
          </a:p>
        </p:txBody>
      </p:sp>
      <p:graphicFrame>
        <p:nvGraphicFramePr>
          <p:cNvPr id="8" name="Table 7"/>
          <p:cNvGraphicFramePr>
            <a:graphicFrameLocks noGrp="1"/>
          </p:cNvGraphicFramePr>
          <p:nvPr/>
        </p:nvGraphicFramePr>
        <p:xfrm>
          <a:off x="548640" y="1463040"/>
          <a:ext cx="11064240" cy="3968496"/>
        </p:xfrm>
        <a:graphic>
          <a:graphicData uri="http://schemas.openxmlformats.org/drawingml/2006/table">
            <a:tbl>
              <a:tblPr firstRow="1" bandRow="1">
                <a:tableStyleId>{5C22544A-7EE6-4342-B048-85BDC9FD1C3A}</a:tableStyleId>
              </a:tblPr>
              <a:tblGrid>
                <a:gridCol w="5532120"/>
                <a:gridCol w="5532120"/>
              </a:tblGrid>
              <a:tr h="566928">
                <a:tc>
                  <a:txBody>
                    <a:bodyPr/>
                    <a:lstStyle/>
                    <a:p>
                      <a:r>
                        <a:rPr sz="1600" b="1">
                          <a:solidFill>
                            <a:srgbClr val="FFFFFF"/>
                          </a:solidFill>
                          <a:latin typeface="Calibri"/>
                        </a:rPr>
                        <a:t>Container / measure</a:t>
                      </a:r>
                    </a:p>
                  </a:txBody>
                  <a:tcPr>
                    <a:solidFill>
                      <a:srgbClr val="0E7C66"/>
                    </a:solidFill>
                  </a:tcPr>
                </a:tc>
                <a:tc>
                  <a:txBody>
                    <a:bodyPr/>
                    <a:lstStyle/>
                    <a:p>
                      <a:r>
                        <a:rPr sz="1600" b="1">
                          <a:solidFill>
                            <a:srgbClr val="FFFFFF"/>
                          </a:solidFill>
                          <a:latin typeface="Calibri"/>
                        </a:rPr>
                        <a:t>Example</a:t>
                      </a:r>
                    </a:p>
                  </a:txBody>
                  <a:tcPr>
                    <a:solidFill>
                      <a:srgbClr val="0E7C66"/>
                    </a:solidFill>
                  </a:tcPr>
                </a:tc>
              </a:tr>
              <a:tr h="566928">
                <a:tc>
                  <a:txBody>
                    <a:bodyPr/>
                    <a:lstStyle/>
                    <a:p>
                      <a:r>
                        <a:rPr sz="1600" b="0">
                          <a:solidFill>
                            <a:srgbClr val="1B1B1B"/>
                          </a:solidFill>
                          <a:latin typeface="Calibri"/>
                        </a:rPr>
                        <a:t>a bowl of…</a:t>
                      </a:r>
                    </a:p>
                  </a:txBody>
                  <a:tcPr>
                    <a:solidFill>
                      <a:srgbClr val="E3F3EE"/>
                    </a:solidFill>
                  </a:tcPr>
                </a:tc>
                <a:tc>
                  <a:txBody>
                    <a:bodyPr/>
                    <a:lstStyle/>
                    <a:p>
                      <a:r>
                        <a:rPr sz="1600" b="0">
                          <a:solidFill>
                            <a:srgbClr val="1B1B1B"/>
                          </a:solidFill>
                          <a:latin typeface="Calibri"/>
                        </a:rPr>
                        <a:t>a bowl of pho</a:t>
                      </a:r>
                    </a:p>
                  </a:txBody>
                  <a:tcPr>
                    <a:solidFill>
                      <a:srgbClr val="E3F3EE"/>
                    </a:solidFill>
                  </a:tcPr>
                </a:tc>
              </a:tr>
              <a:tr h="566928">
                <a:tc>
                  <a:txBody>
                    <a:bodyPr/>
                    <a:lstStyle/>
                    <a:p>
                      <a:r>
                        <a:rPr sz="1600" b="0">
                          <a:solidFill>
                            <a:srgbClr val="1B1B1B"/>
                          </a:solidFill>
                          <a:latin typeface="Calibri"/>
                        </a:rPr>
                        <a:t>a bottle of…</a:t>
                      </a:r>
                    </a:p>
                  </a:txBody>
                  <a:tcPr>
                    <a:solidFill>
                      <a:srgbClr val="FFFFFF"/>
                    </a:solidFill>
                  </a:tcPr>
                </a:tc>
                <a:tc>
                  <a:txBody>
                    <a:bodyPr/>
                    <a:lstStyle/>
                    <a:p>
                      <a:r>
                        <a:rPr sz="1600" b="0">
                          <a:solidFill>
                            <a:srgbClr val="1B1B1B"/>
                          </a:solidFill>
                          <a:latin typeface="Calibri"/>
                        </a:rPr>
                        <a:t>two bottles of water</a:t>
                      </a:r>
                    </a:p>
                  </a:txBody>
                  <a:tcPr>
                    <a:solidFill>
                      <a:srgbClr val="FFFFFF"/>
                    </a:solidFill>
                  </a:tcPr>
                </a:tc>
              </a:tr>
              <a:tr h="566928">
                <a:tc>
                  <a:txBody>
                    <a:bodyPr/>
                    <a:lstStyle/>
                    <a:p>
                      <a:r>
                        <a:rPr sz="1600" b="0">
                          <a:solidFill>
                            <a:srgbClr val="1B1B1B"/>
                          </a:solidFill>
                          <a:latin typeface="Calibri"/>
                        </a:rPr>
                        <a:t>a cup of…</a:t>
                      </a:r>
                    </a:p>
                  </a:txBody>
                  <a:tcPr>
                    <a:solidFill>
                      <a:srgbClr val="E3F3EE"/>
                    </a:solidFill>
                  </a:tcPr>
                </a:tc>
                <a:tc>
                  <a:txBody>
                    <a:bodyPr/>
                    <a:lstStyle/>
                    <a:p>
                      <a:r>
                        <a:rPr sz="1600" b="0">
                          <a:solidFill>
                            <a:srgbClr val="1B1B1B"/>
                          </a:solidFill>
                          <a:latin typeface="Calibri"/>
                        </a:rPr>
                        <a:t>a cup of tea</a:t>
                      </a:r>
                    </a:p>
                  </a:txBody>
                  <a:tcPr>
                    <a:solidFill>
                      <a:srgbClr val="E3F3EE"/>
                    </a:solidFill>
                  </a:tcPr>
                </a:tc>
              </a:tr>
              <a:tr h="566928">
                <a:tc>
                  <a:txBody>
                    <a:bodyPr/>
                    <a:lstStyle/>
                    <a:p>
                      <a:r>
                        <a:rPr sz="1600" b="0">
                          <a:solidFill>
                            <a:srgbClr val="1B1B1B"/>
                          </a:solidFill>
                          <a:latin typeface="Calibri"/>
                        </a:rPr>
                        <a:t>a kilo of…</a:t>
                      </a:r>
                    </a:p>
                  </a:txBody>
                  <a:tcPr>
                    <a:solidFill>
                      <a:srgbClr val="FFFFFF"/>
                    </a:solidFill>
                  </a:tcPr>
                </a:tc>
                <a:tc>
                  <a:txBody>
                    <a:bodyPr/>
                    <a:lstStyle/>
                    <a:p>
                      <a:r>
                        <a:rPr sz="1600" b="0">
                          <a:solidFill>
                            <a:srgbClr val="1B1B1B"/>
                          </a:solidFill>
                          <a:latin typeface="Calibri"/>
                        </a:rPr>
                        <a:t>half a kilo of beef</a:t>
                      </a:r>
                    </a:p>
                  </a:txBody>
                  <a:tcPr>
                    <a:solidFill>
                      <a:srgbClr val="FFFFFF"/>
                    </a:solidFill>
                  </a:tcPr>
                </a:tc>
              </a:tr>
              <a:tr h="566928">
                <a:tc>
                  <a:txBody>
                    <a:bodyPr/>
                    <a:lstStyle/>
                    <a:p>
                      <a:r>
                        <a:rPr sz="1600" b="0">
                          <a:solidFill>
                            <a:srgbClr val="1B1B1B"/>
                          </a:solidFill>
                          <a:latin typeface="Calibri"/>
                        </a:rPr>
                        <a:t>a slice of…</a:t>
                      </a:r>
                    </a:p>
                  </a:txBody>
                  <a:tcPr>
                    <a:solidFill>
                      <a:srgbClr val="E3F3EE"/>
                    </a:solidFill>
                  </a:tcPr>
                </a:tc>
                <a:tc>
                  <a:txBody>
                    <a:bodyPr/>
                    <a:lstStyle/>
                    <a:p>
                      <a:r>
                        <a:rPr sz="1600" b="0">
                          <a:solidFill>
                            <a:srgbClr val="1B1B1B"/>
                          </a:solidFill>
                          <a:latin typeface="Calibri"/>
                        </a:rPr>
                        <a:t>three slices of bread</a:t>
                      </a:r>
                    </a:p>
                  </a:txBody>
                  <a:tcPr>
                    <a:solidFill>
                      <a:srgbClr val="E3F3EE"/>
                    </a:solidFill>
                  </a:tcPr>
                </a:tc>
              </a:tr>
              <a:tr h="566928">
                <a:tc>
                  <a:txBody>
                    <a:bodyPr/>
                    <a:lstStyle/>
                    <a:p>
                      <a:r>
                        <a:rPr sz="1600" b="0">
                          <a:solidFill>
                            <a:srgbClr val="1B1B1B"/>
                          </a:solidFill>
                          <a:latin typeface="Calibri"/>
                        </a:rPr>
                        <a:t>a spoonful of…</a:t>
                      </a:r>
                    </a:p>
                  </a:txBody>
                  <a:tcPr>
                    <a:solidFill>
                      <a:srgbClr val="FFFFFF"/>
                    </a:solidFill>
                  </a:tcPr>
                </a:tc>
                <a:tc>
                  <a:txBody>
                    <a:bodyPr/>
                    <a:lstStyle/>
                    <a:p>
                      <a:r>
                        <a:rPr sz="1600" b="0">
                          <a:solidFill>
                            <a:srgbClr val="1B1B1B"/>
                          </a:solidFill>
                          <a:latin typeface="Calibri"/>
                        </a:rPr>
                        <a:t>two spoonfuls of sugar</a:t>
                      </a:r>
                    </a:p>
                  </a:txBody>
                  <a:tcPr>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U5L2</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I'd like a bowl of noodles and a glass of iced tea, please.</a:t>
            </a:r>
          </a:p>
        </p:txBody>
      </p:sp>
      <p:sp>
        <p:nvSpPr>
          <p:cNvPr id="10" name="Rounded Rectangle 9"/>
          <p:cNvSpPr/>
          <p:nvPr/>
        </p:nvSpPr>
        <p:spPr>
          <a:xfrm>
            <a:off x="731520" y="2450592"/>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523744"/>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You need 300 grams of rice flour and two spoonfuls of sugar.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U5L2</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*two bowl of soups* — the S goes on the CONTAINER: two bowlS of soup. Also *a water*, *a rice*: uncountable nouns need a container.</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I'd like a bowl of noodles and a glass of iced tea, please.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Pronunciation: The weak 'of' /əv/ and linking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U5L2</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In quantity phrases 'of' is never stressed: a BOWL of SOUP → /ə ˈbəʊl əv ˈsuːp/. It links to the next word: a cup_of_tea → /ə kʌpəv tiː/.</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a bowl of soup /ə bəʊl əv suːp/</a:t>
            </a:r>
          </a:p>
        </p:txBody>
      </p:sp>
      <p:sp>
        <p:nvSpPr>
          <p:cNvPr id="12" name="Rounded Rectangle 11"/>
          <p:cNvSpPr/>
          <p:nvPr/>
        </p:nvSpPr>
        <p:spPr>
          <a:xfrm>
            <a:off x="731520" y="3593592"/>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639312"/>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a cup of tea /ə kʌpəv tiː/</a:t>
            </a:r>
          </a:p>
        </p:txBody>
      </p:sp>
      <p:sp>
        <p:nvSpPr>
          <p:cNvPr id="14" name="Rounded Rectangle 13"/>
          <p:cNvSpPr/>
          <p:nvPr/>
        </p:nvSpPr>
        <p:spPr>
          <a:xfrm>
            <a:off x="731520" y="4306824"/>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4352544"/>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a bottle of water</a:t>
            </a:r>
          </a:p>
        </p:txBody>
      </p:sp>
      <p:sp>
        <p:nvSpPr>
          <p:cNvPr id="16" name="Rounded Rectangle 15"/>
          <p:cNvSpPr/>
          <p:nvPr/>
        </p:nvSpPr>
        <p:spPr>
          <a:xfrm>
            <a:off x="731520" y="5020056"/>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05840" y="5065776"/>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a kilo of beef</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U5L2</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A bowl of soup and a cup of tea, please.</a:t>
            </a:r>
          </a:p>
        </p:txBody>
      </p:sp>
      <p:sp>
        <p:nvSpPr>
          <p:cNvPr id="10" name="Rounded Rectangle 9"/>
          <p:cNvSpPr/>
          <p:nvPr/>
        </p:nvSpPr>
        <p:spPr>
          <a:xfrm>
            <a:off x="731520" y="278892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88036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Two bottles of water and a kilo of beef.</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Determiners and plural nouns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U5L2</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You will hear a real recording: talking about amounts of things. Two speakers, scripted dialogue, native English. It lasts 3:07.</a:t>
            </a:r>
          </a:p>
        </p:txBody>
      </p:sp>
      <p:sp>
        <p:nvSpPr>
          <p:cNvPr id="10" name="TextBox 9"/>
          <p:cNvSpPr txBox="1"/>
          <p:nvPr/>
        </p:nvSpPr>
        <p:spPr>
          <a:xfrm>
            <a:off x="731520" y="4023360"/>
            <a:ext cx="10698480" cy="1463040"/>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Rounded Rectangle 10"/>
          <p:cNvSpPr/>
          <p:nvPr/>
        </p:nvSpPr>
        <p:spPr>
          <a:xfrm>
            <a:off x="731520" y="5440680"/>
            <a:ext cx="10698480" cy="530352"/>
          </a:xfrm>
          <a:prstGeom prst="roundRect">
            <a:avLst>
              <a:gd name="adj" fmla="val 6000"/>
            </a:avLst>
          </a:prstGeom>
          <a:solidFill>
            <a:srgbClr val="E7F1FA"/>
          </a:solidFill>
          <a:ln w="19050">
            <a:solidFill>
              <a:srgbClr val="1E6FB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42C4F"/>
                </a:solidFill>
                <a:hlinkClick r:id="rId2"/>
              </a:rPr>
              <a:t>▶ Play audio</a:t>
            </a:r>
          </a:p>
        </p:txBody>
      </p:sp>
      <p:sp>
        <p:nvSpPr>
          <p:cNvPr id="12" name="TextBox 11"/>
          <p:cNvSpPr txBox="1"/>
          <p:nvPr/>
        </p:nvSpPr>
        <p:spPr>
          <a:xfrm>
            <a:off x="731520" y="6062472"/>
            <a:ext cx="10698480" cy="502920"/>
          </a:xfrm>
          <a:prstGeom prst="rect">
            <a:avLst/>
          </a:prstGeom>
          <a:noFill/>
        </p:spPr>
        <p:txBody>
          <a:bodyPr wrap="square" anchor="t">
            <a:spAutoFit/>
          </a:bodyPr>
          <a:lstStyle/>
          <a:p>
            <a:pPr algn="l">
              <a:lnSpc>
                <a:spcPct val="100000"/>
              </a:lnSpc>
              <a:spcAft>
                <a:spcPts val="600"/>
              </a:spcAft>
            </a:pPr>
            <a:r>
              <a:rPr sz="1100" b="0" i="0">
                <a:solidFill>
                  <a:srgbClr val="6B7280"/>
                </a:solidFill>
                <a:latin typeface="Calibri"/>
              </a:rPr>
              <a:t>ELLLO — Sound Grammar · 3:07 · Two speakers, scripted dialogue, native English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U5.2-L1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Choose the best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is the recording mainly about?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months of the year and when things happen B. talking about amounts of things C. a television advertisement for a hair product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U5.2-L2</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again. Write T (true) or F (false).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It has a really good Korean restaurant.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Do you have a big apartment?</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It has a kitchen, a living room and five bedrooms.</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Well, it has some nice cafes and cheap stores for shopping.</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I have an old scarf, but I want a new three.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U5.2-L3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more and write the missing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Man: How _____ bathrooms does it have?</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Woman : We have _____ oranges, an apple and two bananas.</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Woman : Well, we have _____ chips, and some peanuts.</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Woman: Please, come and get them _____ time.</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Woman: It has _____ trees and flowers, and lots of grass.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Reading: How to make a simple Vietnamese breakfast: xoi</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U5L2</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Xoi (sticky rice) is one of the easiest and cheapest breakfasts in Viet Nam. This is my grandmother's recipe. Ingredients: 500 grams of sticky rice, a little salt, two spoonfuls of oil, 50 grams of peanuts, and some fried onion. First, wash the rice and put it in a bowl of water for six hours — or all night. Then boil the peanuts for twenty minutes until they are soft. After that, steam the rice for about thirty minutes. Do not boil it! Steaming keeps the rice dry and sticky. Finally, mix the rice with the peanuts, a little salt and the oil, and put the fried onion on top. Serve it hot, in a banana leaf if you have one.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U5.2-R1</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the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How much sticky rice do you need?</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How long do you leave the rice in water?</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How long do you boil the peanuts?</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Should you boil or steam the rice? Why?</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What do you put on top?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U5.2-R2</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Find six cooking verbs in the recipe.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______ 2. ______ 3. ______ 4. ______ 5. ______ 6. ______</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U5.2-G1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Which cooking verb?</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put food in very hot water: ______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cook over hot steam: ______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cook in oil in a pan: ______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cook over fire or charcoal: ______</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cut into small pieces: ______</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U5.2-G1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Which cooking verb?</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put two things together: ______</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U5.2-G2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with the correct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a ______ of water (bottle / bowl)</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a ______ of soup (plate / bowl)</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a ______ of tea (cup / glass)</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a ______ of bread (slice / spoonful)</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a ______ of sugar (spoonful / kilo)</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U5.2-G2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with the correct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a ______ of rice (kilo / cup)</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U5.2-I1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Correct the mistake in each phrase.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two bowl of soup</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a water</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three bottle of waters</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a rice</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two cup of teas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U5.2-I2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Do U5.2-S1 and swap roles.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U5.2-I2</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Do U5.2-S1 and swap roles.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U5.2-S1</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 is a seller, B is a customer. B buys five things with quantities.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What would you like? B: Half a kilo of beef, please. / How much is that?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U5.2-S2</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Tell your partner the ingredients of a dish you know, with quantities.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Model: For banh xeo you need 200 grams of rice flour, half a litre of water, 200 grams of prawns and a bag of bean sprouts.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Real-life English: Buying food and asking about prices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U5L2</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What would you like?</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I'd like…, please.</a:t>
            </a:r>
          </a:p>
        </p:txBody>
      </p:sp>
      <p:sp>
        <p:nvSpPr>
          <p:cNvPr id="12" name="Rounded Rectangle 11"/>
          <p:cNvSpPr/>
          <p:nvPr/>
        </p:nvSpPr>
        <p:spPr>
          <a:xfrm>
            <a:off x="822960" y="2962656"/>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08376"/>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Anything else?</a:t>
            </a:r>
          </a:p>
        </p:txBody>
      </p:sp>
      <p:sp>
        <p:nvSpPr>
          <p:cNvPr id="14" name="Rounded Rectangle 13"/>
          <p:cNvSpPr/>
          <p:nvPr/>
        </p:nvSpPr>
        <p:spPr>
          <a:xfrm>
            <a:off x="822960" y="3712464"/>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58184"/>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How much is that?</a:t>
            </a:r>
          </a:p>
        </p:txBody>
      </p:sp>
      <p:sp>
        <p:nvSpPr>
          <p:cNvPr id="16" name="Rounded Rectangle 15"/>
          <p:cNvSpPr/>
          <p:nvPr/>
        </p:nvSpPr>
        <p:spPr>
          <a:xfrm>
            <a:off x="822960" y="4462272"/>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507992"/>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How much are they?</a:t>
            </a:r>
          </a:p>
        </p:txBody>
      </p:sp>
      <p:sp>
        <p:nvSpPr>
          <p:cNvPr id="18" name="Rounded Rectangle 17"/>
          <p:cNvSpPr/>
          <p:nvPr/>
        </p:nvSpPr>
        <p:spPr>
          <a:xfrm>
            <a:off x="822960" y="521208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097280" y="525780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Here you are.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U5L2</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Market role play: seller and customer, five items, ask the total price and give change.</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U5.2-W1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the phrase.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soup (bowl) →</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water (2 bottles) →</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rice (1 kilo) →</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bread (3 slices) →</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sugar (2 spoonfuls) →</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U5.2-W1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the phrase.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tea (cup) →</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U5L2</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8 cooking verbs</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Containers and measures with 'of'</a:t>
            </a:r>
          </a:p>
        </p:txBody>
      </p:sp>
      <p:sp>
        <p:nvSpPr>
          <p:cNvPr id="12" name="Rounded Rectangle 11"/>
          <p:cNvSpPr/>
          <p:nvPr/>
        </p:nvSpPr>
        <p:spPr>
          <a:xfrm>
            <a:off x="731520" y="352044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59359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Weak 'of' /əv/</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U5L2</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U5.2-H1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Vocabulary — Write the cooking verb.</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U5.2-H2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Grammar — Write the quantity phrase.</a:t>
            </a:r>
          </a:p>
        </p:txBody>
      </p:sp>
      <p:sp>
        <p:nvSpPr>
          <p:cNvPr id="14" name="Rounded Rectangle 13"/>
          <p:cNvSpPr/>
          <p:nvPr/>
        </p:nvSpPr>
        <p:spPr>
          <a:xfrm>
            <a:off x="731520" y="3493008"/>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547872"/>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U5.2-H3</a:t>
            </a:r>
          </a:p>
        </p:txBody>
      </p:sp>
      <p:sp>
        <p:nvSpPr>
          <p:cNvPr id="16" name="TextBox 15"/>
          <p:cNvSpPr txBox="1"/>
          <p:nvPr/>
        </p:nvSpPr>
        <p:spPr>
          <a:xfrm>
            <a:off x="2743200" y="3547872"/>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Writing — Write the ingredients (with quantities) for a dish your family cooks. Six items.</a:t>
            </a:r>
          </a:p>
        </p:txBody>
      </p:sp>
      <p:sp>
        <p:nvSpPr>
          <p:cNvPr id="17" name="Rounded Rectangle 16"/>
          <p:cNvSpPr/>
          <p:nvPr/>
        </p:nvSpPr>
        <p:spPr>
          <a:xfrm>
            <a:off x="731520" y="4462272"/>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4517136"/>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U5.2-H4</a:t>
            </a:r>
          </a:p>
        </p:txBody>
      </p:sp>
      <p:sp>
        <p:nvSpPr>
          <p:cNvPr id="19" name="TextBox 18"/>
          <p:cNvSpPr txBox="1"/>
          <p:nvPr/>
        </p:nvSpPr>
        <p:spPr>
          <a:xfrm>
            <a:off x="2743200" y="4517136"/>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Pronunciation — Say five quantity phrases with a WEAK 'of' five times each.</a:t>
            </a:r>
          </a:p>
        </p:txBody>
      </p:sp>
      <p:sp>
        <p:nvSpPr>
          <p:cNvPr id="20" name="TextBox 19"/>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U5L2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