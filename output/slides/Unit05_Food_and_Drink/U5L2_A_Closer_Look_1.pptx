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5  ·  LESSON 2  ·  PERIOD 32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Cooking verbs, containers and quantities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eight cooking verbs correctly</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containers and quantities (a bowl of, a bottle of, 200 grams of)</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pronounce the weak 'of' in quantity phrases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describe the ingredients of a dish with quantities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Kim's game with food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Show ten food pictures for 20 seconds, cover them, teams write as many as they remember.</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Remember and write food words.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boil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/bɔɪl/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luộc, đun sôi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Boil the water first.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fry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/fraɪ/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chiên, xào</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Fry the onions for two minutes.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steam</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/stiːm/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hấp</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Steam the fish for fifteen minutes.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grill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/ɡrɪl/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nướng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Grill the pork over charcoal.</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chop</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/tʃɒp/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băm, thái</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Chop the vegetables into small pieces.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mix</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/mɪks/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trộn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Mix the flour and the water.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ingredient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/ɪnˈɡriːdiənt/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nguyên liệu</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You need five ingredients.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recipe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/ˈresəpi/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công thức nấu ăn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This is my grandmother's recipe.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bowl of soup</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bottle of water</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cup of tea</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plate of rice</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kilo of beef</a:t>
            </a:r>
          </a:p>
        </p:txBody>
      </p:sp>
      <p:sp>
        <p:nvSpPr>
          <p:cNvPr id="18" name="Rounded Rectangle 17"/>
          <p:cNvSpPr/>
          <p:nvPr/>
        </p:nvSpPr>
        <p:spPr>
          <a:xfrm>
            <a:off x="822960" y="512064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17550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200 grams of flour</a:t>
            </a:r>
          </a:p>
        </p:txBody>
      </p:sp>
      <p:sp>
        <p:nvSpPr>
          <p:cNvPr id="20" name="Rounded Rectangle 19"/>
          <p:cNvSpPr/>
          <p:nvPr/>
        </p:nvSpPr>
        <p:spPr>
          <a:xfrm>
            <a:off x="822960" y="583387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097280" y="588873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spoonful of sugar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Containers and quantities: 'a … of'</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We cannot count uncountable things directly, so we use a container or a measure: a BOWL OF soup, a BOTTLE OF water, 200 GRAMS OF flour.</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plural is on the container, not on the food: TWO BOWLS OF soup.</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Common containers: bowl, plate, cup, glass, bottle, packet, box, bag, can.</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Common measures: gram, kilo, litre, spoonful, slice, piece.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Container / measure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a bowl of…</a:t>
                      </a:r>
                    </a:p>
                  </a:txBody>
                  <a:tcPr>
                    <a:solidFill>
                      <a:srgbClr val="E3F3EE"/>
                    </a:solidFill>
                  </a:tcPr>
                </a:tc>
                <a:tc>
                  <a:txBody>
                    <a:bodyPr/>
                    <a:lstStyle/>
                    <a:p>
                      <a:r>
                        <a:rPr sz="1600" b="0">
                          <a:solidFill>
                            <a:srgbClr val="1B1B1B"/>
                          </a:solidFill>
                          <a:latin typeface="Calibri"/>
                        </a:rPr>
                        <a:t>a bowl of pho</a:t>
                      </a:r>
                    </a:p>
                  </a:txBody>
                  <a:tcPr>
                    <a:solidFill>
                      <a:srgbClr val="E3F3EE"/>
                    </a:solidFill>
                  </a:tcPr>
                </a:tc>
              </a:tr>
              <a:tr h="566928">
                <a:tc>
                  <a:txBody>
                    <a:bodyPr/>
                    <a:lstStyle/>
                    <a:p>
                      <a:r>
                        <a:rPr sz="1600" b="0">
                          <a:solidFill>
                            <a:srgbClr val="1B1B1B"/>
                          </a:solidFill>
                          <a:latin typeface="Calibri"/>
                        </a:rPr>
                        <a:t>a bottle of…</a:t>
                      </a:r>
                    </a:p>
                  </a:txBody>
                  <a:tcPr>
                    <a:solidFill>
                      <a:srgbClr val="FFFFFF"/>
                    </a:solidFill>
                  </a:tcPr>
                </a:tc>
                <a:tc>
                  <a:txBody>
                    <a:bodyPr/>
                    <a:lstStyle/>
                    <a:p>
                      <a:r>
                        <a:rPr sz="1600" b="0">
                          <a:solidFill>
                            <a:srgbClr val="1B1B1B"/>
                          </a:solidFill>
                          <a:latin typeface="Calibri"/>
                        </a:rPr>
                        <a:t>two bottles of water</a:t>
                      </a:r>
                    </a:p>
                  </a:txBody>
                  <a:tcPr>
                    <a:solidFill>
                      <a:srgbClr val="FFFFFF"/>
                    </a:solidFill>
                  </a:tcPr>
                </a:tc>
              </a:tr>
              <a:tr h="566928">
                <a:tc>
                  <a:txBody>
                    <a:bodyPr/>
                    <a:lstStyle/>
                    <a:p>
                      <a:r>
                        <a:rPr sz="1600" b="0">
                          <a:solidFill>
                            <a:srgbClr val="1B1B1B"/>
                          </a:solidFill>
                          <a:latin typeface="Calibri"/>
                        </a:rPr>
                        <a:t>a cup of…</a:t>
                      </a:r>
                    </a:p>
                  </a:txBody>
                  <a:tcPr>
                    <a:solidFill>
                      <a:srgbClr val="E3F3EE"/>
                    </a:solidFill>
                  </a:tcPr>
                </a:tc>
                <a:tc>
                  <a:txBody>
                    <a:bodyPr/>
                    <a:lstStyle/>
                    <a:p>
                      <a:r>
                        <a:rPr sz="1600" b="0">
                          <a:solidFill>
                            <a:srgbClr val="1B1B1B"/>
                          </a:solidFill>
                          <a:latin typeface="Calibri"/>
                        </a:rPr>
                        <a:t>a cup of tea</a:t>
                      </a:r>
                    </a:p>
                  </a:txBody>
                  <a:tcPr>
                    <a:solidFill>
                      <a:srgbClr val="E3F3EE"/>
                    </a:solidFill>
                  </a:tcPr>
                </a:tc>
              </a:tr>
              <a:tr h="566928">
                <a:tc>
                  <a:txBody>
                    <a:bodyPr/>
                    <a:lstStyle/>
                    <a:p>
                      <a:r>
                        <a:rPr sz="1600" b="0">
                          <a:solidFill>
                            <a:srgbClr val="1B1B1B"/>
                          </a:solidFill>
                          <a:latin typeface="Calibri"/>
                        </a:rPr>
                        <a:t>a kilo of…</a:t>
                      </a:r>
                    </a:p>
                  </a:txBody>
                  <a:tcPr>
                    <a:solidFill>
                      <a:srgbClr val="FFFFFF"/>
                    </a:solidFill>
                  </a:tcPr>
                </a:tc>
                <a:tc>
                  <a:txBody>
                    <a:bodyPr/>
                    <a:lstStyle/>
                    <a:p>
                      <a:r>
                        <a:rPr sz="1600" b="0">
                          <a:solidFill>
                            <a:srgbClr val="1B1B1B"/>
                          </a:solidFill>
                          <a:latin typeface="Calibri"/>
                        </a:rPr>
                        <a:t>half a kilo of beef</a:t>
                      </a:r>
                    </a:p>
                  </a:txBody>
                  <a:tcPr>
                    <a:solidFill>
                      <a:srgbClr val="FFFFFF"/>
                    </a:solidFill>
                  </a:tcPr>
                </a:tc>
              </a:tr>
              <a:tr h="566928">
                <a:tc>
                  <a:txBody>
                    <a:bodyPr/>
                    <a:lstStyle/>
                    <a:p>
                      <a:r>
                        <a:rPr sz="1600" b="0">
                          <a:solidFill>
                            <a:srgbClr val="1B1B1B"/>
                          </a:solidFill>
                          <a:latin typeface="Calibri"/>
                        </a:rPr>
                        <a:t>a slice of…</a:t>
                      </a:r>
                    </a:p>
                  </a:txBody>
                  <a:tcPr>
                    <a:solidFill>
                      <a:srgbClr val="E3F3EE"/>
                    </a:solidFill>
                  </a:tcPr>
                </a:tc>
                <a:tc>
                  <a:txBody>
                    <a:bodyPr/>
                    <a:lstStyle/>
                    <a:p>
                      <a:r>
                        <a:rPr sz="1600" b="0">
                          <a:solidFill>
                            <a:srgbClr val="1B1B1B"/>
                          </a:solidFill>
                          <a:latin typeface="Calibri"/>
                        </a:rPr>
                        <a:t>three slices of bread</a:t>
                      </a:r>
                    </a:p>
                  </a:txBody>
                  <a:tcPr>
                    <a:solidFill>
                      <a:srgbClr val="E3F3EE"/>
                    </a:solidFill>
                  </a:tcPr>
                </a:tc>
              </a:tr>
              <a:tr h="566928">
                <a:tc>
                  <a:txBody>
                    <a:bodyPr/>
                    <a:lstStyle/>
                    <a:p>
                      <a:r>
                        <a:rPr sz="1600" b="0">
                          <a:solidFill>
                            <a:srgbClr val="1B1B1B"/>
                          </a:solidFill>
                          <a:latin typeface="Calibri"/>
                        </a:rPr>
                        <a:t>a spoonful of…</a:t>
                      </a:r>
                    </a:p>
                  </a:txBody>
                  <a:tcPr>
                    <a:solidFill>
                      <a:srgbClr val="FFFFFF"/>
                    </a:solidFill>
                  </a:tcPr>
                </a:tc>
                <a:tc>
                  <a:txBody>
                    <a:bodyPr/>
                    <a:lstStyle/>
                    <a:p>
                      <a:r>
                        <a:rPr sz="1600" b="0">
                          <a:solidFill>
                            <a:srgbClr val="1B1B1B"/>
                          </a:solidFill>
                          <a:latin typeface="Calibri"/>
                        </a:rPr>
                        <a:t>two spoonfuls of sugar</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like a bowl of noodles and a glass of iced tea, please.</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 need 300 grams of rice flour and two spoonfuls of sugar.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*two bowl of soups* — the S goes on the CONTAINER: two bowlS of soup. Also *a water*, *a rice*: uncountable nouns need a container.</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I'd like a bowl of noodles and a glass of iced tea, please.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The weak 'of' /əv/ and linking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quantity phrases 'of' is never stressed: a BOWL of SOUP → /ə ˈbəʊl əv ˈsuːp/. It links to the next word: a cup_of_tea → /ə kʌpəv tiː/.</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bowl of soup /ə bəʊl əv suːp/</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cup of tea /ə kʌpəv tiː/</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bottle of water</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kilo of beef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A bowl of soup and a cup of tea, please.</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Two bottles of water and a kilo of beef.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Determiners and plural nouns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talking about amounts of things. Two speakers, scripted dialogue, native English. It lasts 3:07.</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Sound Grammar · 3:07 · Two speakers, scripted dialogue, native English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months of the year and when things happen B. talking about amounts of things C. a television advertisement for a hair product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It has a really good Korean restaurant.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Do you have a big apartment?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has a kitchen, a living room and five bedrooms.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Well, it has some nice cafes and cheap stores for shopping.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 have an old scarf, but I want a new three.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Man: How _____ bathrooms does it have?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Woman : We have _____ oranges, an apple and two bananas.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 Well, we have _____ chips, and some peanuts.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Please, come and get them _____ time.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Woman: It has _____ trees and flowers, and lots of grass.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How to make a simple Vietnamese breakfast: xoi</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Xoi (sticky rice) is one of the easiest and cheapest breakfasts in Viet Nam. This is my grandmother's recipe. Ingredients: 500 grams of sticky rice, a little salt, two spoonfuls of oil, 50 grams of peanuts, and some fried onion. First, wash the rice and put it in a bowl of water for six hours — or all night. Then boil the peanuts for twenty minutes until they are soft. After that, steam the rice for about thirty minutes. Do not boil it! Steaming keeps the rice dry and sticky. Finally, mix the rice with the peanuts, a little salt and the oil, and put the fried onion on top. Serve it hot, in a banana leaf if you have 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much sticky rice do you need?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long do you leave the rice in water?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long do you boil the peanuts?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Should you boil or steam the rice? Why?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do you put on top?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six cooking verbs in the recipe.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2. ______ 3. ______ 4. ______ 5. ______ 6. ______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Which cooking verb?</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put food in very hot water: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cook over hot steam: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cook in oil in a pan: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cook over fire or charcoal: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cut into small pieces: ______</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Which cooking verb?</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put two things together: ______</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correct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______ of water (bottle / bowl)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______ of soup (plate / bowl)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______ of tea (cup / glass)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______ of bread (slice / spoonful)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______ of sugar (spoonful / kilo)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correct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a ______ of rice (kilo / cup)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the mistake in each phrase.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two bowl of soup</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water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three bottle of waters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rice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two cup of teas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U5.2-S1 and swap roles.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U5.2-S1 and swap roles.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 is a seller, B is a customer. B buys five things with quantities.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would you like? B: Half a kilo of beef, please. / How much is that?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the ingredients of a dish you know, with quantities.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Model: For banh xeo you need 200 grams of rice flour, half a litre of water, 200 grams of prawns and a bag of bean sprouts.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Buying food and asking about prices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would you like?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like…, please.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Anything else?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much is that?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much are they?</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Here you are.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Market role play: seller and customer, five items, ask the total price and give change.</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phrase.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soup (bowl)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water (2 bottles)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rice (1 kilo)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bread (3 slices)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sugar (2 spoonfuls)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phrase.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tea (cup)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8 cooking verbs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Containers and measures with 'of'</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Weak 'of' /əv/</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U5.2-H1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cooking verb.</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U5.2-H2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the quantity phrase.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U5.2-H3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the ingredients (with quantities) for a dish your family cooks. Six items.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U5.2-H4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five quantity phrases with a WEAK 'of' five times each.</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U5L2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