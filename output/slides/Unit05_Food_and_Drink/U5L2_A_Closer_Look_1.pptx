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2_1_A2-22-Nouns.mp3" TargetMode="External"/><Relationship Id="rId3" Type="http://schemas.openxmlformats.org/officeDocument/2006/relationships/hyperlink" Target="https://elllo.org/book/A2/A2-22-Determiner-Noun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2  ·  PERIOD 34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Cooking verbs, containers and quantities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cooking verbs correctly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containers and quantities (a bowl of, a bottle of, 200 grams of)</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weak 'of' in quantity phrases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the ingredients of a dish with quantities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Kim's game with food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ten food pictures for 20 seconds, cover them, teams write as many as they remember.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Remember and write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boil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luộc, đun sôi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Boil the water first.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/fraɪ/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chiên, xào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Fry the onions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steam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/stiːm/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Steam the fish for fifteen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grill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nướng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Grill the pork over charcoal.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chop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/tʃɒp/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băm, thái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Chop the vegetables into small pieces.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mix</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/mɪks/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trộn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Mix the flour and the water.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ingredient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/ɪnˈɡriːdiənt/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nguyên liệu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need five ingredients.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recipe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/ˈresəpi/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công thức nấu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my grandmother's recipe.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bowl of soup</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bottle of water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cup of tea</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plate of rice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kilo of beef</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200 grams of flour</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spoonful of sugar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Containers and quantities: 'a … of'</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cannot count uncountable things directly, so we use a container or a measure: a BOWL OF soup, a BOTTLE OF water, 200 GRAMS OF flour.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plural is on the container, not on the food: TWO BOWLS OF soup.</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containers: bowl, plate, cup, glass, bottle, packet, box, bag, can.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measures: gram, kilo, litre, spoonful, slice, piece.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Container / measure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bowl of…</a:t>
                      </a:r>
                    </a:p>
                  </a:txBody>
                  <a:tcPr>
                    <a:solidFill>
                      <a:srgbClr val="E3F3EE"/>
                    </a:solidFill>
                  </a:tcPr>
                </a:tc>
                <a:tc>
                  <a:txBody>
                    <a:bodyPr/>
                    <a:lstStyle/>
                    <a:p>
                      <a:r>
                        <a:rPr sz="1600" b="0">
                          <a:solidFill>
                            <a:srgbClr val="1B1B1B"/>
                          </a:solidFill>
                          <a:latin typeface="Calibri"/>
                        </a:rPr>
                        <a:t>a bowl of pho</a:t>
                      </a:r>
                    </a:p>
                  </a:txBody>
                  <a:tcPr>
                    <a:solidFill>
                      <a:srgbClr val="E3F3EE"/>
                    </a:solidFill>
                  </a:tcPr>
                </a:tc>
              </a:tr>
              <a:tr h="566928">
                <a:tc>
                  <a:txBody>
                    <a:bodyPr/>
                    <a:lstStyle/>
                    <a:p>
                      <a:r>
                        <a:rPr sz="1600" b="0">
                          <a:solidFill>
                            <a:srgbClr val="1B1B1B"/>
                          </a:solidFill>
                          <a:latin typeface="Calibri"/>
                        </a:rPr>
                        <a:t>a bottle of…</a:t>
                      </a:r>
                    </a:p>
                  </a:txBody>
                  <a:tcPr>
                    <a:solidFill>
                      <a:srgbClr val="FFFFFF"/>
                    </a:solidFill>
                  </a:tcPr>
                </a:tc>
                <a:tc>
                  <a:txBody>
                    <a:bodyPr/>
                    <a:lstStyle/>
                    <a:p>
                      <a:r>
                        <a:rPr sz="1600" b="0">
                          <a:solidFill>
                            <a:srgbClr val="1B1B1B"/>
                          </a:solidFill>
                          <a:latin typeface="Calibri"/>
                        </a:rPr>
                        <a:t>two bottles of water</a:t>
                      </a:r>
                    </a:p>
                  </a:txBody>
                  <a:tcPr>
                    <a:solidFill>
                      <a:srgbClr val="FFFFFF"/>
                    </a:solidFill>
                  </a:tcPr>
                </a:tc>
              </a:tr>
              <a:tr h="566928">
                <a:tc>
                  <a:txBody>
                    <a:bodyPr/>
                    <a:lstStyle/>
                    <a:p>
                      <a:r>
                        <a:rPr sz="1600" b="0">
                          <a:solidFill>
                            <a:srgbClr val="1B1B1B"/>
                          </a:solidFill>
                          <a:latin typeface="Calibri"/>
                        </a:rPr>
                        <a:t>a cup of…</a:t>
                      </a:r>
                    </a:p>
                  </a:txBody>
                  <a:tcPr>
                    <a:solidFill>
                      <a:srgbClr val="E3F3EE"/>
                    </a:solidFill>
                  </a:tcPr>
                </a:tc>
                <a:tc>
                  <a:txBody>
                    <a:bodyPr/>
                    <a:lstStyle/>
                    <a:p>
                      <a:r>
                        <a:rPr sz="1600" b="0">
                          <a:solidFill>
                            <a:srgbClr val="1B1B1B"/>
                          </a:solidFill>
                          <a:latin typeface="Calibri"/>
                        </a:rPr>
                        <a:t>a cup of tea</a:t>
                      </a:r>
                    </a:p>
                  </a:txBody>
                  <a:tcPr>
                    <a:solidFill>
                      <a:srgbClr val="E3F3EE"/>
                    </a:solidFill>
                  </a:tcPr>
                </a:tc>
              </a:tr>
              <a:tr h="566928">
                <a:tc>
                  <a:txBody>
                    <a:bodyPr/>
                    <a:lstStyle/>
                    <a:p>
                      <a:r>
                        <a:rPr sz="1600" b="0">
                          <a:solidFill>
                            <a:srgbClr val="1B1B1B"/>
                          </a:solidFill>
                          <a:latin typeface="Calibri"/>
                        </a:rPr>
                        <a:t>a kilo of…</a:t>
                      </a:r>
                    </a:p>
                  </a:txBody>
                  <a:tcPr>
                    <a:solidFill>
                      <a:srgbClr val="FFFFFF"/>
                    </a:solidFill>
                  </a:tcPr>
                </a:tc>
                <a:tc>
                  <a:txBody>
                    <a:bodyPr/>
                    <a:lstStyle/>
                    <a:p>
                      <a:r>
                        <a:rPr sz="1600" b="0">
                          <a:solidFill>
                            <a:srgbClr val="1B1B1B"/>
                          </a:solidFill>
                          <a:latin typeface="Calibri"/>
                        </a:rPr>
                        <a:t>half a kilo of beef</a:t>
                      </a:r>
                    </a:p>
                  </a:txBody>
                  <a:tcPr>
                    <a:solidFill>
                      <a:srgbClr val="FFFFFF"/>
                    </a:solidFill>
                  </a:tcPr>
                </a:tc>
              </a:tr>
              <a:tr h="566928">
                <a:tc>
                  <a:txBody>
                    <a:bodyPr/>
                    <a:lstStyle/>
                    <a:p>
                      <a:r>
                        <a:rPr sz="1600" b="0">
                          <a:solidFill>
                            <a:srgbClr val="1B1B1B"/>
                          </a:solidFill>
                          <a:latin typeface="Calibri"/>
                        </a:rPr>
                        <a:t>a slice of…</a:t>
                      </a:r>
                    </a:p>
                  </a:txBody>
                  <a:tcPr>
                    <a:solidFill>
                      <a:srgbClr val="E3F3EE"/>
                    </a:solidFill>
                  </a:tcPr>
                </a:tc>
                <a:tc>
                  <a:txBody>
                    <a:bodyPr/>
                    <a:lstStyle/>
                    <a:p>
                      <a:r>
                        <a:rPr sz="1600" b="0">
                          <a:solidFill>
                            <a:srgbClr val="1B1B1B"/>
                          </a:solidFill>
                          <a:latin typeface="Calibri"/>
                        </a:rPr>
                        <a:t>three slices of bread</a:t>
                      </a:r>
                    </a:p>
                  </a:txBody>
                  <a:tcPr>
                    <a:solidFill>
                      <a:srgbClr val="E3F3EE"/>
                    </a:solidFill>
                  </a:tcPr>
                </a:tc>
              </a:tr>
              <a:tr h="566928">
                <a:tc>
                  <a:txBody>
                    <a:bodyPr/>
                    <a:lstStyle/>
                    <a:p>
                      <a:r>
                        <a:rPr sz="1600" b="0">
                          <a:solidFill>
                            <a:srgbClr val="1B1B1B"/>
                          </a:solidFill>
                          <a:latin typeface="Calibri"/>
                        </a:rPr>
                        <a:t>a spoonful of…</a:t>
                      </a:r>
                    </a:p>
                  </a:txBody>
                  <a:tcPr>
                    <a:solidFill>
                      <a:srgbClr val="FFFFFF"/>
                    </a:solidFill>
                  </a:tcPr>
                </a:tc>
                <a:tc>
                  <a:txBody>
                    <a:bodyPr/>
                    <a:lstStyle/>
                    <a:p>
                      <a:r>
                        <a:rPr sz="1600" b="0">
                          <a:solidFill>
                            <a:srgbClr val="1B1B1B"/>
                          </a:solidFill>
                          <a:latin typeface="Calibri"/>
                        </a:rPr>
                        <a:t>two spoonfuls of sugar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a bowl of noodles and a glass of iced tea, please.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 300 grams of rice flour and two spoonfuls of sugar.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bowl of soups* — the S goes on the CONTAINER: two bowlS of soup. Also *a water*, *a rice*: uncountable nouns need a container.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like a bowl of noodles and a glass of iced tea, please.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weak 'of' /əv/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quantity phrases 'of' is never stressed: a BOWL of SOUP → /ə ˈbəʊl əv ˈsuːp/. It links to the next word: a cup_of_tea → /ə kʌpəv tiː/.</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 /ə bəʊl əv suːp/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cup of tea /ə kʌpəv tiː/</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bottle of water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kilo of beef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 bowl of soup and a cup of tea, please.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Two bottles of water and a kilo of beef.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Determiners and plural 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talking about amounts of things. Two speakers, scripted dialogue, native English. It lasts 3:07.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3:07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months of the year and when things happen B. talking about amounts of things C. a television advertisement for a hair product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has a really good Korean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a big apartment?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 kitchen, a living room and five bedrooms.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Well, it has some nice cafes and cheap stores for shopping.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have an old scarf, but I want a new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_____ bathrooms does it have?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 We have _____ oranges, an apple and two bananas.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 Well, we have _____ chips, and some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Please, come and get them _____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It has _____ trees and flowers, and lots of grass.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How to make a simple Vietnamese breakfast: xoi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Xoi (sticky rice) is one of the easiest and cheapest breakfasts in Viet Nam. This is my grandmother's recipe. Ingredients: 500 grams of sticky rice, a little salt, two spoonfuls of oil, 50 grams of peanuts, and some fried onion. First, wash the rice and put it in a bowl of water for six hours — or all night. Then boil the peanuts for twenty minutes until they are soft. After that, steam the rice for about thirty minutes. Do not boil it! Steaming keeps the rice dry and sticky. Finally, mix the rice with the peanuts, a little salt and the oil, and put the fried onion on top. Serve it hot, in a banana leaf if you have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much sticky rice do you need?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do you leave the rice in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you boil the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Should you boil or steam the rice?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put on top?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cooking verbs in the recipe.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put food in very hot water: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over hot steam: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cook in oil in a pan: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cook over fire or charcoal: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cut into small pieces: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put two things together: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______ of water (bottle / bowl)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______ of soup (plate / bowl)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______ of tea (cup / glass)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______ of bread (slice / spoonful)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______ of sugar (spoonful / kilo)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______ of rice (kilo / cup)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mistake in each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bowl of soup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bottle of waters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rice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cup of teas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U5.2-S1 and swap roles.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U5.2-S1 and swap roles.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seller, B is a customer. B buys five things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would you like? B: Half a kilo of beef, please. / How much is that?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ingredients of a dish you know,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For banh xeo you need 200 grams of rice flour, half a litre of water, 200 grams of prawns and a bag of bean sprouts.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Buying food and asking about prices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please.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Anything else?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that?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are they?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you 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Market role play: seller and customer, five items, ask the total price and give change.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soup (bowl)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(2 bottles)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rice (1 kilo)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bread (3 slices)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sugar (2 spoonfuls)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tea (cup)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cooking verbs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Containers and measures with 'of'</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Weak 'of' /əv/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cooking verb.</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quantity phrase.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the ingredients (with quantities) for a dish your family cooks. Six items.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five quantity phrases with a WEAK 'of'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