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5  ·  PERIOD 81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Transport that solves a problem + Speaking: Pitch an idea</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pitch an invention for 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questions about somebody else's idea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Problem hunt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'What is the most annoying transport problem in our area?' Collect six problems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real local problems.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/sɒlv/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quyết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idea solves a real problem.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 to run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tə rʌn/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 khi vận hành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cheap to run and easy to repair.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Any mechanic can repair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spare 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/speə pɑːt/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tùng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Spare parts are easy to find.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practical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/ˈpræktɪkl/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thực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simple, practical idea.</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prototype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/ˈprəʊtətaɪp/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mẫu 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built a prototype from old bicycles.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solve a problem</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cheap to run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easy to repair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works because…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clever part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Pitching an idea: language of purpose and benefit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Purpose: It is designed to + verb / It is designed for + noun.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Benefit: This means that… / So students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Possibility: It might also…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Honesty: The problem is… / It won't work if…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purpose</a:t>
                      </a:r>
                    </a:p>
                  </a:txBody>
                  <a:tcPr>
                    <a:solidFill>
                      <a:srgbClr val="E3F3EE"/>
                    </a:solidFill>
                  </a:tcPr>
                </a:tc>
                <a:tc>
                  <a:txBody>
                    <a:bodyPr/>
                    <a:lstStyle/>
                    <a:p>
                      <a:r>
                        <a:rPr sz="1600" b="0">
                          <a:solidFill>
                            <a:srgbClr val="1B1B1B"/>
                          </a:solidFill>
                          <a:latin typeface="Calibri"/>
                        </a:rPr>
                        <a:t>It is designed to…</a:t>
                      </a:r>
                    </a:p>
                  </a:txBody>
                  <a:tcPr>
                    <a:solidFill>
                      <a:srgbClr val="E3F3EE"/>
                    </a:solidFill>
                  </a:tcPr>
                </a:tc>
                <a:tc>
                  <a:txBody>
                    <a:bodyPr/>
                    <a:lstStyle/>
                    <a:p>
                      <a:r>
                        <a:rPr sz="1600" b="0">
                          <a:solidFill>
                            <a:srgbClr val="1B1B1B"/>
                          </a:solidFill>
                          <a:latin typeface="Calibri"/>
                        </a:rPr>
                        <a:t>It is designed to carry two children safely.</a:t>
                      </a:r>
                    </a:p>
                  </a:txBody>
                  <a:tcPr>
                    <a:solidFill>
                      <a:srgbClr val="E3F3EE"/>
                    </a:solidFill>
                  </a:tcPr>
                </a:tc>
              </a:tr>
              <a:tr h="566928">
                <a:tc>
                  <a:txBody>
                    <a:bodyPr/>
                    <a:lstStyle/>
                    <a:p>
                      <a:r>
                        <a:rPr sz="1600" b="0">
                          <a:solidFill>
                            <a:srgbClr val="1B1B1B"/>
                          </a:solidFill>
                          <a:latin typeface="Calibri"/>
                        </a:rPr>
                        <a:t>benefit</a:t>
                      </a:r>
                    </a:p>
                  </a:txBody>
                  <a:tcPr>
                    <a:solidFill>
                      <a:srgbClr val="FFFFFF"/>
                    </a:solidFill>
                  </a:tcPr>
                </a:tc>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This means that parents will let them travel alone.</a:t>
                      </a:r>
                    </a:p>
                  </a:txBody>
                  <a:tcPr>
                    <a:solidFill>
                      <a:srgbClr val="FFFFFF"/>
                    </a:solidFill>
                  </a:tcPr>
                </a:tc>
              </a:tr>
              <a:tr h="566928">
                <a:tc>
                  <a:txBody>
                    <a:bodyPr/>
                    <a:lstStyle/>
                    <a:p>
                      <a:r>
                        <a:rPr sz="1600" b="0">
                          <a:solidFill>
                            <a:srgbClr val="1B1B1B"/>
                          </a:solidFill>
                          <a:latin typeface="Calibri"/>
                        </a:rPr>
                        <a:t>possibility</a:t>
                      </a:r>
                    </a:p>
                  </a:txBody>
                  <a:tcPr>
                    <a:solidFill>
                      <a:srgbClr val="E3F3EE"/>
                    </a:solidFill>
                  </a:tcPr>
                </a:tc>
                <a:tc>
                  <a:txBody>
                    <a:bodyPr/>
                    <a:lstStyle/>
                    <a:p>
                      <a:r>
                        <a:rPr sz="1600" b="0">
                          <a:solidFill>
                            <a:srgbClr val="1B1B1B"/>
                          </a:solidFill>
                          <a:latin typeface="Calibri"/>
                        </a:rPr>
                        <a:t>It might also…</a:t>
                      </a:r>
                    </a:p>
                  </a:txBody>
                  <a:tcPr>
                    <a:solidFill>
                      <a:srgbClr val="E3F3EE"/>
                    </a:solidFill>
                  </a:tcPr>
                </a:tc>
                <a:tc>
                  <a:txBody>
                    <a:bodyPr/>
                    <a:lstStyle/>
                    <a:p>
                      <a:r>
                        <a:rPr sz="1600" b="0">
                          <a:solidFill>
                            <a:srgbClr val="1B1B1B"/>
                          </a:solidFill>
                          <a:latin typeface="Calibri"/>
                        </a:rPr>
                        <a:t>It might also work in the rainy season.</a:t>
                      </a:r>
                    </a:p>
                  </a:txBody>
                  <a:tcPr>
                    <a:solidFill>
                      <a:srgbClr val="E3F3EE"/>
                    </a:solidFill>
                  </a:tcPr>
                </a:tc>
              </a:tr>
              <a:tr h="566928">
                <a:tc>
                  <a:txBody>
                    <a:bodyPr/>
                    <a:lstStyle/>
                    <a:p>
                      <a:r>
                        <a:rPr sz="1600" b="0">
                          <a:solidFill>
                            <a:srgbClr val="1B1B1B"/>
                          </a:solidFill>
                          <a:latin typeface="Calibri"/>
                        </a:rPr>
                        <a:t>honesty</a:t>
                      </a:r>
                    </a:p>
                  </a:txBody>
                  <a:tcPr>
                    <a:solidFill>
                      <a:srgbClr val="FFFFFF"/>
                    </a:solidFill>
                  </a:tcPr>
                </a:tc>
                <a:tc>
                  <a:txBody>
                    <a:bodyPr/>
                    <a:lstStyle/>
                    <a:p>
                      <a:r>
                        <a:rPr sz="1600" b="0">
                          <a:solidFill>
                            <a:srgbClr val="1B1B1B"/>
                          </a:solidFill>
                          <a:latin typeface="Calibri"/>
                        </a:rPr>
                        <a:t>The problem is…</a:t>
                      </a:r>
                    </a:p>
                  </a:txBody>
                  <a:tcPr>
                    <a:solidFill>
                      <a:srgbClr val="FFFFFF"/>
                    </a:solidFill>
                  </a:tcPr>
                </a:tc>
                <a:tc>
                  <a:txBody>
                    <a:bodyPr/>
                    <a:lstStyle/>
                    <a:p>
                      <a:r>
                        <a:rPr sz="1600" b="0">
                          <a:solidFill>
                            <a:srgbClr val="1B1B1B"/>
                          </a:solidFill>
                          <a:latin typeface="Calibri"/>
                        </a:rPr>
                        <a:t>The problem is the price of the battery.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vehicle is designed to cross flooded streets, so students won't miss school in September. The problem is that it is…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cheap to run and easy to repair, which means any village mechanic can fix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pitch with no honesty sounds like an advertisement. Every pitch must include one real problem.</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vehicle is designed to cross flooded streets, so students won't miss school in September. The problem is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Pitching: pace, stress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 pitch is slower than normal speech. Stress the benefit word: 'It is CHEAP to run and EASY to repair.' Pause before the problem: 'The problem is… / the battery.'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CHEAP to run.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It's EASY to repair.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PROBLEM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Our vehicle is designed to cross flooded streets. / This means that students won't miss school. / The problem is / the price.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Who will you see tonight or tomorrow?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one person will meet later today. Single speaker — Elisabeth / USA. It lasts 1:10.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1:10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giving instructions and telling somebody what to do C. working together as a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grand also enjoys walking, so we'll plan to walk the dogs together.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Elizabeth.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And then tomorrow my grandmother really enjoys shopping, so I think I'll go shopping with 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They live about two hours away.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the United States, and my question is, who _____ you see tonight or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Tonight I am going to _____ my grandparents.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haven't seen them in a couple of months, so I'm going to drive over to their house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have a dog and they have a little poodle, and that is who I'm going to _____ tonight and tomorrow.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bicycle ambulance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2005, a nurse in a rural district of northern Viet Nam counted the reasons why patients arrived at her clinic too late. The commonest reason was not money and not distance. It was mud. Between May and October, the road to three villages became impossible for a car. A motorbike could pass, but a sick person cannot sit on a motorbike for eight kilometres. A local mechanic and two teachers built something very simple: a bicycle with a light metal trailer, big wheels and a mattress. One person cycles; the patient lies down. It cost about two million dong, mostly from old bicycles. It is not fast — about twelve kilometres an hour. But it works in mud, it needs no fuel, and any bicycle mechanic can repair it with spare parts from the market. In the first two years, the trailer carried 87 patients, including 19 women who were having babies. Nine other districts have copied the design. 'Peop…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ambulances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simple invention that works in mud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Bicycles in Vietnamese villages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commonest reason for arriving late?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 motorbike not a solution?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bicycle ambulance made of, and what did it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fast is it, and what are its three advantages?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many patients did it carry in the first two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vehicle pulled behind another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something soft to lie on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pieces used to repair a machine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made the same 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nurse's last two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'any bicycle mechanic can repair it' so important?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problem in YOUR area could a simple invention solve?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commonest reason for arriving late was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road is impossible for a car from May to October.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bicycle ambulance cost about twenty million dong.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travels at about 12 km/h.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Nine other districts have copied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two ideas with 'This means that' or 'is designed to'.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boat crosses in four minutes. / Children don't walk 22 km.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roof folds like an umbrella. / (purpose: keep students dry)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motor is the same as a fishing boat motor. / Any mechanic can fix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trailer has big wheels. / (purpose: travel in mud)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bicycle ambulance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bicycle ambulance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pitch.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problem (with a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idea and what it is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it can do / is designed to do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it is good (cheap to run? easy to repair?)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honest problem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Pitch for 90 seconds in a group of four. Listeners ask one question each and give one mark out of five.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designed to…', 'This means that…', 'It's cheap to run.', 'The problem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practical questions about an idea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will it cost?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 will pay for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happens if it breaks?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Has anybody tried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biggest problem?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pitch, listeners must ask one practical question. The presenter must answer honestly.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Pitch structure: problem – idea – purpose – benefit – honest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designed to / this means that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solve, cheap to run, repair, spare parts, practical, prototype.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pitch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pitch three times. Speak SLOWLY.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