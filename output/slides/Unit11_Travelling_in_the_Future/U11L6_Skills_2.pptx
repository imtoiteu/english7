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11  ·  LESSON 6  ·  PERIOD 84</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Listening: Travel announcements + Writing: A future journey</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listen to announcements and note the key information</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organise a description of a future journey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110–130 words describing a journey in the future</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check a partner's work with a checklist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Announcement dictation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Read one announcement at normal speed; students note destination, time, platform and problem.</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Listen and note.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announcement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/əˈnaʊnsmənt/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thông báo</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Listen to the announcement.</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cancel</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/ˈkænsl/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hủy</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8.30 service is cancelled.</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board</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/bɔːd/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lên (tàu, xe)</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Passengers may now 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passenger</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/ˈpæsɪndʒə/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hành khách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Passengers for Hue, please go to gate 2.</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luggage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/ˈlʌɡɪdʒ/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hành lý</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Please keep your luggage with you.</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on time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/ɒn taɪm/   (adj phr)</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đúng giờ</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train is running on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Attention, please.</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service to … is delayed / cancelled.</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Passengers are asked to…</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apologise for the delay.</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running on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Describing a future journey (writing focus)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1. THE JOURNEY TODAY (present simple): Today the journey takes six hours by bus.</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2. THE FUTURE JOURNEY (will): In 2050 it will take ninety minutes.</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3. DETAILS with might for the parts you are not sure about.</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4. HOW IT WILL FEEL: what you will see, hear and do on the 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Language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now</a:t>
                      </a:r>
                    </a:p>
                  </a:txBody>
                  <a:tcPr>
                    <a:solidFill>
                      <a:srgbClr val="E3F3EE"/>
                    </a:solidFill>
                  </a:tcPr>
                </a:tc>
                <a:tc>
                  <a:txBody>
                    <a:bodyPr/>
                    <a:lstStyle/>
                    <a:p>
                      <a:r>
                        <a:rPr sz="1600" b="0">
                          <a:solidFill>
                            <a:srgbClr val="1B1B1B"/>
                          </a:solidFill>
                          <a:latin typeface="Calibri"/>
                        </a:rPr>
                        <a:t>present simple</a:t>
                      </a:r>
                    </a:p>
                  </a:txBody>
                  <a:tcPr>
                    <a:solidFill>
                      <a:srgbClr val="E3F3EE"/>
                    </a:solidFill>
                  </a:tcPr>
                </a:tc>
                <a:tc>
                  <a:txBody>
                    <a:bodyPr/>
                    <a:lstStyle/>
                    <a:p>
                      <a:r>
                        <a:rPr sz="1600" b="0">
                          <a:solidFill>
                            <a:srgbClr val="1B1B1B"/>
                          </a:solidFill>
                          <a:latin typeface="Calibri"/>
                        </a:rPr>
                        <a:t>Today the bus takes six hours.</a:t>
                      </a:r>
                    </a:p>
                  </a:txBody>
                  <a:tcPr>
                    <a:solidFill>
                      <a:srgbClr val="E3F3EE"/>
                    </a:solidFill>
                  </a:tcPr>
                </a:tc>
              </a:tr>
              <a:tr h="566928">
                <a:tc>
                  <a:txBody>
                    <a:bodyPr/>
                    <a:lstStyle/>
                    <a:p>
                      <a:r>
                        <a:rPr sz="1600" b="0">
                          <a:solidFill>
                            <a:srgbClr val="1B1B1B"/>
                          </a:solidFill>
                          <a:latin typeface="Calibri"/>
                        </a:rPr>
                        <a:t>future</a:t>
                      </a:r>
                    </a:p>
                  </a:txBody>
                  <a:tcPr>
                    <a:solidFill>
                      <a:srgbClr val="FFFFFF"/>
                    </a:solidFill>
                  </a:tcPr>
                </a:tc>
                <a:tc>
                  <a:txBody>
                    <a:bodyPr/>
                    <a:lstStyle/>
                    <a:p>
                      <a:r>
                        <a:rPr sz="1600" b="0">
                          <a:solidFill>
                            <a:srgbClr val="1B1B1B"/>
                          </a:solidFill>
                          <a:latin typeface="Calibri"/>
                        </a:rPr>
                        <a:t>will</a:t>
                      </a:r>
                    </a:p>
                  </a:txBody>
                  <a:tcPr>
                    <a:solidFill>
                      <a:srgbClr val="FFFFFF"/>
                    </a:solidFill>
                  </a:tcPr>
                </a:tc>
                <a:tc>
                  <a:txBody>
                    <a:bodyPr/>
                    <a:lstStyle/>
                    <a:p>
                      <a:r>
                        <a:rPr sz="1600" b="0">
                          <a:solidFill>
                            <a:srgbClr val="1B1B1B"/>
                          </a:solidFill>
                          <a:latin typeface="Calibri"/>
                        </a:rPr>
                        <a:t>In 2050 the train will take ninety minutes.</a:t>
                      </a:r>
                    </a:p>
                  </a:txBody>
                  <a:tcPr>
                    <a:solidFill>
                      <a:srgbClr val="FFFFFF"/>
                    </a:solidFill>
                  </a:tcPr>
                </a:tc>
              </a:tr>
              <a:tr h="566928">
                <a:tc>
                  <a:txBody>
                    <a:bodyPr/>
                    <a:lstStyle/>
                    <a:p>
                      <a:r>
                        <a:rPr sz="1600" b="0">
                          <a:solidFill>
                            <a:srgbClr val="1B1B1B"/>
                          </a:solidFill>
                          <a:latin typeface="Calibri"/>
                        </a:rPr>
                        <a:t>uncertain</a:t>
                      </a:r>
                    </a:p>
                  </a:txBody>
                  <a:tcPr>
                    <a:solidFill>
                      <a:srgbClr val="E3F3EE"/>
                    </a:solidFill>
                  </a:tcPr>
                </a:tc>
                <a:tc>
                  <a:txBody>
                    <a:bodyPr/>
                    <a:lstStyle/>
                    <a:p>
                      <a:r>
                        <a:rPr sz="1600" b="0">
                          <a:solidFill>
                            <a:srgbClr val="1B1B1B"/>
                          </a:solidFill>
                          <a:latin typeface="Calibri"/>
                        </a:rPr>
                        <a:t>might</a:t>
                      </a:r>
                    </a:p>
                  </a:txBody>
                  <a:tcPr>
                    <a:solidFill>
                      <a:srgbClr val="E3F3EE"/>
                    </a:solidFill>
                  </a:tcPr>
                </a:tc>
                <a:tc>
                  <a:txBody>
                    <a:bodyPr/>
                    <a:lstStyle/>
                    <a:p>
                      <a:r>
                        <a:rPr sz="1600" b="0">
                          <a:solidFill>
                            <a:srgbClr val="1B1B1B"/>
                          </a:solidFill>
                          <a:latin typeface="Calibri"/>
                        </a:rPr>
                        <a:t>There might be a station in my town.</a:t>
                      </a:r>
                    </a:p>
                  </a:txBody>
                  <a:tcPr>
                    <a:solidFill>
                      <a:srgbClr val="E3F3EE"/>
                    </a:solidFill>
                  </a:tcPr>
                </a:tc>
              </a:tr>
              <a:tr h="566928">
                <a:tc>
                  <a:txBody>
                    <a:bodyPr/>
                    <a:lstStyle/>
                    <a:p>
                      <a:r>
                        <a:rPr sz="1600" b="0">
                          <a:solidFill>
                            <a:srgbClr val="1B1B1B"/>
                          </a:solidFill>
                          <a:latin typeface="Calibri"/>
                        </a:rPr>
                        <a:t>experience</a:t>
                      </a:r>
                    </a:p>
                  </a:txBody>
                  <a:tcPr>
                    <a:solidFill>
                      <a:srgbClr val="FFFFFF"/>
                    </a:solidFill>
                  </a:tcPr>
                </a:tc>
                <a:tc>
                  <a:txBody>
                    <a:bodyPr/>
                    <a:lstStyle/>
                    <a:p>
                      <a:r>
                        <a:rPr sz="1600" b="0">
                          <a:solidFill>
                            <a:srgbClr val="1B1B1B"/>
                          </a:solidFill>
                          <a:latin typeface="Calibri"/>
                        </a:rPr>
                        <a:t>will + senses</a:t>
                      </a:r>
                    </a:p>
                  </a:txBody>
                  <a:tcPr>
                    <a:solidFill>
                      <a:srgbClr val="FFFFFF"/>
                    </a:solidFill>
                  </a:tcPr>
                </a:tc>
                <a:tc>
                  <a:txBody>
                    <a:bodyPr/>
                    <a:lstStyle/>
                    <a:p>
                      <a:r>
                        <a:rPr sz="1600" b="0">
                          <a:solidFill>
                            <a:srgbClr val="1B1B1B"/>
                          </a:solidFill>
                          <a:latin typeface="Calibri"/>
                        </a:rPr>
                        <a:t>You will see the whole delta through the window.</a:t>
                      </a:r>
                    </a:p>
                  </a:txBody>
                  <a:tcPr>
                    <a:solidFill>
                      <a:srgbClr val="FFFFFF"/>
                    </a:solidFill>
                  </a:tcPr>
                </a:tc>
              </a:tr>
              <a:tr h="566928">
                <a:tc>
                  <a:txBody>
                    <a:bodyPr/>
                    <a:lstStyle/>
                    <a:p>
                      <a:r>
                        <a:rPr sz="1600" b="0">
                          <a:solidFill>
                            <a:srgbClr val="1B1B1B"/>
                          </a:solidFill>
                          <a:latin typeface="Calibri"/>
                        </a:rPr>
                        <a:t>conclusion</a:t>
                      </a:r>
                    </a:p>
                  </a:txBody>
                  <a:tcPr>
                    <a:solidFill>
                      <a:srgbClr val="E3F3EE"/>
                    </a:solidFill>
                  </a:tcPr>
                </a:tc>
                <a:tc>
                  <a:txBody>
                    <a:bodyPr/>
                    <a:lstStyle/>
                    <a:p>
                      <a:r>
                        <a:rPr sz="1600" b="0">
                          <a:solidFill>
                            <a:srgbClr val="1B1B1B"/>
                          </a:solidFill>
                          <a:latin typeface="Calibri"/>
                        </a:rPr>
                        <a:t>will be better / might be lost</a:t>
                      </a:r>
                    </a:p>
                  </a:txBody>
                  <a:tcPr>
                    <a:solidFill>
                      <a:srgbClr val="E3F3EE"/>
                    </a:solidFill>
                  </a:tcPr>
                </a:tc>
                <a:tc>
                  <a:txBody>
                    <a:bodyPr/>
                    <a:lstStyle/>
                    <a:p>
                      <a:r>
                        <a:rPr sz="1600" b="0">
                          <a:solidFill>
                            <a:srgbClr val="1B1B1B"/>
                          </a:solidFill>
                          <a:latin typeface="Calibri"/>
                        </a:rPr>
                        <a:t>It will be faster, but we might lose the long conversations on the bus.</a:t>
                      </a:r>
                    </a:p>
                  </a:txBody>
                  <a:tcPr>
                    <a:solidFill>
                      <a:srgbClr val="E3F3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Today my grandmother's village is four hours away. In 2050 the journey will probably take one hour, and I might visit h…</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journey will be faster, but we might lose something too.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describe only the vehicle. The interesting part is what the journey will FEEL like and what it will change.</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Today my grandmother's village is four hours away. In 2050 the journey will probably take one hour, and I mig…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Announcement voice: clear, slow, and complete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Announcements are slow with a pause after each piece of information. Every final consonant must be heard: 'The train to HueE… is deLAYED… by twenty minutes.'</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Attention, please.</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 service to Hue / is delayed / by twenty minutes.</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Passengers are asked to / go to platform three.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Attention, please. / The eight thirty service to Hai Phong / is cancelled. / We apologise for the delay.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20: What Can You Do?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the things people can do at work. American English — VOA’s professional actors (Anna, Pete, Marsha, Ms. Weaver…), slowed learner delivery. It lasts 3:39.</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VOA Learning English — Let’s Learn English, Level 1 · 3:39 · American English — VOA’s professional actors (Anna, Pete, Marsha, Ms. Weaver…), slowed learner delivery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the things people can do at work B. what people are doing right now C. asking for and offering things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Start the Quiz to find 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Lesson 22: When Do I Start?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Lesson 23: What Can You Do?</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I’m sorry to hear that, Pete.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Do you mean drive a race car?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is a great place to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Many people here _____ in government and politics.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You _____ work at a hospital; a university.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 You _____ work in a coffee shop.</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Pete: You don’t like it, _____ you?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Model description: A journey in 2050</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Today, going from my village to my grandmother's house takes four hours. First we take a motorbike to the main road, then a bus to Thanh Hoa, and then another bus. In the rainy season it can take six. I think this journey will be completely different in 2050. There will probably be a high-speed train through the province, and my town might have a small station. If it does, the journey will take about fifty minutes instead of four hours. I imagine sitting by the window with the whole delta going past. The train will be quiet — no engine noise, because it will run on electricity — and I will be able to do my homework on the way. My grandmother will still be waiting at the gate, because some things won't change. The best thing won't be the speed. It will be that I can visit her on a Saturday and come home the same evening. However, we might lose something too: on the long bus journey, my 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long does the journey take today, and how?</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Which words show that the writer is not certain?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Find two sentences about how the journey will feel.</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does the writer say is the best thing?</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might be lost? Why is this a good ending?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announcements.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 please. The 7.15 service to Hai Phong is now ______ at platform two.</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8.30 service is ______ by forty minutes. We ______ for the delay.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nine o'clock service to Vinh is ______ .</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Passengers ______ asked to keep their ______ with them.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description.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There ______ probably be a high-speed train. (fairly sure)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My town ______ have a station. (not sure)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journey ______ take fifty minutes. (sure, if there is a station)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We ______ lose the long family conversations. (possible)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U11.6-W1 and W2.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U11.6-W1 and W2.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and read a 30-second announcement for a delayed service. The class notes the information.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Write and read a 30-second announcement for a delayed service. The class notes the information.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Tell your partner your journey — today and in 2050 — in six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Now → future → how it will feel → what might be lost.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Understanding and giving announcements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Attention, please.</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…is delayed by…</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…is cancelled.</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Passengers are asked to…</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apologise for the delay.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Write and read a 30-second station announcement; the class notes the information.</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 journey I make now (how, how long):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it will be in 2050 (will):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One thing I'm not sure about (might):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it will feel (see / hear / do):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will be better: ______</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What might be lost: ______</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U11.6-W2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110–130 words about a journey in the future.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Present simple for now; will for the future; at least one might; one sentence about feeling; one thing that might be lost.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the journey today (present simple)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at least three 'will' sentences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at least one 'might'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sentence about how it will feel</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thing that will be better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thing that might be lost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110–130 words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Announcement listening: destination, time, platform, problem</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Future journey description: now – future – feeling – what might be lost</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will (sure) vs might (possible)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U11L6</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U11.6-H1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Listening / vocabulary — Complete from the announcements.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U11.6-H2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announcement, cancel, board, passengers, luggage, on time.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U11.6-H3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Rewrite your description neatly after correction and hand it in.</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U11.6-H4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Read one announcement aloud five times, slowly, with a pause after each piece of information.</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U11L6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