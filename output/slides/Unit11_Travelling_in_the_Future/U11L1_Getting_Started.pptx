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1  ·  PERIOD 77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How will we travel?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means of future transport</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future journey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make simple predictions about transport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how they will travel in the future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Transport time line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Draw a line: 1900 – 2000 – 2050. Students place transport words on it (bicycle, plane, electric car, flying car). Recycles Unit 7.</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Place the transport on the time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electric car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/ɪˈlektrɪk kɑː/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ô tô điện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Electric cars are quiet and clean.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driverless car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/ˈdraɪvələs kɑː/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xe tự lái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driverless car has no driver.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high-speed train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/ˌhaɪ spiːd ˈtreɪn/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tàu cao tốc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high-speed train travels at 300 km/h.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bullet train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/ˈbʊlɪt treɪn/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tàu siêu tốc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Japan's bullet train opened in 1964.</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flying car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/ˈflaɪɪŋ kɑː/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ô tô bay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Flying cars still only exist in films.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solar-powered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/ˈsəʊlə ˈpaʊəd/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chạy bằng năng lượng mặt trời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solar-powered boat crossed the ocean.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underground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/ˌʌndəˈɡraʊnd/   (n/adj)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tàu điện ngầm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Hanoi is building an underground line.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invention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/ɪnˈvenʃn/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phát minh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bicycle is a wonderful invention.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travel by…</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the future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300 kilometres an hour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runs on…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 hours to get 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Predictions about transport (recycling will from Unit 10)</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 bare verb for what you are sure about: Electric cars will be normal.</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won't for negative predictions: Flying cars won't be common.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probably / probably won't for softer predictions.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'run on' describes the fuel: It runs on electricity / on solar power.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will + verb</a:t>
                      </a:r>
                    </a:p>
                  </a:txBody>
                  <a:tcPr>
                    <a:solidFill>
                      <a:srgbClr val="E3F3EE"/>
                    </a:solidFill>
                  </a:tcPr>
                </a:tc>
                <a:tc>
                  <a:txBody>
                    <a:bodyPr/>
                    <a:lstStyle/>
                    <a:p>
                      <a:r>
                        <a:rPr sz="1600" b="0">
                          <a:solidFill>
                            <a:srgbClr val="1B1B1B"/>
                          </a:solidFill>
                          <a:latin typeface="Calibri"/>
                        </a:rPr>
                        <a:t>High-speed trains will connect Hanoi and Ho Chi Minh City.</a:t>
                      </a:r>
                    </a:p>
                  </a:txBody>
                  <a:tcPr>
                    <a:solidFill>
                      <a:srgbClr val="E3F3EE"/>
                    </a:solidFill>
                  </a:tcPr>
                </a:tc>
              </a:tr>
              <a:tr h="566928">
                <a:tc>
                  <a:txBody>
                    <a:bodyPr/>
                    <a:lstStyle/>
                    <a:p>
                      <a:r>
                        <a:rPr sz="1600" b="0">
                          <a:solidFill>
                            <a:srgbClr val="1B1B1B"/>
                          </a:solidFill>
                          <a:latin typeface="Calibri"/>
                        </a:rPr>
                        <a:t>won't + verb</a:t>
                      </a:r>
                    </a:p>
                  </a:txBody>
                  <a:tcPr>
                    <a:solidFill>
                      <a:srgbClr val="FFFFFF"/>
                    </a:solidFill>
                  </a:tcPr>
                </a:tc>
                <a:tc>
                  <a:txBody>
                    <a:bodyPr/>
                    <a:lstStyle/>
                    <a:p>
                      <a:r>
                        <a:rPr sz="1600" b="0">
                          <a:solidFill>
                            <a:srgbClr val="1B1B1B"/>
                          </a:solidFill>
                          <a:latin typeface="Calibri"/>
                        </a:rPr>
                        <a:t>Petrol cars won't disappear immediately.</a:t>
                      </a:r>
                    </a:p>
                  </a:txBody>
                  <a:tcPr>
                    <a:solidFill>
                      <a:srgbClr val="FFFFFF"/>
                    </a:solidFill>
                  </a:tcPr>
                </a:tc>
              </a:tr>
              <a:tr h="566928">
                <a:tc>
                  <a:txBody>
                    <a:bodyPr/>
                    <a:lstStyle/>
                    <a:p>
                      <a:r>
                        <a:rPr sz="1600" b="0">
                          <a:solidFill>
                            <a:srgbClr val="1B1B1B"/>
                          </a:solidFill>
                          <a:latin typeface="Calibri"/>
                        </a:rPr>
                        <a:t>run on + fuel</a:t>
                      </a:r>
                    </a:p>
                  </a:txBody>
                  <a:tcPr>
                    <a:solidFill>
                      <a:srgbClr val="E3F3EE"/>
                    </a:solidFill>
                  </a:tcPr>
                </a:tc>
                <a:tc>
                  <a:txBody>
                    <a:bodyPr/>
                    <a:lstStyle/>
                    <a:p>
                      <a:r>
                        <a:rPr sz="1600" b="0">
                          <a:solidFill>
                            <a:srgbClr val="1B1B1B"/>
                          </a:solidFill>
                          <a:latin typeface="Calibri"/>
                        </a:rPr>
                        <a:t>It runs on electricity.</a:t>
                      </a:r>
                    </a:p>
                  </a:txBody>
                  <a:tcPr>
                    <a:solidFill>
                      <a:srgbClr val="E3F3EE"/>
                    </a:solidFill>
                  </a:tcPr>
                </a:tc>
              </a:tr>
              <a:tr h="566928">
                <a:tc>
                  <a:txBody>
                    <a:bodyPr/>
                    <a:lstStyle/>
                    <a:p>
                      <a:r>
                        <a:rPr sz="1600" b="0">
                          <a:solidFill>
                            <a:srgbClr val="1B1B1B"/>
                          </a:solidFill>
                          <a:latin typeface="Calibri"/>
                        </a:rPr>
                        <a:t>it takes … to …</a:t>
                      </a:r>
                    </a:p>
                  </a:txBody>
                  <a:tcPr>
                    <a:solidFill>
                      <a:srgbClr val="FFFFFF"/>
                    </a:solidFill>
                  </a:tcPr>
                </a:tc>
                <a:tc>
                  <a:txBody>
                    <a:bodyPr/>
                    <a:lstStyle/>
                    <a:p>
                      <a:r>
                        <a:rPr sz="1600" b="0">
                          <a:solidFill>
                            <a:srgbClr val="1B1B1B"/>
                          </a:solidFill>
                          <a:latin typeface="Calibri"/>
                        </a:rPr>
                        <a:t>It takes six hours to get to Hue.</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twenty years, most buses in our city will run on electricity.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don't think flying cars will be normal in my lifetime.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 runs by electricity* → 'runs ON electricity'. *It will takes six hours* → 'will take'.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In twenty years, most buses in our city will run on electricity.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Final /l/ (travel, hotel, will, people)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English /l/ at the end of a word is 'dark': the back of the tongue goes up and the tip touches behind the top teeth. It must be HEARD: traveLLL, hoteLLL, wiLLL, peopLLL.</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travel, hotel, will, people, school, animal, table, careful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People will travel by electric car.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hotel is careful with its electrical equipment.</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It'll be a beautiful journey.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22: Next Summer...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plans for a trip next summer. American English — VOA’s professional actors (Anna, Pete, Marsha, Ms. Weaver…), slowed learner delivery. It lasts 3:15.</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3:15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did last night and last weekend B. plans for a trip next summer C. saying where places and things 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At an amusement park, you go on rides and eat lots of fun food!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Lesson 24: Can You Come to the Party?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&amp; Amelia: I love the beach!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Terms of Use and Privacy Notice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Lesson 26: What Do You Want?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has four seasons: winter, spring, _____ and autumn or fall.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do during _____ vacation.Today, I’m planning the show with Amelia.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I can _____ on vacation next summer.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When you _____ camping, you cook, sleep and play outdoors!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Amelia: Okay, let’s talk about the _____ vacation.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Four ideas that are already real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People have been predicting flying cars since 1930. They still do not exist. But four other ideas, which sounded just as strange, are already working somewhere in the world. 1. SOLAR BOATS. A Swiss boat called PlanetSolar sailed all the way round the world using only sunlight. It took 584 days. 2. DRIVERLESS BUSES. Small driverless buses already carry passengers in parts of Japan, China and France — slowly, on short fixed routes. 3. CABLE CARS AS PUBLIC TRANSPORT. In La Paz, Bolivia, cable cars are not for tourists: they are the city's main public transport, carrying 300,000 people a day over the mountains. 4. ELECTRIC MOTORBIKES. In Viet Nam, more than a million electric motorbikes and scooters are already on the roads, mostly ridden by students. The lesson is simple: the future usually arrives quietly, in a form nobody put in a film.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have people been predicting flying cars?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did PlanetSolar take to sail round the world?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do driverless buses already carry passengers?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many people use the cable cars in La Paz every 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lesson' in the last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transport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driverless car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high-speed train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solar-powered boat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underground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electric motorbike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transport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it travels below the city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it has no driver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it runs on sunlight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it costs about 12,000 dong to charge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it travels at 300 km/h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This bus ______ electricity.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______ two hours to get to Hai Phong.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boat ______ solar power.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high-speed train will ______ five hours.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Most motorbikes still ______ petrol.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invention   runs on   underground   electric   takes</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 bicycle is a wonderful (1) ______ : it (2) ______ nothing but your legs. In Hanoi, the new (3) ______ line (4) ______ about twenty minutes from 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imagining role play in pairs.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imagining role play in pairs.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your partner four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How will you get to school in 2035? / Will you have a car? / Will you fly often? / Will Viet Nam have a high-speed train?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Imagining and reacting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Imagine it's 2050…</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 you really think so?</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Maybe,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science fiction!</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can't imagine that.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would they land?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One student describes a future journey; the other reacts with doubt and asks three practical questions.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predictions about transport.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2040, most people in my town will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don't think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My family will probably ______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future transport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 won't for transport predictions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run on + fuel; it takes + time</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final /l/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transport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will, won't, runs on or takes.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how you and your family will travel in twenty years.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five times with a clear final /l/: travel, hotel, will, people, school, careful.</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