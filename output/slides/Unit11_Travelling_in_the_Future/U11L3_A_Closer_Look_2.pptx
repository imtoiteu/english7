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11  ·  LESSON 3  ·  PERIOD 79</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A CLOSER LOOK 2</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might for possibility; possessive pronouns</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U11L3</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might and might not to talk about possibility</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choose between will (sure) and might (possible)</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possessive pronouns (mine, yours, his, hers, ours, theirs)</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talk about what might happen in the future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Sure or not?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U11L3</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Teacher makes ten statements about tomorrow; students show 100% (thumb up) or 50% (flat hand).</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Judge the certainty.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U11L3</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possible</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/ˈpɒsəbl/   (adj)</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có thể</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It's possible, but not certain.</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certain</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/ˈsɜːtn/   (adj)</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chắc chắn</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Nothing is certain about the future.</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maybe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/ˈmeɪbi/   (adv)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có lẽ</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Maybe we'll have flying cars one day.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U11L3</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perhaps</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/pəˈhæps/   (adv)</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có lẽ</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Perhaps it will rain.</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belong to</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/bɪˈlɒŋ tuː/   (v phr)</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thuộc về</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This bag belongs to Mai.</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own</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/əʊn/   (v/adj)</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sở hữu; riêng</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One day I'll own my own bicycle.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U11L3</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might rain.</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might not come.</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Whose is this?</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mine / yours / hers.</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belongs to…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might / might not; possessive pronouns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U11L3</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MIGHT + bare verb = it is POSSIBLE, but I am not sure: It might rain tomorrow.</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MIGHT NOT = it is possible that it will not happen: She might not come.</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Compare: WILL = I am sure. MIGHT = maybe (about 50%).</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Might never changes and never takes 'to' (like will and must).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U11L3</a:t>
            </a:r>
          </a:p>
        </p:txBody>
      </p:sp>
      <p:graphicFrame>
        <p:nvGraphicFramePr>
          <p:cNvPr id="8" name="Table 7"/>
          <p:cNvGraphicFramePr>
            <a:graphicFrameLocks noGrp="1"/>
          </p:cNvGraphicFramePr>
          <p:nvPr/>
        </p:nvGraphicFramePr>
        <p:xfrm>
          <a:off x="548640" y="1463040"/>
          <a:ext cx="11064240" cy="3401568"/>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Certainty</a:t>
                      </a:r>
                    </a:p>
                  </a:txBody>
                  <a:tcPr>
                    <a:solidFill>
                      <a:srgbClr val="0E7C66"/>
                    </a:solidFill>
                  </a:tcPr>
                </a:tc>
                <a:tc>
                  <a:txBody>
                    <a:bodyPr/>
                    <a:lstStyle/>
                    <a:p>
                      <a:r>
                        <a:rPr sz="1600" b="1">
                          <a:solidFill>
                            <a:srgbClr val="FFFFFF"/>
                          </a:solidFill>
                          <a:latin typeface="Calibri"/>
                        </a:rPr>
                        <a:t>Structure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sure (100%)</a:t>
                      </a:r>
                    </a:p>
                  </a:txBody>
                  <a:tcPr>
                    <a:solidFill>
                      <a:srgbClr val="E3F3EE"/>
                    </a:solidFill>
                  </a:tcPr>
                </a:tc>
                <a:tc>
                  <a:txBody>
                    <a:bodyPr/>
                    <a:lstStyle/>
                    <a:p>
                      <a:r>
                        <a:rPr sz="1600" b="0">
                          <a:solidFill>
                            <a:srgbClr val="1B1B1B"/>
                          </a:solidFill>
                          <a:latin typeface="Calibri"/>
                        </a:rPr>
                        <a:t>will / won't</a:t>
                      </a:r>
                    </a:p>
                  </a:txBody>
                  <a:tcPr>
                    <a:solidFill>
                      <a:srgbClr val="E3F3EE"/>
                    </a:solidFill>
                  </a:tcPr>
                </a:tc>
                <a:tc>
                  <a:txBody>
                    <a:bodyPr/>
                    <a:lstStyle/>
                    <a:p>
                      <a:r>
                        <a:rPr sz="1600" b="0">
                          <a:solidFill>
                            <a:srgbClr val="1B1B1B"/>
                          </a:solidFill>
                          <a:latin typeface="Calibri"/>
                        </a:rPr>
                        <a:t>Electric cars will be normal.</a:t>
                      </a:r>
                    </a:p>
                  </a:txBody>
                  <a:tcPr>
                    <a:solidFill>
                      <a:srgbClr val="E3F3EE"/>
                    </a:solidFill>
                  </a:tcPr>
                </a:tc>
              </a:tr>
              <a:tr h="566928">
                <a:tc>
                  <a:txBody>
                    <a:bodyPr/>
                    <a:lstStyle/>
                    <a:p>
                      <a:r>
                        <a:rPr sz="1600" b="0">
                          <a:solidFill>
                            <a:srgbClr val="1B1B1B"/>
                          </a:solidFill>
                          <a:latin typeface="Calibri"/>
                        </a:rPr>
                        <a:t>possible (50%)</a:t>
                      </a:r>
                    </a:p>
                  </a:txBody>
                  <a:tcPr>
                    <a:solidFill>
                      <a:srgbClr val="FFFFFF"/>
                    </a:solidFill>
                  </a:tcPr>
                </a:tc>
                <a:tc>
                  <a:txBody>
                    <a:bodyPr/>
                    <a:lstStyle/>
                    <a:p>
                      <a:r>
                        <a:rPr sz="1600" b="0">
                          <a:solidFill>
                            <a:srgbClr val="1B1B1B"/>
                          </a:solidFill>
                          <a:latin typeface="Calibri"/>
                        </a:rPr>
                        <a:t>might / might not</a:t>
                      </a:r>
                    </a:p>
                  </a:txBody>
                  <a:tcPr>
                    <a:solidFill>
                      <a:srgbClr val="FFFFFF"/>
                    </a:solidFill>
                  </a:tcPr>
                </a:tc>
                <a:tc>
                  <a:txBody>
                    <a:bodyPr/>
                    <a:lstStyle/>
                    <a:p>
                      <a:r>
                        <a:rPr sz="1600" b="0">
                          <a:solidFill>
                            <a:srgbClr val="1B1B1B"/>
                          </a:solidFill>
                          <a:latin typeface="Calibri"/>
                        </a:rPr>
                        <a:t>Flying cars might exist in 2100.</a:t>
                      </a:r>
                    </a:p>
                  </a:txBody>
                  <a:tcPr>
                    <a:solidFill>
                      <a:srgbClr val="FFFFFF"/>
                    </a:solidFill>
                  </a:tcPr>
                </a:tc>
              </a:tr>
              <a:tr h="566928">
                <a:tc>
                  <a:txBody>
                    <a:bodyPr/>
                    <a:lstStyle/>
                    <a:p>
                      <a:r>
                        <a:rPr sz="1600" b="0">
                          <a:solidFill>
                            <a:srgbClr val="1B1B1B"/>
                          </a:solidFill>
                          <a:latin typeface="Calibri"/>
                        </a:rPr>
                        <a:t>Possessive adjective</a:t>
                      </a:r>
                    </a:p>
                  </a:txBody>
                  <a:tcPr>
                    <a:solidFill>
                      <a:srgbClr val="E3F3EE"/>
                    </a:solidFill>
                  </a:tcPr>
                </a:tc>
                <a:tc>
                  <a:txBody>
                    <a:bodyPr/>
                    <a:lstStyle/>
                    <a:p>
                      <a:r>
                        <a:rPr sz="1600" b="0">
                          <a:solidFill>
                            <a:srgbClr val="1B1B1B"/>
                          </a:solidFill>
                          <a:latin typeface="Calibri"/>
                        </a:rPr>
                        <a:t>+ noun</a:t>
                      </a:r>
                    </a:p>
                  </a:txBody>
                  <a:tcPr>
                    <a:solidFill>
                      <a:srgbClr val="E3F3EE"/>
                    </a:solidFill>
                  </a:tcPr>
                </a:tc>
                <a:tc>
                  <a:txBody>
                    <a:bodyPr/>
                    <a:lstStyle/>
                    <a:p>
                      <a:r>
                        <a:rPr sz="1600" b="0">
                          <a:solidFill>
                            <a:srgbClr val="1B1B1B"/>
                          </a:solidFill>
                          <a:latin typeface="Calibri"/>
                        </a:rPr>
                        <a:t>This is MY bag.</a:t>
                      </a:r>
                    </a:p>
                  </a:txBody>
                  <a:tcPr>
                    <a:solidFill>
                      <a:srgbClr val="E3F3EE"/>
                    </a:solidFill>
                  </a:tcPr>
                </a:tc>
              </a:tr>
              <a:tr h="566928">
                <a:tc>
                  <a:txBody>
                    <a:bodyPr/>
                    <a:lstStyle/>
                    <a:p>
                      <a:r>
                        <a:rPr sz="1600" b="0">
                          <a:solidFill>
                            <a:srgbClr val="1B1B1B"/>
                          </a:solidFill>
                          <a:latin typeface="Calibri"/>
                        </a:rPr>
                        <a:t>Possessive pronoun</a:t>
                      </a:r>
                    </a:p>
                  </a:txBody>
                  <a:tcPr>
                    <a:solidFill>
                      <a:srgbClr val="FFFFFF"/>
                    </a:solidFill>
                  </a:tcPr>
                </a:tc>
                <a:tc>
                  <a:txBody>
                    <a:bodyPr/>
                    <a:lstStyle/>
                    <a:p>
                      <a:r>
                        <a:rPr sz="1600" b="0">
                          <a:solidFill>
                            <a:srgbClr val="1B1B1B"/>
                          </a:solidFill>
                          <a:latin typeface="Calibri"/>
                        </a:rPr>
                        <a:t>no noun</a:t>
                      </a:r>
                    </a:p>
                  </a:txBody>
                  <a:tcPr>
                    <a:solidFill>
                      <a:srgbClr val="FFFFFF"/>
                    </a:solidFill>
                  </a:tcPr>
                </a:tc>
                <a:tc>
                  <a:txBody>
                    <a:bodyPr/>
                    <a:lstStyle/>
                    <a:p>
                      <a:r>
                        <a:rPr sz="1600" b="0">
                          <a:solidFill>
                            <a:srgbClr val="1B1B1B"/>
                          </a:solidFill>
                          <a:latin typeface="Calibri"/>
                        </a:rPr>
                        <a:t>This bag is MINE.</a:t>
                      </a:r>
                    </a:p>
                  </a:txBody>
                  <a:tcPr>
                    <a:solidFill>
                      <a:srgbClr val="FFFFFF"/>
                    </a:solidFill>
                  </a:tcPr>
                </a:tc>
              </a:tr>
              <a:tr h="566928">
                <a:tc>
                  <a:txBody>
                    <a:bodyPr/>
                    <a:lstStyle/>
                    <a:p>
                      <a:r>
                        <a:rPr sz="1600" b="0">
                          <a:solidFill>
                            <a:srgbClr val="1B1B1B"/>
                          </a:solidFill>
                          <a:latin typeface="Calibri"/>
                        </a:rPr>
                        <a:t>Question</a:t>
                      </a:r>
                    </a:p>
                  </a:txBody>
                  <a:tcPr>
                    <a:solidFill>
                      <a:srgbClr val="E3F3EE"/>
                    </a:solidFill>
                  </a:tcPr>
                </a:tc>
                <a:tc>
                  <a:txBody>
                    <a:bodyPr/>
                    <a:lstStyle/>
                    <a:p>
                      <a:r>
                        <a:rPr sz="1600" b="0">
                          <a:solidFill>
                            <a:srgbClr val="1B1B1B"/>
                          </a:solidFill>
                          <a:latin typeface="Calibri"/>
                        </a:rPr>
                        <a:t>Whose…?</a:t>
                      </a:r>
                    </a:p>
                  </a:txBody>
                  <a:tcPr>
                    <a:solidFill>
                      <a:srgbClr val="E3F3EE"/>
                    </a:solidFill>
                  </a:tcPr>
                </a:tc>
                <a:tc>
                  <a:txBody>
                    <a:bodyPr/>
                    <a:lstStyle/>
                    <a:p>
                      <a:r>
                        <a:rPr sz="1600" b="0">
                          <a:solidFill>
                            <a:srgbClr val="1B1B1B"/>
                          </a:solidFill>
                          <a:latin typeface="Calibri"/>
                        </a:rPr>
                        <a:t>Whose is this? – It's hers.</a:t>
                      </a:r>
                    </a:p>
                  </a:txBody>
                  <a:tcPr>
                    <a:solidFill>
                      <a:srgbClr val="E3F3EE"/>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U11L3</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might have an underground railway in twenty years, but I'm not sure.</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might not be finished before 2040.</a:t>
            </a:r>
          </a:p>
        </p:txBody>
      </p:sp>
      <p:sp>
        <p:nvSpPr>
          <p:cNvPr id="12" name="Rounded Rectangle 11"/>
          <p:cNvSpPr/>
          <p:nvPr/>
        </p:nvSpPr>
        <p:spPr>
          <a:xfrm>
            <a:off x="731520" y="3346704"/>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419856"/>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That's not your helmet — yours is red. This one is mine.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U11L3</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Two errors: (1) *It might to rain* / *It mights rain* — might never changes; (2) *This is mine bag* — a possessive pronoun stands ALONE: 'This bag is mine' or 'This is my bag'.</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We might have an underground railway in twenty years, but I'm not sure.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Pronunciation: might /maɪt/ and possessive pronouns; final /n/ vs /ŋ/</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U11L3</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'Might' has the /aɪ/ from Unit 7 and a clear final /t/. Possessive pronouns end in /z/: hers /hɜːz/, ours /aʊəz/, theirs /ðeəz/, yours /jɔːz/ — do not lose the /z/!</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might /maɪt/</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mine /maɪn/</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hers /hɜːz/</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ours /aʊəz/</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U11L3</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It might rain, so take mine.</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That bike is hers; ours is over there and theirs is at home.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May and might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U11L3</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things that are possible but not certain. Two speakers, scripted dialogue, native English. It lasts 3:03.</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ELLLO — Sound Grammar · 3:03 · Two speakers, scripted dialogue, native English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U11.3-L1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auditioning for a part in a stage show B. which snacks are healthy and which are not C. things that are possible but not certain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U11.3-L2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the number of the conversation (1-4) you hear each line in.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Really? So soon! What will you do after you retire?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She’s not home yet. She might still be at school.</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Who knows? She might come today, she may just be late.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 know! It’s full. There might be a sale at the department store.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No, that can’t be it, the season is over. Maybe she is sick.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U11.3-L3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Woman: She _____ have a game.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Woman: She might come today, she _____ just be late.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Woman: I _____ retire next year.</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Woman: I’ll _____ go to Europe, but I may go to Asia.</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Woman: I _____ won’t play golf that much.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Six predictions: how sure are they?</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U11L3</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Scientists are careful people. When they talk about the future, they choose their words exactly. Here are six statements about transport in 2060, in order from 'certain' to 'possible'. 1. There WILL be more people in cities than today. (Certain — the children are already born.) 2. Most new cars WILL be electric. (Almost certain — many countries have already made laws.) 3. Viet Nam WILL have a high-speed railway. (Very likely — it is being built.) 4. Most people MIGHT work from home two days a week. (Possible — it depends on jobs and on companies.) 5. Small aeroplanes MIGHT be electric. (Possible — batteries are still too heavy.) 6. Flying cars MIGHT exist for ordinary families. (Possible, but not likely — and where would they land?) Notice the pattern: 'will' for what has already started; 'might' for what depends on decisions nobody has made yet.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U11.3-R1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Why is prediction 1 certain?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Why is prediction 2 almost certain?</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does prediction 4 depend on?</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is the problem with electric aeroplanes?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is the pattern the writer describes at the end?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U11.3-G1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Take an umbrella — it ______ rain.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She ______ come; she has a test tomorrow.</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We ______ finish before six, but I doubt it.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He ______ be at home — his light is on.</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They ______ know the answer; nobody told them.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U11.3-G2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the correct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This is ______ bag. (my/mine)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This bag is ______ . (my/mine)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Is this ______ helmet? (your/yours)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That helmet is ______ . (her/hers)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______ house is bigger than ______ . (our/ours … their/theirs)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U11.3-I1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It mights rain tomorrow.</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She might to come.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This is mine bag.</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That book is her.</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Whose is this? – Is my.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U11.3-I1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They might not to finish.</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U11.3-I2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Ask five classmates about next weekend. Note who is sure and who is not.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What are you doing on Sunday? B: I might visit my grandmother, but I'm not sure.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U11.3-S1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Say each sentence twice: once with will (you are sure), once with might (you are not sure).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rain tomorrow</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our school gets solar panels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 go to university in Hanoi</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flying cars exist in 2060</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our town builds a bicycle path</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U11.3-S2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Put five objects on the desk. Ask and answer with possessive pronouns.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Whose is this pen? B: It might be Nam's. / It's mine. / It isn't mine — mine is blue.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Talking about uncertain plans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U11L3</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I'm not sure yet.</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depends on…</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might…</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Maybe.</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Probably not.</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Let's see.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U11L3</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A invites B to three events. B is certain about one, unsure about one and refuses one.</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U11.3-W1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will, won't, might or might not.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sun ______ rise tomorrow. (certain)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It ______ rain this afternoon. (possible)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 ______ come to the party — I'm not sure yet.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Flying cars ______ be normal in ten years. (certain: no)</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Our school ______ get new computers next year. (possible)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U11L3</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might / might not = possible; will / won't = sure</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might never changes and never takes 'to'</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possessive pronouns stand alone: mine, yours, his, hers, ours, theirs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U11L3</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U11.3-H1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Complete with will, won't, might or might not.</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U11.3-H2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Rewrite using a possessive pronoun.</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U11.3-H3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5 sentences about next month: two things you are sure about (will) and three things that are possible (might).</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U11.3-H4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Pronunciation — Say these five words five times with a clear final /z/: hers, ours, theirs, yours, mine (/n/).</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U11L3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