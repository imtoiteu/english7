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1L4_1_b97c84f3-f68d-4b35-bf71-9c369a107e82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4  ·  PERIOD 82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travelling and asking for information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travel information at a station or bus stop</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buy a ticket and understand times and platforms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travel role play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short message about travel arrangements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Certainty line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statement about tomorrow; students say will, might or won't.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Judge certainty.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platform</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/ˈplætfɔːm/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sân ga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leaves from platform three.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return ticket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/rɪˈtɜːn ˈtɪkɪt/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khứ hồi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return ticket is cheaper.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single ticket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/ˈsɪŋɡl ˈtɪkɪt/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vé một chiều</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One single to Hai Phong, please.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depart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/dɪˈpɑːt/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khởi hành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bus departs at 7.15.</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arrive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/əˈraɪv/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arrives at 9.40.</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delayed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/dɪˈleɪd/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hoãn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delayed by twenty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 leave?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return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bus to…?</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train is delayed.</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Have a good journey!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Timetable language: present simple for schedules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Timetables use the PRESENT SIMPLE, even for the future: The train LEAVES at seven. The bus ARRIVES at ten.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This is the same rule as school timetables in Unit 6.</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What time does the train leave? When does it arrive? How long does the journey take?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For a change of plan, use will or might: 'It might be 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schedule</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The bus leaves at 7.15.</a:t>
                      </a:r>
                    </a:p>
                  </a:txBody>
                  <a:tcPr>
                    <a:solidFill>
                      <a:srgbClr val="E3F3EE"/>
                    </a:solidFill>
                  </a:tcPr>
                </a:tc>
              </a:tr>
              <a:tr h="566928">
                <a:tc>
                  <a:txBody>
                    <a:bodyPr/>
                    <a:lstStyle/>
                    <a:p>
                      <a:r>
                        <a:rPr sz="1600" b="0">
                          <a:solidFill>
                            <a:srgbClr val="1B1B1B"/>
                          </a:solidFill>
                          <a:latin typeface="Calibri"/>
                        </a:rPr>
                        <a:t>question</a:t>
                      </a:r>
                    </a:p>
                  </a:txBody>
                  <a:tcPr>
                    <a:solidFill>
                      <a:srgbClr val="FFFFFF"/>
                    </a:solidFill>
                  </a:tcPr>
                </a:tc>
                <a:tc>
                  <a:txBody>
                    <a:bodyPr/>
                    <a:lstStyle/>
                    <a:p>
                      <a:r>
                        <a:rPr sz="1600" b="0">
                          <a:solidFill>
                            <a:srgbClr val="1B1B1B"/>
                          </a:solidFill>
                          <a:latin typeface="Calibri"/>
                        </a:rPr>
                        <a:t>What time does…?</a:t>
                      </a:r>
                    </a:p>
                  </a:txBody>
                  <a:tcPr>
                    <a:solidFill>
                      <a:srgbClr val="FFFFFF"/>
                    </a:solidFill>
                  </a:tcPr>
                </a:tc>
                <a:tc>
                  <a:txBody>
                    <a:bodyPr/>
                    <a:lstStyle/>
                    <a:p>
                      <a:r>
                        <a:rPr sz="1600" b="0">
                          <a:solidFill>
                            <a:srgbClr val="1B1B1B"/>
                          </a:solidFill>
                          <a:latin typeface="Calibri"/>
                        </a:rPr>
                        <a:t>What time does the last train leave?</a:t>
                      </a:r>
                    </a:p>
                  </a:txBody>
                  <a:tcPr>
                    <a:solidFill>
                      <a:srgbClr val="FFFFFF"/>
                    </a:solidFill>
                  </a:tcPr>
                </a:tc>
              </a:tr>
              <a:tr h="566928">
                <a:tc>
                  <a:txBody>
                    <a:bodyPr/>
                    <a:lstStyle/>
                    <a:p>
                      <a:r>
                        <a:rPr sz="1600" b="0">
                          <a:solidFill>
                            <a:srgbClr val="1B1B1B"/>
                          </a:solidFill>
                          <a:latin typeface="Calibri"/>
                        </a:rPr>
                        <a:t>duration</a:t>
                      </a:r>
                    </a:p>
                  </a:txBody>
                  <a:tcPr>
                    <a:solidFill>
                      <a:srgbClr val="E3F3EE"/>
                    </a:solidFill>
                  </a:tcPr>
                </a:tc>
                <a:tc>
                  <a:txBody>
                    <a:bodyPr/>
                    <a:lstStyle/>
                    <a:p>
                      <a:r>
                        <a:rPr sz="1600" b="0">
                          <a:solidFill>
                            <a:srgbClr val="1B1B1B"/>
                          </a:solidFill>
                          <a:latin typeface="Calibri"/>
                        </a:rPr>
                        <a:t>How long does it take?</a:t>
                      </a:r>
                    </a:p>
                  </a:txBody>
                  <a:tcPr>
                    <a:solidFill>
                      <a:srgbClr val="E3F3EE"/>
                    </a:solidFill>
                  </a:tcPr>
                </a:tc>
                <a:tc>
                  <a:txBody>
                    <a:bodyPr/>
                    <a:lstStyle/>
                    <a:p>
                      <a:r>
                        <a:rPr sz="1600" b="0">
                          <a:solidFill>
                            <a:srgbClr val="1B1B1B"/>
                          </a:solidFill>
                          <a:latin typeface="Calibri"/>
                        </a:rPr>
                        <a:t>About four hours.</a:t>
                      </a:r>
                    </a:p>
                  </a:txBody>
                  <a:tcPr>
                    <a:solidFill>
                      <a:srgbClr val="E3F3EE"/>
                    </a:solidFill>
                  </a:tcPr>
                </a:tc>
              </a:tr>
              <a:tr h="566928">
                <a:tc>
                  <a:txBody>
                    <a:bodyPr/>
                    <a:lstStyle/>
                    <a:p>
                      <a:r>
                        <a:rPr sz="1600" b="0">
                          <a:solidFill>
                            <a:srgbClr val="1B1B1B"/>
                          </a:solidFill>
                          <a:latin typeface="Calibri"/>
                        </a:rPr>
                        <a:t>problem</a:t>
                      </a:r>
                    </a:p>
                  </a:txBody>
                  <a:tcPr>
                    <a:solidFill>
                      <a:srgbClr val="FFFFFF"/>
                    </a:solidFill>
                  </a:tcPr>
                </a:tc>
                <a:tc>
                  <a:txBody>
                    <a:bodyPr/>
                    <a:lstStyle/>
                    <a:p>
                      <a:r>
                        <a:rPr sz="1600" b="0">
                          <a:solidFill>
                            <a:srgbClr val="1B1B1B"/>
                          </a:solidFill>
                          <a:latin typeface="Calibri"/>
                        </a:rPr>
                        <a:t>It is delayed / might be late</a:t>
                      </a:r>
                    </a:p>
                  </a:txBody>
                  <a:tcPr>
                    <a:solidFill>
                      <a:srgbClr val="FFFFFF"/>
                    </a:solidFill>
                  </a:tcPr>
                </a:tc>
                <a:tc>
                  <a:txBody>
                    <a:bodyPr/>
                    <a:lstStyle/>
                    <a:p>
                      <a:r>
                        <a:rPr sz="1600" b="0">
                          <a:solidFill>
                            <a:srgbClr val="1B1B1B"/>
                          </a:solidFill>
                          <a:latin typeface="Calibri"/>
                        </a:rPr>
                        <a:t>The train is delayed by 20 minutes.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7.15 bus arrives in Hai Phong at 9.40, so it takes two hours twenty-five minutes.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which platform does the Hue train leave from?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*What time the train leaves?* (missing 'does'), *The train will leave at seven* for a fixed timetable (use the present simple: 'leaves').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7.15 bus arrives in Hai Phong at 9.40, so it takes two hours twenty-five minutes.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Times, numbers and the final /m/ in 'platform'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Practise: seven fifteen, nine forty, half past six, a quarter to eight, platform three. Keep the -teen / -ty difference clear (Unit 8).</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7.15 = seven fifteen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9.40 = nine forty</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platform /ˈplætfɔːm/</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thirteen – thirty, fourteen – forty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seven fifteen bus arrives at nine forty.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Hue train leaves from platform thirteen — no, platform thirty!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43: Time for Plan B</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changing the plan when something goes wrong. American English — VOA’s professional actors (Anna, Pete, Marsha, Ms. Weaver…), slowed learner delivery. It lasts 3:39.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one person does at the weekend B. changing the plan when something goes wrong C. training for a marathon as a fitness goal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45: I Was Minding My Own Business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Quiz - Lesson 46: Time for Plan B</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 won't you give me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So, I am going to ride the Metro.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 would you give me money, won't you give -- Thank you very much!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‘Extra Emergency Money.’ (Anna pulls _____ envelope out of her bag and looks inside)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Anna, it's time for _____ 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Time for … _____ 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message about a journey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Here are the details for Saturday. My bus leaves Nam Dinh at 6.45 in the morning and arrives at Giap Bat station in Hanoi at about 9.15 — but Saturday traffic is bad, so it might be later. From Giap Bat, take bus number 8 to the Old Quarter. It runs every fifteen minutes and the journey takes about forty minutes. A ticket is 7,000 dong — have the exact money if you can. I'll wait for you at the bookshop on the corner of Hang Bong and Hang Gai. If I'm late, don't worry — I might be stuck in the traffic. Wait ten minutes, then call me. Bring an umbrella. It might rain in the afternoon and everything in the Old Quarter is outside. See you on Saturday!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Mai's bus leave and arrive?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might it be later?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bus should Nam take, and how often does it run?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Where exactly will they meet?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two pieces of advice does Mai give?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does it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does it arrive?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is a return?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bay?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Bay four.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seven fifteen.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200,000 dong.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About nine forty.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 It leaves at 6.45.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 – It arrives at 9.15.</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 About two and a half hours.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 120,000 dong for a single.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 From bay six.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Excuse me, ______ does the next bus to Hue leave?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half past eight, from bay two.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And when ______ it arrive?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At about four in the afternoon.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much ______ a return?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lines.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480,000 dong.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there a later bus?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at eleven, but it ______ be full — it's a holiday.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three questions □ the problem explained □ an alternative suggested □ a 'might' sentence □ polite ending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timetable. A is the clerk, B is the traveller. Ask about times, price and platform.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Ask: What time does…? When does it arrive? How much is a single/return? Which bay/platform?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The bus is delayed or cancelled. The traveller asks for another way; the clerk suggests one and explains.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'It's delayed', 'It might not run', 'You could take…', 'It's longer, but it's certain'.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travel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time does the next bus to … leave?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When does it arrive?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much is a single / return?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platform / bay?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later one?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delayed.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Ticket office role play in pairs, then a 'problem journey' version.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message (60–80 words) to a friend with the details of a journey.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departure and arrival times, which bus/train, how long, where to meet, and one 'might' sentence.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Travel questions: what time / when / how much / which platform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for timetables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might for uncertain travel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platform, return, single, departs, arrives, delayed.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 for a journey you want to make.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travel message (60–80 words)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saying these times five times each: 7.15, 9.40, half past six, a quarter to eight, platform 13, platform 30.</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