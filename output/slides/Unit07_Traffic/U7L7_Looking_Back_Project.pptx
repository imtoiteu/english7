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7  ·  PERIOD 55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7 review and the Road Safety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traffic vocabulary of Unit 7</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and the distance/time structures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and perform a road safety campaign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relay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race to name signs and produce must/mustn't sentences.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signs and make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road safety campaign starts on Monday.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sketch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/sketʃ/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tiểu phẩm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group is performing a short sketch.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Speak loudly so the audience can hear.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7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 on foot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must + bare verb (law) / mustn't (forbidden)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 It is … km.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take…? – It takes …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by / on foot</a:t>
                      </a:r>
                    </a:p>
                  </a:txBody>
                  <a:tcPr>
                    <a:solidFill>
                      <a:srgbClr val="E3F3EE"/>
                    </a:solidFill>
                  </a:tcPr>
                </a:tc>
                <a:tc>
                  <a:txBody>
                    <a:bodyPr/>
                    <a:lstStyle/>
                    <a:p>
                      <a:r>
                        <a:rPr sz="1600" b="0">
                          <a:solidFill>
                            <a:srgbClr val="1B1B1B"/>
                          </a:solidFill>
                          <a:latin typeface="Calibri"/>
                        </a:rPr>
                        <a:t>by bike, on foot</a:t>
                      </a:r>
                    </a:p>
                  </a:txBody>
                  <a:tcPr>
                    <a:solidFill>
                      <a:srgbClr val="E3F3EE"/>
                    </a:solidFill>
                  </a:tcPr>
                </a:tc>
                <a:tc>
                  <a:txBody>
                    <a:bodyPr/>
                    <a:lstStyle/>
                    <a:p>
                      <a:r>
                        <a:rPr sz="1600" b="0">
                          <a:solidFill>
                            <a:srgbClr val="1B1B1B"/>
                          </a:solidFill>
                          <a:latin typeface="Calibri"/>
                        </a:rPr>
                        <a:t>*by foot</a:t>
                      </a:r>
                    </a:p>
                  </a:txBody>
                  <a:tcPr>
                    <a:solidFill>
                      <a:srgbClr val="E3F3EE"/>
                    </a:solidFill>
                  </a:tcPr>
                </a:tc>
              </a:tr>
              <a:tr h="566928">
                <a:tc>
                  <a:txBody>
                    <a:bodyPr/>
                    <a:lstStyle/>
                    <a:p>
                      <a:r>
                        <a:rPr sz="1600" b="0">
                          <a:solidFill>
                            <a:srgbClr val="1B1B1B"/>
                          </a:solidFill>
                          <a:latin typeface="Calibri"/>
                        </a:rPr>
                        <a:t>must + bare verb</a:t>
                      </a:r>
                    </a:p>
                  </a:txBody>
                  <a:tcPr>
                    <a:solidFill>
                      <a:srgbClr val="FFFFFF"/>
                    </a:solidFill>
                  </a:tcPr>
                </a:tc>
                <a:tc>
                  <a:txBody>
                    <a:bodyPr/>
                    <a:lstStyle/>
                    <a:p>
                      <a:r>
                        <a:rPr sz="1600" b="0">
                          <a:solidFill>
                            <a:srgbClr val="1B1B1B"/>
                          </a:solidFill>
                          <a:latin typeface="Calibri"/>
                        </a:rPr>
                        <a:t>You must wear a helmet.</a:t>
                      </a:r>
                    </a:p>
                  </a:txBody>
                  <a:tcPr>
                    <a:solidFill>
                      <a:srgbClr val="FFFFFF"/>
                    </a:solidFill>
                  </a:tcPr>
                </a:tc>
                <a:tc>
                  <a:txBody>
                    <a:bodyPr/>
                    <a:lstStyle/>
                    <a:p>
                      <a:r>
                        <a:rPr sz="1600" b="0">
                          <a:solidFill>
                            <a:srgbClr val="1B1B1B"/>
                          </a:solidFill>
                          <a:latin typeface="Calibri"/>
                        </a:rPr>
                        <a:t>*You must to wear</a:t>
                      </a:r>
                    </a:p>
                  </a:txBody>
                  <a:tcPr>
                    <a:solidFill>
                      <a:srgbClr val="FFFFFF"/>
                    </a:solidFill>
                  </a:tcPr>
                </a:tc>
              </a:tr>
              <a:tr h="566928">
                <a:tc>
                  <a:txBody>
                    <a:bodyPr/>
                    <a:lstStyle/>
                    <a:p>
                      <a:r>
                        <a:rPr sz="1600" b="0">
                          <a:solidFill>
                            <a:srgbClr val="1B1B1B"/>
                          </a:solidFill>
                          <a:latin typeface="Calibri"/>
                        </a:rPr>
                        <a:t>mustn't</a:t>
                      </a:r>
                    </a:p>
                  </a:txBody>
                  <a:tcPr>
                    <a:solidFill>
                      <a:srgbClr val="E3F3EE"/>
                    </a:solidFill>
                  </a:tcPr>
                </a:tc>
                <a:tc>
                  <a:txBody>
                    <a:bodyPr/>
                    <a:lstStyle/>
                    <a:p>
                      <a:r>
                        <a:rPr sz="1600" b="0">
                          <a:solidFill>
                            <a:srgbClr val="1B1B1B"/>
                          </a:solidFill>
                          <a:latin typeface="Calibri"/>
                        </a:rPr>
                        <a:t>You mustn't use your phone.</a:t>
                      </a:r>
                    </a:p>
                  </a:txBody>
                  <a:tcPr>
                    <a:solidFill>
                      <a:srgbClr val="E3F3EE"/>
                    </a:solidFill>
                  </a:tcPr>
                </a:tc>
                <a:tc>
                  <a:txBody>
                    <a:bodyPr/>
                    <a:lstStyle/>
                    <a:p>
                      <a:r>
                        <a:rPr sz="1600" b="0">
                          <a:solidFill>
                            <a:srgbClr val="1B1B1B"/>
                          </a:solidFill>
                          <a:latin typeface="Calibri"/>
                        </a:rPr>
                        <a:t>*You don't must use</a:t>
                      </a:r>
                    </a:p>
                  </a:txBody>
                  <a:tcPr>
                    <a:solidFill>
                      <a:srgbClr val="E3F3EE"/>
                    </a:solidFill>
                  </a:tcPr>
                </a:tc>
              </a:tr>
              <a:tr h="566928">
                <a:tc>
                  <a:txBody>
                    <a:bodyPr/>
                    <a:lstStyle/>
                    <a:p>
                      <a:r>
                        <a:rPr sz="1600" b="0">
                          <a:solidFill>
                            <a:srgbClr val="1B1B1B"/>
                          </a:solidFill>
                          <a:latin typeface="Calibri"/>
                        </a:rPr>
                        <a:t>distance = IS</a:t>
                      </a:r>
                    </a:p>
                  </a:txBody>
                  <a:tcPr>
                    <a:solidFill>
                      <a:srgbClr val="FFFFFF"/>
                    </a:solidFill>
                  </a:tcPr>
                </a:tc>
                <a:tc>
                  <a:txBody>
                    <a:bodyPr/>
                    <a:lstStyle/>
                    <a:p>
                      <a:r>
                        <a:rPr sz="1600" b="0">
                          <a:solidFill>
                            <a:srgbClr val="1B1B1B"/>
                          </a:solidFill>
                          <a:latin typeface="Calibri"/>
                        </a:rPr>
                        <a:t>It is five kilometres.</a:t>
                      </a:r>
                    </a:p>
                  </a:txBody>
                  <a:tcPr>
                    <a:solidFill>
                      <a:srgbClr val="FFFFFF"/>
                    </a:solidFill>
                  </a:tcPr>
                </a:tc>
                <a:tc>
                  <a:txBody>
                    <a:bodyPr/>
                    <a:lstStyle/>
                    <a:p>
                      <a:r>
                        <a:rPr sz="1600" b="0">
                          <a:solidFill>
                            <a:srgbClr val="1B1B1B"/>
                          </a:solidFill>
                          <a:latin typeface="Calibri"/>
                        </a:rPr>
                        <a:t>*It takes five kilometres</a:t>
                      </a:r>
                    </a:p>
                  </a:txBody>
                  <a:tcPr>
                    <a:solidFill>
                      <a:srgbClr val="FFFFFF"/>
                    </a:solidFill>
                  </a:tcPr>
                </a:tc>
              </a:tr>
              <a:tr h="566928">
                <a:tc>
                  <a:txBody>
                    <a:bodyPr/>
                    <a:lstStyle/>
                    <a:p>
                      <a:r>
                        <a:rPr sz="1600" b="0">
                          <a:solidFill>
                            <a:srgbClr val="1B1B1B"/>
                          </a:solidFill>
                          <a:latin typeface="Calibri"/>
                        </a:rPr>
                        <a:t>time = TAKES</a:t>
                      </a:r>
                    </a:p>
                  </a:txBody>
                  <a:tcPr>
                    <a:solidFill>
                      <a:srgbClr val="E3F3EE"/>
                    </a:solidFill>
                  </a:tcPr>
                </a:tc>
                <a:tc>
                  <a:txBody>
                    <a:bodyPr/>
                    <a:lstStyle/>
                    <a:p>
                      <a:r>
                        <a:rPr sz="1600" b="0">
                          <a:solidFill>
                            <a:srgbClr val="1B1B1B"/>
                          </a:solidFill>
                          <a:latin typeface="Calibri"/>
                        </a:rPr>
                        <a:t>It takes twenty minutes.</a:t>
                      </a:r>
                    </a:p>
                  </a:txBody>
                  <a:tcPr>
                    <a:solidFill>
                      <a:srgbClr val="E3F3EE"/>
                    </a:solidFill>
                  </a:tcPr>
                </a:tc>
                <a:tc>
                  <a:txBody>
                    <a:bodyPr/>
                    <a:lstStyle/>
                    <a:p>
                      <a:r>
                        <a:rPr sz="1600" b="0">
                          <a:solidFill>
                            <a:srgbClr val="1B1B1B"/>
                          </a:solidFill>
                          <a:latin typeface="Calibri"/>
                        </a:rPr>
                        <a:t>*I take twenty minutes</a:t>
                      </a:r>
                    </a:p>
                  </a:txBody>
                  <a:tcPr>
                    <a:solidFill>
                      <a:srgbClr val="E3F3EE"/>
                    </a:solidFill>
                  </a:tcPr>
                </a:tc>
              </a:tr>
              <a:tr h="566928">
                <a:tc>
                  <a:txBody>
                    <a:bodyPr/>
                    <a:lstStyle/>
                    <a:p>
                      <a:r>
                        <a:rPr sz="1600" b="0">
                          <a:solidFill>
                            <a:srgbClr val="1B1B1B"/>
                          </a:solidFill>
                          <a:latin typeface="Calibri"/>
                        </a:rPr>
                        <a:t>directions</a:t>
                      </a:r>
                    </a:p>
                  </a:txBody>
                  <a:tcPr>
                    <a:solidFill>
                      <a:srgbClr val="FFFFFF"/>
                    </a:solidFill>
                  </a:tcPr>
                </a:tc>
                <a:tc>
                  <a:txBody>
                    <a:bodyPr/>
                    <a:lstStyle/>
                    <a:p>
                      <a:r>
                        <a:rPr sz="1600" b="0">
                          <a:solidFill>
                            <a:srgbClr val="1B1B1B"/>
                          </a:solidFill>
                          <a:latin typeface="Calibri"/>
                        </a:rPr>
                        <a:t>Turn left at the corner.</a:t>
                      </a:r>
                    </a:p>
                  </a:txBody>
                  <a:tcPr>
                    <a:solidFill>
                      <a:srgbClr val="FFFFFF"/>
                    </a:solidFill>
                  </a:tcPr>
                </a:tc>
                <a:tc>
                  <a:txBody>
                    <a:bodyPr/>
                    <a:lstStyle/>
                    <a:p>
                      <a:r>
                        <a:rPr sz="1600" b="0">
                          <a:solidFill>
                            <a:srgbClr val="1B1B1B"/>
                          </a:solidFill>
                          <a:latin typeface="Calibri"/>
                        </a:rPr>
                        <a:t>*Turn to left</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about three kilometres from my house to school and it takes ten minutes by bike. On the way I must cross a busy 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is about three kilometres from my house to school and it takes ten minutes by bike. On the way I must cros…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7 sounds review: /aɪ/ /eɪ/, final /t/, weak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bike or bake? is the /t/ in 'light' and 'straight' clear? are 'from' and 'to'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 light – 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your house to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go straight ahead to the station.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Prepositions of place · Have to and must — obligation.</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campaign that changed a corner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Two years ago, the students of class 7C in Vinh counted the traffic at the crossroads in front of their school. In one morning they counted 1,340 motorbikes, 96 cars and 212 bicycles — and no traffic light. They wrote a letter to the ward committee with the numbers, three photographs and five suggestions. Nothing happened for four months. Then they tried something different. They made a short sketch and performed it at the parents' meeting: a student crossing the road, a motorbike, and a mother waiting at home. Nobody spoke during the sketch, and several parents cried. Six weeks later, workers came and painted a zebra crossing. In September a traffic light was installed. 'The numbers were true, but the sketch was human,' says their teacher. 'People do not act because of numbers. They act because of stories.'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students count, and what were the numbers?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they send to the ward committee?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happened after four months?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they do differently?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teacher's conclusion?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red, yellow and green: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black and white lines to cross the road: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cars cannot move: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something bad on the road: an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follow the rules: to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campaign and rehearse.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campaign and rehearse.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poster (2 minutes) or perform your sketch (90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Poster frame: 'Our campaign is about… Rule one:… because… Remember:…'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Sketch: no more than four lines each; the message must be clear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Performing a message for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tell your friends.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Perform for a Grade 6 class if possible; otherwise for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five rules and your slogan.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must / mustn't, 2 × imperatives, each with a short reason. Slogan: five words or fewer.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Transport, signs and road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 How long</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Safety rules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7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road safety leaflet (90–100 words) for students in your village or street.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8 — Write the names of five films you like and three words to describe films,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