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7  ·  LESSON 7  ·  PERIOD 53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7 review and the Road Safety Campaign</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traffic vocabulary of Unit 7</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must/mustn't and the distance/time structures accurately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produce and perform a road safety campaign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Sign relay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Teams race to name signs and produce must/mustn't sentences.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Name signs and make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campaign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/kæmˈpeɪn/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chiến dịch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road safety campaign starts on Monday.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sketch</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/sketʃ/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tiểu phẩm</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group is performing a short sketch.</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audience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/ˈɔːdiəns/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khán giả</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Speak loudly so the audience can hear.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campaign is about…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Remember:…</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Please…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watching.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7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by + transport / on foot</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must + bare verb (law) / mustn't (forbidden)</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How far is it…? – It is … km.</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How long does it take…? – It takes …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by / on foot</a:t>
                      </a:r>
                    </a:p>
                  </a:txBody>
                  <a:tcPr>
                    <a:solidFill>
                      <a:srgbClr val="E3F3EE"/>
                    </a:solidFill>
                  </a:tcPr>
                </a:tc>
                <a:tc>
                  <a:txBody>
                    <a:bodyPr/>
                    <a:lstStyle/>
                    <a:p>
                      <a:r>
                        <a:rPr sz="1600" b="0">
                          <a:solidFill>
                            <a:srgbClr val="1B1B1B"/>
                          </a:solidFill>
                          <a:latin typeface="Calibri"/>
                        </a:rPr>
                        <a:t>by bike, on foot</a:t>
                      </a:r>
                    </a:p>
                  </a:txBody>
                  <a:tcPr>
                    <a:solidFill>
                      <a:srgbClr val="E3F3EE"/>
                    </a:solidFill>
                  </a:tcPr>
                </a:tc>
                <a:tc>
                  <a:txBody>
                    <a:bodyPr/>
                    <a:lstStyle/>
                    <a:p>
                      <a:r>
                        <a:rPr sz="1600" b="0">
                          <a:solidFill>
                            <a:srgbClr val="1B1B1B"/>
                          </a:solidFill>
                          <a:latin typeface="Calibri"/>
                        </a:rPr>
                        <a:t>*by foot</a:t>
                      </a:r>
                    </a:p>
                  </a:txBody>
                  <a:tcPr>
                    <a:solidFill>
                      <a:srgbClr val="E3F3EE"/>
                    </a:solidFill>
                  </a:tcPr>
                </a:tc>
              </a:tr>
              <a:tr h="566928">
                <a:tc>
                  <a:txBody>
                    <a:bodyPr/>
                    <a:lstStyle/>
                    <a:p>
                      <a:r>
                        <a:rPr sz="1600" b="0">
                          <a:solidFill>
                            <a:srgbClr val="1B1B1B"/>
                          </a:solidFill>
                          <a:latin typeface="Calibri"/>
                        </a:rPr>
                        <a:t>must + bare verb</a:t>
                      </a:r>
                    </a:p>
                  </a:txBody>
                  <a:tcPr>
                    <a:solidFill>
                      <a:srgbClr val="FFFFFF"/>
                    </a:solidFill>
                  </a:tcPr>
                </a:tc>
                <a:tc>
                  <a:txBody>
                    <a:bodyPr/>
                    <a:lstStyle/>
                    <a:p>
                      <a:r>
                        <a:rPr sz="1600" b="0">
                          <a:solidFill>
                            <a:srgbClr val="1B1B1B"/>
                          </a:solidFill>
                          <a:latin typeface="Calibri"/>
                        </a:rPr>
                        <a:t>You must wear a helmet.</a:t>
                      </a:r>
                    </a:p>
                  </a:txBody>
                  <a:tcPr>
                    <a:solidFill>
                      <a:srgbClr val="FFFFFF"/>
                    </a:solidFill>
                  </a:tcPr>
                </a:tc>
                <a:tc>
                  <a:txBody>
                    <a:bodyPr/>
                    <a:lstStyle/>
                    <a:p>
                      <a:r>
                        <a:rPr sz="1600" b="0">
                          <a:solidFill>
                            <a:srgbClr val="1B1B1B"/>
                          </a:solidFill>
                          <a:latin typeface="Calibri"/>
                        </a:rPr>
                        <a:t>*You must to wear</a:t>
                      </a:r>
                    </a:p>
                  </a:txBody>
                  <a:tcPr>
                    <a:solidFill>
                      <a:srgbClr val="FFFFFF"/>
                    </a:solidFill>
                  </a:tcPr>
                </a:tc>
              </a:tr>
              <a:tr h="566928">
                <a:tc>
                  <a:txBody>
                    <a:bodyPr/>
                    <a:lstStyle/>
                    <a:p>
                      <a:r>
                        <a:rPr sz="1600" b="0">
                          <a:solidFill>
                            <a:srgbClr val="1B1B1B"/>
                          </a:solidFill>
                          <a:latin typeface="Calibri"/>
                        </a:rPr>
                        <a:t>mustn't</a:t>
                      </a:r>
                    </a:p>
                  </a:txBody>
                  <a:tcPr>
                    <a:solidFill>
                      <a:srgbClr val="E3F3EE"/>
                    </a:solidFill>
                  </a:tcPr>
                </a:tc>
                <a:tc>
                  <a:txBody>
                    <a:bodyPr/>
                    <a:lstStyle/>
                    <a:p>
                      <a:r>
                        <a:rPr sz="1600" b="0">
                          <a:solidFill>
                            <a:srgbClr val="1B1B1B"/>
                          </a:solidFill>
                          <a:latin typeface="Calibri"/>
                        </a:rPr>
                        <a:t>You mustn't use your phone.</a:t>
                      </a:r>
                    </a:p>
                  </a:txBody>
                  <a:tcPr>
                    <a:solidFill>
                      <a:srgbClr val="E3F3EE"/>
                    </a:solidFill>
                  </a:tcPr>
                </a:tc>
                <a:tc>
                  <a:txBody>
                    <a:bodyPr/>
                    <a:lstStyle/>
                    <a:p>
                      <a:r>
                        <a:rPr sz="1600" b="0">
                          <a:solidFill>
                            <a:srgbClr val="1B1B1B"/>
                          </a:solidFill>
                          <a:latin typeface="Calibri"/>
                        </a:rPr>
                        <a:t>*You don't must use</a:t>
                      </a:r>
                    </a:p>
                  </a:txBody>
                  <a:tcPr>
                    <a:solidFill>
                      <a:srgbClr val="E3F3EE"/>
                    </a:solidFill>
                  </a:tcPr>
                </a:tc>
              </a:tr>
              <a:tr h="566928">
                <a:tc>
                  <a:txBody>
                    <a:bodyPr/>
                    <a:lstStyle/>
                    <a:p>
                      <a:r>
                        <a:rPr sz="1600" b="0">
                          <a:solidFill>
                            <a:srgbClr val="1B1B1B"/>
                          </a:solidFill>
                          <a:latin typeface="Calibri"/>
                        </a:rPr>
                        <a:t>distance = IS</a:t>
                      </a:r>
                    </a:p>
                  </a:txBody>
                  <a:tcPr>
                    <a:solidFill>
                      <a:srgbClr val="FFFFFF"/>
                    </a:solidFill>
                  </a:tcPr>
                </a:tc>
                <a:tc>
                  <a:txBody>
                    <a:bodyPr/>
                    <a:lstStyle/>
                    <a:p>
                      <a:r>
                        <a:rPr sz="1600" b="0">
                          <a:solidFill>
                            <a:srgbClr val="1B1B1B"/>
                          </a:solidFill>
                          <a:latin typeface="Calibri"/>
                        </a:rPr>
                        <a:t>It is five kilometres.</a:t>
                      </a:r>
                    </a:p>
                  </a:txBody>
                  <a:tcPr>
                    <a:solidFill>
                      <a:srgbClr val="FFFFFF"/>
                    </a:solidFill>
                  </a:tcPr>
                </a:tc>
                <a:tc>
                  <a:txBody>
                    <a:bodyPr/>
                    <a:lstStyle/>
                    <a:p>
                      <a:r>
                        <a:rPr sz="1600" b="0">
                          <a:solidFill>
                            <a:srgbClr val="1B1B1B"/>
                          </a:solidFill>
                          <a:latin typeface="Calibri"/>
                        </a:rPr>
                        <a:t>*It takes five kilometres</a:t>
                      </a:r>
                    </a:p>
                  </a:txBody>
                  <a:tcPr>
                    <a:solidFill>
                      <a:srgbClr val="FFFFFF"/>
                    </a:solidFill>
                  </a:tcPr>
                </a:tc>
              </a:tr>
              <a:tr h="566928">
                <a:tc>
                  <a:txBody>
                    <a:bodyPr/>
                    <a:lstStyle/>
                    <a:p>
                      <a:r>
                        <a:rPr sz="1600" b="0">
                          <a:solidFill>
                            <a:srgbClr val="1B1B1B"/>
                          </a:solidFill>
                          <a:latin typeface="Calibri"/>
                        </a:rPr>
                        <a:t>time = TAKES</a:t>
                      </a:r>
                    </a:p>
                  </a:txBody>
                  <a:tcPr>
                    <a:solidFill>
                      <a:srgbClr val="E3F3EE"/>
                    </a:solidFill>
                  </a:tcPr>
                </a:tc>
                <a:tc>
                  <a:txBody>
                    <a:bodyPr/>
                    <a:lstStyle/>
                    <a:p>
                      <a:r>
                        <a:rPr sz="1600" b="0">
                          <a:solidFill>
                            <a:srgbClr val="1B1B1B"/>
                          </a:solidFill>
                          <a:latin typeface="Calibri"/>
                        </a:rPr>
                        <a:t>It takes twenty minutes.</a:t>
                      </a:r>
                    </a:p>
                  </a:txBody>
                  <a:tcPr>
                    <a:solidFill>
                      <a:srgbClr val="E3F3EE"/>
                    </a:solidFill>
                  </a:tcPr>
                </a:tc>
                <a:tc>
                  <a:txBody>
                    <a:bodyPr/>
                    <a:lstStyle/>
                    <a:p>
                      <a:r>
                        <a:rPr sz="1600" b="0">
                          <a:solidFill>
                            <a:srgbClr val="1B1B1B"/>
                          </a:solidFill>
                          <a:latin typeface="Calibri"/>
                        </a:rPr>
                        <a:t>*I take twenty minutes</a:t>
                      </a:r>
                    </a:p>
                  </a:txBody>
                  <a:tcPr>
                    <a:solidFill>
                      <a:srgbClr val="E3F3EE"/>
                    </a:solidFill>
                  </a:tcPr>
                </a:tc>
              </a:tr>
              <a:tr h="566928">
                <a:tc>
                  <a:txBody>
                    <a:bodyPr/>
                    <a:lstStyle/>
                    <a:p>
                      <a:r>
                        <a:rPr sz="1600" b="0">
                          <a:solidFill>
                            <a:srgbClr val="1B1B1B"/>
                          </a:solidFill>
                          <a:latin typeface="Calibri"/>
                        </a:rPr>
                        <a:t>directions</a:t>
                      </a:r>
                    </a:p>
                  </a:txBody>
                  <a:tcPr>
                    <a:solidFill>
                      <a:srgbClr val="FFFFFF"/>
                    </a:solidFill>
                  </a:tcPr>
                </a:tc>
                <a:tc>
                  <a:txBody>
                    <a:bodyPr/>
                    <a:lstStyle/>
                    <a:p>
                      <a:r>
                        <a:rPr sz="1600" b="0">
                          <a:solidFill>
                            <a:srgbClr val="1B1B1B"/>
                          </a:solidFill>
                          <a:latin typeface="Calibri"/>
                        </a:rPr>
                        <a:t>Turn left at the corner.</a:t>
                      </a:r>
                    </a:p>
                  </a:txBody>
                  <a:tcPr>
                    <a:solidFill>
                      <a:srgbClr val="FFFFFF"/>
                    </a:solidFill>
                  </a:tcPr>
                </a:tc>
                <a:tc>
                  <a:txBody>
                    <a:bodyPr/>
                    <a:lstStyle/>
                    <a:p>
                      <a:r>
                        <a:rPr sz="1600" b="0">
                          <a:solidFill>
                            <a:srgbClr val="1B1B1B"/>
                          </a:solidFill>
                          <a:latin typeface="Calibri"/>
                        </a:rPr>
                        <a:t>*Turn to left</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is about three kilometres from my house to school and it takes ten minutes by bike. On the way I must cross a busy 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these six to the classroom wall list.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It is about three kilometres from my house to school and it takes ten minutes by bike. On the way I must cros…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Unit 7 sounds review: /aɪ/ /eɪ/, final /t/, weak from/…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Three checks: bike or bake? is the /t/ in 'light' and 'straight' clear? are 'from' and 'to' weak?</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bike – bake, ride – raid, light – late</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light, right, straight</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from your house to school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Turn right at the traffic light and go straight ahead to the station.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Prepositions of place · Have to and must — obligation.</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campaign that changed a corner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Two years ago, the students of class 7C in Vinh counted the traffic at the crossroads in front of their school. In one morning they counted 1,340 motorbikes, 96 cars and 212 bicycles — and no traffic light. They wrote a letter to the ward committee with the numbers, three photographs and five suggestions. Nothing happened for four months. Then they tried something different. They made a short sketch and performed it at the parents' meeting: a student crossing the road, a motorbike, and a mother waiting at home. Nobody spoke during the sketch, and several parents cried. Six weeks later, workers came and painted a zebra crossing. In September a traffic light was installed. 'The numbers were true, but the sketch was human,' says their teacher. 'People do not act because of numbers. They act because of stories.'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did the students count, and what were the numbers?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did they send to the ward committee?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happened after four months?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did they do differently?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is the teacher's conclusion?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you wear it on your head: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red, yellow and green: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black and white lines to cross the road: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when cars cannot move: a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something bad on the road: an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to follow the rules: to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go to school by foot.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must to wear a helmet.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 don't must use your phone.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far from here to the market?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takes about five kilometres.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Turn to left at the corner.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 with one word in each gap.</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seven words.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Finish your campaign and rehearse.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Finish your campaign and rehearse.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Present your poster (2 minutes) or perform your sketch (90 seconds).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Poster frame: 'Our campaign is about… Rule one:… because… Remember:…'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Sketch: no more than four lines each; the message must be clear without words.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Performing a message for an audience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campaign is about…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Look at this picture.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Remember:…</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Please tell your friends.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watching.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Perform for a Grade 6 class if possible; otherwise for the class.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five rules and your slogan.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 must / mustn't, 2 × imperatives, each with a short reason. Slogan: five words or fewer.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Transport, signs and road vocabulary (26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must / mustn't</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far / How long</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Directions</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Safety rules writing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7 with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 road safety leaflet (90–100 words) for students in your village or street.</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8 — Write the names of five films you like and three words to describe films, in English or Vietnamese.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U7L7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