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1  ·  PERIOD 49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do you get to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means of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do you get to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journey to school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journey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mime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Mime riding a bike, driving, flying, rowing; students guess and say the full sentence: 'You are riding a bike.' (recycles Unit 6)</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bicycle / bike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/ˈbaɪsɪkl/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đạp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by bike.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motorbike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/ˈməʊtəbaɪk/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máy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takes me by motorbike.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buýt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bus leaves at half past six.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hỏa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to Hue takes twelve hours.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/pleɪn/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Da Nang by plane.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ferry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students cross the river by ferry.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foot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fʊt/   (adv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 bộ</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on foot.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traffic jam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/ˈtræfɪk dʒæm/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tắc đường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traffic jam every morning.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journey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/ˈdʒɜːni/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chuyến đi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journey takes twenty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crossroads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/ˈkrɒsrəʊdz/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ngã tư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left at the crossroads.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by bike / bus / train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on foot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bus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BY + transport, ON FOOT, and TAKE + transport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(no 'a' or 'the'): by bike, by bus, by car, by plane.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ON FOOT (never 'by foot').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also say: I TAKE the bus / I RIDE my bike / I DRIVE to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go by + transport</a:t>
                      </a:r>
                    </a:p>
                  </a:txBody>
                  <a:tcPr>
                    <a:solidFill>
                      <a:srgbClr val="E3F3EE"/>
                    </a:solidFill>
                  </a:tcPr>
                </a:tc>
                <a:tc>
                  <a:txBody>
                    <a:bodyPr/>
                    <a:lstStyle/>
                    <a:p>
                      <a:r>
                        <a:rPr sz="1600" b="0">
                          <a:solidFill>
                            <a:srgbClr val="1B1B1B"/>
                          </a:solidFill>
                          <a:latin typeface="Calibri"/>
                        </a:rPr>
                        <a:t>I go to school by bike.</a:t>
                      </a:r>
                    </a:p>
                  </a:txBody>
                  <a:tcPr>
                    <a:solidFill>
                      <a:srgbClr val="E3F3EE"/>
                    </a:solidFill>
                  </a:tcPr>
                </a:tc>
              </a:tr>
              <a:tr h="566928">
                <a:tc>
                  <a:txBody>
                    <a:bodyPr/>
                    <a:lstStyle/>
                    <a:p>
                      <a:r>
                        <a:rPr sz="1600" b="0">
                          <a:solidFill>
                            <a:srgbClr val="1B1B1B"/>
                          </a:solidFill>
                          <a:latin typeface="Calibri"/>
                        </a:rPr>
                        <a:t>go on foot</a:t>
                      </a:r>
                    </a:p>
                  </a:txBody>
                  <a:tcPr>
                    <a:solidFill>
                      <a:srgbClr val="FFFFFF"/>
                    </a:solidFill>
                  </a:tcPr>
                </a:tc>
                <a:tc>
                  <a:txBody>
                    <a:bodyPr/>
                    <a:lstStyle/>
                    <a:p>
                      <a:r>
                        <a:rPr sz="1600" b="0">
                          <a:solidFill>
                            <a:srgbClr val="1B1B1B"/>
                          </a:solidFill>
                          <a:latin typeface="Calibri"/>
                        </a:rPr>
                        <a:t>She goes to school on foot.</a:t>
                      </a:r>
                    </a:p>
                  </a:txBody>
                  <a:tcPr>
                    <a:solidFill>
                      <a:srgbClr val="FFFFFF"/>
                    </a:solidFill>
                  </a:tcPr>
                </a:tc>
              </a:tr>
              <a:tr h="566928">
                <a:tc>
                  <a:txBody>
                    <a:bodyPr/>
                    <a:lstStyle/>
                    <a:p>
                      <a:r>
                        <a:rPr sz="1600" b="0">
                          <a:solidFill>
                            <a:srgbClr val="1B1B1B"/>
                          </a:solidFill>
                          <a:latin typeface="Calibri"/>
                        </a:rPr>
                        <a:t>take + the + transport</a:t>
                      </a:r>
                    </a:p>
                  </a:txBody>
                  <a:tcPr>
                    <a:solidFill>
                      <a:srgbClr val="E3F3EE"/>
                    </a:solidFill>
                  </a:tcPr>
                </a:tc>
                <a:tc>
                  <a:txBody>
                    <a:bodyPr/>
                    <a:lstStyle/>
                    <a:p>
                      <a:r>
                        <a:rPr sz="1600" b="0">
                          <a:solidFill>
                            <a:srgbClr val="1B1B1B"/>
                          </a:solidFill>
                          <a:latin typeface="Calibri"/>
                        </a:rPr>
                        <a:t>We take the bus at half past six.</a:t>
                      </a:r>
                    </a:p>
                  </a:txBody>
                  <a:tcPr>
                    <a:solidFill>
                      <a:srgbClr val="E3F3EE"/>
                    </a:solidFill>
                  </a:tcPr>
                </a:tc>
              </a:tr>
              <a:tr h="566928">
                <a:tc>
                  <a:txBody>
                    <a:bodyPr/>
                    <a:lstStyle/>
                    <a:p>
                      <a:r>
                        <a:rPr sz="1600" b="0">
                          <a:solidFill>
                            <a:srgbClr val="1B1B1B"/>
                          </a:solidFill>
                          <a:latin typeface="Calibri"/>
                        </a:rPr>
                        <a:t>ride / drive</a:t>
                      </a:r>
                    </a:p>
                  </a:txBody>
                  <a:tcPr>
                    <a:solidFill>
                      <a:srgbClr val="FFFFFF"/>
                    </a:solidFill>
                  </a:tcPr>
                </a:tc>
                <a:tc>
                  <a:txBody>
                    <a:bodyPr/>
                    <a:lstStyle/>
                    <a:p>
                      <a:r>
                        <a:rPr sz="1600" b="0">
                          <a:solidFill>
                            <a:srgbClr val="1B1B1B"/>
                          </a:solidFill>
                          <a:latin typeface="Calibri"/>
                        </a:rPr>
                        <a:t>He rides his bike. My mother drives to work.</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go to school by bike, but when it rains I go by bus.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cousin goes on foot because he lives near the school.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*by foot* and *by a bike* are the two classic errors. Learn the two chunks: BY BIKE (no article) and ON FOOT.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go to school by bike, but when it rains I go by bus.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sounds /aɪ/ and /eɪ/</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/aɪ/ = the mouth opens then closes, like Vietnamese 'ai': bike, ride, light, right. /eɪ/ = starts like 'ê' and moves to 'i': train, plane, late, 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/aɪ/: bike, ride, light, right, drive, five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/eɪ/: train, plane, late, day, way, take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bike – bake | ride – raid | light – late | write – wait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ride my bike every 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train is late again.</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right way at the traffic light.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6: Where Is the Gym?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where a place is. American English — VOA’s professional actors (Anna, Pete, Marsha, Ms. Weaver…), slowed learner delivery. It lasts 1:48.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1:48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where a place is B. what people did last night and last weekend C. auditioning for a part in a stage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This is not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This is not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gym is across from the lounge.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This is not a gym.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is a parking garage.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Anna and I live _____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People _____ Washington like to work out!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Pete, I want _____ work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It’s _____ to the mailroom.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It is _____ the lobby.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Journeys to school around the world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most students, getting to school is easy. For some, it is an adventure. In the Philippines, children in one village cross a river in an old rubber boat every morning. In Colombia, some children ride a steel cable 400 metres above a valley — it takes 60 seconds and it is the only way. In the mountains of northern Viet Nam, students often walk one or two hours, and in the rainy season the path becomes mud. Many stay at a boarding school during the week. And in big cities like Hanoi and Ho Chi Minh City, the problem is not distance but traffic. A journey of four kilometres can take forty minutes at half past six in the morning.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Where does it happen?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Children cross a river in a rubber boat.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travel on a steel cable.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walk one or two hours.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four-kilometre journey takes forty minutes.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high is the cable in Colombia and how long does the ride take?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happens to the mountain path in the rainy season?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main problem in big Vietnamese cities?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goes ______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the bus every morning.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went to Hue ______ train.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goes to work ______ motorbike.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ferry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motorbike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bicycle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wheels, no engine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crosses a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flies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two wheels and an engine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runs on 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by   on foot   takes   traffic jam   journey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to school (1) ______ bike. The (2) ______ is about three kilometres and it (3) ______ ten minutes. When it rains I go (4) ______ bus, bu…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 to the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 to the 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do you get to school? / How far do you live from school? / How long does it 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Talking about journeys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far.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quite a long way.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new student asks you three questions about getting to school. Answer and ask the same questions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journey to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live about ______ from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takes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means of transport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by + transport / on foot / take the bus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/aɪ/ vs /eɪ/ spelling patterns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by, on or take.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the people in your family travel to work or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bike – bake, ride – raid, light – late, write – wait.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