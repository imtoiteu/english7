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1  ·  PERIOD 47</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How do you get to school?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ten means of transport</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'How do you get to school?'</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journey to school</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their own journey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Transport mime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Mime riding a bike, driving, flying, rowing; students guess and say the full sentence: 'You are riding a bike.' (recycles Unit 6)</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Mime and guess.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bicycle / bike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/ˈbaɪsɪkl/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xe đạp</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go to school by bike.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motorbike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/ˈməʊtəbaɪk/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xe máy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father takes me by motorbike.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bus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/bʌs/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xe buýt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school bus leaves at half past six.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train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/treɪn/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tàu hỏa</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train to Hue takes twelve hours.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plane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/pleɪn/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máy bay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went to Da Nang by plane.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ferry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/ˈferi/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phà</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Some students cross the river by ferry.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on foot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/ɒn fʊt/   (adv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đi bộ</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go to school on foot.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traffic jam</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/ˈtræfɪk dʒæm/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tắc đường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traffic jam every morning.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journey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/ˈdʒɜːni/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chuyến đi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journey takes twenty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crossroads</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/ˈkrɒsrəʊdz/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ngã tư</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Turn left at the crossroads.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by bike / bus / train</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on foot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the bus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get to school</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you get to…?</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BY + transport, ON FOOT, and TAKE + transport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BY + transport (no 'a' or 'the'): by bike, by bus, by car, by plane.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But: ON FOOT (never 'by foot').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You can also say: I TAKE the bus / I RIDE my bike / I DRIVE to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go by + transport</a:t>
                      </a:r>
                    </a:p>
                  </a:txBody>
                  <a:tcPr>
                    <a:solidFill>
                      <a:srgbClr val="E3F3EE"/>
                    </a:solidFill>
                  </a:tcPr>
                </a:tc>
                <a:tc>
                  <a:txBody>
                    <a:bodyPr/>
                    <a:lstStyle/>
                    <a:p>
                      <a:r>
                        <a:rPr sz="1600" b="0">
                          <a:solidFill>
                            <a:srgbClr val="1B1B1B"/>
                          </a:solidFill>
                          <a:latin typeface="Calibri"/>
                        </a:rPr>
                        <a:t>I go to school by bike.</a:t>
                      </a:r>
                    </a:p>
                  </a:txBody>
                  <a:tcPr>
                    <a:solidFill>
                      <a:srgbClr val="E3F3EE"/>
                    </a:solidFill>
                  </a:tcPr>
                </a:tc>
              </a:tr>
              <a:tr h="566928">
                <a:tc>
                  <a:txBody>
                    <a:bodyPr/>
                    <a:lstStyle/>
                    <a:p>
                      <a:r>
                        <a:rPr sz="1600" b="0">
                          <a:solidFill>
                            <a:srgbClr val="1B1B1B"/>
                          </a:solidFill>
                          <a:latin typeface="Calibri"/>
                        </a:rPr>
                        <a:t>go on foot</a:t>
                      </a:r>
                    </a:p>
                  </a:txBody>
                  <a:tcPr>
                    <a:solidFill>
                      <a:srgbClr val="FFFFFF"/>
                    </a:solidFill>
                  </a:tcPr>
                </a:tc>
                <a:tc>
                  <a:txBody>
                    <a:bodyPr/>
                    <a:lstStyle/>
                    <a:p>
                      <a:r>
                        <a:rPr sz="1600" b="0">
                          <a:solidFill>
                            <a:srgbClr val="1B1B1B"/>
                          </a:solidFill>
                          <a:latin typeface="Calibri"/>
                        </a:rPr>
                        <a:t>She goes to school on foot.</a:t>
                      </a:r>
                    </a:p>
                  </a:txBody>
                  <a:tcPr>
                    <a:solidFill>
                      <a:srgbClr val="FFFFFF"/>
                    </a:solidFill>
                  </a:tcPr>
                </a:tc>
              </a:tr>
              <a:tr h="566928">
                <a:tc>
                  <a:txBody>
                    <a:bodyPr/>
                    <a:lstStyle/>
                    <a:p>
                      <a:r>
                        <a:rPr sz="1600" b="0">
                          <a:solidFill>
                            <a:srgbClr val="1B1B1B"/>
                          </a:solidFill>
                          <a:latin typeface="Calibri"/>
                        </a:rPr>
                        <a:t>take + the + transport</a:t>
                      </a:r>
                    </a:p>
                  </a:txBody>
                  <a:tcPr>
                    <a:solidFill>
                      <a:srgbClr val="E3F3EE"/>
                    </a:solidFill>
                  </a:tcPr>
                </a:tc>
                <a:tc>
                  <a:txBody>
                    <a:bodyPr/>
                    <a:lstStyle/>
                    <a:p>
                      <a:r>
                        <a:rPr sz="1600" b="0">
                          <a:solidFill>
                            <a:srgbClr val="1B1B1B"/>
                          </a:solidFill>
                          <a:latin typeface="Calibri"/>
                        </a:rPr>
                        <a:t>We take the bus at half past six.</a:t>
                      </a:r>
                    </a:p>
                  </a:txBody>
                  <a:tcPr>
                    <a:solidFill>
                      <a:srgbClr val="E3F3EE"/>
                    </a:solidFill>
                  </a:tcPr>
                </a:tc>
              </a:tr>
              <a:tr h="566928">
                <a:tc>
                  <a:txBody>
                    <a:bodyPr/>
                    <a:lstStyle/>
                    <a:p>
                      <a:r>
                        <a:rPr sz="1600" b="0">
                          <a:solidFill>
                            <a:srgbClr val="1B1B1B"/>
                          </a:solidFill>
                          <a:latin typeface="Calibri"/>
                        </a:rPr>
                        <a:t>ride / drive</a:t>
                      </a:r>
                    </a:p>
                  </a:txBody>
                  <a:tcPr>
                    <a:solidFill>
                      <a:srgbClr val="FFFFFF"/>
                    </a:solidFill>
                  </a:tcPr>
                </a:tc>
                <a:tc>
                  <a:txBody>
                    <a:bodyPr/>
                    <a:lstStyle/>
                    <a:p>
                      <a:r>
                        <a:rPr sz="1600" b="0">
                          <a:solidFill>
                            <a:srgbClr val="1B1B1B"/>
                          </a:solidFill>
                          <a:latin typeface="Calibri"/>
                        </a:rPr>
                        <a:t>He rides his bike. My mother drives to work.</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usually go to school by bike, but when it rains I go by bus.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My cousin goes on foot because he lives near the school.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*by foot* and *by a bike* are the two classic errors. Learn the two chunks: BY BIKE (no article) and ON FOOT.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 usually go to school by bike, but when it rains I go by bus.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The sounds /aɪ/ and /eɪ/</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/aɪ/ = the mouth opens then closes, like Vietnamese 'ai': bike, ride, light, right. /eɪ/ = starts like 'ê' and moves to 'i': train, plane, late, day.</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/aɪ/: bike, ride, light, right, drive, five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/eɪ/: train, plane, late, day, way, take</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bike – bake | ride – raid | light – late | write – wait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ride my bike every day.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train is late again.</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Take the right way at the traffic light.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6: Where Is the Gym?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asking where a place is. American English — VOA’s professional actors (Anna, Pete, Marsha, Ms. Weaver…), slowed learner delivery. It lasts 1:48.</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1:48 · American English — VOA’s professional actors (Anna, Pete, Marsha, Ms. Weaver…), slowed learner delivery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asking where a place is B. what people did last night and last weekend C. auditioning for a part in a stage show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This is not the gym.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This is not the gym!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gym is across from the lounge.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This is not a gym.</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This is a parking garage.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I’m Anna and I live _____ Washington, D.C.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People _____ Washington like to work out!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Pete, I want _____ work out.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Pete: It’s _____ to the mailroom.</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Pete: It is _____ the lobby.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Journeys to school around the world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For most students, getting to school is easy. For some, it is an adventure. In the Philippines, children in one village cross a river in an old rubber boat every morning. In Colombia, some children ride a steel cable 400 metres above a valley — it takes 60 seconds and it is the only way. In the mountains of northern Viet Nam, students often walk one or two hours, and in the rainy season the path becomes mud. Many stay at a boarding school during the week. And in big cities like Hanoi and Ho Chi Minh City, the problem is not distance but traffic. A journey of four kilometres can take forty minutes at half past six in the morning.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Where does it happen?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Children cross a river in a rubber boat.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Children travel on a steel cable.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Students walk one or two hours.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four-kilometre journey takes forty minutes. ______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high is the cable in Colombia and how long does the ride take?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happens to the mountain path in the rainy season?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is the main problem in big Vietnamese cities?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______ bike.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goes ______ foot.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______ the bus every morning.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They went to Hue ______ train.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My father goes to work ______ motorbike.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transport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ferry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train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motorbike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plane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bicycle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transport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two wheels, no engine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it crosses a river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it flies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two wheels and an engine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it runs on rails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by   on foot   takes   traffic jam   journey</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 usually go to school (1) ______ bike. The (2) ______ is about three kilometres and it (3) ______ ten minutes. When it rains I go (4) ______ bus, bu…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survey and report two results to the class.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survey and report two results to the class.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four classmates and 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How do you get to school? / How far do you live from school? / How long does it take?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Talking about journeys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you get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is it?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on the traffic.</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not far.</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quite a long way.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new student asks you three questions about getting to school. Answer and ask the same questions back.</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your journey to school.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live about ______ from school.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journey takes ______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10 means of transport</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by + transport / on foot / take the bus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/aɪ/ vs /eɪ/ spelling patterns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transport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by, on or take.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how the people in your family travel to work or school.</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each pair five times: bike – bake, ride – raid, light – late, write – wait.</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