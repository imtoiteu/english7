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6  ·  PERIOD 52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traffic report + Writing: Road safety rules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traffic report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set of rules with a heading, numbered points and a reason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road safety leaflet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Traffic report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three lines of a traffic report; students note the place, the problem and the delay.</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/rɪˈpɔːt/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 tin, báo cáo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traffic report.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chậm trễ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20-minute delay on Route 5.</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avoid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/əˈvɔɪd/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city centre this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/ruːt/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tuyến đường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Take another route today.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/ˈflʌdɪd/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ngập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road is flooded after the storm.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are repairing the bridge.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the traffic report.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Drivers should avoid…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delay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an alternative route.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road is closed.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Writing rules: heading, numbered points, imperatives and 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leaflet a short, strong HEADING: 'Five rules for a safe journey'.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Number the rules. One rule per line.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Each rule = an imperative or must/mustn't + a short REASON.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one memorable sentence (a slogan).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Heading</a:t>
                      </a:r>
                    </a:p>
                  </a:txBody>
                  <a:tcPr>
                    <a:solidFill>
                      <a:srgbClr val="E3F3EE"/>
                    </a:solidFill>
                  </a:tcPr>
                </a:tc>
                <a:tc>
                  <a:txBody>
                    <a:bodyPr/>
                    <a:lstStyle/>
                    <a:p>
                      <a:r>
                        <a:rPr sz="1600" b="0">
                          <a:solidFill>
                            <a:srgbClr val="1B1B1B"/>
                          </a:solidFill>
                          <a:latin typeface="Calibri"/>
                        </a:rPr>
                        <a:t>SAFE TO SCHOOL — five rules</a:t>
                      </a:r>
                    </a:p>
                  </a:txBody>
                  <a:tcPr>
                    <a:solidFill>
                      <a:srgbClr val="E3F3EE"/>
                    </a:solidFill>
                  </a:tcPr>
                </a:tc>
              </a:tr>
              <a:tr h="566928">
                <a:tc>
                  <a:txBody>
                    <a:bodyPr/>
                    <a:lstStyle/>
                    <a:p>
                      <a:r>
                        <a:rPr sz="1600" b="0">
                          <a:solidFill>
                            <a:srgbClr val="1B1B1B"/>
                          </a:solidFill>
                          <a:latin typeface="Calibri"/>
                        </a:rPr>
                        <a:t>Rule + reason</a:t>
                      </a:r>
                    </a:p>
                  </a:txBody>
                  <a:tcPr>
                    <a:solidFill>
                      <a:srgbClr val="FFFFFF"/>
                    </a:solidFill>
                  </a:tcPr>
                </a:tc>
                <a:tc>
                  <a:txBody>
                    <a:bodyPr/>
                    <a:lstStyle/>
                    <a:p>
                      <a:r>
                        <a:rPr sz="1600" b="0">
                          <a:solidFill>
                            <a:srgbClr val="1B1B1B"/>
                          </a:solidFill>
                          <a:latin typeface="Calibri"/>
                        </a:rPr>
                        <a:t>1. Always wear a helmet, because your head is not replaceable.</a:t>
                      </a:r>
                    </a:p>
                  </a:txBody>
                  <a:tcPr>
                    <a:solidFill>
                      <a:srgbClr val="FFFFFF"/>
                    </a:solidFill>
                  </a:tcPr>
                </a:tc>
              </a:tr>
              <a:tr h="566928">
                <a:tc>
                  <a:txBody>
                    <a:bodyPr/>
                    <a:lstStyle/>
                    <a:p>
                      <a:r>
                        <a:rPr sz="1600" b="0">
                          <a:solidFill>
                            <a:srgbClr val="1B1B1B"/>
                          </a:solidFill>
                          <a:latin typeface="Calibri"/>
                        </a:rPr>
                        <a:t>Rule + reason</a:t>
                      </a:r>
                    </a:p>
                  </a:txBody>
                  <a:tcPr>
                    <a:solidFill>
                      <a:srgbClr val="E3F3EE"/>
                    </a:solidFill>
                  </a:tcPr>
                </a:tc>
                <a:tc>
                  <a:txBody>
                    <a:bodyPr/>
                    <a:lstStyle/>
                    <a:p>
                      <a:r>
                        <a:rPr sz="1600" b="0">
                          <a:solidFill>
                            <a:srgbClr val="1B1B1B"/>
                          </a:solidFill>
                          <a:latin typeface="Calibri"/>
                        </a:rPr>
                        <a:t>2. You mustn't use your phone — two seconds is seventeen metres.</a:t>
                      </a:r>
                    </a:p>
                  </a:txBody>
                  <a:tcPr>
                    <a:solidFill>
                      <a:srgbClr val="E3F3EE"/>
                    </a:solidFill>
                  </a:tcPr>
                </a:tc>
              </a:tr>
              <a:tr h="566928">
                <a:tc>
                  <a:txBody>
                    <a:bodyPr/>
                    <a:lstStyle/>
                    <a:p>
                      <a:r>
                        <a:rPr sz="1600" b="0">
                          <a:solidFill>
                            <a:srgbClr val="1B1B1B"/>
                          </a:solidFill>
                          <a:latin typeface="Calibri"/>
                        </a:rPr>
                        <a:t>Slogan</a:t>
                      </a:r>
                    </a:p>
                  </a:txBody>
                  <a:tcPr>
                    <a:solidFill>
                      <a:srgbClr val="FFFFFF"/>
                    </a:solidFill>
                  </a:tcPr>
                </a:tc>
                <a:tc>
                  <a:txBody>
                    <a:bodyPr/>
                    <a:lstStyle/>
                    <a:p>
                      <a:r>
                        <a:rPr sz="1600" b="0">
                          <a:solidFill>
                            <a:srgbClr val="1B1B1B"/>
                          </a:solidFill>
                          <a:latin typeface="Calibri"/>
                        </a:rPr>
                        <a:t>Arrive late, not never.</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3. Leave home five minutes earlier, so you never need to hurry.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4. Cross at the zebra crossing and look left, right and left again.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long sentences with 'and… and…'. A rule must be SHORT. One idea, one line.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3. Leave home five minutes earlier, so you never need to hurry.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rules aloud with authority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Rules are read slowly, with a pause after each number and a strong stress on the key verb: 'ONE. / Always WEAR a HELMET.'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Always WEAR a helmet.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your PHONE.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CROSS at the zebra CROSSing.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One. / Always wear a helmet. / Two. / Never use your phone.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live near a train station?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living near a train station. Single speaker — Nerry / Belize. It lasts 0:45.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0:45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who visits at holiday times C. living near a train station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do you live near a _____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 not live near a _____ station.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Belize, we do not have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we have is _____, motorcycles, cars, and 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question to you is, do you live near a train _____?</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leaflet: SAFE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SAFE TO SCHOOL — five rules for every student 1. Always wear a helmet, and check that it has a safety label. A cheap helmet is only a plastic hat. 2. You mustn't use your phone while you are riding. Two seconds of reading is seventeen metres with your eyes closed. 3. Leave home five minutes earlier, so you never have to hurry. Most accidents happen to students who are late. 4. Cross the road at the zebra crossing, and look left, right and left again. Do not trust a driver to see you. 5. Wear something bright in the evening and in the rain, because drivers cannot see dark clothes until it is too late. Remember: it is better to arrive late than never to arrive at 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makes the heading effective?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words are in most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rules give a reason?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one imperative and one 'mustn't' rule.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function of the last 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each rule as one short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very important that all students should always remember to put on their helmet before they get on a motorbike.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Students are not allowed to look at their mobile phones at the same time as riding a bicycle.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would be a good idea if everybody left their house a bit earlier in the morning.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a reason to each rule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helmet,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ride two on a bike,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Wear bright clothes at night,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U7.6-W1 and W2.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leaflet aloud as a 40-second announcement.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leaflet aloud as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five rules aloud to your partner, slowly and with authority.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Pause after each number. Stress the key verb.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public message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cyclists!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Always…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leaflet aloud as a school announcement (40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1 + reason: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2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3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4 + reason: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5 + reason: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road safety leaflet of 80–100 words for students at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 five numbered rules with reasons + a slogan.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short strong heading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five numbered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is ONE idea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has a reason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imperatives and one must/mustn't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slogan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report: places, times, numbers, advice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Rules: heading + numbered points + reasons + slogan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sentences are strong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traffic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report, delay, avoid, route, flooded, repair.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leaflet neatly after correction. Add a drawing or a traffic sign.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leaflet aloud twice with pauses after each number.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