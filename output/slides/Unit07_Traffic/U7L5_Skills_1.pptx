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5  ·  PERIOD 51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Road safety + Speaking: A safer journey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about road safety and answer three types of question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90-second talk about making their journey to school safer</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Sign and rule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see a sign and must produce a must/mustn't sentence. Recycles Lessons 2–3.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rules quickly.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accident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/ˈæksɪdənt/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tai nạn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was an accident at the crossroads.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injury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/ˈɪndʒəri/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chấn thương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had a head injury.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dangerous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/ˈdeɪndʒərəs/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nguy hiểm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corner is dangerous.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careless</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/ˈkeələs/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bất cẩn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Careless riders cause accidents.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obey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/əˈbeɪ/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tuân theo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Everyone must obey the traffic rules.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reflective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/rɪˈflektɪv/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phản quang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Wear reflective clothes at night.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cause an accident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obey the rules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pay attention</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night</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rain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Cause and result: because / so / that's why (recycled and 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because + reason: Accidents happen BECAUSE riders don't pay attention.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 + result: It was raining, SO the road was slippery.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that's why + result: He wasn't wearing a helmet. THAT'S WHY his injury was serious.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Remember from Unit 1: never use 'because' and 'so' in the same sentence.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800" b="1">
                          <a:solidFill>
                            <a:srgbClr val="FFFFFF"/>
                          </a:solidFill>
                          <a:latin typeface="Calibri"/>
                        </a:rPr>
                        <a:t>Structure</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result + because + reason</a:t>
                      </a:r>
                    </a:p>
                  </a:txBody>
                  <a:tcPr>
                    <a:solidFill>
                      <a:srgbClr val="E3F3EE"/>
                    </a:solidFill>
                  </a:tcPr>
                </a:tc>
                <a:tc>
                  <a:txBody>
                    <a:bodyPr/>
                    <a:lstStyle/>
                    <a:p>
                      <a:r>
                        <a:rPr sz="1800" b="0">
                          <a:solidFill>
                            <a:srgbClr val="1B1B1B"/>
                          </a:solidFill>
                          <a:latin typeface="Calibri"/>
                        </a:rPr>
                        <a:t>The accident happened because he was on his phone.</a:t>
                      </a:r>
                    </a:p>
                  </a:txBody>
                  <a:tcPr>
                    <a:solidFill>
                      <a:srgbClr val="E3F3EE"/>
                    </a:solidFill>
                  </a:tcPr>
                </a:tc>
              </a:tr>
              <a:tr h="566928">
                <a:tc>
                  <a:txBody>
                    <a:bodyPr/>
                    <a:lstStyle/>
                    <a:p>
                      <a:r>
                        <a:rPr sz="1800" b="0">
                          <a:solidFill>
                            <a:srgbClr val="1B1B1B"/>
                          </a:solidFill>
                          <a:latin typeface="Calibri"/>
                        </a:rPr>
                        <a:t>reason + so + result</a:t>
                      </a:r>
                    </a:p>
                  </a:txBody>
                  <a:tcPr>
                    <a:solidFill>
                      <a:srgbClr val="FFFFFF"/>
                    </a:solidFill>
                  </a:tcPr>
                </a:tc>
                <a:tc>
                  <a:txBody>
                    <a:bodyPr/>
                    <a:lstStyle/>
                    <a:p>
                      <a:r>
                        <a:rPr sz="1800" b="0">
                          <a:solidFill>
                            <a:srgbClr val="1B1B1B"/>
                          </a:solidFill>
                          <a:latin typeface="Calibri"/>
                        </a:rPr>
                        <a:t>He was on his phone, so he didn't see the bus.</a:t>
                      </a:r>
                    </a:p>
                  </a:txBody>
                  <a:tcPr>
                    <a:solidFill>
                      <a:srgbClr val="FFFFFF"/>
                    </a:solidFill>
                  </a:tcPr>
                </a:tc>
              </a:tr>
              <a:tr h="566928">
                <a:tc>
                  <a:txBody>
                    <a:bodyPr/>
                    <a:lstStyle/>
                    <a:p>
                      <a:r>
                        <a:rPr sz="1800" b="0">
                          <a:solidFill>
                            <a:srgbClr val="1B1B1B"/>
                          </a:solidFill>
                          <a:latin typeface="Calibri"/>
                        </a:rPr>
                        <a:t>reason. That's why + result</a:t>
                      </a:r>
                    </a:p>
                  </a:txBody>
                  <a:tcPr>
                    <a:solidFill>
                      <a:srgbClr val="E3F3EE"/>
                    </a:solidFill>
                  </a:tcPr>
                </a:tc>
                <a:tc>
                  <a:txBody>
                    <a:bodyPr/>
                    <a:lstStyle/>
                    <a:p>
                      <a:r>
                        <a:rPr sz="1800" b="0">
                          <a:solidFill>
                            <a:srgbClr val="1B1B1B"/>
                          </a:solidFill>
                          <a:latin typeface="Calibri"/>
                        </a:rPr>
                        <a:t>He was on his phone. That's why he didn't see the bus.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Many students don't wear helmets because they think it looks strange.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corner near our school has no light, so it is dangerous at night.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*Because … so …* is still the number one linking error. Check it in every piece of writing this unit.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Many students don't wear helmets because they think it looks strange.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long adjectives and clear phrasing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DAN-ger-ous (Ooo), CARE-less (Oo), re-FLEC-tive (oOo), o-BEY (oO). Pause before 'because' and 'so'.</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'dangerous (Ooo)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'careless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re'flective (oOo)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o'bey (oO)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That corner is DANgerous / because there is no LIGHT.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He was CAREless, / so he had an ACcident.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Do you use the train or bus?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how one person travels in the city. Single speaker — Lesya / Ukraine. It lasts 0:57.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0:57 · Single speaker — Lesya / Ukraine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spy story and a museum about spies B. how one person travels in the city C. asking to borrow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do you use the train or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use the _____ in my city.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If I go to the supermarket, I _____ the bus, but I don't like the bus.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If I _____, if I go to another city, if I travel to another country, I don't like the bus.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travel by _____ to other country or other city.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Seventeen metres with your eyes closed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Every morning, more than a million Vietnamese students travel to school by bicycle or motorbike. Most of them arrive safely. Some do not. Doctors say that the three main causes of student road accidents are speed, no helmet, and — increasingly — mobile phones. Reading one short message takes about two seconds. At 30 kilometres an hour, that is seventeen metres travelled with your eyes closed. Seventeen metres is longer than a classroom. The helmet problem is different. Almost every student owns a helmet, but many buy the cheapest one, which is often just a plastic hat. A real helmet costs about 200,000 dong and must have a proper safety label. There is also a problem of time. Most accidents happen between half past six and half past seven in the morning. Students who are late take risks: they go faster, they cross without looking, they carry two friends. The good news is that all three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buy a helmet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Three causes of student road accidents — and how to fix them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Traffic in Vietnamese cities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are the three main causes?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far do you travel in two seconds at 30 km/h?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problem with cheap helmets?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When do most accidents happen, and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three solutions does the writer give?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growing more and more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something dangerous (paragraph 4)</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keeps you safe (paragraph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sign that shows something is safe (paragraph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writer compare seventeen metres with a classroom?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students buy the cheapest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of the three solutions is easiest for you? Which is hardest?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Most students arrive at school safely.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Reading a message takes about ten seconds.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Few students own a helmet.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Most accidents happen in the afternoon.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writer says all three causes are easy to fix.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road was wet. He fell off his bike. (so)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 didn't wear a helmet. His injury was serious. (That's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Students take risks. They are late. (because)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There is no traffic light. The corner is dangerous. (so)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three causes and the three solutions.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three causes and the three solutions.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U7.5-S2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talk: 'How I can make my journey to school safer.'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I get to school and how long it takes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dangerous place or moment on my journey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it is dangerous (because…)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Two things I must / should change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One thing the school or the town should do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'The most dangerous part is…', 'It's dangerous because…', 'I must…', 'I should…', 'The school should…'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Expressing concern and making a suggestion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worried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problem is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Something must be done.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don't we…?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school should…</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only takes a minute.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Class meeting: two students present a dangerous place near the school and suggest a solution; the class agrees or disagrees.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 that's why</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and should in a safety context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accident, injury, dangerous, careless, obey, reflective.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talk as a paragraph (80–90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talk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