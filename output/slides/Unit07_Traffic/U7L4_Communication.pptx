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4_1_c98eed28-bb2e-4055-9d08-6f7834b85aa9_hq.mp3" TargetMode="External"/><Relationship Id="rId3" Type="http://schemas.openxmlformats.org/officeDocument/2006/relationships/hyperlink" Target="https://learningenglish.voanews.com/a/lets-learn-english-lesson-25-watch-out/3431138.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4  ·  PERIOD 52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for and giving directions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directions politely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directions using imperatives and prepositions of place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follow directions on a simple map</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6-turn directions role 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Simon says with directions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'Simon says turn left / turn right / go straight ahead / stop.' Students do the actions while seated.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Follow the direction commands.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corner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/ˈkɔːnə/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góc phố</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shop is on the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opposite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/ˈɒpəzɪt/   (prep)</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đối diện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bank is opposite the school.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next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/ˈnekst tuː/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bên cạnh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post office is next to the market.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between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/bɪˈtwiːn/   (prep)</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between the bank and the café.</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roundabout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/ˈraʊndəbaʊt/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vòng xuyến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Go straight on at the roundabout.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lost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lɒst/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lạc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you can't get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on your left.</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can't miss it.</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 / You're welcome.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Directions: imperatives + prepositions of place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directions with the IMPERATIVE (Unit 2): Go, Turn, Take, Cross, Walk.</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place: opposite, next to, between, behind, in front of, on the corner of.</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Sequence: Go straight ahead. THEN turn left. THEN take the second street on your right.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a landmark: It's opposite the market. You can't miss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ask</a:t>
                      </a:r>
                    </a:p>
                  </a:txBody>
                  <a:tcPr>
                    <a:solidFill>
                      <a:srgbClr val="E3F3EE"/>
                    </a:solidFill>
                  </a:tcPr>
                </a:tc>
                <a:tc>
                  <a:txBody>
                    <a:bodyPr/>
                    <a:lstStyle/>
                    <a:p>
                      <a:r>
                        <a:rPr sz="1600" b="0">
                          <a:solidFill>
                            <a:srgbClr val="1B1B1B"/>
                          </a:solidFill>
                          <a:latin typeface="Calibri"/>
                        </a:rPr>
                        <a:t>Excuse me, how do I get to the post office?</a:t>
                      </a:r>
                    </a:p>
                  </a:txBody>
                  <a:tcPr>
                    <a:solidFill>
                      <a:srgbClr val="E3F3EE"/>
                    </a:solidFill>
                  </a:tcPr>
                </a:tc>
              </a:tr>
              <a:tr h="566928">
                <a:tc>
                  <a:txBody>
                    <a:bodyPr/>
                    <a:lstStyle/>
                    <a:p>
                      <a:r>
                        <a:rPr sz="1600" b="0">
                          <a:solidFill>
                            <a:srgbClr val="1B1B1B"/>
                          </a:solidFill>
                          <a:latin typeface="Calibri"/>
                        </a:rPr>
                        <a:t>start</a:t>
                      </a:r>
                    </a:p>
                  </a:txBody>
                  <a:tcPr>
                    <a:solidFill>
                      <a:srgbClr val="FFFFFF"/>
                    </a:solidFill>
                  </a:tcPr>
                </a:tc>
                <a:tc>
                  <a:txBody>
                    <a:bodyPr/>
                    <a:lstStyle/>
                    <a:p>
                      <a:r>
                        <a:rPr sz="1600" b="0">
                          <a:solidFill>
                            <a:srgbClr val="1B1B1B"/>
                          </a:solidFill>
                          <a:latin typeface="Calibri"/>
                        </a:rPr>
                        <a:t>Go straight ahead / along this street.</a:t>
                      </a:r>
                    </a:p>
                  </a:txBody>
                  <a:tcPr>
                    <a:solidFill>
                      <a:srgbClr val="FFFFFF"/>
                    </a:solidFill>
                  </a:tcPr>
                </a:tc>
              </a:tr>
              <a:tr h="566928">
                <a:tc>
                  <a:txBody>
                    <a:bodyPr/>
                    <a:lstStyle/>
                    <a:p>
                      <a:r>
                        <a:rPr sz="1600" b="0">
                          <a:solidFill>
                            <a:srgbClr val="1B1B1B"/>
                          </a:solidFill>
                          <a:latin typeface="Calibri"/>
                        </a:rPr>
                        <a:t>turn</a:t>
                      </a:r>
                    </a:p>
                  </a:txBody>
                  <a:tcPr>
                    <a:solidFill>
                      <a:srgbClr val="E3F3EE"/>
                    </a:solidFill>
                  </a:tcPr>
                </a:tc>
                <a:tc>
                  <a:txBody>
                    <a:bodyPr/>
                    <a:lstStyle/>
                    <a:p>
                      <a:r>
                        <a:rPr sz="1600" b="0">
                          <a:solidFill>
                            <a:srgbClr val="1B1B1B"/>
                          </a:solidFill>
                          <a:latin typeface="Calibri"/>
                        </a:rPr>
                        <a:t>Turn left at the traffic light.</a:t>
                      </a:r>
                    </a:p>
                  </a:txBody>
                  <a:tcPr>
                    <a:solidFill>
                      <a:srgbClr val="E3F3EE"/>
                    </a:solidFill>
                  </a:tcPr>
                </a:tc>
              </a:tr>
              <a:tr h="566928">
                <a:tc>
                  <a:txBody>
                    <a:bodyPr/>
                    <a:lstStyle/>
                    <a:p>
                      <a:r>
                        <a:rPr sz="1600" b="0">
                          <a:solidFill>
                            <a:srgbClr val="1B1B1B"/>
                          </a:solidFill>
                          <a:latin typeface="Calibri"/>
                        </a:rPr>
                        <a:t>take</a:t>
                      </a:r>
                    </a:p>
                  </a:txBody>
                  <a:tcPr>
                    <a:solidFill>
                      <a:srgbClr val="FFFFFF"/>
                    </a:solidFill>
                  </a:tcPr>
                </a:tc>
                <a:tc>
                  <a:txBody>
                    <a:bodyPr/>
                    <a:lstStyle/>
                    <a:p>
                      <a:r>
                        <a:rPr sz="1600" b="0">
                          <a:solidFill>
                            <a:srgbClr val="1B1B1B"/>
                          </a:solidFill>
                          <a:latin typeface="Calibri"/>
                        </a:rPr>
                        <a:t>Take the second street on your right.</a:t>
                      </a:r>
                    </a:p>
                  </a:txBody>
                  <a:tcPr>
                    <a:solidFill>
                      <a:srgbClr val="FFFFFF"/>
                    </a:solidFill>
                  </a:tcPr>
                </a:tc>
              </a:tr>
              <a:tr h="566928">
                <a:tc>
                  <a:txBody>
                    <a:bodyPr/>
                    <a:lstStyle/>
                    <a:p>
                      <a:r>
                        <a:rPr sz="1600" b="0">
                          <a:solidFill>
                            <a:srgbClr val="1B1B1B"/>
                          </a:solidFill>
                          <a:latin typeface="Calibri"/>
                        </a:rPr>
                        <a:t>locate</a:t>
                      </a:r>
                    </a:p>
                  </a:txBody>
                  <a:tcPr>
                    <a:solidFill>
                      <a:srgbClr val="E3F3EE"/>
                    </a:solidFill>
                  </a:tcPr>
                </a:tc>
                <a:tc>
                  <a:txBody>
                    <a:bodyPr/>
                    <a:lstStyle/>
                    <a:p>
                      <a:r>
                        <a:rPr sz="1600" b="0">
                          <a:solidFill>
                            <a:srgbClr val="1B1B1B"/>
                          </a:solidFill>
                          <a:latin typeface="Calibri"/>
                        </a:rPr>
                        <a:t>It's opposite the bank, next to the café.</a:t>
                      </a:r>
                    </a:p>
                  </a:txBody>
                  <a:tcPr>
                    <a:solidFill>
                      <a:srgbClr val="E3F3EE"/>
                    </a:solidFill>
                  </a:tcPr>
                </a:tc>
              </a:tr>
              <a:tr h="566928">
                <a:tc>
                  <a:txBody>
                    <a:bodyPr/>
                    <a:lstStyle/>
                    <a:p>
                      <a:r>
                        <a:rPr sz="1600" b="0">
                          <a:solidFill>
                            <a:srgbClr val="1B1B1B"/>
                          </a:solidFill>
                          <a:latin typeface="Calibri"/>
                        </a:rPr>
                        <a:t>reassure</a:t>
                      </a:r>
                    </a:p>
                  </a:txBody>
                  <a:tcPr>
                    <a:solidFill>
                      <a:srgbClr val="FFFFFF"/>
                    </a:solidFill>
                  </a:tcPr>
                </a:tc>
                <a:tc>
                  <a:txBody>
                    <a:bodyPr/>
                    <a:lstStyle/>
                    <a:p>
                      <a:r>
                        <a:rPr sz="1600" b="0">
                          <a:solidFill>
                            <a:srgbClr val="1B1B1B"/>
                          </a:solidFill>
                          <a:latin typeface="Calibri"/>
                        </a:rPr>
                        <a:t>It's about five minutes. You can't miss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is there a bank near here? – Yes. Go straight ahead, turn right at the crossroads, and it's on your left, op…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street on the left and walk for about 200 metres.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*Turn to left*, *go straight* (without 'ahead/on'), *opposite of the bank*. The correct chunks are: turn LEFT, go straight AHEAD, OPPOSITE the bank.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Excuse me, is there a bank near here? – Yes. Go straight ahead, turn right at the crossroads, and it's on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and pausing in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direction words and pause between the steps: 'Go STRAIGHT ahead, / turn LEFT at the LIGHTS, / and it's on your RIGHT.'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 STRAIGHT ahead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turn LEFT / turn RIGHT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SECOND street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OPPosite the bank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Go straight ahead, / turn right at the roundabout, / and it's opposite the school.</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second street on your left. / It's next to the post office.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25: Watch 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being careful and staying safe. American English — VOA’s professional actors (Anna, Pete, Marsha, Ms. Weaver…), slowed learner delivery. It lasts 2:30.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things that are possible but not certain B. saying that two things are the same C. being careful and staying safe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looking for the bald eagle.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symbol are you looking for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29: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have time for games.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his lifetime, Thomas Jefferson wrote about 22,000 letters!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should be more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Dan: I know I should be more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25: _____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note for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Anna, Welcome to our town! I'm at school until 11.30, so here are the directions to my house. From the bus station, go out of the main gate and turn right. Walk along Le Loi Street for about 300 metres, past the big market on your left. At the traffic light, turn left into Tran Phu Street. Take the second small street on your right — it's called Ngo 15. My house is number 27, on the left, opposite a small blue café. There is a big mango tree in front of it, so you can't miss it. It takes about fifteen minutes on foot. If it is raining, take a taxi — it costs about 40,000 dong and takes five minutes. See you soon!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way does Anna turn out of the bus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she pass on her left?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does she turn left?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opposite Mai's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does it take on foot, and how much is a taxi?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map and 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bank is ______ the school. (other side of the 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café is ______ the bank and the post office.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bus stop is ______ the corner.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market is ______ the post office. (beside)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tree ______ the house. (before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   Turn   Take   past   opposite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straight ahead for 100 metres. (2) ______ left at the traffic light. (3) ______ the second street on your right. Walk (4) ______ the schoo…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Go straight.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opposite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Take second street on your right.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Walk pass the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U7.4-S1 and U7.4-S2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two instructions □ one landmark □ how long it takes □ thanks and reply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map. A asks the way to a place; B gives directions. Five places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Places: the post office, the market, the hospital, the bank, the bus 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partner directions from the school to your house. Your partner draws the route.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Then check: is the drawing correct?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 second street on your…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opposite / next 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Tourist and local: three different destinations. The tourist repeats the directions to check.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directions from your school to a place nearby (4–5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imperatives, one preposition of place, and how long it takes.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 Go / Turn / Take / Walk past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Prepositions: opposite, next to, between, on the corner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Polite asking and thanking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corner, opposite, next to, between, roundabout.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directions from your school to your house (5–6 sentences) for a visitor.</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giving your directions aloud three times, pausing between the steps.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