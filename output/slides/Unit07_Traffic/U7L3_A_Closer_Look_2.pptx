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3_1_B1-08-1-Have-to-Must-Obligation.mp3" TargetMode="External"/><Relationship Id="rId3" Type="http://schemas.openxmlformats.org/officeDocument/2006/relationships/hyperlink" Target="../../../audio/FU7L3_2_B1-08-2-Have-to-Must-Obligation.mp3" TargetMode="External"/><Relationship Id="rId4" Type="http://schemas.openxmlformats.org/officeDocument/2006/relationships/hyperlink" Target="../../../audio/FU7L3_3_B1-08-3-Have-to-Must-Obligation.mp3" TargetMode="External"/><Relationship Id="rId5" Type="http://schemas.openxmlformats.org/officeDocument/2006/relationships/hyperlink" Target="../../../audio/FU7L3_4_B1-08-4-Have-to-Must-Obligation.mp3" TargetMode="External"/><Relationship Id="rId6" Type="http://schemas.openxmlformats.org/officeDocument/2006/relationships/hyperlink" Target="https://elllo.org/book/B1/B1-08-Have-to-Must-Obligation..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3  ·  PERIOD 51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far is it? It takes… </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How far is it? and How long does it take?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'It is … from … to …' for distance and 'It takes … to …' for time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 / mustn't accurately in context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journeys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flash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Flash five sign cards; students produce a must/mustn't sentence for each. Recycles Lesson 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rule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distance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/ˈdɪstəns/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khoảng cách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distance is about five kilometres.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kilometre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/ˈkɪləmiːtə/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ki-lô-mét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twelve kilometres from here.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about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/əˈbaʊt/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khoảng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takes about twenty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nearly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/ˈnɪəli/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gần như</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nearly an hour by bus.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depend 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/dɪˈpend ɒn/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thuộc vào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depends on the traffic.</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rush hour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/ˈrʌʃ aʊə/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giờ cao điểm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Avoid the roads at rush hour.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from … to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about … kilometres.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about … minutes.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'It' for distance and time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How far is it from A to B? – It is (about) five kilometres.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How long does it take (to get) from A to B? – It takes (about) twenty minutes.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word 'IT' has no meaning here — it is an empty subject, like in 'It is raining'.</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can add the person: It takes ME twenty minutes. It takes HIM an hour.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Question</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How far is it from your house to school?</a:t>
                      </a:r>
                    </a:p>
                  </a:txBody>
                  <a:tcPr>
                    <a:solidFill>
                      <a:srgbClr val="E3F3EE"/>
                    </a:solidFill>
                  </a:tcPr>
                </a:tc>
                <a:tc>
                  <a:txBody>
                    <a:bodyPr/>
                    <a:lstStyle/>
                    <a:p>
                      <a:r>
                        <a:rPr sz="1600" b="0">
                          <a:solidFill>
                            <a:srgbClr val="1B1B1B"/>
                          </a:solidFill>
                          <a:latin typeface="Calibri"/>
                        </a:rPr>
                        <a:t>It's about two kilometres.</a:t>
                      </a:r>
                    </a:p>
                  </a:txBody>
                  <a:tcPr>
                    <a:solidFill>
                      <a:srgbClr val="E3F3EE"/>
                    </a:solidFill>
                  </a:tcPr>
                </a:tc>
              </a:tr>
              <a:tr h="566928">
                <a:tc>
                  <a:txBody>
                    <a:bodyPr/>
                    <a:lstStyle/>
                    <a:p>
                      <a:r>
                        <a:rPr sz="1600" b="0">
                          <a:solidFill>
                            <a:srgbClr val="1B1B1B"/>
                          </a:solidFill>
                          <a:latin typeface="Calibri"/>
                        </a:rPr>
                        <a:t>How long does it take?</a:t>
                      </a:r>
                    </a:p>
                  </a:txBody>
                  <a:tcPr>
                    <a:solidFill>
                      <a:srgbClr val="FFFFFF"/>
                    </a:solidFill>
                  </a:tcPr>
                </a:tc>
                <a:tc>
                  <a:txBody>
                    <a:bodyPr/>
                    <a:lstStyle/>
                    <a:p>
                      <a:r>
                        <a:rPr sz="1600" b="0">
                          <a:solidFill>
                            <a:srgbClr val="1B1B1B"/>
                          </a:solidFill>
                          <a:latin typeface="Calibri"/>
                        </a:rPr>
                        <a:t>It takes about ten minutes by bike.</a:t>
                      </a:r>
                    </a:p>
                  </a:txBody>
                  <a:tcPr>
                    <a:solidFill>
                      <a:srgbClr val="FFFFFF"/>
                    </a:solidFill>
                  </a:tcPr>
                </a:tc>
              </a:tr>
              <a:tr h="566928">
                <a:tc>
                  <a:txBody>
                    <a:bodyPr/>
                    <a:lstStyle/>
                    <a:p>
                      <a:r>
                        <a:rPr sz="1600" b="0">
                          <a:solidFill>
                            <a:srgbClr val="1B1B1B"/>
                          </a:solidFill>
                          <a:latin typeface="Calibri"/>
                        </a:rPr>
                        <a:t>How long does it take you?</a:t>
                      </a:r>
                    </a:p>
                  </a:txBody>
                  <a:tcPr>
                    <a:solidFill>
                      <a:srgbClr val="E3F3EE"/>
                    </a:solidFill>
                  </a:tcPr>
                </a:tc>
                <a:tc>
                  <a:txBody>
                    <a:bodyPr/>
                    <a:lstStyle/>
                    <a:p>
                      <a:r>
                        <a:rPr sz="1600" b="0">
                          <a:solidFill>
                            <a:srgbClr val="1B1B1B"/>
                          </a:solidFill>
                          <a:latin typeface="Calibri"/>
                        </a:rPr>
                        <a:t>It takes me fifteen minutes.</a:t>
                      </a:r>
                    </a:p>
                  </a:txBody>
                  <a:tcPr>
                    <a:solidFill>
                      <a:srgbClr val="E3F3EE"/>
                    </a:solidFill>
                  </a:tcPr>
                </a:tc>
              </a:tr>
              <a:tr h="566928">
                <a:tc>
                  <a:txBody>
                    <a:bodyPr/>
                    <a:lstStyle/>
                    <a:p>
                      <a:r>
                        <a:rPr sz="1600" b="0">
                          <a:solidFill>
                            <a:srgbClr val="1B1B1B"/>
                          </a:solidFill>
                          <a:latin typeface="Calibri"/>
                        </a:rPr>
                        <a:t>How far is your school from here?</a:t>
                      </a:r>
                    </a:p>
                  </a:txBody>
                  <a:tcPr>
                    <a:solidFill>
                      <a:srgbClr val="FFFFFF"/>
                    </a:solidFill>
                  </a:tcPr>
                </a:tc>
                <a:tc>
                  <a:txBody>
                    <a:bodyPr/>
                    <a:lstStyle/>
                    <a:p>
                      <a:r>
                        <a:rPr sz="1600" b="0">
                          <a:solidFill>
                            <a:srgbClr val="1B1B1B"/>
                          </a:solidFill>
                          <a:latin typeface="Calibri"/>
                        </a:rPr>
                        <a:t>It's not far — about 500 metres.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from Hanoi to Hai Phong? – It's about 100 kilometres.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 by train? – It takes nearly two hours.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my father forty minutes to get to work at rush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*How far from your house to school?* (the verb 'is' is missing); (2) *I take twenty minutes to go to school* — English says IT takes ME…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How far is it from Hanoi to Hai Phong? – It's about 100 kilometres.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'to' and 'from' in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'from your house to school', both 'from' /frəm/ and 'to' /tə/ are weak and quick. The stress is on HOUSE and SCHOOL.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from /frəm/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/tə/</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FAR is it from your HOUSE to SCHOOL?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TAKES me twenty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How far is it from here to the market?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takes about ten minutes to walk to the bus stop.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Have to and must — obligation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things people must do and things they do not have to do. Two speakers, scripted dialogue, native English. It lasts 3:20.</a:t>
            </a:r>
          </a:p>
        </p:txBody>
      </p:sp>
      <p:sp>
        <p:nvSpPr>
          <p:cNvPr id="10" name="TextBox 9"/>
          <p:cNvSpPr txBox="1"/>
          <p:nvPr/>
        </p:nvSpPr>
        <p:spPr>
          <a:xfrm>
            <a:off x="731520" y="3703320"/>
            <a:ext cx="10698480" cy="969264"/>
          </a:xfrm>
          <a:prstGeom prst="rect">
            <a:avLst/>
          </a:prstGeom>
          <a:noFill/>
        </p:spPr>
        <p:txBody>
          <a:bodyPr wrap="square" anchor="t">
            <a:spAutoFit/>
          </a:bodyPr>
          <a:lstStyle/>
          <a:p>
            <a:pPr algn="l">
              <a:lnSpc>
                <a:spcPct val="100000"/>
              </a:lnSpc>
              <a:spcAft>
                <a:spcPts val="600"/>
              </a:spcAft>
            </a:pPr>
            <a:r>
              <a:rPr sz="1600" b="0" i="0">
                <a:solidFill>
                  <a:srgbClr val="142C4F"/>
                </a:solidFill>
                <a:latin typeface="Calibri"/>
              </a:rPr>
              <a:t>🎧  Listen 1: just listen — do not write.</a:t>
            </a:r>
          </a:p>
          <a:p>
            <a:pPr algn="l">
              <a:lnSpc>
                <a:spcPct val="100000"/>
              </a:lnSpc>
              <a:spcAft>
                <a:spcPts val="600"/>
              </a:spcAft>
            </a:pPr>
            <a:r>
              <a:rPr sz="1600" b="0" i="0">
                <a:solidFill>
                  <a:srgbClr val="142C4F"/>
                </a:solidFill>
                <a:latin typeface="Calibri"/>
              </a:rPr>
              <a:t>🎧  Listen 2: write your answers.</a:t>
            </a:r>
          </a:p>
          <a:p>
            <a:pPr algn="l">
              <a:lnSpc>
                <a:spcPct val="100000"/>
              </a:lnSpc>
              <a:spcAft>
                <a:spcPts val="600"/>
              </a:spcAft>
            </a:pPr>
            <a:r>
              <a:rPr sz="1600" b="0" i="0">
                <a:solidFill>
                  <a:srgbClr val="142C4F"/>
                </a:solidFill>
                <a:latin typeface="Calibri"/>
              </a:rPr>
              <a:t>🎧  Listen 3: check with your partner.</a:t>
            </a:r>
          </a:p>
        </p:txBody>
      </p:sp>
      <p:sp>
        <p:nvSpPr>
          <p:cNvPr id="11" name="Rounded Rectangle 10"/>
          <p:cNvSpPr/>
          <p:nvPr/>
        </p:nvSpPr>
        <p:spPr>
          <a:xfrm>
            <a:off x="731520"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U7L3 part 1</a:t>
            </a:r>
          </a:p>
        </p:txBody>
      </p:sp>
      <p:sp>
        <p:nvSpPr>
          <p:cNvPr id="12" name="Rounded Rectangle 11"/>
          <p:cNvSpPr/>
          <p:nvPr/>
        </p:nvSpPr>
        <p:spPr>
          <a:xfrm>
            <a:off x="4334256"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U7L3 part 2</a:t>
            </a:r>
          </a:p>
        </p:txBody>
      </p:sp>
      <p:sp>
        <p:nvSpPr>
          <p:cNvPr id="13" name="Rounded Rectangle 12"/>
          <p:cNvSpPr/>
          <p:nvPr/>
        </p:nvSpPr>
        <p:spPr>
          <a:xfrm>
            <a:off x="7936992"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4"/>
              </a:rPr>
              <a:t>▶ U7L3 part 3</a:t>
            </a:r>
          </a:p>
        </p:txBody>
      </p:sp>
      <p:sp>
        <p:nvSpPr>
          <p:cNvPr id="14" name="Rounded Rectangle 13"/>
          <p:cNvSpPr/>
          <p:nvPr/>
        </p:nvSpPr>
        <p:spPr>
          <a:xfrm>
            <a:off x="731520" y="5321808"/>
            <a:ext cx="10698480"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5"/>
              </a:rPr>
              <a:t>▶ Play audio</a:t>
            </a:r>
          </a:p>
        </p:txBody>
      </p:sp>
      <p:sp>
        <p:nvSpPr>
          <p:cNvPr id="15" name="Rounded Rectangle 14"/>
          <p:cNvSpPr/>
          <p:nvPr/>
        </p:nvSpPr>
        <p:spPr>
          <a:xfrm>
            <a:off x="731520" y="5861304"/>
            <a:ext cx="10698480" cy="475488"/>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6"/>
              </a:rPr>
              <a:t>🌐 Listen online</a:t>
            </a:r>
          </a:p>
        </p:txBody>
      </p:sp>
      <p:sp>
        <p:nvSpPr>
          <p:cNvPr id="16" name="TextBox 15"/>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3:20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geography of one person's country B. things people must do and things they do not have to do C. what one person eats for breakfast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just have to go to the website and apply online.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Just five for now, so I have to be careful with them and not get them dirty.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my third season doing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Can you come over around 13?</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I’m working at a summer camp.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I _____ to work tonight.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At 7, but I _____ to leave early to beat the traffic.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Yeah, you _____ to get going.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 _____ to go grocery shopping, and I have to mail a few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I want to, but I _____ save money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Distances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Viet Nam is a long, narrow country: about 1,650 kilometres from north to south, but only 50 kilometres wide at the narrowest point. It is about 1,700 kilometres from Hanoi to Ho Chi Minh City by road. By plane it takes two hours; by the Reunification Express train it takes between 30 and 35 hours; and by motorbike, if you are brave, it takes about ten days. Shorter journeys are often slower than people expect. It is only 105 kilometres from Hanoi to Hai Phong, but at the weekend it can take three hours instead of two. 'Distance in Viet Nam is not measured in kilometres,' says a bus driver in Nam Dinh. 'It is measured in hours — and the hours change every 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is Viet Nam from north to south?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wide is it at the narrowest point?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the train take from Hanoi to Ho Chi Minh City?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is it from Hanoi to Hai Phong?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bus driver mean in the last sentence?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______ it from here to the market?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______ it take?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______ about three kilometres.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______ me twenty minutes by bike.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long ______ it take you to do your homework?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How far…? or How long…?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It's five kilometres.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It takes half an hour.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About twenty minutes by bus.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It's not far, only 500 metres.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from your house to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take twenty minutes to go to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it takes?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takes about five kilometres.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about twenty minutes by bike.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 must to wear a helmet.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U7.3-S2 and report your group's choice.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U7.3-S2 and report your group's choice.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about five places.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your house / the school / the market / the nearest hospital / the town centre / your grandparents' house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far is it from your house to the market? B: It's about one kilometre. A: How long does it take? B: It takes about ten minutes on foot.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groups of four, compare the three trips from the listening and agree on one. Give three reasons.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Language: 'It's nearer than…', 'It takes less time…', 'It's cheaper…', 'We think… because…'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travel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far?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 the traffic.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the best way to get there?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You'd better leave early.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visitor asking about three places in your town. B answers with distance, time and the best transport.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information.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house → school: 2 km, 10 min by 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school → hospital: 800 m, 5 min on foot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Hanoi → Hue: 700 km, 13 hours by train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 It is … km.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 – It takes … minutes.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 (recycled)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is, are, take or takes.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a question and an answer for each.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paragraph (60–70 words) about your journey to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question five times with weak 'from' and 'to': 'How far is it from your house to school?'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