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97280" y="4389120"/>
            <a:ext cx="6858000" cy="4114800"/>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778240" y="-1828800"/>
            <a:ext cx="5486400" cy="4572000"/>
          </a:xfrm>
          <a:prstGeom prst="ellipse">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371600"/>
            <a:ext cx="10515600" cy="548640"/>
          </a:xfrm>
          <a:prstGeom prst="rect">
            <a:avLst/>
          </a:prstGeom>
          <a:noFill/>
        </p:spPr>
        <p:txBody>
          <a:bodyPr wrap="square" anchor="t">
            <a:spAutoFit/>
          </a:bodyPr>
          <a:lstStyle/>
          <a:p>
            <a:pPr algn="l">
              <a:lnSpc>
                <a:spcPct val="100000"/>
              </a:lnSpc>
              <a:spcAft>
                <a:spcPts val="600"/>
              </a:spcAft>
            </a:pPr>
            <a:r>
              <a:rPr sz="2000" b="1" i="0">
                <a:solidFill>
                  <a:srgbClr val="FFFFFF"/>
                </a:solidFill>
                <a:latin typeface="Calibri"/>
              </a:rPr>
              <a:t>UNIT 7  ·  LESSON 3  ·  PERIOD 49</a:t>
            </a:r>
          </a:p>
        </p:txBody>
      </p:sp>
      <p:sp>
        <p:nvSpPr>
          <p:cNvPr id="7" name="TextBox 6"/>
          <p:cNvSpPr txBox="1"/>
          <p:nvPr/>
        </p:nvSpPr>
        <p:spPr>
          <a:xfrm>
            <a:off x="822960" y="2011680"/>
            <a:ext cx="10515600" cy="1463040"/>
          </a:xfrm>
          <a:prstGeom prst="rect">
            <a:avLst/>
          </a:prstGeom>
          <a:noFill/>
        </p:spPr>
        <p:txBody>
          <a:bodyPr wrap="square" anchor="t">
            <a:spAutoFit/>
          </a:bodyPr>
          <a:lstStyle/>
          <a:p>
            <a:pPr algn="l">
              <a:lnSpc>
                <a:spcPct val="100000"/>
              </a:lnSpc>
              <a:spcAft>
                <a:spcPts val="600"/>
              </a:spcAft>
            </a:pPr>
            <a:r>
              <a:rPr sz="3000" b="1" i="0">
                <a:solidFill>
                  <a:srgbClr val="E7F1FA"/>
                </a:solidFill>
                <a:latin typeface="Calibri"/>
              </a:rPr>
              <a:t>A CLOSER LOOK 2</a:t>
            </a:r>
          </a:p>
        </p:txBody>
      </p:sp>
      <p:sp>
        <p:nvSpPr>
          <p:cNvPr id="8" name="TextBox 7"/>
          <p:cNvSpPr txBox="1"/>
          <p:nvPr/>
        </p:nvSpPr>
        <p:spPr>
          <a:xfrm>
            <a:off x="822960" y="2926080"/>
            <a:ext cx="10515600" cy="2011680"/>
          </a:xfrm>
          <a:prstGeom prst="rect">
            <a:avLst/>
          </a:prstGeom>
          <a:noFill/>
        </p:spPr>
        <p:txBody>
          <a:bodyPr wrap="square" anchor="t">
            <a:spAutoFit/>
          </a:bodyPr>
          <a:lstStyle/>
          <a:p>
            <a:pPr algn="l">
              <a:lnSpc>
                <a:spcPct val="100000"/>
              </a:lnSpc>
              <a:spcAft>
                <a:spcPts val="600"/>
              </a:spcAft>
            </a:pPr>
            <a:r>
              <a:rPr sz="4400" b="1" i="0">
                <a:solidFill>
                  <a:srgbClr val="FFFFFF"/>
                </a:solidFill>
                <a:latin typeface="Calibri"/>
              </a:rPr>
              <a:t>How far is it? It takes… </a:t>
            </a:r>
          </a:p>
        </p:txBody>
      </p:sp>
      <p:sp>
        <p:nvSpPr>
          <p:cNvPr id="9" name="TextBox 8"/>
          <p:cNvSpPr txBox="1"/>
          <p:nvPr/>
        </p:nvSpPr>
        <p:spPr>
          <a:xfrm>
            <a:off x="822960" y="5303520"/>
            <a:ext cx="10515600" cy="731520"/>
          </a:xfrm>
          <a:prstGeom prst="rect">
            <a:avLst/>
          </a:prstGeom>
          <a:noFill/>
        </p:spPr>
        <p:txBody>
          <a:bodyPr wrap="square" anchor="t">
            <a:spAutoFit/>
          </a:bodyPr>
          <a:lstStyle/>
          <a:p>
            <a:pPr algn="l">
              <a:lnSpc>
                <a:spcPct val="100000"/>
              </a:lnSpc>
              <a:spcAft>
                <a:spcPts val="600"/>
              </a:spcAft>
            </a:pPr>
            <a:r>
              <a:rPr sz="2000" b="0" i="0">
                <a:solidFill>
                  <a:srgbClr val="E7F1FA"/>
                </a:solidFill>
                <a:latin typeface="Calibri"/>
              </a:rPr>
              <a:t>English 7  ·  Let's start!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Today we will learn to…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U7L3</a:t>
            </a:r>
          </a:p>
        </p:txBody>
      </p:sp>
      <p:sp>
        <p:nvSpPr>
          <p:cNvPr id="8" name="Rounded Rectangle 7"/>
          <p:cNvSpPr/>
          <p:nvPr/>
        </p:nvSpPr>
        <p:spPr>
          <a:xfrm>
            <a:off x="640080" y="1463040"/>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463040"/>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0120" y="1508760"/>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1</a:t>
            </a:r>
          </a:p>
        </p:txBody>
      </p:sp>
      <p:sp>
        <p:nvSpPr>
          <p:cNvPr id="11" name="TextBox 10"/>
          <p:cNvSpPr txBox="1"/>
          <p:nvPr/>
        </p:nvSpPr>
        <p:spPr>
          <a:xfrm>
            <a:off x="1737360" y="1508760"/>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ask and answer How far is it? and How long does it take?</a:t>
            </a:r>
          </a:p>
        </p:txBody>
      </p:sp>
      <p:sp>
        <p:nvSpPr>
          <p:cNvPr id="12" name="Rounded Rectangle 11"/>
          <p:cNvSpPr/>
          <p:nvPr/>
        </p:nvSpPr>
        <p:spPr>
          <a:xfrm>
            <a:off x="640080" y="2450592"/>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2450592"/>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0120" y="2496312"/>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2</a:t>
            </a:r>
          </a:p>
        </p:txBody>
      </p:sp>
      <p:sp>
        <p:nvSpPr>
          <p:cNvPr id="15" name="TextBox 14"/>
          <p:cNvSpPr txBox="1"/>
          <p:nvPr/>
        </p:nvSpPr>
        <p:spPr>
          <a:xfrm>
            <a:off x="1737360" y="2496312"/>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use 'It is … from … to …' for distance and 'It takes … to …' for time</a:t>
            </a:r>
          </a:p>
        </p:txBody>
      </p:sp>
      <p:sp>
        <p:nvSpPr>
          <p:cNvPr id="16" name="Rounded Rectangle 15"/>
          <p:cNvSpPr/>
          <p:nvPr/>
        </p:nvSpPr>
        <p:spPr>
          <a:xfrm>
            <a:off x="640080" y="3438144"/>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40080" y="3438144"/>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0120" y="3483864"/>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3</a:t>
            </a:r>
          </a:p>
        </p:txBody>
      </p:sp>
      <p:sp>
        <p:nvSpPr>
          <p:cNvPr id="19" name="TextBox 18"/>
          <p:cNvSpPr txBox="1"/>
          <p:nvPr/>
        </p:nvSpPr>
        <p:spPr>
          <a:xfrm>
            <a:off x="1737360" y="3483864"/>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use must / mustn't accurately in context</a:t>
            </a:r>
          </a:p>
        </p:txBody>
      </p:sp>
      <p:sp>
        <p:nvSpPr>
          <p:cNvPr id="20" name="Rounded Rectangle 19"/>
          <p:cNvSpPr/>
          <p:nvPr/>
        </p:nvSpPr>
        <p:spPr>
          <a:xfrm>
            <a:off x="640080" y="4425696"/>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40080" y="4425696"/>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0120" y="4471416"/>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4</a:t>
            </a:r>
          </a:p>
        </p:txBody>
      </p:sp>
      <p:sp>
        <p:nvSpPr>
          <p:cNvPr id="23" name="TextBox 22"/>
          <p:cNvSpPr txBox="1"/>
          <p:nvPr/>
        </p:nvSpPr>
        <p:spPr>
          <a:xfrm>
            <a:off x="1737360" y="4471416"/>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compare two journeys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Warm-up: Sign flash  (5')</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U7L3</a:t>
            </a:r>
          </a:p>
        </p:txBody>
      </p:sp>
      <p:sp>
        <p:nvSpPr>
          <p:cNvPr id="8" name="Rounded Rectangle 7"/>
          <p:cNvSpPr/>
          <p:nvPr/>
        </p:nvSpPr>
        <p:spPr>
          <a:xfrm>
            <a:off x="640080" y="1463040"/>
            <a:ext cx="10881360" cy="420624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73736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Flash five sign cards; students produce a must/mustn't sentence for each. Recycles Lesson 2.</a:t>
            </a:r>
          </a:p>
        </p:txBody>
      </p:sp>
      <p:sp>
        <p:nvSpPr>
          <p:cNvPr id="10" name="TextBox 9"/>
          <p:cNvSpPr txBox="1"/>
          <p:nvPr/>
        </p:nvSpPr>
        <p:spPr>
          <a:xfrm>
            <a:off x="1005840" y="5852160"/>
            <a:ext cx="10149840" cy="640080"/>
          </a:xfrm>
          <a:prstGeom prst="rect">
            <a:avLst/>
          </a:prstGeom>
          <a:noFill/>
        </p:spPr>
        <p:txBody>
          <a:bodyPr wrap="square" anchor="t">
            <a:spAutoFit/>
          </a:bodyPr>
          <a:lstStyle/>
          <a:p>
            <a:pPr algn="l">
              <a:lnSpc>
                <a:spcPct val="100000"/>
              </a:lnSpc>
              <a:spcAft>
                <a:spcPts val="600"/>
              </a:spcAft>
            </a:pPr>
            <a:r>
              <a:rPr sz="1800" b="0" i="1">
                <a:solidFill>
                  <a:srgbClr val="6B7280"/>
                </a:solidFill>
                <a:latin typeface="Calibri"/>
              </a:rPr>
              <a:t>👉 You: Produce rule sentences.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U7L3</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distance</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/ˈdɪstəns/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khoảng cách</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distance is about five kilometres.</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kilometre</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/ˈkɪləmiːtə/   (n)</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ki-lô-mét</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It's twelve kilometres from here.</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about</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/əˈbaʊt/   (adv)</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khoảng</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It takes about twenty minutes.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U7L3</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nearly</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/ˈnɪəli/   (adv)</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gần như</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It's nearly an hour by bus.</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depend on</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/dɪˈpend ɒn/   (v phr)</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phụ thuộc vào</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It depends on the traffic.</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rush hour</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/ˈrʌʃ aʊə/   (n)</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giờ cao điểm</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Avoid the roads at rush hour.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Useful phrases — learn them as one block!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U7L3</a:t>
            </a:r>
          </a:p>
        </p:txBody>
      </p:sp>
      <p:sp>
        <p:nvSpPr>
          <p:cNvPr id="8" name="Rounded Rectangle 7"/>
          <p:cNvSpPr/>
          <p:nvPr/>
        </p:nvSpPr>
        <p:spPr>
          <a:xfrm>
            <a:off x="822960" y="1554480"/>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609344"/>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How far is it from … to …?</a:t>
            </a:r>
          </a:p>
        </p:txBody>
      </p:sp>
      <p:sp>
        <p:nvSpPr>
          <p:cNvPr id="10" name="Rounded Rectangle 9"/>
          <p:cNvSpPr/>
          <p:nvPr/>
        </p:nvSpPr>
        <p:spPr>
          <a:xfrm>
            <a:off x="822960" y="2267712"/>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322576"/>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It's about … kilometres.</a:t>
            </a:r>
          </a:p>
        </p:txBody>
      </p:sp>
      <p:sp>
        <p:nvSpPr>
          <p:cNvPr id="12" name="Rounded Rectangle 11"/>
          <p:cNvSpPr/>
          <p:nvPr/>
        </p:nvSpPr>
        <p:spPr>
          <a:xfrm>
            <a:off x="822960" y="2980944"/>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35808"/>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How long does it take?</a:t>
            </a:r>
          </a:p>
        </p:txBody>
      </p:sp>
      <p:sp>
        <p:nvSpPr>
          <p:cNvPr id="14" name="Rounded Rectangle 13"/>
          <p:cNvSpPr/>
          <p:nvPr/>
        </p:nvSpPr>
        <p:spPr>
          <a:xfrm>
            <a:off x="822960" y="3694176"/>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49040"/>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 takes about … minutes.</a:t>
            </a:r>
          </a:p>
        </p:txBody>
      </p:sp>
      <p:sp>
        <p:nvSpPr>
          <p:cNvPr id="16" name="Rounded Rectangle 15"/>
          <p:cNvSpPr/>
          <p:nvPr/>
        </p:nvSpPr>
        <p:spPr>
          <a:xfrm>
            <a:off x="822960" y="4407408"/>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462272"/>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 depends 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Grammar: 'It' for distance and time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U7L3</a:t>
            </a:r>
          </a:p>
        </p:txBody>
      </p:sp>
      <p:sp>
        <p:nvSpPr>
          <p:cNvPr id="8" name="Rounded Rectangle 7"/>
          <p:cNvSpPr/>
          <p:nvPr/>
        </p:nvSpPr>
        <p:spPr>
          <a:xfrm>
            <a:off x="640080" y="1463040"/>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36192"/>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DISTANCE: How far is it from A to B? – It is (about) five kilometres.</a:t>
            </a:r>
          </a:p>
        </p:txBody>
      </p:sp>
      <p:sp>
        <p:nvSpPr>
          <p:cNvPr id="10" name="Rounded Rectangle 9"/>
          <p:cNvSpPr/>
          <p:nvPr/>
        </p:nvSpPr>
        <p:spPr>
          <a:xfrm>
            <a:off x="640080" y="2487168"/>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0120" y="2560320"/>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TIME: How long does it take (to get) from A to B? – It takes (about) twenty minutes.</a:t>
            </a:r>
          </a:p>
        </p:txBody>
      </p:sp>
      <p:sp>
        <p:nvSpPr>
          <p:cNvPr id="12" name="Rounded Rectangle 11"/>
          <p:cNvSpPr/>
          <p:nvPr/>
        </p:nvSpPr>
        <p:spPr>
          <a:xfrm>
            <a:off x="640080" y="3511296"/>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0120" y="3584448"/>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The word 'IT' has no meaning here — it is an empty subject, like in 'It is raining'.</a:t>
            </a:r>
          </a:p>
        </p:txBody>
      </p:sp>
      <p:sp>
        <p:nvSpPr>
          <p:cNvPr id="14" name="Rounded Rectangle 13"/>
          <p:cNvSpPr/>
          <p:nvPr/>
        </p:nvSpPr>
        <p:spPr>
          <a:xfrm>
            <a:off x="640080" y="4535424"/>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60120" y="4608576"/>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You can add the person: It takes ME twenty minutes. It takes HIM an hour.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The form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U7L3</a:t>
            </a:r>
          </a:p>
        </p:txBody>
      </p:sp>
      <p:graphicFrame>
        <p:nvGraphicFramePr>
          <p:cNvPr id="8" name="Table 7"/>
          <p:cNvGraphicFramePr>
            <a:graphicFrameLocks noGrp="1"/>
          </p:cNvGraphicFramePr>
          <p:nvPr/>
        </p:nvGraphicFramePr>
        <p:xfrm>
          <a:off x="548640" y="1463040"/>
          <a:ext cx="11064240" cy="2834640"/>
        </p:xfrm>
        <a:graphic>
          <a:graphicData uri="http://schemas.openxmlformats.org/drawingml/2006/table">
            <a:tbl>
              <a:tblPr firstRow="1" bandRow="1">
                <a:tableStyleId>{5C22544A-7EE6-4342-B048-85BDC9FD1C3A}</a:tableStyleId>
              </a:tblPr>
              <a:tblGrid>
                <a:gridCol w="5532120"/>
                <a:gridCol w="5532120"/>
              </a:tblGrid>
              <a:tr h="566928">
                <a:tc>
                  <a:txBody>
                    <a:bodyPr/>
                    <a:lstStyle/>
                    <a:p>
                      <a:r>
                        <a:rPr sz="1600" b="1">
                          <a:solidFill>
                            <a:srgbClr val="FFFFFF"/>
                          </a:solidFill>
                          <a:latin typeface="Calibri"/>
                        </a:rPr>
                        <a:t>Question</a:t>
                      </a:r>
                    </a:p>
                  </a:txBody>
                  <a:tcPr>
                    <a:solidFill>
                      <a:srgbClr val="0E7C66"/>
                    </a:solidFill>
                  </a:tcPr>
                </a:tc>
                <a:tc>
                  <a:txBody>
                    <a:bodyPr/>
                    <a:lstStyle/>
                    <a:p>
                      <a:r>
                        <a:rPr sz="1600" b="1">
                          <a:solidFill>
                            <a:srgbClr val="FFFFFF"/>
                          </a:solidFill>
                          <a:latin typeface="Calibri"/>
                        </a:rPr>
                        <a:t>Answer</a:t>
                      </a:r>
                    </a:p>
                  </a:txBody>
                  <a:tcPr>
                    <a:solidFill>
                      <a:srgbClr val="0E7C66"/>
                    </a:solidFill>
                  </a:tcPr>
                </a:tc>
              </a:tr>
              <a:tr h="566928">
                <a:tc>
                  <a:txBody>
                    <a:bodyPr/>
                    <a:lstStyle/>
                    <a:p>
                      <a:r>
                        <a:rPr sz="1600" b="0">
                          <a:solidFill>
                            <a:srgbClr val="1B1B1B"/>
                          </a:solidFill>
                          <a:latin typeface="Calibri"/>
                        </a:rPr>
                        <a:t>How far is it from your house to school?</a:t>
                      </a:r>
                    </a:p>
                  </a:txBody>
                  <a:tcPr>
                    <a:solidFill>
                      <a:srgbClr val="E3F3EE"/>
                    </a:solidFill>
                  </a:tcPr>
                </a:tc>
                <a:tc>
                  <a:txBody>
                    <a:bodyPr/>
                    <a:lstStyle/>
                    <a:p>
                      <a:r>
                        <a:rPr sz="1600" b="0">
                          <a:solidFill>
                            <a:srgbClr val="1B1B1B"/>
                          </a:solidFill>
                          <a:latin typeface="Calibri"/>
                        </a:rPr>
                        <a:t>It's about two kilometres.</a:t>
                      </a:r>
                    </a:p>
                  </a:txBody>
                  <a:tcPr>
                    <a:solidFill>
                      <a:srgbClr val="E3F3EE"/>
                    </a:solidFill>
                  </a:tcPr>
                </a:tc>
              </a:tr>
              <a:tr h="566928">
                <a:tc>
                  <a:txBody>
                    <a:bodyPr/>
                    <a:lstStyle/>
                    <a:p>
                      <a:r>
                        <a:rPr sz="1600" b="0">
                          <a:solidFill>
                            <a:srgbClr val="1B1B1B"/>
                          </a:solidFill>
                          <a:latin typeface="Calibri"/>
                        </a:rPr>
                        <a:t>How long does it take?</a:t>
                      </a:r>
                    </a:p>
                  </a:txBody>
                  <a:tcPr>
                    <a:solidFill>
                      <a:srgbClr val="FFFFFF"/>
                    </a:solidFill>
                  </a:tcPr>
                </a:tc>
                <a:tc>
                  <a:txBody>
                    <a:bodyPr/>
                    <a:lstStyle/>
                    <a:p>
                      <a:r>
                        <a:rPr sz="1600" b="0">
                          <a:solidFill>
                            <a:srgbClr val="1B1B1B"/>
                          </a:solidFill>
                          <a:latin typeface="Calibri"/>
                        </a:rPr>
                        <a:t>It takes about ten minutes by bike.</a:t>
                      </a:r>
                    </a:p>
                  </a:txBody>
                  <a:tcPr>
                    <a:solidFill>
                      <a:srgbClr val="FFFFFF"/>
                    </a:solidFill>
                  </a:tcPr>
                </a:tc>
              </a:tr>
              <a:tr h="566928">
                <a:tc>
                  <a:txBody>
                    <a:bodyPr/>
                    <a:lstStyle/>
                    <a:p>
                      <a:r>
                        <a:rPr sz="1600" b="0">
                          <a:solidFill>
                            <a:srgbClr val="1B1B1B"/>
                          </a:solidFill>
                          <a:latin typeface="Calibri"/>
                        </a:rPr>
                        <a:t>How long does it take you?</a:t>
                      </a:r>
                    </a:p>
                  </a:txBody>
                  <a:tcPr>
                    <a:solidFill>
                      <a:srgbClr val="E3F3EE"/>
                    </a:solidFill>
                  </a:tcPr>
                </a:tc>
                <a:tc>
                  <a:txBody>
                    <a:bodyPr/>
                    <a:lstStyle/>
                    <a:p>
                      <a:r>
                        <a:rPr sz="1600" b="0">
                          <a:solidFill>
                            <a:srgbClr val="1B1B1B"/>
                          </a:solidFill>
                          <a:latin typeface="Calibri"/>
                        </a:rPr>
                        <a:t>It takes me fifteen minutes.</a:t>
                      </a:r>
                    </a:p>
                  </a:txBody>
                  <a:tcPr>
                    <a:solidFill>
                      <a:srgbClr val="E3F3EE"/>
                    </a:solidFill>
                  </a:tcPr>
                </a:tc>
              </a:tr>
              <a:tr h="566928">
                <a:tc>
                  <a:txBody>
                    <a:bodyPr/>
                    <a:lstStyle/>
                    <a:p>
                      <a:r>
                        <a:rPr sz="1600" b="0">
                          <a:solidFill>
                            <a:srgbClr val="1B1B1B"/>
                          </a:solidFill>
                          <a:latin typeface="Calibri"/>
                        </a:rPr>
                        <a:t>How far is your school from here?</a:t>
                      </a:r>
                    </a:p>
                  </a:txBody>
                  <a:tcPr>
                    <a:solidFill>
                      <a:srgbClr val="FFFFFF"/>
                    </a:solidFill>
                  </a:tcPr>
                </a:tc>
                <a:tc>
                  <a:txBody>
                    <a:bodyPr/>
                    <a:lstStyle/>
                    <a:p>
                      <a:r>
                        <a:rPr sz="1600" b="0">
                          <a:solidFill>
                            <a:srgbClr val="1B1B1B"/>
                          </a:solidFill>
                          <a:latin typeface="Calibri"/>
                        </a:rPr>
                        <a:t>It's not far — about 500 metres.</a:t>
                      </a:r>
                    </a:p>
                  </a:txBody>
                  <a:tcPr>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Look at the examples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U7L3</a:t>
            </a:r>
          </a:p>
        </p:txBody>
      </p:sp>
      <p:sp>
        <p:nvSpPr>
          <p:cNvPr id="8" name="Rounded Rectangle 7"/>
          <p:cNvSpPr/>
          <p:nvPr/>
        </p:nvSpPr>
        <p:spPr>
          <a:xfrm>
            <a:off x="731520" y="1554480"/>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27632"/>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How far is it from Hanoi to Hai Phong? – It's about 100 kilometres.</a:t>
            </a:r>
          </a:p>
        </p:txBody>
      </p:sp>
      <p:sp>
        <p:nvSpPr>
          <p:cNvPr id="10" name="Rounded Rectangle 9"/>
          <p:cNvSpPr/>
          <p:nvPr/>
        </p:nvSpPr>
        <p:spPr>
          <a:xfrm>
            <a:off x="731520" y="2450592"/>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523744"/>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How long does it take by train? – It takes nearly two hours.</a:t>
            </a:r>
          </a:p>
        </p:txBody>
      </p:sp>
      <p:sp>
        <p:nvSpPr>
          <p:cNvPr id="12" name="Rounded Rectangle 11"/>
          <p:cNvSpPr/>
          <p:nvPr/>
        </p:nvSpPr>
        <p:spPr>
          <a:xfrm>
            <a:off x="731520" y="3346704"/>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419856"/>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 takes my father forty minutes to get to work at rush hour.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Be careful! A very common mistake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U7L3</a:t>
            </a:r>
          </a:p>
        </p:txBody>
      </p:sp>
      <p:sp>
        <p:nvSpPr>
          <p:cNvPr id="8" name="Rounded Rectangle 7"/>
          <p:cNvSpPr/>
          <p:nvPr/>
        </p:nvSpPr>
        <p:spPr>
          <a:xfrm>
            <a:off x="731520" y="1645920"/>
            <a:ext cx="10698480" cy="23774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828800"/>
            <a:ext cx="10058400" cy="2011680"/>
          </a:xfrm>
          <a:prstGeom prst="rect">
            <a:avLst/>
          </a:prstGeom>
          <a:noFill/>
        </p:spPr>
        <p:txBody>
          <a:bodyPr wrap="square" anchor="t">
            <a:spAutoFit/>
          </a:bodyPr>
          <a:lstStyle/>
          <a:p>
            <a:pPr algn="l">
              <a:lnSpc>
                <a:spcPct val="100000"/>
              </a:lnSpc>
              <a:spcAft>
                <a:spcPts val="600"/>
              </a:spcAft>
            </a:pPr>
            <a:r>
              <a:rPr sz="2100" b="0" i="0">
                <a:solidFill>
                  <a:srgbClr val="1B1B1B"/>
                </a:solidFill>
                <a:latin typeface="Calibri"/>
              </a:rPr>
              <a:t>Two errors: (1) *How far from your house to school?* (the verb 'is' is missing); (2) *I take twenty minutes to go to school* — English says IT takes ME…</a:t>
            </a:r>
          </a:p>
        </p:txBody>
      </p:sp>
      <p:sp>
        <p:nvSpPr>
          <p:cNvPr id="10" name="TextBox 9"/>
          <p:cNvSpPr txBox="1"/>
          <p:nvPr/>
        </p:nvSpPr>
        <p:spPr>
          <a:xfrm>
            <a:off x="1097280" y="4389120"/>
            <a:ext cx="10058400" cy="1280160"/>
          </a:xfrm>
          <a:prstGeom prst="rect">
            <a:avLst/>
          </a:prstGeom>
          <a:noFill/>
        </p:spPr>
        <p:txBody>
          <a:bodyPr wrap="square" anchor="t">
            <a:spAutoFit/>
          </a:bodyPr>
          <a:lstStyle/>
          <a:p>
            <a:pPr algn="l">
              <a:lnSpc>
                <a:spcPct val="100000"/>
              </a:lnSpc>
              <a:spcAft>
                <a:spcPts val="600"/>
              </a:spcAft>
            </a:pPr>
            <a:r>
              <a:rPr sz="2200" b="1" i="0">
                <a:solidFill>
                  <a:srgbClr val="2E7D32"/>
                </a:solidFill>
                <a:latin typeface="Calibri"/>
              </a:rPr>
              <a:t>👍 Say it like this:  How far is it from Hanoi to Hai Phong? – It's about 100 kilometres.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Pronunciation: Weak 'to' and 'from' in questions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U7L3</a:t>
            </a:r>
          </a:p>
        </p:txBody>
      </p:sp>
      <p:sp>
        <p:nvSpPr>
          <p:cNvPr id="8" name="Rounded Rectangle 7"/>
          <p:cNvSpPr/>
          <p:nvPr/>
        </p:nvSpPr>
        <p:spPr>
          <a:xfrm>
            <a:off x="640080" y="1417320"/>
            <a:ext cx="10881360" cy="123444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08760"/>
            <a:ext cx="10332720" cy="1097280"/>
          </a:xfrm>
          <a:prstGeom prst="rect">
            <a:avLst/>
          </a:prstGeom>
          <a:noFill/>
        </p:spPr>
        <p:txBody>
          <a:bodyPr wrap="square" anchor="ctr">
            <a:spAutoFit/>
          </a:bodyPr>
          <a:lstStyle/>
          <a:p>
            <a:pPr algn="l">
              <a:lnSpc>
                <a:spcPct val="100000"/>
              </a:lnSpc>
              <a:spcAft>
                <a:spcPts val="600"/>
              </a:spcAft>
            </a:pPr>
            <a:r>
              <a:rPr sz="1800" b="0" i="0">
                <a:solidFill>
                  <a:srgbClr val="1B1B1B"/>
                </a:solidFill>
                <a:latin typeface="Calibri"/>
              </a:rPr>
              <a:t>In 'from your house to school', both 'from' /frəm/ and 'to' /tə/ are weak and quick. The stress is on HOUSE and SCHOOL.</a:t>
            </a:r>
          </a:p>
        </p:txBody>
      </p:sp>
      <p:sp>
        <p:nvSpPr>
          <p:cNvPr id="10" name="Rounded Rectangle 9"/>
          <p:cNvSpPr/>
          <p:nvPr/>
        </p:nvSpPr>
        <p:spPr>
          <a:xfrm>
            <a:off x="731520" y="2880360"/>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2926080"/>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from /frəm/</a:t>
            </a:r>
          </a:p>
        </p:txBody>
      </p:sp>
      <p:sp>
        <p:nvSpPr>
          <p:cNvPr id="12" name="Rounded Rectangle 11"/>
          <p:cNvSpPr/>
          <p:nvPr/>
        </p:nvSpPr>
        <p:spPr>
          <a:xfrm>
            <a:off x="731520" y="3593592"/>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3639312"/>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to /tə/</a:t>
            </a:r>
          </a:p>
        </p:txBody>
      </p:sp>
      <p:sp>
        <p:nvSpPr>
          <p:cNvPr id="14" name="Rounded Rectangle 13"/>
          <p:cNvSpPr/>
          <p:nvPr/>
        </p:nvSpPr>
        <p:spPr>
          <a:xfrm>
            <a:off x="731520" y="4306824"/>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4352544"/>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How FAR is it from your HOUSE to SCHOOL?</a:t>
            </a:r>
          </a:p>
        </p:txBody>
      </p:sp>
      <p:sp>
        <p:nvSpPr>
          <p:cNvPr id="16" name="Rounded Rectangle 15"/>
          <p:cNvSpPr/>
          <p:nvPr/>
        </p:nvSpPr>
        <p:spPr>
          <a:xfrm>
            <a:off x="731520" y="5020056"/>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05840" y="5065776"/>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It TAKES me twenty MINutes.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Repeat after me — three times each!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U7L3</a:t>
            </a:r>
          </a:p>
        </p:txBody>
      </p:sp>
      <p:sp>
        <p:nvSpPr>
          <p:cNvPr id="8" name="Rounded Rectangle 7"/>
          <p:cNvSpPr/>
          <p:nvPr/>
        </p:nvSpPr>
        <p:spPr>
          <a:xfrm>
            <a:off x="731520" y="173736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82880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How far is it from here to the market?</a:t>
            </a:r>
          </a:p>
        </p:txBody>
      </p:sp>
      <p:sp>
        <p:nvSpPr>
          <p:cNvPr id="10" name="Rounded Rectangle 9"/>
          <p:cNvSpPr/>
          <p:nvPr/>
        </p:nvSpPr>
        <p:spPr>
          <a:xfrm>
            <a:off x="731520" y="278892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88036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It takes about ten minutes to walk to the bus stop.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Have to and must — obligation</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U7L3</a:t>
            </a:r>
          </a:p>
        </p:txBody>
      </p:sp>
      <p:sp>
        <p:nvSpPr>
          <p:cNvPr id="8" name="Rounded Rectangle 7"/>
          <p:cNvSpPr/>
          <p:nvPr/>
        </p:nvSpPr>
        <p:spPr>
          <a:xfrm>
            <a:off x="731520" y="1737360"/>
            <a:ext cx="10698480" cy="182880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155448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You will hear a real recording: things people must do and things they do not have to do. Two speakers, scripted dialogue, native English. It lasts 3:20.</a:t>
            </a:r>
          </a:p>
        </p:txBody>
      </p:sp>
      <p:sp>
        <p:nvSpPr>
          <p:cNvPr id="10" name="TextBox 9"/>
          <p:cNvSpPr txBox="1"/>
          <p:nvPr/>
        </p:nvSpPr>
        <p:spPr>
          <a:xfrm>
            <a:off x="731520" y="4023360"/>
            <a:ext cx="10698480" cy="1463040"/>
          </a:xfrm>
          <a:prstGeom prst="rect">
            <a:avLst/>
          </a:prstGeom>
          <a:noFill/>
        </p:spPr>
        <p:txBody>
          <a:bodyPr wrap="square" anchor="t">
            <a:spAutoFit/>
          </a:bodyPr>
          <a:lstStyle/>
          <a:p>
            <a:pPr algn="l">
              <a:lnSpc>
                <a:spcPct val="100000"/>
              </a:lnSpc>
              <a:spcAft>
                <a:spcPts val="600"/>
              </a:spcAft>
            </a:pPr>
            <a:r>
              <a:rPr sz="2000" b="0" i="0">
                <a:solidFill>
                  <a:srgbClr val="142C4F"/>
                </a:solidFill>
                <a:latin typeface="Calibri"/>
              </a:rPr>
              <a:t>🎧  Listen 1: just listen — do not write.</a:t>
            </a:r>
          </a:p>
          <a:p>
            <a:pPr algn="l">
              <a:lnSpc>
                <a:spcPct val="100000"/>
              </a:lnSpc>
              <a:spcAft>
                <a:spcPts val="600"/>
              </a:spcAft>
            </a:pPr>
            <a:r>
              <a:rPr sz="2000" b="0" i="0">
                <a:solidFill>
                  <a:srgbClr val="142C4F"/>
                </a:solidFill>
                <a:latin typeface="Calibri"/>
              </a:rPr>
              <a:t>🎧  Listen 2: write your answers.</a:t>
            </a:r>
          </a:p>
          <a:p>
            <a:pPr algn="l">
              <a:lnSpc>
                <a:spcPct val="100000"/>
              </a:lnSpc>
              <a:spcAft>
                <a:spcPts val="600"/>
              </a:spcAft>
            </a:pPr>
            <a:r>
              <a:rPr sz="2000" b="0" i="0">
                <a:solidFill>
                  <a:srgbClr val="142C4F"/>
                </a:solidFill>
                <a:latin typeface="Calibri"/>
              </a:rPr>
              <a:t>🎧  Listen 3: check with your partner.</a:t>
            </a:r>
          </a:p>
        </p:txBody>
      </p:sp>
      <p:sp>
        <p:nvSpPr>
          <p:cNvPr id="11" name="TextBox 10"/>
          <p:cNvSpPr txBox="1"/>
          <p:nvPr/>
        </p:nvSpPr>
        <p:spPr>
          <a:xfrm>
            <a:off x="731520" y="5577840"/>
            <a:ext cx="10698480" cy="822960"/>
          </a:xfrm>
          <a:prstGeom prst="rect">
            <a:avLst/>
          </a:prstGeom>
          <a:noFill/>
        </p:spPr>
        <p:txBody>
          <a:bodyPr wrap="square" anchor="t">
            <a:spAutoFit/>
          </a:bodyPr>
          <a:lstStyle/>
          <a:p>
            <a:pPr algn="l">
              <a:lnSpc>
                <a:spcPct val="100000"/>
              </a:lnSpc>
              <a:spcAft>
                <a:spcPts val="600"/>
              </a:spcAft>
            </a:pPr>
            <a:r>
              <a:rPr sz="1200" b="0" i="0">
                <a:solidFill>
                  <a:srgbClr val="6B7280"/>
                </a:solidFill>
                <a:latin typeface="Calibri"/>
              </a:rPr>
              <a:t>ELLLO — Sound Grammar · 3:20 · Two speakers, scripted dialogue, native English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U7.3-L1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Choose the best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is the recording mainly about?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the geography of one person's country B. things people must do and things they do not have to do C. what one person eats for breakfast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U7.3-L2</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again. Write T (true) or F (false).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You just have to go to the website and apply online.</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Just five for now, so I have to be careful with them and not get them dirty.</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This is my third season doing it.</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Can you come over around 13?</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I’m working at a summer camp.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U7.3-L3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more and write the missing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Man: I _____ to work tonight.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Man: At 7, but I _____ to leave early to beat the traffic.</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Woman: Yeah, you _____ to get going.</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Woman: I _____ to go grocery shopping, and I have to mail a few things.</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Man: I want to, but I _____ save money first.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Distances in Viet Nam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U7L3</a:t>
            </a:r>
          </a:p>
        </p:txBody>
      </p:sp>
      <p:sp>
        <p:nvSpPr>
          <p:cNvPr id="8" name="Rounded Rectangle 7"/>
          <p:cNvSpPr/>
          <p:nvPr/>
        </p:nvSpPr>
        <p:spPr>
          <a:xfrm>
            <a:off x="640080" y="1371600"/>
            <a:ext cx="10881360" cy="484632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54480"/>
            <a:ext cx="10332720" cy="4480560"/>
          </a:xfrm>
          <a:prstGeom prst="rect">
            <a:avLst/>
          </a:prstGeom>
          <a:noFill/>
        </p:spPr>
        <p:txBody>
          <a:bodyPr wrap="square" anchor="t">
            <a:spAutoFit/>
          </a:bodyPr>
          <a:lstStyle/>
          <a:p>
            <a:pPr algn="l">
              <a:lnSpc>
                <a:spcPct val="115000"/>
              </a:lnSpc>
              <a:spcAft>
                <a:spcPts val="600"/>
              </a:spcAft>
            </a:pPr>
            <a:r>
              <a:rPr sz="1500" b="0" i="0">
                <a:solidFill>
                  <a:srgbClr val="1B1B1B"/>
                </a:solidFill>
                <a:latin typeface="Calibri"/>
              </a:rPr>
              <a:t>Viet Nam is a long, narrow country: about 1,650 kilometres from north to south, but only 50 kilometres wide at the narrowest point. It is about 1,700 kilometres from Hanoi to Ho Chi Minh City by road. By plane it takes two hours; by the Reunification Express train it takes between 30 and 35 hours; and by motorbike, if you are brave, it takes about ten days. Shorter journeys are often slower than people expect. It is only 105 kilometres from Hanoi to Hai Phong, but at the weekend it can take three hours instead of two. 'Distance in Viet Nam is not measured in kilometres,' says a bus driver in Nam Dinh. 'It is measured in hours — and the hours change every day.'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U7.3-R1</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the questions.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How long is Viet Nam from north to south?</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How wide is it at the narrowest point?</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How long does the train take from Hanoi to Ho Chi Minh City?</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How far is it from Hanoi to Hai Phong?</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What does the bus driver mean in the last sentence?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U7.3-G1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the sentences.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How far ______ it from here to the market?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How long ______ it take?</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It ______ about three kilometres.</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It ______ me twenty minutes by bike.</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How long ______ it take you to do your homework?</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U7.3-G2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How far…? or How long…?</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______ ? – It's five kilometres.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______ ? – It takes half an hour.</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______ ? – About twenty minutes by bus.</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______ ? – It's not far, only 500 metres.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U7.3-I1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Correct one mistake in each sentence.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How far from your house to school?</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I take twenty minutes to go to school.</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How long does it takes?</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It takes about five kilometres.</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It is about twenty minutes by bike.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U7.3-I1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Correct one mistake in each sentence.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You must to wear a helmet.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U7.3-I2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Do U7.3-S2 and report your group's choice.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U7.3-I2</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Do U7.3-S2 and report your group's choice.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U7.3-S1</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Ask your partner about five places.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your house / the school / the market / the nearest hospital / the town centre / your grandparents' house</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How far is it from your house to the market? B: It's about one kilometre. A: How long does it take? B: It takes about ten minutes on foot.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U7.3-S2</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In groups of four, compare the three trips from the listening and agree on one. Give three reasons.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Language: 'It's nearer than…', 'It takes less time…', 'It's cheaper…', 'We think… because…'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Real-life English: Asking for travel information</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U7L3</a:t>
            </a:r>
          </a:p>
        </p:txBody>
      </p:sp>
      <p:sp>
        <p:nvSpPr>
          <p:cNvPr id="8" name="Rounded Rectangle 7"/>
          <p:cNvSpPr/>
          <p:nvPr/>
        </p:nvSpPr>
        <p:spPr>
          <a:xfrm>
            <a:off x="822960" y="146304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50876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How far is it to…?</a:t>
            </a:r>
          </a:p>
        </p:txBody>
      </p:sp>
      <p:sp>
        <p:nvSpPr>
          <p:cNvPr id="10" name="Rounded Rectangle 9"/>
          <p:cNvSpPr/>
          <p:nvPr/>
        </p:nvSpPr>
        <p:spPr>
          <a:xfrm>
            <a:off x="822960" y="2212848"/>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258568"/>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How long does it take?</a:t>
            </a:r>
          </a:p>
        </p:txBody>
      </p:sp>
      <p:sp>
        <p:nvSpPr>
          <p:cNvPr id="12" name="Rounded Rectangle 11"/>
          <p:cNvSpPr/>
          <p:nvPr/>
        </p:nvSpPr>
        <p:spPr>
          <a:xfrm>
            <a:off x="822960" y="2962656"/>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08376"/>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Is it far?</a:t>
            </a:r>
          </a:p>
        </p:txBody>
      </p:sp>
      <p:sp>
        <p:nvSpPr>
          <p:cNvPr id="14" name="Rounded Rectangle 13"/>
          <p:cNvSpPr/>
          <p:nvPr/>
        </p:nvSpPr>
        <p:spPr>
          <a:xfrm>
            <a:off x="822960" y="3712464"/>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58184"/>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 depends on the traffic.</a:t>
            </a:r>
          </a:p>
        </p:txBody>
      </p:sp>
      <p:sp>
        <p:nvSpPr>
          <p:cNvPr id="16" name="Rounded Rectangle 15"/>
          <p:cNvSpPr/>
          <p:nvPr/>
        </p:nvSpPr>
        <p:spPr>
          <a:xfrm>
            <a:off x="822960" y="4462272"/>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507992"/>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What's the best way to get there?</a:t>
            </a:r>
          </a:p>
        </p:txBody>
      </p:sp>
      <p:sp>
        <p:nvSpPr>
          <p:cNvPr id="18" name="Rounded Rectangle 17"/>
          <p:cNvSpPr/>
          <p:nvPr/>
        </p:nvSpPr>
        <p:spPr>
          <a:xfrm>
            <a:off x="822960" y="521208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097280" y="525780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You'd better leave early.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Role play — in pairs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U7L3</a:t>
            </a:r>
          </a:p>
        </p:txBody>
      </p:sp>
      <p:sp>
        <p:nvSpPr>
          <p:cNvPr id="8" name="Rounded Rectangle 7"/>
          <p:cNvSpPr/>
          <p:nvPr/>
        </p:nvSpPr>
        <p:spPr>
          <a:xfrm>
            <a:off x="731520" y="1737360"/>
            <a:ext cx="10698480" cy="256032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219456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A is a visitor asking about three places in your town. B answers with distance, time and the best transport.</a:t>
            </a:r>
          </a:p>
        </p:txBody>
      </p:sp>
      <p:sp>
        <p:nvSpPr>
          <p:cNvPr id="10" name="TextBox 9"/>
          <p:cNvSpPr txBox="1"/>
          <p:nvPr/>
        </p:nvSpPr>
        <p:spPr>
          <a:xfrm>
            <a:off x="822960" y="4663440"/>
            <a:ext cx="10515600" cy="1280160"/>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 2 minutes to prepare  ·  2 minutes to perform  ·  then swap roles</a:t>
            </a:r>
          </a:p>
          <a:p>
            <a:pPr algn="l">
              <a:lnSpc>
                <a:spcPct val="100000"/>
              </a:lnSpc>
              <a:spcAft>
                <a:spcPts val="600"/>
              </a:spcAft>
            </a:pPr>
            <a:r>
              <a:rPr sz="1900" b="1" i="0">
                <a:solidFill>
                  <a:srgbClr val="142C4F"/>
                </a:solidFill>
                <a:latin typeface="Calibri"/>
              </a:rPr>
              <a:t>Do not read! Look at your partner.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U7.3-W1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Use the information.</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house → school: 2 km, 10 min by bike</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school → hospital: 800 m, 5 min on foot</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Hanoi → Hue: 700 km, 13 hours by train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Let's remember today's English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U7L3</a:t>
            </a:r>
          </a:p>
        </p:txBody>
      </p:sp>
      <p:sp>
        <p:nvSpPr>
          <p:cNvPr id="8" name="Rounded Rectangle 7"/>
          <p:cNvSpPr/>
          <p:nvPr/>
        </p:nvSpPr>
        <p:spPr>
          <a:xfrm>
            <a:off x="731520" y="160020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7335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How far is it…? – It is … km.</a:t>
            </a:r>
          </a:p>
        </p:txBody>
      </p:sp>
      <p:sp>
        <p:nvSpPr>
          <p:cNvPr id="10" name="Rounded Rectangle 9"/>
          <p:cNvSpPr/>
          <p:nvPr/>
        </p:nvSpPr>
        <p:spPr>
          <a:xfrm>
            <a:off x="731520" y="256032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63347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How long does it take…? – It takes … minutes.</a:t>
            </a:r>
          </a:p>
        </p:txBody>
      </p:sp>
      <p:sp>
        <p:nvSpPr>
          <p:cNvPr id="12" name="Rounded Rectangle 11"/>
          <p:cNvSpPr/>
          <p:nvPr/>
        </p:nvSpPr>
        <p:spPr>
          <a:xfrm>
            <a:off x="731520" y="352044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59359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must / mustn't (recycled)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Homework — write it in your notebook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U7L3</a:t>
            </a:r>
          </a:p>
        </p:txBody>
      </p:sp>
      <p:sp>
        <p:nvSpPr>
          <p:cNvPr id="8" name="Rounded Rectangle 7"/>
          <p:cNvSpPr/>
          <p:nvPr/>
        </p:nvSpPr>
        <p:spPr>
          <a:xfrm>
            <a:off x="731520" y="1554480"/>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609344"/>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U7.3-H1</a:t>
            </a:r>
          </a:p>
        </p:txBody>
      </p:sp>
      <p:sp>
        <p:nvSpPr>
          <p:cNvPr id="10" name="TextBox 9"/>
          <p:cNvSpPr txBox="1"/>
          <p:nvPr/>
        </p:nvSpPr>
        <p:spPr>
          <a:xfrm>
            <a:off x="2743200" y="1609344"/>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Grammar — Complete with is, are, take or takes.</a:t>
            </a:r>
          </a:p>
        </p:txBody>
      </p:sp>
      <p:sp>
        <p:nvSpPr>
          <p:cNvPr id="11" name="Rounded Rectangle 10"/>
          <p:cNvSpPr/>
          <p:nvPr/>
        </p:nvSpPr>
        <p:spPr>
          <a:xfrm>
            <a:off x="731520" y="2523744"/>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2578608"/>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U7.3-H2</a:t>
            </a:r>
          </a:p>
        </p:txBody>
      </p:sp>
      <p:sp>
        <p:nvSpPr>
          <p:cNvPr id="13" name="TextBox 12"/>
          <p:cNvSpPr txBox="1"/>
          <p:nvPr/>
        </p:nvSpPr>
        <p:spPr>
          <a:xfrm>
            <a:off x="2743200" y="2578608"/>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Grammar — Write a question and an answer for each.</a:t>
            </a:r>
          </a:p>
        </p:txBody>
      </p:sp>
      <p:sp>
        <p:nvSpPr>
          <p:cNvPr id="14" name="Rounded Rectangle 13"/>
          <p:cNvSpPr/>
          <p:nvPr/>
        </p:nvSpPr>
        <p:spPr>
          <a:xfrm>
            <a:off x="731520" y="3493008"/>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3547872"/>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U7.3-H3</a:t>
            </a:r>
          </a:p>
        </p:txBody>
      </p:sp>
      <p:sp>
        <p:nvSpPr>
          <p:cNvPr id="16" name="TextBox 15"/>
          <p:cNvSpPr txBox="1"/>
          <p:nvPr/>
        </p:nvSpPr>
        <p:spPr>
          <a:xfrm>
            <a:off x="2743200" y="3547872"/>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Writing — Write a paragraph (60–70 words) about your journey to school.</a:t>
            </a:r>
          </a:p>
        </p:txBody>
      </p:sp>
      <p:sp>
        <p:nvSpPr>
          <p:cNvPr id="17" name="Rounded Rectangle 16"/>
          <p:cNvSpPr/>
          <p:nvPr/>
        </p:nvSpPr>
        <p:spPr>
          <a:xfrm>
            <a:off x="731520" y="4462272"/>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4517136"/>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U7.3-H4</a:t>
            </a:r>
          </a:p>
        </p:txBody>
      </p:sp>
      <p:sp>
        <p:nvSpPr>
          <p:cNvPr id="19" name="TextBox 18"/>
          <p:cNvSpPr txBox="1"/>
          <p:nvPr/>
        </p:nvSpPr>
        <p:spPr>
          <a:xfrm>
            <a:off x="2743200" y="4517136"/>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Pronunciation — Say the question five times with weak 'from' and 'to': 'How far is it from your house to school?'</a:t>
            </a:r>
          </a:p>
        </p:txBody>
      </p:sp>
      <p:sp>
        <p:nvSpPr>
          <p:cNvPr id="20" name="TextBox 19"/>
          <p:cNvSpPr txBox="1"/>
          <p:nvPr/>
        </p:nvSpPr>
        <p:spPr>
          <a:xfrm>
            <a:off x="731520" y="5989320"/>
            <a:ext cx="10698480" cy="640080"/>
          </a:xfrm>
          <a:prstGeom prst="rect">
            <a:avLst/>
          </a:prstGeom>
          <a:noFill/>
        </p:spPr>
        <p:txBody>
          <a:bodyPr wrap="square" anchor="t">
            <a:spAutoFit/>
          </a:bodyPr>
          <a:lstStyle/>
          <a:p>
            <a:pPr algn="ctr">
              <a:lnSpc>
                <a:spcPct val="100000"/>
              </a:lnSpc>
              <a:spcAft>
                <a:spcPts val="600"/>
              </a:spcAft>
            </a:pPr>
            <a:r>
              <a:rPr sz="1800" b="0" i="0">
                <a:solidFill>
                  <a:srgbClr val="6B7280"/>
                </a:solidFill>
                <a:latin typeface="Calibri"/>
              </a:rPr>
              <a:t>Homework Book, section U7L3   ·   See you next lesson!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