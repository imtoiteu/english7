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7  ·  LESSON 3  ·  PERIOD 51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How far is it? It takes… </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and answer How far is it? and How long does it take?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'It is … from … to …' for distance and 'It takes … to …' for time</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must / mustn't accurately in context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compare two journeys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Sign flash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Flash five sign cards; students produce a must/mustn't sentence for each. Recycles Lesson 2.</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rule sentences.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distance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/ˈdɪstəns/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khoảng cách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distance is about five kilometres.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kilometre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/ˈkɪləmiːtə/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ki-lô-mét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It's twelve kilometres from here.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about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/əˈbaʊt/   (adv)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khoảng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takes about twenty minutes.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nearly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/ˈnɪəli/   (adv)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gần như</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It's nearly an hour by bus.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depend on</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/dɪˈpend ɒn/   (v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phụ thuộc vào</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depends on the traffic.</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rush hour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/ˈrʌʃ aʊə/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giờ cao điểm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Avoid the roads at rush hour.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far is it from … to …?</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about … kilometres.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does it take?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about … minutes.</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depends 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'It' for distance and time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DISTANCE: How far is it from A to B? – It is (about) five kilometres.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TIME: How long does it take (to get) from A to B? – It takes (about) twenty minutes.</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word 'IT' has no meaning here — it is an empty subject, like in 'It is raining'.</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You can add the person: It takes ME twenty minutes. It takes HIM an hour.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Question</a:t>
                      </a:r>
                    </a:p>
                  </a:txBody>
                  <a:tcPr>
                    <a:solidFill>
                      <a:srgbClr val="0E7C66"/>
                    </a:solidFill>
                  </a:tcPr>
                </a:tc>
                <a:tc>
                  <a:txBody>
                    <a:bodyPr/>
                    <a:lstStyle/>
                    <a:p>
                      <a:r>
                        <a:rPr sz="1600" b="1">
                          <a:solidFill>
                            <a:srgbClr val="FFFFFF"/>
                          </a:solidFill>
                          <a:latin typeface="Calibri"/>
                        </a:rPr>
                        <a:t>Answer</a:t>
                      </a:r>
                    </a:p>
                  </a:txBody>
                  <a:tcPr>
                    <a:solidFill>
                      <a:srgbClr val="0E7C66"/>
                    </a:solidFill>
                  </a:tcPr>
                </a:tc>
              </a:tr>
              <a:tr h="566928">
                <a:tc>
                  <a:txBody>
                    <a:bodyPr/>
                    <a:lstStyle/>
                    <a:p>
                      <a:r>
                        <a:rPr sz="1600" b="0">
                          <a:solidFill>
                            <a:srgbClr val="1B1B1B"/>
                          </a:solidFill>
                          <a:latin typeface="Calibri"/>
                        </a:rPr>
                        <a:t>How far is it from your house to school?</a:t>
                      </a:r>
                    </a:p>
                  </a:txBody>
                  <a:tcPr>
                    <a:solidFill>
                      <a:srgbClr val="E3F3EE"/>
                    </a:solidFill>
                  </a:tcPr>
                </a:tc>
                <a:tc>
                  <a:txBody>
                    <a:bodyPr/>
                    <a:lstStyle/>
                    <a:p>
                      <a:r>
                        <a:rPr sz="1600" b="0">
                          <a:solidFill>
                            <a:srgbClr val="1B1B1B"/>
                          </a:solidFill>
                          <a:latin typeface="Calibri"/>
                        </a:rPr>
                        <a:t>It's about two kilometres.</a:t>
                      </a:r>
                    </a:p>
                  </a:txBody>
                  <a:tcPr>
                    <a:solidFill>
                      <a:srgbClr val="E3F3EE"/>
                    </a:solidFill>
                  </a:tcPr>
                </a:tc>
              </a:tr>
              <a:tr h="566928">
                <a:tc>
                  <a:txBody>
                    <a:bodyPr/>
                    <a:lstStyle/>
                    <a:p>
                      <a:r>
                        <a:rPr sz="1600" b="0">
                          <a:solidFill>
                            <a:srgbClr val="1B1B1B"/>
                          </a:solidFill>
                          <a:latin typeface="Calibri"/>
                        </a:rPr>
                        <a:t>How long does it take?</a:t>
                      </a:r>
                    </a:p>
                  </a:txBody>
                  <a:tcPr>
                    <a:solidFill>
                      <a:srgbClr val="FFFFFF"/>
                    </a:solidFill>
                  </a:tcPr>
                </a:tc>
                <a:tc>
                  <a:txBody>
                    <a:bodyPr/>
                    <a:lstStyle/>
                    <a:p>
                      <a:r>
                        <a:rPr sz="1600" b="0">
                          <a:solidFill>
                            <a:srgbClr val="1B1B1B"/>
                          </a:solidFill>
                          <a:latin typeface="Calibri"/>
                        </a:rPr>
                        <a:t>It takes about ten minutes by bike.</a:t>
                      </a:r>
                    </a:p>
                  </a:txBody>
                  <a:tcPr>
                    <a:solidFill>
                      <a:srgbClr val="FFFFFF"/>
                    </a:solidFill>
                  </a:tcPr>
                </a:tc>
              </a:tr>
              <a:tr h="566928">
                <a:tc>
                  <a:txBody>
                    <a:bodyPr/>
                    <a:lstStyle/>
                    <a:p>
                      <a:r>
                        <a:rPr sz="1600" b="0">
                          <a:solidFill>
                            <a:srgbClr val="1B1B1B"/>
                          </a:solidFill>
                          <a:latin typeface="Calibri"/>
                        </a:rPr>
                        <a:t>How long does it take you?</a:t>
                      </a:r>
                    </a:p>
                  </a:txBody>
                  <a:tcPr>
                    <a:solidFill>
                      <a:srgbClr val="E3F3EE"/>
                    </a:solidFill>
                  </a:tcPr>
                </a:tc>
                <a:tc>
                  <a:txBody>
                    <a:bodyPr/>
                    <a:lstStyle/>
                    <a:p>
                      <a:r>
                        <a:rPr sz="1600" b="0">
                          <a:solidFill>
                            <a:srgbClr val="1B1B1B"/>
                          </a:solidFill>
                          <a:latin typeface="Calibri"/>
                        </a:rPr>
                        <a:t>It takes me fifteen minutes.</a:t>
                      </a:r>
                    </a:p>
                  </a:txBody>
                  <a:tcPr>
                    <a:solidFill>
                      <a:srgbClr val="E3F3EE"/>
                    </a:solidFill>
                  </a:tcPr>
                </a:tc>
              </a:tr>
              <a:tr h="566928">
                <a:tc>
                  <a:txBody>
                    <a:bodyPr/>
                    <a:lstStyle/>
                    <a:p>
                      <a:r>
                        <a:rPr sz="1600" b="0">
                          <a:solidFill>
                            <a:srgbClr val="1B1B1B"/>
                          </a:solidFill>
                          <a:latin typeface="Calibri"/>
                        </a:rPr>
                        <a:t>How far is your school from here?</a:t>
                      </a:r>
                    </a:p>
                  </a:txBody>
                  <a:tcPr>
                    <a:solidFill>
                      <a:srgbClr val="FFFFFF"/>
                    </a:solidFill>
                  </a:tcPr>
                </a:tc>
                <a:tc>
                  <a:txBody>
                    <a:bodyPr/>
                    <a:lstStyle/>
                    <a:p>
                      <a:r>
                        <a:rPr sz="1600" b="0">
                          <a:solidFill>
                            <a:srgbClr val="1B1B1B"/>
                          </a:solidFill>
                          <a:latin typeface="Calibri"/>
                        </a:rPr>
                        <a:t>It's not far — about 500 metres.</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far is it from Hanoi to Hai Phong? – It's about 100 kilometres.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does it take by train? – It takes nearly two hours.</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my father forty minutes to get to work at rush hour.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Two errors: (1) *How far from your house to school?* (the verb 'is' is missing); (2) *I take twenty minutes to go to school* — English says IT takes ME…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How far is it from Hanoi to Hai Phong? – It's about 100 kilometres.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Weak 'to' and 'from' in questions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'from your house to school', both 'from' /frəm/ and 'to' /tə/ are weak and quick. The stress is on HOUSE and SCHOOL.</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from /frəm/</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to /tə/</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 FAR is it from your HOUSE to SCHOOL?</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TAKES me twenty MINutes.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How far is it from here to the market?</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It takes about ten minutes to walk to the bus stop.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Have to and must — obligation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things people must do and things they do not have to do. Two speakers, scripted dialogue, native English. It lasts 3:20.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Sound Grammar · 3:20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the geography of one person's country B. things people must do and things they do not have to do C. what one person eats for breakfast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You just have to go to the website and apply online.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Just five for now, so I have to be careful with them and not get them dirty.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This is my third season doing 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Can you come over around 13?</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I’m working at a summer camp.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Man: I _____ to work tonight.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At 7, but I _____ to leave early to beat the traffic.</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Yeah, you _____ to get going.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I _____ to go grocery shopping, and I have to mail a few things.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Man: I want to, but I _____ save money first.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Distances in Viet Nam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Viet Nam is a long, narrow country: about 1,650 kilometres from north to south, but only 50 kilometres wide at the narrowest point. It is about 1,700 kilometres from Hanoi to Ho Chi Minh City by road. By plane it takes two hours; by the Reunification Express train it takes between 30 and 35 hours; and by motorbike, if you are brave, it takes about ten days. Shorter journeys are often slower than people expect. It is only 105 kilometres from Hanoi to Hai Phong, but at the weekend it can take three hours instead of two. 'Distance in Viet Nam is not measured in kilometres,' says a bus driver in Nam Dinh. 'It is measured in hours — and the hours change every day.'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long is Viet Nam from north to south?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wide is it at the narrowest point?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long does the train take from Hanoi to Ho Chi Minh City?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far is it from Hanoi to Hai Phong?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does the bus driver mean in the last sentence?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far ______ it from here to the market?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long ______ it take?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______ about three kilometres.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______ me twenty minutes by bike.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long ______ it take you to do your homework?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How far…? or How long…?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 It's five kilometres.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 – It takes half an hour.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 – About twenty minutes by bus.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 – It's not far, only 500 metres.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far from your house to school?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take twenty minutes to go to school.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long does it takes?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takes about five kilometres.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is about twenty minutes by bike.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You must to wear a helmet.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U7.3-S2 and report your group's choice.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U7.3-S2 and report your group's choice.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your partner about five places.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your house / the school / the market / the nearest hospital / the town centre / your grandparents' house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far is it from your house to the market? B: It's about one kilometre. A: How long does it take? B: It takes about ten minutes on foot.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groups of four, compare the three trips from the listening and agree on one. Give three reasons.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Language: 'It's nearer than…', 'It takes less time…', 'It's cheaper…', 'We think… because…'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Asking for travel information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far is it to…?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does it take?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it far?</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depends on the traffic.</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What's the best way to get there?</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You'd better leave early.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is a visitor asking about three places in your town. B answers with distance, time and the best transport.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information.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house → school: 2 km, 10 min by bike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school → hospital: 800 m, 5 min on foot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Hanoi → Hue: 700 km, 13 hours by train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far is it…? – It is … km.</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does it take…? – It takes … minutes.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must / mustn't (recycled)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is, are, take or takes.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a question and an answer for each.</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paragraph (60–70 words) about your journey to school.</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 question five times with weak 'from' and 'to': 'How far is it from your house to school?'</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U7L3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